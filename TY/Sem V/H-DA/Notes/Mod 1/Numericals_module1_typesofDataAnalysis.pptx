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7" r:id="rId5"/>
    <p:sldId id="275" r:id="rId6"/>
    <p:sldId id="268" r:id="rId7"/>
    <p:sldId id="270" r:id="rId8"/>
    <p:sldId id="271" r:id="rId9"/>
    <p:sldId id="272" r:id="rId10"/>
    <p:sldId id="274" r:id="rId11"/>
    <p:sldId id="264" r:id="rId12"/>
    <p:sldId id="265" r:id="rId13"/>
    <p:sldId id="276" r:id="rId14"/>
    <p:sldId id="266" r:id="rId15"/>
    <p:sldId id="261" r:id="rId16"/>
    <p:sldId id="262" r:id="rId17"/>
    <p:sldId id="263" r:id="rId18"/>
    <p:sldId id="269" r:id="rId19"/>
    <p:sldId id="259" r:id="rId20"/>
    <p:sldId id="280" r:id="rId21"/>
    <p:sldId id="281" r:id="rId22"/>
    <p:sldId id="283" r:id="rId23"/>
    <p:sldId id="284" r:id="rId24"/>
    <p:sldId id="277" r:id="rId25"/>
    <p:sldId id="278" r:id="rId26"/>
    <p:sldId id="279" r:id="rId27"/>
    <p:sldId id="282" r:id="rId28"/>
    <p:sldId id="260" r:id="rId29"/>
    <p:sldId id="285" r:id="rId30"/>
    <p:sldId id="286" r:id="rId31"/>
    <p:sldId id="287" r:id="rId32"/>
    <p:sldId id="288"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4072D-D945-DF65-45BD-AD4CF978CA1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63F8DC9-ECE1-1BAE-01FA-514165D7AC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C6680F4-A668-D999-87CA-1972325AEEBC}"/>
              </a:ext>
            </a:extLst>
          </p:cNvPr>
          <p:cNvSpPr>
            <a:spLocks noGrp="1"/>
          </p:cNvSpPr>
          <p:nvPr>
            <p:ph type="dt" sz="half" idx="10"/>
          </p:nvPr>
        </p:nvSpPr>
        <p:spPr/>
        <p:txBody>
          <a:bodyPr/>
          <a:lstStyle/>
          <a:p>
            <a:fld id="{ADFF9360-4294-4FBB-B28F-A5EE99A0EE6E}" type="datetimeFigureOut">
              <a:rPr lang="en-IN" smtClean="0"/>
              <a:t>28-07-2025</a:t>
            </a:fld>
            <a:endParaRPr lang="en-IN"/>
          </a:p>
        </p:txBody>
      </p:sp>
      <p:sp>
        <p:nvSpPr>
          <p:cNvPr id="5" name="Footer Placeholder 4">
            <a:extLst>
              <a:ext uri="{FF2B5EF4-FFF2-40B4-BE49-F238E27FC236}">
                <a16:creationId xmlns:a16="http://schemas.microsoft.com/office/drawing/2014/main" id="{AD1C9CB0-6CF2-B846-1484-79BF061748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562F46-8B6A-8178-296D-D120ED36CB70}"/>
              </a:ext>
            </a:extLst>
          </p:cNvPr>
          <p:cNvSpPr>
            <a:spLocks noGrp="1"/>
          </p:cNvSpPr>
          <p:nvPr>
            <p:ph type="sldNum" sz="quarter" idx="12"/>
          </p:nvPr>
        </p:nvSpPr>
        <p:spPr/>
        <p:txBody>
          <a:bodyPr/>
          <a:lstStyle/>
          <a:p>
            <a:fld id="{E03F4ABD-8F11-43C4-8EBD-8072FE85785F}" type="slidenum">
              <a:rPr lang="en-IN" smtClean="0"/>
              <a:t>‹#›</a:t>
            </a:fld>
            <a:endParaRPr lang="en-IN"/>
          </a:p>
        </p:txBody>
      </p:sp>
    </p:spTree>
    <p:extLst>
      <p:ext uri="{BB962C8B-B14F-4D97-AF65-F5344CB8AC3E}">
        <p14:creationId xmlns:p14="http://schemas.microsoft.com/office/powerpoint/2010/main" val="263516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4D2FB-7E1E-0EED-E125-9C6A106D6CB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DE7CF45-DA4F-DABA-6DD4-BC2AECE98DA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456C2B-76E5-C724-0BAE-D73B1EE50C61}"/>
              </a:ext>
            </a:extLst>
          </p:cNvPr>
          <p:cNvSpPr>
            <a:spLocks noGrp="1"/>
          </p:cNvSpPr>
          <p:nvPr>
            <p:ph type="dt" sz="half" idx="10"/>
          </p:nvPr>
        </p:nvSpPr>
        <p:spPr/>
        <p:txBody>
          <a:bodyPr/>
          <a:lstStyle/>
          <a:p>
            <a:fld id="{ADFF9360-4294-4FBB-B28F-A5EE99A0EE6E}" type="datetimeFigureOut">
              <a:rPr lang="en-IN" smtClean="0"/>
              <a:t>28-07-2025</a:t>
            </a:fld>
            <a:endParaRPr lang="en-IN"/>
          </a:p>
        </p:txBody>
      </p:sp>
      <p:sp>
        <p:nvSpPr>
          <p:cNvPr id="5" name="Footer Placeholder 4">
            <a:extLst>
              <a:ext uri="{FF2B5EF4-FFF2-40B4-BE49-F238E27FC236}">
                <a16:creationId xmlns:a16="http://schemas.microsoft.com/office/drawing/2014/main" id="{058856EF-9F65-A04E-4859-8F1DED8680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D5BA4C-DED5-7475-F122-E204255571CE}"/>
              </a:ext>
            </a:extLst>
          </p:cNvPr>
          <p:cNvSpPr>
            <a:spLocks noGrp="1"/>
          </p:cNvSpPr>
          <p:nvPr>
            <p:ph type="sldNum" sz="quarter" idx="12"/>
          </p:nvPr>
        </p:nvSpPr>
        <p:spPr/>
        <p:txBody>
          <a:bodyPr/>
          <a:lstStyle/>
          <a:p>
            <a:fld id="{E03F4ABD-8F11-43C4-8EBD-8072FE85785F}" type="slidenum">
              <a:rPr lang="en-IN" smtClean="0"/>
              <a:t>‹#›</a:t>
            </a:fld>
            <a:endParaRPr lang="en-IN"/>
          </a:p>
        </p:txBody>
      </p:sp>
    </p:spTree>
    <p:extLst>
      <p:ext uri="{BB962C8B-B14F-4D97-AF65-F5344CB8AC3E}">
        <p14:creationId xmlns:p14="http://schemas.microsoft.com/office/powerpoint/2010/main" val="23092089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B5AFE-E260-0E26-7041-ECF931B7345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A76D65B-D7F0-7ED5-649D-66FC8ED8E4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EFCA58-3543-7BFF-DADB-2D74795E496A}"/>
              </a:ext>
            </a:extLst>
          </p:cNvPr>
          <p:cNvSpPr>
            <a:spLocks noGrp="1"/>
          </p:cNvSpPr>
          <p:nvPr>
            <p:ph type="dt" sz="half" idx="10"/>
          </p:nvPr>
        </p:nvSpPr>
        <p:spPr/>
        <p:txBody>
          <a:bodyPr/>
          <a:lstStyle/>
          <a:p>
            <a:fld id="{ADFF9360-4294-4FBB-B28F-A5EE99A0EE6E}" type="datetimeFigureOut">
              <a:rPr lang="en-IN" smtClean="0"/>
              <a:t>28-07-2025</a:t>
            </a:fld>
            <a:endParaRPr lang="en-IN"/>
          </a:p>
        </p:txBody>
      </p:sp>
      <p:sp>
        <p:nvSpPr>
          <p:cNvPr id="5" name="Footer Placeholder 4">
            <a:extLst>
              <a:ext uri="{FF2B5EF4-FFF2-40B4-BE49-F238E27FC236}">
                <a16:creationId xmlns:a16="http://schemas.microsoft.com/office/drawing/2014/main" id="{4ADB5D32-C3BC-4B87-6D26-16DD49270B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8DAC63-88FD-70B1-1863-7AE41B01B930}"/>
              </a:ext>
            </a:extLst>
          </p:cNvPr>
          <p:cNvSpPr>
            <a:spLocks noGrp="1"/>
          </p:cNvSpPr>
          <p:nvPr>
            <p:ph type="sldNum" sz="quarter" idx="12"/>
          </p:nvPr>
        </p:nvSpPr>
        <p:spPr/>
        <p:txBody>
          <a:bodyPr/>
          <a:lstStyle/>
          <a:p>
            <a:fld id="{E03F4ABD-8F11-43C4-8EBD-8072FE85785F}" type="slidenum">
              <a:rPr lang="en-IN" smtClean="0"/>
              <a:t>‹#›</a:t>
            </a:fld>
            <a:endParaRPr lang="en-IN"/>
          </a:p>
        </p:txBody>
      </p:sp>
    </p:spTree>
    <p:extLst>
      <p:ext uri="{BB962C8B-B14F-4D97-AF65-F5344CB8AC3E}">
        <p14:creationId xmlns:p14="http://schemas.microsoft.com/office/powerpoint/2010/main" val="1340561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3B2C4-E9CB-8383-8E0F-4EAF0104314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9AC2F91-A786-30E8-553B-EF135B0E60F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AB92F5D-A88A-7E4F-FA98-3860BDA21C8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36CE0C8-EC8E-E2A6-B561-00259C152F02}"/>
              </a:ext>
            </a:extLst>
          </p:cNvPr>
          <p:cNvSpPr>
            <a:spLocks noGrp="1"/>
          </p:cNvSpPr>
          <p:nvPr>
            <p:ph type="dt" sz="half" idx="10"/>
          </p:nvPr>
        </p:nvSpPr>
        <p:spPr/>
        <p:txBody>
          <a:bodyPr/>
          <a:lstStyle/>
          <a:p>
            <a:fld id="{ADFF9360-4294-4FBB-B28F-A5EE99A0EE6E}" type="datetimeFigureOut">
              <a:rPr lang="en-IN" smtClean="0"/>
              <a:t>28-07-2025</a:t>
            </a:fld>
            <a:endParaRPr lang="en-IN"/>
          </a:p>
        </p:txBody>
      </p:sp>
      <p:sp>
        <p:nvSpPr>
          <p:cNvPr id="6" name="Footer Placeholder 5">
            <a:extLst>
              <a:ext uri="{FF2B5EF4-FFF2-40B4-BE49-F238E27FC236}">
                <a16:creationId xmlns:a16="http://schemas.microsoft.com/office/drawing/2014/main" id="{27CC92DD-D808-6E26-03FB-CDE67050CF7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2265EB0-4F9B-6E0F-9BE9-F5B8D27B4D4A}"/>
              </a:ext>
            </a:extLst>
          </p:cNvPr>
          <p:cNvSpPr>
            <a:spLocks noGrp="1"/>
          </p:cNvSpPr>
          <p:nvPr>
            <p:ph type="sldNum" sz="quarter" idx="12"/>
          </p:nvPr>
        </p:nvSpPr>
        <p:spPr/>
        <p:txBody>
          <a:bodyPr/>
          <a:lstStyle/>
          <a:p>
            <a:fld id="{E03F4ABD-8F11-43C4-8EBD-8072FE85785F}" type="slidenum">
              <a:rPr lang="en-IN" smtClean="0"/>
              <a:t>‹#›</a:t>
            </a:fld>
            <a:endParaRPr lang="en-IN"/>
          </a:p>
        </p:txBody>
      </p:sp>
    </p:spTree>
    <p:extLst>
      <p:ext uri="{BB962C8B-B14F-4D97-AF65-F5344CB8AC3E}">
        <p14:creationId xmlns:p14="http://schemas.microsoft.com/office/powerpoint/2010/main" val="1748000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3A017-9A72-4DFE-EF42-246BB30FCB1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B937F68-CF8E-614D-9454-DFE5E3EEEB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F4063C-5DA4-BB98-9219-1B201DD1B4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904D1AE-79BE-6D63-A43D-C3A99052ED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5471747-0576-2AC8-3B34-052E21C2104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676495F-DC8B-D1D8-4EA1-4C91E856C49D}"/>
              </a:ext>
            </a:extLst>
          </p:cNvPr>
          <p:cNvSpPr>
            <a:spLocks noGrp="1"/>
          </p:cNvSpPr>
          <p:nvPr>
            <p:ph type="dt" sz="half" idx="10"/>
          </p:nvPr>
        </p:nvSpPr>
        <p:spPr/>
        <p:txBody>
          <a:bodyPr/>
          <a:lstStyle/>
          <a:p>
            <a:fld id="{ADFF9360-4294-4FBB-B28F-A5EE99A0EE6E}" type="datetimeFigureOut">
              <a:rPr lang="en-IN" smtClean="0"/>
              <a:t>28-07-2025</a:t>
            </a:fld>
            <a:endParaRPr lang="en-IN"/>
          </a:p>
        </p:txBody>
      </p:sp>
      <p:sp>
        <p:nvSpPr>
          <p:cNvPr id="8" name="Footer Placeholder 7">
            <a:extLst>
              <a:ext uri="{FF2B5EF4-FFF2-40B4-BE49-F238E27FC236}">
                <a16:creationId xmlns:a16="http://schemas.microsoft.com/office/drawing/2014/main" id="{3E9B2C93-AEFA-C8CA-DA63-DF2770088D5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173626E-A2E0-5096-633B-B2AB63EDD673}"/>
              </a:ext>
            </a:extLst>
          </p:cNvPr>
          <p:cNvSpPr>
            <a:spLocks noGrp="1"/>
          </p:cNvSpPr>
          <p:nvPr>
            <p:ph type="sldNum" sz="quarter" idx="12"/>
          </p:nvPr>
        </p:nvSpPr>
        <p:spPr/>
        <p:txBody>
          <a:bodyPr/>
          <a:lstStyle/>
          <a:p>
            <a:fld id="{E03F4ABD-8F11-43C4-8EBD-8072FE85785F}" type="slidenum">
              <a:rPr lang="en-IN" smtClean="0"/>
              <a:t>‹#›</a:t>
            </a:fld>
            <a:endParaRPr lang="en-IN"/>
          </a:p>
        </p:txBody>
      </p:sp>
    </p:spTree>
    <p:extLst>
      <p:ext uri="{BB962C8B-B14F-4D97-AF65-F5344CB8AC3E}">
        <p14:creationId xmlns:p14="http://schemas.microsoft.com/office/powerpoint/2010/main" val="3399598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60952-911E-EF77-1992-21AAB1295EA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EA12590-EFC9-4E47-EF51-9823650A85FE}"/>
              </a:ext>
            </a:extLst>
          </p:cNvPr>
          <p:cNvSpPr>
            <a:spLocks noGrp="1"/>
          </p:cNvSpPr>
          <p:nvPr>
            <p:ph type="dt" sz="half" idx="10"/>
          </p:nvPr>
        </p:nvSpPr>
        <p:spPr/>
        <p:txBody>
          <a:bodyPr/>
          <a:lstStyle/>
          <a:p>
            <a:fld id="{ADFF9360-4294-4FBB-B28F-A5EE99A0EE6E}" type="datetimeFigureOut">
              <a:rPr lang="en-IN" smtClean="0"/>
              <a:t>28-07-2025</a:t>
            </a:fld>
            <a:endParaRPr lang="en-IN"/>
          </a:p>
        </p:txBody>
      </p:sp>
      <p:sp>
        <p:nvSpPr>
          <p:cNvPr id="4" name="Footer Placeholder 3">
            <a:extLst>
              <a:ext uri="{FF2B5EF4-FFF2-40B4-BE49-F238E27FC236}">
                <a16:creationId xmlns:a16="http://schemas.microsoft.com/office/drawing/2014/main" id="{7F33D917-99B7-D59D-7E23-2A32E6E79C0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1DBD9E9-9E3E-9944-D22A-0DC7030F0FD9}"/>
              </a:ext>
            </a:extLst>
          </p:cNvPr>
          <p:cNvSpPr>
            <a:spLocks noGrp="1"/>
          </p:cNvSpPr>
          <p:nvPr>
            <p:ph type="sldNum" sz="quarter" idx="12"/>
          </p:nvPr>
        </p:nvSpPr>
        <p:spPr/>
        <p:txBody>
          <a:bodyPr/>
          <a:lstStyle/>
          <a:p>
            <a:fld id="{E03F4ABD-8F11-43C4-8EBD-8072FE85785F}" type="slidenum">
              <a:rPr lang="en-IN" smtClean="0"/>
              <a:t>‹#›</a:t>
            </a:fld>
            <a:endParaRPr lang="en-IN"/>
          </a:p>
        </p:txBody>
      </p:sp>
    </p:spTree>
    <p:extLst>
      <p:ext uri="{BB962C8B-B14F-4D97-AF65-F5344CB8AC3E}">
        <p14:creationId xmlns:p14="http://schemas.microsoft.com/office/powerpoint/2010/main" val="3309975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4CAECC-124F-7475-3C29-39F0DC2378FC}"/>
              </a:ext>
            </a:extLst>
          </p:cNvPr>
          <p:cNvSpPr>
            <a:spLocks noGrp="1"/>
          </p:cNvSpPr>
          <p:nvPr>
            <p:ph type="dt" sz="half" idx="10"/>
          </p:nvPr>
        </p:nvSpPr>
        <p:spPr/>
        <p:txBody>
          <a:bodyPr/>
          <a:lstStyle/>
          <a:p>
            <a:fld id="{ADFF9360-4294-4FBB-B28F-A5EE99A0EE6E}" type="datetimeFigureOut">
              <a:rPr lang="en-IN" smtClean="0"/>
              <a:t>28-07-2025</a:t>
            </a:fld>
            <a:endParaRPr lang="en-IN"/>
          </a:p>
        </p:txBody>
      </p:sp>
      <p:sp>
        <p:nvSpPr>
          <p:cNvPr id="3" name="Footer Placeholder 2">
            <a:extLst>
              <a:ext uri="{FF2B5EF4-FFF2-40B4-BE49-F238E27FC236}">
                <a16:creationId xmlns:a16="http://schemas.microsoft.com/office/drawing/2014/main" id="{2B824DFC-BDC1-0F33-5D19-0BDF186D916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63EDB55-38B7-F554-94FB-013E56072C84}"/>
              </a:ext>
            </a:extLst>
          </p:cNvPr>
          <p:cNvSpPr>
            <a:spLocks noGrp="1"/>
          </p:cNvSpPr>
          <p:nvPr>
            <p:ph type="sldNum" sz="quarter" idx="12"/>
          </p:nvPr>
        </p:nvSpPr>
        <p:spPr/>
        <p:txBody>
          <a:bodyPr/>
          <a:lstStyle/>
          <a:p>
            <a:fld id="{E03F4ABD-8F11-43C4-8EBD-8072FE85785F}" type="slidenum">
              <a:rPr lang="en-IN" smtClean="0"/>
              <a:t>‹#›</a:t>
            </a:fld>
            <a:endParaRPr lang="en-IN"/>
          </a:p>
        </p:txBody>
      </p:sp>
    </p:spTree>
    <p:extLst>
      <p:ext uri="{BB962C8B-B14F-4D97-AF65-F5344CB8AC3E}">
        <p14:creationId xmlns:p14="http://schemas.microsoft.com/office/powerpoint/2010/main" val="2984622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DEA14-A44D-2E88-030A-D7925836C4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AB9B53F-752E-E90F-6E15-A4F2B3FD12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E1509E3-FC81-E7B1-3634-582377C1D3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9E852F-7C85-8B08-5DD8-D2248F22B1CF}"/>
              </a:ext>
            </a:extLst>
          </p:cNvPr>
          <p:cNvSpPr>
            <a:spLocks noGrp="1"/>
          </p:cNvSpPr>
          <p:nvPr>
            <p:ph type="dt" sz="half" idx="10"/>
          </p:nvPr>
        </p:nvSpPr>
        <p:spPr/>
        <p:txBody>
          <a:bodyPr/>
          <a:lstStyle/>
          <a:p>
            <a:fld id="{ADFF9360-4294-4FBB-B28F-A5EE99A0EE6E}" type="datetimeFigureOut">
              <a:rPr lang="en-IN" smtClean="0"/>
              <a:t>28-07-2025</a:t>
            </a:fld>
            <a:endParaRPr lang="en-IN"/>
          </a:p>
        </p:txBody>
      </p:sp>
      <p:sp>
        <p:nvSpPr>
          <p:cNvPr id="6" name="Footer Placeholder 5">
            <a:extLst>
              <a:ext uri="{FF2B5EF4-FFF2-40B4-BE49-F238E27FC236}">
                <a16:creationId xmlns:a16="http://schemas.microsoft.com/office/drawing/2014/main" id="{3E86F3A4-644C-EDA3-C2E0-83C726D726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4A86B6C-F810-35D7-D3B2-CD57E0688BCC}"/>
              </a:ext>
            </a:extLst>
          </p:cNvPr>
          <p:cNvSpPr>
            <a:spLocks noGrp="1"/>
          </p:cNvSpPr>
          <p:nvPr>
            <p:ph type="sldNum" sz="quarter" idx="12"/>
          </p:nvPr>
        </p:nvSpPr>
        <p:spPr/>
        <p:txBody>
          <a:bodyPr/>
          <a:lstStyle/>
          <a:p>
            <a:fld id="{E03F4ABD-8F11-43C4-8EBD-8072FE85785F}" type="slidenum">
              <a:rPr lang="en-IN" smtClean="0"/>
              <a:t>‹#›</a:t>
            </a:fld>
            <a:endParaRPr lang="en-IN"/>
          </a:p>
        </p:txBody>
      </p:sp>
    </p:spTree>
    <p:extLst>
      <p:ext uri="{BB962C8B-B14F-4D97-AF65-F5344CB8AC3E}">
        <p14:creationId xmlns:p14="http://schemas.microsoft.com/office/powerpoint/2010/main" val="776169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B6B2B-12B5-B092-9D53-48C3748872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B55AACA-1DC7-8CA8-5531-19A9F27F4E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CA636BB-B3B4-E41A-1341-17DE62AFE0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02B3C7-AC51-E6F4-B02B-216CA7F2B1DE}"/>
              </a:ext>
            </a:extLst>
          </p:cNvPr>
          <p:cNvSpPr>
            <a:spLocks noGrp="1"/>
          </p:cNvSpPr>
          <p:nvPr>
            <p:ph type="dt" sz="half" idx="10"/>
          </p:nvPr>
        </p:nvSpPr>
        <p:spPr/>
        <p:txBody>
          <a:bodyPr/>
          <a:lstStyle/>
          <a:p>
            <a:fld id="{ADFF9360-4294-4FBB-B28F-A5EE99A0EE6E}" type="datetimeFigureOut">
              <a:rPr lang="en-IN" smtClean="0"/>
              <a:t>28-07-2025</a:t>
            </a:fld>
            <a:endParaRPr lang="en-IN"/>
          </a:p>
        </p:txBody>
      </p:sp>
      <p:sp>
        <p:nvSpPr>
          <p:cNvPr id="6" name="Footer Placeholder 5">
            <a:extLst>
              <a:ext uri="{FF2B5EF4-FFF2-40B4-BE49-F238E27FC236}">
                <a16:creationId xmlns:a16="http://schemas.microsoft.com/office/drawing/2014/main" id="{3551CD8F-FFB7-CAC1-8B1C-1A63E6FCCB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09C867-9379-89E1-228C-E98404732FDE}"/>
              </a:ext>
            </a:extLst>
          </p:cNvPr>
          <p:cNvSpPr>
            <a:spLocks noGrp="1"/>
          </p:cNvSpPr>
          <p:nvPr>
            <p:ph type="sldNum" sz="quarter" idx="12"/>
          </p:nvPr>
        </p:nvSpPr>
        <p:spPr/>
        <p:txBody>
          <a:bodyPr/>
          <a:lstStyle/>
          <a:p>
            <a:fld id="{E03F4ABD-8F11-43C4-8EBD-8072FE85785F}" type="slidenum">
              <a:rPr lang="en-IN" smtClean="0"/>
              <a:t>‹#›</a:t>
            </a:fld>
            <a:endParaRPr lang="en-IN"/>
          </a:p>
        </p:txBody>
      </p:sp>
    </p:spTree>
    <p:extLst>
      <p:ext uri="{BB962C8B-B14F-4D97-AF65-F5344CB8AC3E}">
        <p14:creationId xmlns:p14="http://schemas.microsoft.com/office/powerpoint/2010/main" val="33282019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8AB77-F114-87CB-E40C-09839266A40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FD80CAE-D8A1-9D56-B815-08468A28D0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988983-3FDC-9888-7A76-6FCC21B91D15}"/>
              </a:ext>
            </a:extLst>
          </p:cNvPr>
          <p:cNvSpPr>
            <a:spLocks noGrp="1"/>
          </p:cNvSpPr>
          <p:nvPr>
            <p:ph type="dt" sz="half" idx="10"/>
          </p:nvPr>
        </p:nvSpPr>
        <p:spPr/>
        <p:txBody>
          <a:bodyPr/>
          <a:lstStyle/>
          <a:p>
            <a:fld id="{ADFF9360-4294-4FBB-B28F-A5EE99A0EE6E}" type="datetimeFigureOut">
              <a:rPr lang="en-IN" smtClean="0"/>
              <a:t>28-07-2025</a:t>
            </a:fld>
            <a:endParaRPr lang="en-IN"/>
          </a:p>
        </p:txBody>
      </p:sp>
      <p:sp>
        <p:nvSpPr>
          <p:cNvPr id="5" name="Footer Placeholder 4">
            <a:extLst>
              <a:ext uri="{FF2B5EF4-FFF2-40B4-BE49-F238E27FC236}">
                <a16:creationId xmlns:a16="http://schemas.microsoft.com/office/drawing/2014/main" id="{BE7C2069-0F20-F9E4-8C66-46FB3DD993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F01C2E-39AD-0120-44DD-0AD8A5BB2C9C}"/>
              </a:ext>
            </a:extLst>
          </p:cNvPr>
          <p:cNvSpPr>
            <a:spLocks noGrp="1"/>
          </p:cNvSpPr>
          <p:nvPr>
            <p:ph type="sldNum" sz="quarter" idx="12"/>
          </p:nvPr>
        </p:nvSpPr>
        <p:spPr/>
        <p:txBody>
          <a:bodyPr/>
          <a:lstStyle/>
          <a:p>
            <a:fld id="{E03F4ABD-8F11-43C4-8EBD-8072FE85785F}" type="slidenum">
              <a:rPr lang="en-IN" smtClean="0"/>
              <a:t>‹#›</a:t>
            </a:fld>
            <a:endParaRPr lang="en-IN"/>
          </a:p>
        </p:txBody>
      </p:sp>
    </p:spTree>
    <p:extLst>
      <p:ext uri="{BB962C8B-B14F-4D97-AF65-F5344CB8AC3E}">
        <p14:creationId xmlns:p14="http://schemas.microsoft.com/office/powerpoint/2010/main" val="190870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40C851-37D1-5FD9-E71A-61ABFFAF760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C10AC1D-9B41-2E71-920C-0D36A99CD80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05984D-B62A-E8AA-49BC-A92935639504}"/>
              </a:ext>
            </a:extLst>
          </p:cNvPr>
          <p:cNvSpPr>
            <a:spLocks noGrp="1"/>
          </p:cNvSpPr>
          <p:nvPr>
            <p:ph type="dt" sz="half" idx="10"/>
          </p:nvPr>
        </p:nvSpPr>
        <p:spPr/>
        <p:txBody>
          <a:bodyPr/>
          <a:lstStyle/>
          <a:p>
            <a:fld id="{ADFF9360-4294-4FBB-B28F-A5EE99A0EE6E}" type="datetimeFigureOut">
              <a:rPr lang="en-IN" smtClean="0"/>
              <a:t>28-07-2025</a:t>
            </a:fld>
            <a:endParaRPr lang="en-IN"/>
          </a:p>
        </p:txBody>
      </p:sp>
      <p:sp>
        <p:nvSpPr>
          <p:cNvPr id="5" name="Footer Placeholder 4">
            <a:extLst>
              <a:ext uri="{FF2B5EF4-FFF2-40B4-BE49-F238E27FC236}">
                <a16:creationId xmlns:a16="http://schemas.microsoft.com/office/drawing/2014/main" id="{495B21C0-D9D6-D8CA-207B-93CEB1B3A8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BC8027-F956-5A51-EE85-B9E38FA0A021}"/>
              </a:ext>
            </a:extLst>
          </p:cNvPr>
          <p:cNvSpPr>
            <a:spLocks noGrp="1"/>
          </p:cNvSpPr>
          <p:nvPr>
            <p:ph type="sldNum" sz="quarter" idx="12"/>
          </p:nvPr>
        </p:nvSpPr>
        <p:spPr/>
        <p:txBody>
          <a:bodyPr/>
          <a:lstStyle/>
          <a:p>
            <a:fld id="{E03F4ABD-8F11-43C4-8EBD-8072FE85785F}" type="slidenum">
              <a:rPr lang="en-IN" smtClean="0"/>
              <a:t>‹#›</a:t>
            </a:fld>
            <a:endParaRPr lang="en-IN"/>
          </a:p>
        </p:txBody>
      </p:sp>
    </p:spTree>
    <p:extLst>
      <p:ext uri="{BB962C8B-B14F-4D97-AF65-F5344CB8AC3E}">
        <p14:creationId xmlns:p14="http://schemas.microsoft.com/office/powerpoint/2010/main" val="3269766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7865B2-44C8-8B1E-A5F1-9439959358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532A029-DA01-861A-B662-0E21003E6A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A1B2BA-4CFE-75D5-1A42-1429AFC44A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FF9360-4294-4FBB-B28F-A5EE99A0EE6E}" type="datetimeFigureOut">
              <a:rPr lang="en-IN" smtClean="0"/>
              <a:t>28-07-2025</a:t>
            </a:fld>
            <a:endParaRPr lang="en-IN"/>
          </a:p>
        </p:txBody>
      </p:sp>
      <p:sp>
        <p:nvSpPr>
          <p:cNvPr id="5" name="Footer Placeholder 4">
            <a:extLst>
              <a:ext uri="{FF2B5EF4-FFF2-40B4-BE49-F238E27FC236}">
                <a16:creationId xmlns:a16="http://schemas.microsoft.com/office/drawing/2014/main" id="{A8110B94-DD30-03BF-5784-F0F7383D77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1A8DD34-E227-B8C0-AA3C-537286BAC2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3F4ABD-8F11-43C4-8EBD-8072FE85785F}" type="slidenum">
              <a:rPr lang="en-IN" smtClean="0"/>
              <a:t>‹#›</a:t>
            </a:fld>
            <a:endParaRPr lang="en-IN"/>
          </a:p>
        </p:txBody>
      </p:sp>
    </p:spTree>
    <p:extLst>
      <p:ext uri="{BB962C8B-B14F-4D97-AF65-F5344CB8AC3E}">
        <p14:creationId xmlns:p14="http://schemas.microsoft.com/office/powerpoint/2010/main" val="36120515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online.stat.psu.edu/stat200/lesson/3" TargetMode="External"/><Relationship Id="rId2" Type="http://schemas.openxmlformats.org/officeDocument/2006/relationships/hyperlink" Target="https://online.stat.psu.edu/stat200/lesson/2"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C7062-5034-7C87-A393-1B744B0B07FC}"/>
              </a:ext>
            </a:extLst>
          </p:cNvPr>
          <p:cNvSpPr>
            <a:spLocks noGrp="1"/>
          </p:cNvSpPr>
          <p:nvPr>
            <p:ph type="ctrTitle"/>
          </p:nvPr>
        </p:nvSpPr>
        <p:spPr/>
        <p:txBody>
          <a:bodyPr>
            <a:normAutofit fontScale="90000"/>
          </a:bodyPr>
          <a:lstStyle/>
          <a:p>
            <a:r>
              <a:rPr lang="en-IN" b="1" noProof="0" dirty="0">
                <a:latin typeface="Fira Sans Medium" panose="020B0603050000020004" pitchFamily="34" charset="0"/>
              </a:rPr>
              <a:t>Numerical questions on </a:t>
            </a:r>
            <a:br>
              <a:rPr lang="en-IN" b="1" noProof="0" dirty="0">
                <a:latin typeface="Fira Sans Medium" panose="020B0603050000020004" pitchFamily="34" charset="0"/>
              </a:rPr>
            </a:br>
            <a:r>
              <a:rPr lang="en-IN" b="1" noProof="0" dirty="0">
                <a:latin typeface="Fira Sans Medium" panose="020B0603050000020004" pitchFamily="34" charset="0"/>
              </a:rPr>
              <a:t>Module 1</a:t>
            </a:r>
            <a:br>
              <a:rPr lang="en-IN" b="1" noProof="0" dirty="0">
                <a:latin typeface="Fira Sans Medium" panose="020B0603050000020004" pitchFamily="34" charset="0"/>
              </a:rPr>
            </a:br>
            <a:r>
              <a:rPr lang="en-IN" b="1" noProof="0" dirty="0">
                <a:latin typeface="Fira Sans Medium" panose="020B0603050000020004" pitchFamily="34" charset="0"/>
              </a:rPr>
              <a:t>Types of Data Analysis</a:t>
            </a:r>
          </a:p>
        </p:txBody>
      </p:sp>
      <p:sp>
        <p:nvSpPr>
          <p:cNvPr id="3" name="Subtitle 2">
            <a:extLst>
              <a:ext uri="{FF2B5EF4-FFF2-40B4-BE49-F238E27FC236}">
                <a16:creationId xmlns:a16="http://schemas.microsoft.com/office/drawing/2014/main" id="{C83C3288-57B5-1863-0919-3F2269407C9C}"/>
              </a:ext>
            </a:extLst>
          </p:cNvPr>
          <p:cNvSpPr>
            <a:spLocks noGrp="1"/>
          </p:cNvSpPr>
          <p:nvPr>
            <p:ph type="subTitle" idx="1"/>
          </p:nvPr>
        </p:nvSpPr>
        <p:spPr/>
        <p:txBody>
          <a:bodyPr/>
          <a:lstStyle/>
          <a:p>
            <a:r>
              <a:rPr lang="en-US" noProof="0" dirty="0">
                <a:latin typeface="Fira Sans" panose="020B0503050000020004" pitchFamily="34" charset="0"/>
              </a:rPr>
              <a:t>Kaustubh Kulkarni</a:t>
            </a:r>
            <a:endParaRPr lang="en-IN" noProof="0" dirty="0">
              <a:latin typeface="Fira Sans" panose="020B0503050000020004" pitchFamily="34" charset="0"/>
            </a:endParaRPr>
          </a:p>
        </p:txBody>
      </p:sp>
    </p:spTree>
    <p:extLst>
      <p:ext uri="{BB962C8B-B14F-4D97-AF65-F5344CB8AC3E}">
        <p14:creationId xmlns:p14="http://schemas.microsoft.com/office/powerpoint/2010/main" val="3090307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48FDD-0C54-4AFA-CB8B-B69B5FB3722F}"/>
              </a:ext>
            </a:extLst>
          </p:cNvPr>
          <p:cNvSpPr>
            <a:spLocks noGrp="1"/>
          </p:cNvSpPr>
          <p:nvPr>
            <p:ph type="title"/>
          </p:nvPr>
        </p:nvSpPr>
        <p:spPr/>
        <p:txBody>
          <a:bodyPr/>
          <a:lstStyle/>
          <a:p>
            <a:pPr algn="ctr"/>
            <a:r>
              <a:rPr lang="en-IN" b="1" noProof="0" dirty="0">
                <a:latin typeface="Fira Sans Medium" panose="020B0603050000020004" pitchFamily="34" charset="0"/>
              </a:rPr>
              <a:t>Descriptive Analysis</a:t>
            </a:r>
          </a:p>
        </p:txBody>
      </p:sp>
      <p:sp>
        <p:nvSpPr>
          <p:cNvPr id="3" name="Content Placeholder 2">
            <a:extLst>
              <a:ext uri="{FF2B5EF4-FFF2-40B4-BE49-F238E27FC236}">
                <a16:creationId xmlns:a16="http://schemas.microsoft.com/office/drawing/2014/main" id="{3F70A63A-4D58-9222-AD9C-D50E984B7E6F}"/>
              </a:ext>
            </a:extLst>
          </p:cNvPr>
          <p:cNvSpPr>
            <a:spLocks noGrp="1"/>
          </p:cNvSpPr>
          <p:nvPr>
            <p:ph idx="1"/>
          </p:nvPr>
        </p:nvSpPr>
        <p:spPr>
          <a:xfrm>
            <a:off x="533400" y="1825624"/>
            <a:ext cx="11212286" cy="4814661"/>
          </a:xfrm>
        </p:spPr>
        <p:txBody>
          <a:bodyPr>
            <a:normAutofit fontScale="77500" lnSpcReduction="20000"/>
          </a:bodyPr>
          <a:lstStyle/>
          <a:p>
            <a:pPr>
              <a:lnSpc>
                <a:spcPct val="150000"/>
              </a:lnSpc>
            </a:pPr>
            <a:r>
              <a:rPr lang="en-IN" noProof="0" dirty="0">
                <a:latin typeface="Fira Sans" panose="020B0503050000020004" pitchFamily="34" charset="0"/>
              </a:rPr>
              <a:t>Measures of central tendency</a:t>
            </a:r>
          </a:p>
          <a:p>
            <a:pPr>
              <a:lnSpc>
                <a:spcPct val="150000"/>
              </a:lnSpc>
            </a:pPr>
            <a:r>
              <a:rPr lang="en-IN" noProof="0" dirty="0">
                <a:latin typeface="Fira Sans" panose="020B0503050000020004" pitchFamily="34" charset="0"/>
              </a:rPr>
              <a:t>Measures of dispersion</a:t>
            </a:r>
          </a:p>
          <a:p>
            <a:pPr>
              <a:lnSpc>
                <a:spcPct val="150000"/>
              </a:lnSpc>
            </a:pPr>
            <a:r>
              <a:rPr lang="en-IN" noProof="0" dirty="0">
                <a:latin typeface="Fira Sans" panose="020B0503050000020004" pitchFamily="34" charset="0"/>
              </a:rPr>
              <a:t>IQR, Box Plot</a:t>
            </a:r>
          </a:p>
          <a:p>
            <a:pPr>
              <a:lnSpc>
                <a:spcPct val="150000"/>
              </a:lnSpc>
            </a:pPr>
            <a:r>
              <a:rPr lang="en-IN" noProof="0" dirty="0">
                <a:latin typeface="Fira Sans" panose="020B0503050000020004" pitchFamily="34" charset="0"/>
              </a:rPr>
              <a:t>Histograms, pie charts and other visualization tools to understand and analyse the historic data </a:t>
            </a:r>
          </a:p>
          <a:p>
            <a:pPr>
              <a:lnSpc>
                <a:spcPct val="150000"/>
              </a:lnSpc>
            </a:pPr>
            <a:r>
              <a:rPr lang="en-IN" dirty="0">
                <a:latin typeface="Fira Sans" panose="020B0503050000020004" pitchFamily="34" charset="0"/>
              </a:rPr>
              <a:t>You can refer to your notes of PSOT and IDS or the following chapters for the above topics:</a:t>
            </a:r>
            <a:endParaRPr lang="en-IN" noProof="0" dirty="0">
              <a:latin typeface="Fira Sans" panose="020B0503050000020004" pitchFamily="34" charset="0"/>
            </a:endParaRPr>
          </a:p>
          <a:p>
            <a:pPr>
              <a:lnSpc>
                <a:spcPct val="150000"/>
              </a:lnSpc>
            </a:pPr>
            <a:r>
              <a:rPr lang="en-IN" dirty="0">
                <a:latin typeface="Fira Sans" panose="020B0503050000020004" pitchFamily="34" charset="0"/>
                <a:hlinkClick r:id="rId2"/>
              </a:rPr>
              <a:t>https://online.stat.psu.edu/stat200/lesson/2</a:t>
            </a:r>
            <a:endParaRPr lang="en-IN" dirty="0">
              <a:latin typeface="Fira Sans" panose="020B0503050000020004" pitchFamily="34" charset="0"/>
            </a:endParaRPr>
          </a:p>
          <a:p>
            <a:pPr>
              <a:lnSpc>
                <a:spcPct val="150000"/>
              </a:lnSpc>
            </a:pPr>
            <a:r>
              <a:rPr lang="en-IN" dirty="0">
                <a:latin typeface="Fira Sans" panose="020B0503050000020004" pitchFamily="34" charset="0"/>
                <a:hlinkClick r:id="rId3"/>
              </a:rPr>
              <a:t>https://online.stat.psu.edu/stat200/lesson/3</a:t>
            </a:r>
            <a:r>
              <a:rPr lang="en-IN" dirty="0">
                <a:latin typeface="Fira Sans" panose="020B0503050000020004" pitchFamily="34" charset="0"/>
              </a:rPr>
              <a:t> </a:t>
            </a:r>
            <a:endParaRPr lang="en-IN" noProof="0" dirty="0">
              <a:latin typeface="Fira Sans" panose="020B0503050000020004" pitchFamily="34" charset="0"/>
            </a:endParaRPr>
          </a:p>
        </p:txBody>
      </p:sp>
    </p:spTree>
    <p:extLst>
      <p:ext uri="{BB962C8B-B14F-4D97-AF65-F5344CB8AC3E}">
        <p14:creationId xmlns:p14="http://schemas.microsoft.com/office/powerpoint/2010/main" val="2078210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21E1D-5CE1-A8ED-C01D-5ACDCD18DC30}"/>
              </a:ext>
            </a:extLst>
          </p:cNvPr>
          <p:cNvSpPr>
            <a:spLocks noGrp="1"/>
          </p:cNvSpPr>
          <p:nvPr>
            <p:ph type="title"/>
          </p:nvPr>
        </p:nvSpPr>
        <p:spPr/>
        <p:txBody>
          <a:bodyPr/>
          <a:lstStyle/>
          <a:p>
            <a:pPr algn="ctr"/>
            <a:r>
              <a:rPr lang="en-IN" b="1" noProof="0" dirty="0">
                <a:latin typeface="Fira Sans Medium" panose="020B0603050000020004" pitchFamily="34" charset="0"/>
              </a:rPr>
              <a:t>Diagnostic Analysis</a:t>
            </a:r>
          </a:p>
        </p:txBody>
      </p:sp>
      <p:sp>
        <p:nvSpPr>
          <p:cNvPr id="3" name="Content Placeholder 2">
            <a:extLst>
              <a:ext uri="{FF2B5EF4-FFF2-40B4-BE49-F238E27FC236}">
                <a16:creationId xmlns:a16="http://schemas.microsoft.com/office/drawing/2014/main" id="{C9D89EB9-E510-6772-0790-E476079F70A0}"/>
              </a:ext>
            </a:extLst>
          </p:cNvPr>
          <p:cNvSpPr>
            <a:spLocks noGrp="1"/>
          </p:cNvSpPr>
          <p:nvPr>
            <p:ph idx="1"/>
          </p:nvPr>
        </p:nvSpPr>
        <p:spPr/>
        <p:txBody>
          <a:bodyPr>
            <a:normAutofit lnSpcReduction="10000"/>
          </a:bodyPr>
          <a:lstStyle/>
          <a:p>
            <a:pPr>
              <a:lnSpc>
                <a:spcPct val="150000"/>
              </a:lnSpc>
            </a:pPr>
            <a:r>
              <a:rPr lang="en-IN" noProof="0" dirty="0">
                <a:latin typeface="Fira Sans" panose="020B0503050000020004" pitchFamily="34" charset="0"/>
              </a:rPr>
              <a:t>Correlation Analysis (Pearson Correlation Coefficient)</a:t>
            </a:r>
            <a:r>
              <a:rPr lang="en-IN" dirty="0">
                <a:latin typeface="Fira Sans" panose="020B0503050000020004" pitchFamily="34" charset="0"/>
              </a:rPr>
              <a:t> for Root Cause Analysis</a:t>
            </a:r>
            <a:endParaRPr lang="en-IN" noProof="0" dirty="0">
              <a:latin typeface="Fira Sans" panose="020B0503050000020004" pitchFamily="34" charset="0"/>
            </a:endParaRPr>
          </a:p>
          <a:p>
            <a:pPr>
              <a:lnSpc>
                <a:spcPct val="150000"/>
              </a:lnSpc>
            </a:pPr>
            <a:r>
              <a:rPr lang="en-IN" noProof="0" dirty="0">
                <a:latin typeface="Fira Sans" panose="020B0503050000020004" pitchFamily="34" charset="0"/>
              </a:rPr>
              <a:t>Pareto Analysis (80/20 Rule)</a:t>
            </a:r>
          </a:p>
          <a:p>
            <a:pPr>
              <a:lnSpc>
                <a:spcPct val="150000"/>
              </a:lnSpc>
            </a:pPr>
            <a:r>
              <a:rPr lang="en-IN" dirty="0">
                <a:latin typeface="Fira Sans" panose="020B0503050000020004" pitchFamily="34" charset="0"/>
              </a:rPr>
              <a:t>Failure Mode and Effects Analysis (FMEA)</a:t>
            </a:r>
            <a:endParaRPr lang="en-IN" noProof="0" dirty="0">
              <a:latin typeface="Fira Sans" panose="020B0503050000020004" pitchFamily="34" charset="0"/>
            </a:endParaRPr>
          </a:p>
          <a:p>
            <a:pPr>
              <a:lnSpc>
                <a:spcPct val="150000"/>
              </a:lnSpc>
            </a:pPr>
            <a:r>
              <a:rPr lang="en-IN" dirty="0">
                <a:latin typeface="Fira Sans" panose="020B0503050000020004" pitchFamily="34" charset="0"/>
              </a:rPr>
              <a:t>Statistical Process Control (SPC)</a:t>
            </a:r>
          </a:p>
          <a:p>
            <a:pPr>
              <a:lnSpc>
                <a:spcPct val="150000"/>
              </a:lnSpc>
            </a:pPr>
            <a:r>
              <a:rPr lang="en-IN" dirty="0">
                <a:latin typeface="Fira Sans" panose="020B0503050000020004" pitchFamily="34" charset="0"/>
              </a:rPr>
              <a:t>Hypothesis Testing </a:t>
            </a:r>
            <a:endParaRPr lang="en-IN" noProof="0" dirty="0">
              <a:latin typeface="Fira Sans" panose="020B0503050000020004" pitchFamily="34" charset="0"/>
            </a:endParaRPr>
          </a:p>
        </p:txBody>
      </p:sp>
    </p:spTree>
    <p:extLst>
      <p:ext uri="{BB962C8B-B14F-4D97-AF65-F5344CB8AC3E}">
        <p14:creationId xmlns:p14="http://schemas.microsoft.com/office/powerpoint/2010/main" val="39148704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30726-A2B2-5D8B-00E8-D66CAE060D92}"/>
              </a:ext>
            </a:extLst>
          </p:cNvPr>
          <p:cNvSpPr>
            <a:spLocks noGrp="1"/>
          </p:cNvSpPr>
          <p:nvPr>
            <p:ph type="title"/>
          </p:nvPr>
        </p:nvSpPr>
        <p:spPr>
          <a:xfrm>
            <a:off x="481263" y="365125"/>
            <a:ext cx="11261558" cy="1325563"/>
          </a:xfrm>
        </p:spPr>
        <p:txBody>
          <a:bodyPr>
            <a:normAutofit/>
          </a:bodyPr>
          <a:lstStyle/>
          <a:p>
            <a:pPr algn="ctr"/>
            <a:r>
              <a:rPr lang="en-IN" b="1" noProof="0" dirty="0">
                <a:latin typeface="Fira Sans" panose="020B0503050000020004" pitchFamily="34" charset="0"/>
              </a:rPr>
              <a:t>Correlation for Root Cause Analysis</a:t>
            </a:r>
            <a:endParaRPr lang="en-IN" b="1" dirty="0"/>
          </a:p>
        </p:txBody>
      </p:sp>
      <p:graphicFrame>
        <p:nvGraphicFramePr>
          <p:cNvPr id="5" name="Content Placeholder 4">
            <a:extLst>
              <a:ext uri="{FF2B5EF4-FFF2-40B4-BE49-F238E27FC236}">
                <a16:creationId xmlns:a16="http://schemas.microsoft.com/office/drawing/2014/main" id="{7EA46D46-C3CA-AFAD-B338-E860AF17BD60}"/>
              </a:ext>
            </a:extLst>
          </p:cNvPr>
          <p:cNvGraphicFramePr>
            <a:graphicFrameLocks noGrp="1"/>
          </p:cNvGraphicFramePr>
          <p:nvPr>
            <p:ph idx="1"/>
            <p:extLst>
              <p:ext uri="{D42A27DB-BD31-4B8C-83A1-F6EECF244321}">
                <p14:modId xmlns:p14="http://schemas.microsoft.com/office/powerpoint/2010/main" val="1709795073"/>
              </p:ext>
            </p:extLst>
          </p:nvPr>
        </p:nvGraphicFramePr>
        <p:xfrm>
          <a:off x="838200" y="2331720"/>
          <a:ext cx="10515600" cy="2194560"/>
        </p:xfrm>
        <a:graphic>
          <a:graphicData uri="http://schemas.openxmlformats.org/drawingml/2006/table">
            <a:tbl>
              <a:tblPr firstRow="1">
                <a:tableStyleId>{793D81CF-94F2-401A-BA57-92F5A7B2D0C5}</a:tableStyleId>
              </a:tblPr>
              <a:tblGrid>
                <a:gridCol w="1752600">
                  <a:extLst>
                    <a:ext uri="{9D8B030D-6E8A-4147-A177-3AD203B41FA5}">
                      <a16:colId xmlns:a16="http://schemas.microsoft.com/office/drawing/2014/main" val="3494321311"/>
                    </a:ext>
                  </a:extLst>
                </a:gridCol>
                <a:gridCol w="1752600">
                  <a:extLst>
                    <a:ext uri="{9D8B030D-6E8A-4147-A177-3AD203B41FA5}">
                      <a16:colId xmlns:a16="http://schemas.microsoft.com/office/drawing/2014/main" val="3624426243"/>
                    </a:ext>
                  </a:extLst>
                </a:gridCol>
                <a:gridCol w="1752600">
                  <a:extLst>
                    <a:ext uri="{9D8B030D-6E8A-4147-A177-3AD203B41FA5}">
                      <a16:colId xmlns:a16="http://schemas.microsoft.com/office/drawing/2014/main" val="734534287"/>
                    </a:ext>
                  </a:extLst>
                </a:gridCol>
                <a:gridCol w="1752600">
                  <a:extLst>
                    <a:ext uri="{9D8B030D-6E8A-4147-A177-3AD203B41FA5}">
                      <a16:colId xmlns:a16="http://schemas.microsoft.com/office/drawing/2014/main" val="202260310"/>
                    </a:ext>
                  </a:extLst>
                </a:gridCol>
                <a:gridCol w="1752600">
                  <a:extLst>
                    <a:ext uri="{9D8B030D-6E8A-4147-A177-3AD203B41FA5}">
                      <a16:colId xmlns:a16="http://schemas.microsoft.com/office/drawing/2014/main" val="2397983729"/>
                    </a:ext>
                  </a:extLst>
                </a:gridCol>
                <a:gridCol w="1752600">
                  <a:extLst>
                    <a:ext uri="{9D8B030D-6E8A-4147-A177-3AD203B41FA5}">
                      <a16:colId xmlns:a16="http://schemas.microsoft.com/office/drawing/2014/main" val="2221772371"/>
                    </a:ext>
                  </a:extLst>
                </a:gridCol>
              </a:tblGrid>
              <a:tr h="0">
                <a:tc>
                  <a:txBody>
                    <a:bodyPr/>
                    <a:lstStyle/>
                    <a:p>
                      <a:pPr>
                        <a:buNone/>
                      </a:pPr>
                      <a:r>
                        <a:rPr lang="en-IN" dirty="0"/>
                        <a:t>Variable</a:t>
                      </a:r>
                    </a:p>
                  </a:txBody>
                  <a:tcPr anchor="ctr"/>
                </a:tc>
                <a:tc>
                  <a:txBody>
                    <a:bodyPr/>
                    <a:lstStyle/>
                    <a:p>
                      <a:pPr>
                        <a:buNone/>
                      </a:pPr>
                      <a:r>
                        <a:rPr lang="en-IN" dirty="0"/>
                        <a:t>Sales</a:t>
                      </a:r>
                    </a:p>
                  </a:txBody>
                  <a:tcPr anchor="ctr"/>
                </a:tc>
                <a:tc>
                  <a:txBody>
                    <a:bodyPr/>
                    <a:lstStyle/>
                    <a:p>
                      <a:pPr>
                        <a:buNone/>
                      </a:pPr>
                      <a:r>
                        <a:rPr lang="en-IN"/>
                        <a:t>Training</a:t>
                      </a:r>
                    </a:p>
                  </a:txBody>
                  <a:tcPr anchor="ctr"/>
                </a:tc>
                <a:tc>
                  <a:txBody>
                    <a:bodyPr/>
                    <a:lstStyle/>
                    <a:p>
                      <a:pPr>
                        <a:buNone/>
                      </a:pPr>
                      <a:r>
                        <a:rPr lang="en-IN"/>
                        <a:t>Market</a:t>
                      </a:r>
                    </a:p>
                  </a:txBody>
                  <a:tcPr anchor="ctr"/>
                </a:tc>
                <a:tc>
                  <a:txBody>
                    <a:bodyPr/>
                    <a:lstStyle/>
                    <a:p>
                      <a:pPr>
                        <a:buNone/>
                      </a:pPr>
                      <a:r>
                        <a:rPr lang="en-IN"/>
                        <a:t>Team_Size</a:t>
                      </a:r>
                    </a:p>
                  </a:txBody>
                  <a:tcPr anchor="ctr"/>
                </a:tc>
                <a:tc>
                  <a:txBody>
                    <a:bodyPr/>
                    <a:lstStyle/>
                    <a:p>
                      <a:pPr>
                        <a:buNone/>
                      </a:pPr>
                      <a:r>
                        <a:rPr lang="en-IN"/>
                        <a:t>Experience</a:t>
                      </a:r>
                    </a:p>
                  </a:txBody>
                  <a:tcPr anchor="ctr"/>
                </a:tc>
                <a:extLst>
                  <a:ext uri="{0D108BD9-81ED-4DB2-BD59-A6C34878D82A}">
                    <a16:rowId xmlns:a16="http://schemas.microsoft.com/office/drawing/2014/main" val="2733132768"/>
                  </a:ext>
                </a:extLst>
              </a:tr>
              <a:tr h="0">
                <a:tc>
                  <a:txBody>
                    <a:bodyPr/>
                    <a:lstStyle/>
                    <a:p>
                      <a:pPr>
                        <a:buNone/>
                      </a:pPr>
                      <a:r>
                        <a:rPr lang="en-IN"/>
                        <a:t>Sales</a:t>
                      </a:r>
                    </a:p>
                  </a:txBody>
                  <a:tcPr anchor="ctr"/>
                </a:tc>
                <a:tc>
                  <a:txBody>
                    <a:bodyPr/>
                    <a:lstStyle/>
                    <a:p>
                      <a:pPr>
                        <a:buNone/>
                      </a:pPr>
                      <a:r>
                        <a:rPr lang="en-IN"/>
                        <a:t>1.00</a:t>
                      </a:r>
                    </a:p>
                  </a:txBody>
                  <a:tcPr anchor="ctr"/>
                </a:tc>
                <a:tc>
                  <a:txBody>
                    <a:bodyPr/>
                    <a:lstStyle/>
                    <a:p>
                      <a:pPr>
                        <a:buNone/>
                      </a:pPr>
                      <a:r>
                        <a:rPr lang="en-IN"/>
                        <a:t>0.78</a:t>
                      </a:r>
                    </a:p>
                  </a:txBody>
                  <a:tcPr anchor="ctr"/>
                </a:tc>
                <a:tc>
                  <a:txBody>
                    <a:bodyPr/>
                    <a:lstStyle/>
                    <a:p>
                      <a:pPr>
                        <a:buNone/>
                      </a:pPr>
                      <a:r>
                        <a:rPr lang="en-IN"/>
                        <a:t>0.65</a:t>
                      </a:r>
                    </a:p>
                  </a:txBody>
                  <a:tcPr anchor="ctr"/>
                </a:tc>
                <a:tc>
                  <a:txBody>
                    <a:bodyPr/>
                    <a:lstStyle/>
                    <a:p>
                      <a:pPr>
                        <a:buNone/>
                      </a:pPr>
                      <a:r>
                        <a:rPr lang="en-IN"/>
                        <a:t>0.34</a:t>
                      </a:r>
                    </a:p>
                  </a:txBody>
                  <a:tcPr anchor="ctr"/>
                </a:tc>
                <a:tc>
                  <a:txBody>
                    <a:bodyPr/>
                    <a:lstStyle/>
                    <a:p>
                      <a:pPr>
                        <a:buNone/>
                      </a:pPr>
                      <a:r>
                        <a:rPr lang="en-IN"/>
                        <a:t>0.82</a:t>
                      </a:r>
                    </a:p>
                  </a:txBody>
                  <a:tcPr anchor="ctr"/>
                </a:tc>
                <a:extLst>
                  <a:ext uri="{0D108BD9-81ED-4DB2-BD59-A6C34878D82A}">
                    <a16:rowId xmlns:a16="http://schemas.microsoft.com/office/drawing/2014/main" val="2637488067"/>
                  </a:ext>
                </a:extLst>
              </a:tr>
              <a:tr h="0">
                <a:tc>
                  <a:txBody>
                    <a:bodyPr/>
                    <a:lstStyle/>
                    <a:p>
                      <a:pPr>
                        <a:buNone/>
                      </a:pPr>
                      <a:r>
                        <a:rPr lang="en-IN"/>
                        <a:t>Training</a:t>
                      </a:r>
                    </a:p>
                  </a:txBody>
                  <a:tcPr anchor="ctr"/>
                </a:tc>
                <a:tc>
                  <a:txBody>
                    <a:bodyPr/>
                    <a:lstStyle/>
                    <a:p>
                      <a:pPr>
                        <a:buNone/>
                      </a:pPr>
                      <a:r>
                        <a:rPr lang="en-IN"/>
                        <a:t>0.78</a:t>
                      </a:r>
                    </a:p>
                  </a:txBody>
                  <a:tcPr anchor="ctr"/>
                </a:tc>
                <a:tc>
                  <a:txBody>
                    <a:bodyPr/>
                    <a:lstStyle/>
                    <a:p>
                      <a:pPr>
                        <a:buNone/>
                      </a:pPr>
                      <a:r>
                        <a:rPr lang="en-IN"/>
                        <a:t>1.00</a:t>
                      </a:r>
                    </a:p>
                  </a:txBody>
                  <a:tcPr anchor="ctr"/>
                </a:tc>
                <a:tc>
                  <a:txBody>
                    <a:bodyPr/>
                    <a:lstStyle/>
                    <a:p>
                      <a:pPr>
                        <a:buNone/>
                      </a:pPr>
                      <a:r>
                        <a:rPr lang="en-IN"/>
                        <a:t>0.23</a:t>
                      </a:r>
                    </a:p>
                  </a:txBody>
                  <a:tcPr anchor="ctr"/>
                </a:tc>
                <a:tc>
                  <a:txBody>
                    <a:bodyPr/>
                    <a:lstStyle/>
                    <a:p>
                      <a:pPr>
                        <a:buNone/>
                      </a:pPr>
                      <a:r>
                        <a:rPr lang="en-IN"/>
                        <a:t>0.45</a:t>
                      </a:r>
                    </a:p>
                  </a:txBody>
                  <a:tcPr anchor="ctr"/>
                </a:tc>
                <a:tc>
                  <a:txBody>
                    <a:bodyPr/>
                    <a:lstStyle/>
                    <a:p>
                      <a:pPr>
                        <a:buNone/>
                      </a:pPr>
                      <a:r>
                        <a:rPr lang="en-IN"/>
                        <a:t>0.56</a:t>
                      </a:r>
                    </a:p>
                  </a:txBody>
                  <a:tcPr anchor="ctr"/>
                </a:tc>
                <a:extLst>
                  <a:ext uri="{0D108BD9-81ED-4DB2-BD59-A6C34878D82A}">
                    <a16:rowId xmlns:a16="http://schemas.microsoft.com/office/drawing/2014/main" val="463149425"/>
                  </a:ext>
                </a:extLst>
              </a:tr>
              <a:tr h="0">
                <a:tc>
                  <a:txBody>
                    <a:bodyPr/>
                    <a:lstStyle/>
                    <a:p>
                      <a:pPr>
                        <a:buNone/>
                      </a:pPr>
                      <a:r>
                        <a:rPr lang="en-IN"/>
                        <a:t>Market</a:t>
                      </a:r>
                    </a:p>
                  </a:txBody>
                  <a:tcPr anchor="ctr"/>
                </a:tc>
                <a:tc>
                  <a:txBody>
                    <a:bodyPr/>
                    <a:lstStyle/>
                    <a:p>
                      <a:pPr>
                        <a:buNone/>
                      </a:pPr>
                      <a:r>
                        <a:rPr lang="en-IN"/>
                        <a:t>0.65</a:t>
                      </a:r>
                    </a:p>
                  </a:txBody>
                  <a:tcPr anchor="ctr"/>
                </a:tc>
                <a:tc>
                  <a:txBody>
                    <a:bodyPr/>
                    <a:lstStyle/>
                    <a:p>
                      <a:pPr>
                        <a:buNone/>
                      </a:pPr>
                      <a:r>
                        <a:rPr lang="en-IN"/>
                        <a:t>0.23</a:t>
                      </a:r>
                    </a:p>
                  </a:txBody>
                  <a:tcPr anchor="ctr"/>
                </a:tc>
                <a:tc>
                  <a:txBody>
                    <a:bodyPr/>
                    <a:lstStyle/>
                    <a:p>
                      <a:pPr>
                        <a:buNone/>
                      </a:pPr>
                      <a:r>
                        <a:rPr lang="en-IN"/>
                        <a:t>1.00</a:t>
                      </a:r>
                    </a:p>
                  </a:txBody>
                  <a:tcPr anchor="ctr"/>
                </a:tc>
                <a:tc>
                  <a:txBody>
                    <a:bodyPr/>
                    <a:lstStyle/>
                    <a:p>
                      <a:pPr>
                        <a:buNone/>
                      </a:pPr>
                      <a:r>
                        <a:rPr lang="en-IN"/>
                        <a:t>0.12</a:t>
                      </a:r>
                    </a:p>
                  </a:txBody>
                  <a:tcPr anchor="ctr"/>
                </a:tc>
                <a:tc>
                  <a:txBody>
                    <a:bodyPr/>
                    <a:lstStyle/>
                    <a:p>
                      <a:pPr>
                        <a:buNone/>
                      </a:pPr>
                      <a:r>
                        <a:rPr lang="en-IN"/>
                        <a:t>0.38</a:t>
                      </a:r>
                    </a:p>
                  </a:txBody>
                  <a:tcPr anchor="ctr"/>
                </a:tc>
                <a:extLst>
                  <a:ext uri="{0D108BD9-81ED-4DB2-BD59-A6C34878D82A}">
                    <a16:rowId xmlns:a16="http://schemas.microsoft.com/office/drawing/2014/main" val="660365942"/>
                  </a:ext>
                </a:extLst>
              </a:tr>
              <a:tr h="0">
                <a:tc>
                  <a:txBody>
                    <a:bodyPr/>
                    <a:lstStyle/>
                    <a:p>
                      <a:pPr>
                        <a:buNone/>
                      </a:pPr>
                      <a:r>
                        <a:rPr lang="en-IN"/>
                        <a:t>Team_Size</a:t>
                      </a:r>
                    </a:p>
                  </a:txBody>
                  <a:tcPr anchor="ctr"/>
                </a:tc>
                <a:tc>
                  <a:txBody>
                    <a:bodyPr/>
                    <a:lstStyle/>
                    <a:p>
                      <a:pPr>
                        <a:buNone/>
                      </a:pPr>
                      <a:r>
                        <a:rPr lang="en-IN"/>
                        <a:t>0.34</a:t>
                      </a:r>
                    </a:p>
                  </a:txBody>
                  <a:tcPr anchor="ctr"/>
                </a:tc>
                <a:tc>
                  <a:txBody>
                    <a:bodyPr/>
                    <a:lstStyle/>
                    <a:p>
                      <a:pPr>
                        <a:buNone/>
                      </a:pPr>
                      <a:r>
                        <a:rPr lang="en-IN"/>
                        <a:t>0.45</a:t>
                      </a:r>
                    </a:p>
                  </a:txBody>
                  <a:tcPr anchor="ctr"/>
                </a:tc>
                <a:tc>
                  <a:txBody>
                    <a:bodyPr/>
                    <a:lstStyle/>
                    <a:p>
                      <a:pPr>
                        <a:buNone/>
                      </a:pPr>
                      <a:r>
                        <a:rPr lang="en-IN"/>
                        <a:t>0.12</a:t>
                      </a:r>
                    </a:p>
                  </a:txBody>
                  <a:tcPr anchor="ctr"/>
                </a:tc>
                <a:tc>
                  <a:txBody>
                    <a:bodyPr/>
                    <a:lstStyle/>
                    <a:p>
                      <a:pPr>
                        <a:buNone/>
                      </a:pPr>
                      <a:r>
                        <a:rPr lang="en-IN"/>
                        <a:t>1.00</a:t>
                      </a:r>
                    </a:p>
                  </a:txBody>
                  <a:tcPr anchor="ctr"/>
                </a:tc>
                <a:tc>
                  <a:txBody>
                    <a:bodyPr/>
                    <a:lstStyle/>
                    <a:p>
                      <a:pPr>
                        <a:buNone/>
                      </a:pPr>
                      <a:r>
                        <a:rPr lang="en-IN"/>
                        <a:t>0.28</a:t>
                      </a:r>
                    </a:p>
                  </a:txBody>
                  <a:tcPr anchor="ctr"/>
                </a:tc>
                <a:extLst>
                  <a:ext uri="{0D108BD9-81ED-4DB2-BD59-A6C34878D82A}">
                    <a16:rowId xmlns:a16="http://schemas.microsoft.com/office/drawing/2014/main" val="3320976716"/>
                  </a:ext>
                </a:extLst>
              </a:tr>
              <a:tr h="0">
                <a:tc>
                  <a:txBody>
                    <a:bodyPr/>
                    <a:lstStyle/>
                    <a:p>
                      <a:pPr>
                        <a:buNone/>
                      </a:pPr>
                      <a:r>
                        <a:rPr lang="en-IN"/>
                        <a:t>Experience</a:t>
                      </a:r>
                    </a:p>
                  </a:txBody>
                  <a:tcPr anchor="ctr"/>
                </a:tc>
                <a:tc>
                  <a:txBody>
                    <a:bodyPr/>
                    <a:lstStyle/>
                    <a:p>
                      <a:pPr>
                        <a:buNone/>
                      </a:pPr>
                      <a:r>
                        <a:rPr lang="en-IN"/>
                        <a:t>0.82</a:t>
                      </a:r>
                    </a:p>
                  </a:txBody>
                  <a:tcPr anchor="ctr"/>
                </a:tc>
                <a:tc>
                  <a:txBody>
                    <a:bodyPr/>
                    <a:lstStyle/>
                    <a:p>
                      <a:pPr>
                        <a:buNone/>
                      </a:pPr>
                      <a:r>
                        <a:rPr lang="en-IN"/>
                        <a:t>0.56</a:t>
                      </a:r>
                    </a:p>
                  </a:txBody>
                  <a:tcPr anchor="ctr"/>
                </a:tc>
                <a:tc>
                  <a:txBody>
                    <a:bodyPr/>
                    <a:lstStyle/>
                    <a:p>
                      <a:pPr>
                        <a:buNone/>
                      </a:pPr>
                      <a:r>
                        <a:rPr lang="en-IN"/>
                        <a:t>0.38</a:t>
                      </a:r>
                    </a:p>
                  </a:txBody>
                  <a:tcPr anchor="ctr"/>
                </a:tc>
                <a:tc>
                  <a:txBody>
                    <a:bodyPr/>
                    <a:lstStyle/>
                    <a:p>
                      <a:pPr>
                        <a:buNone/>
                      </a:pPr>
                      <a:r>
                        <a:rPr lang="en-IN"/>
                        <a:t>0.28</a:t>
                      </a:r>
                    </a:p>
                  </a:txBody>
                  <a:tcPr anchor="ctr"/>
                </a:tc>
                <a:tc>
                  <a:txBody>
                    <a:bodyPr/>
                    <a:lstStyle/>
                    <a:p>
                      <a:pPr>
                        <a:buNone/>
                      </a:pPr>
                      <a:r>
                        <a:rPr lang="en-IN" dirty="0"/>
                        <a:t>1.00</a:t>
                      </a:r>
                    </a:p>
                  </a:txBody>
                  <a:tcPr anchor="ctr"/>
                </a:tc>
                <a:extLst>
                  <a:ext uri="{0D108BD9-81ED-4DB2-BD59-A6C34878D82A}">
                    <a16:rowId xmlns:a16="http://schemas.microsoft.com/office/drawing/2014/main" val="2168696046"/>
                  </a:ext>
                </a:extLst>
              </a:tr>
            </a:tbl>
          </a:graphicData>
        </a:graphic>
      </p:graphicFrame>
      <p:sp>
        <p:nvSpPr>
          <p:cNvPr id="6" name="Rectangle 2">
            <a:extLst>
              <a:ext uri="{FF2B5EF4-FFF2-40B4-BE49-F238E27FC236}">
                <a16:creationId xmlns:a16="http://schemas.microsoft.com/office/drawing/2014/main" id="{2231FA9F-7D7C-1906-DAE9-C1CD444798B1}"/>
              </a:ext>
            </a:extLst>
          </p:cNvPr>
          <p:cNvSpPr>
            <a:spLocks noChangeArrowheads="1"/>
          </p:cNvSpPr>
          <p:nvPr/>
        </p:nvSpPr>
        <p:spPr bwMode="auto">
          <a:xfrm>
            <a:off x="481263" y="1354165"/>
            <a:ext cx="938833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Fira Sans" panose="020B0503050000020004" pitchFamily="34" charset="0"/>
              </a:rPr>
              <a:t>Example: Sales Performance Root Cause Analysis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Fira Sans" panose="020B0503050000020004" pitchFamily="34" charset="0"/>
              </a:rPr>
              <a:t>Variables</a:t>
            </a:r>
            <a:r>
              <a:rPr kumimoji="0" lang="en-US" altLang="en-US" b="0" i="0" u="none" strike="noStrike" cap="none" normalizeH="0" baseline="0" dirty="0">
                <a:ln>
                  <a:noFill/>
                </a:ln>
                <a:solidFill>
                  <a:schemeClr val="tx1"/>
                </a:solidFill>
                <a:effectLst/>
                <a:latin typeface="Fira Sans" panose="020B0503050000020004" pitchFamily="34" charset="0"/>
              </a:rPr>
              <a:t>: Sales Performance, Training Hours, Market Conditions, Team Size, Experience</a:t>
            </a:r>
          </a:p>
        </p:txBody>
      </p:sp>
    </p:spTree>
    <p:extLst>
      <p:ext uri="{BB962C8B-B14F-4D97-AF65-F5344CB8AC3E}">
        <p14:creationId xmlns:p14="http://schemas.microsoft.com/office/powerpoint/2010/main" val="1154351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4F6FF-9E6B-2B08-1C68-A33AA5F778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A22C5E-FDD4-8B77-F2B2-FD7C7552D57D}"/>
              </a:ext>
            </a:extLst>
          </p:cNvPr>
          <p:cNvSpPr>
            <a:spLocks noGrp="1"/>
          </p:cNvSpPr>
          <p:nvPr>
            <p:ph type="title"/>
          </p:nvPr>
        </p:nvSpPr>
        <p:spPr>
          <a:xfrm>
            <a:off x="633663" y="28602"/>
            <a:ext cx="11261558" cy="1325563"/>
          </a:xfrm>
        </p:spPr>
        <p:txBody>
          <a:bodyPr>
            <a:normAutofit/>
          </a:bodyPr>
          <a:lstStyle/>
          <a:p>
            <a:pPr algn="ctr"/>
            <a:r>
              <a:rPr lang="en-IN" b="1" noProof="0" dirty="0">
                <a:latin typeface="Fira Sans" panose="020B0503050000020004" pitchFamily="34" charset="0"/>
              </a:rPr>
              <a:t>Correlation for Root Cause Analysis</a:t>
            </a:r>
            <a:endParaRPr lang="en-IN" b="1" dirty="0"/>
          </a:p>
        </p:txBody>
      </p:sp>
      <p:graphicFrame>
        <p:nvGraphicFramePr>
          <p:cNvPr id="5" name="Content Placeholder 4">
            <a:extLst>
              <a:ext uri="{FF2B5EF4-FFF2-40B4-BE49-F238E27FC236}">
                <a16:creationId xmlns:a16="http://schemas.microsoft.com/office/drawing/2014/main" id="{B7B9AEA1-E20C-19D7-6278-C82DD0368EDD}"/>
              </a:ext>
            </a:extLst>
          </p:cNvPr>
          <p:cNvGraphicFramePr>
            <a:graphicFrameLocks noGrp="1"/>
          </p:cNvGraphicFramePr>
          <p:nvPr>
            <p:ph idx="1"/>
            <p:extLst>
              <p:ext uri="{D42A27DB-BD31-4B8C-83A1-F6EECF244321}">
                <p14:modId xmlns:p14="http://schemas.microsoft.com/office/powerpoint/2010/main" val="2761524576"/>
              </p:ext>
            </p:extLst>
          </p:nvPr>
        </p:nvGraphicFramePr>
        <p:xfrm>
          <a:off x="838199" y="1913671"/>
          <a:ext cx="10515600" cy="2194560"/>
        </p:xfrm>
        <a:graphic>
          <a:graphicData uri="http://schemas.openxmlformats.org/drawingml/2006/table">
            <a:tbl>
              <a:tblPr firstRow="1">
                <a:tableStyleId>{793D81CF-94F2-401A-BA57-92F5A7B2D0C5}</a:tableStyleId>
              </a:tblPr>
              <a:tblGrid>
                <a:gridCol w="1752600">
                  <a:extLst>
                    <a:ext uri="{9D8B030D-6E8A-4147-A177-3AD203B41FA5}">
                      <a16:colId xmlns:a16="http://schemas.microsoft.com/office/drawing/2014/main" val="3494321311"/>
                    </a:ext>
                  </a:extLst>
                </a:gridCol>
                <a:gridCol w="1752600">
                  <a:extLst>
                    <a:ext uri="{9D8B030D-6E8A-4147-A177-3AD203B41FA5}">
                      <a16:colId xmlns:a16="http://schemas.microsoft.com/office/drawing/2014/main" val="3624426243"/>
                    </a:ext>
                  </a:extLst>
                </a:gridCol>
                <a:gridCol w="1752600">
                  <a:extLst>
                    <a:ext uri="{9D8B030D-6E8A-4147-A177-3AD203B41FA5}">
                      <a16:colId xmlns:a16="http://schemas.microsoft.com/office/drawing/2014/main" val="734534287"/>
                    </a:ext>
                  </a:extLst>
                </a:gridCol>
                <a:gridCol w="1752600">
                  <a:extLst>
                    <a:ext uri="{9D8B030D-6E8A-4147-A177-3AD203B41FA5}">
                      <a16:colId xmlns:a16="http://schemas.microsoft.com/office/drawing/2014/main" val="202260310"/>
                    </a:ext>
                  </a:extLst>
                </a:gridCol>
                <a:gridCol w="1752600">
                  <a:extLst>
                    <a:ext uri="{9D8B030D-6E8A-4147-A177-3AD203B41FA5}">
                      <a16:colId xmlns:a16="http://schemas.microsoft.com/office/drawing/2014/main" val="2397983729"/>
                    </a:ext>
                  </a:extLst>
                </a:gridCol>
                <a:gridCol w="1752600">
                  <a:extLst>
                    <a:ext uri="{9D8B030D-6E8A-4147-A177-3AD203B41FA5}">
                      <a16:colId xmlns:a16="http://schemas.microsoft.com/office/drawing/2014/main" val="2221772371"/>
                    </a:ext>
                  </a:extLst>
                </a:gridCol>
              </a:tblGrid>
              <a:tr h="0">
                <a:tc>
                  <a:txBody>
                    <a:bodyPr/>
                    <a:lstStyle/>
                    <a:p>
                      <a:pPr>
                        <a:buNone/>
                      </a:pPr>
                      <a:r>
                        <a:rPr lang="en-IN" dirty="0"/>
                        <a:t>Variable</a:t>
                      </a:r>
                    </a:p>
                  </a:txBody>
                  <a:tcPr anchor="ctr"/>
                </a:tc>
                <a:tc>
                  <a:txBody>
                    <a:bodyPr/>
                    <a:lstStyle/>
                    <a:p>
                      <a:pPr>
                        <a:buNone/>
                      </a:pPr>
                      <a:r>
                        <a:rPr lang="en-IN" dirty="0"/>
                        <a:t>Sales</a:t>
                      </a:r>
                    </a:p>
                  </a:txBody>
                  <a:tcPr anchor="ctr"/>
                </a:tc>
                <a:tc>
                  <a:txBody>
                    <a:bodyPr/>
                    <a:lstStyle/>
                    <a:p>
                      <a:pPr>
                        <a:buNone/>
                      </a:pPr>
                      <a:r>
                        <a:rPr lang="en-IN" dirty="0"/>
                        <a:t>Training</a:t>
                      </a:r>
                    </a:p>
                  </a:txBody>
                  <a:tcPr anchor="ctr"/>
                </a:tc>
                <a:tc>
                  <a:txBody>
                    <a:bodyPr/>
                    <a:lstStyle/>
                    <a:p>
                      <a:pPr>
                        <a:buNone/>
                      </a:pPr>
                      <a:r>
                        <a:rPr lang="en-IN"/>
                        <a:t>Market</a:t>
                      </a:r>
                    </a:p>
                  </a:txBody>
                  <a:tcPr anchor="ctr"/>
                </a:tc>
                <a:tc>
                  <a:txBody>
                    <a:bodyPr/>
                    <a:lstStyle/>
                    <a:p>
                      <a:pPr>
                        <a:buNone/>
                      </a:pPr>
                      <a:r>
                        <a:rPr lang="en-IN"/>
                        <a:t>Team_Size</a:t>
                      </a:r>
                    </a:p>
                  </a:txBody>
                  <a:tcPr anchor="ctr"/>
                </a:tc>
                <a:tc>
                  <a:txBody>
                    <a:bodyPr/>
                    <a:lstStyle/>
                    <a:p>
                      <a:pPr>
                        <a:buNone/>
                      </a:pPr>
                      <a:r>
                        <a:rPr lang="en-IN"/>
                        <a:t>Experience</a:t>
                      </a:r>
                    </a:p>
                  </a:txBody>
                  <a:tcPr anchor="ctr"/>
                </a:tc>
                <a:extLst>
                  <a:ext uri="{0D108BD9-81ED-4DB2-BD59-A6C34878D82A}">
                    <a16:rowId xmlns:a16="http://schemas.microsoft.com/office/drawing/2014/main" val="2733132768"/>
                  </a:ext>
                </a:extLst>
              </a:tr>
              <a:tr h="0">
                <a:tc>
                  <a:txBody>
                    <a:bodyPr/>
                    <a:lstStyle/>
                    <a:p>
                      <a:pPr>
                        <a:buNone/>
                      </a:pPr>
                      <a:r>
                        <a:rPr lang="en-IN"/>
                        <a:t>Sales</a:t>
                      </a:r>
                    </a:p>
                  </a:txBody>
                  <a:tcPr anchor="ctr"/>
                </a:tc>
                <a:tc>
                  <a:txBody>
                    <a:bodyPr/>
                    <a:lstStyle/>
                    <a:p>
                      <a:pPr>
                        <a:buNone/>
                      </a:pPr>
                      <a:r>
                        <a:rPr lang="en-IN"/>
                        <a:t>1.00</a:t>
                      </a:r>
                    </a:p>
                  </a:txBody>
                  <a:tcPr anchor="ctr"/>
                </a:tc>
                <a:tc>
                  <a:txBody>
                    <a:bodyPr/>
                    <a:lstStyle/>
                    <a:p>
                      <a:pPr>
                        <a:buNone/>
                      </a:pPr>
                      <a:r>
                        <a:rPr lang="en-IN"/>
                        <a:t>0.78</a:t>
                      </a:r>
                    </a:p>
                  </a:txBody>
                  <a:tcPr anchor="ctr"/>
                </a:tc>
                <a:tc>
                  <a:txBody>
                    <a:bodyPr/>
                    <a:lstStyle/>
                    <a:p>
                      <a:pPr>
                        <a:buNone/>
                      </a:pPr>
                      <a:r>
                        <a:rPr lang="en-IN"/>
                        <a:t>0.65</a:t>
                      </a:r>
                    </a:p>
                  </a:txBody>
                  <a:tcPr anchor="ctr"/>
                </a:tc>
                <a:tc>
                  <a:txBody>
                    <a:bodyPr/>
                    <a:lstStyle/>
                    <a:p>
                      <a:pPr>
                        <a:buNone/>
                      </a:pPr>
                      <a:r>
                        <a:rPr lang="en-IN"/>
                        <a:t>0.34</a:t>
                      </a:r>
                    </a:p>
                  </a:txBody>
                  <a:tcPr anchor="ctr"/>
                </a:tc>
                <a:tc>
                  <a:txBody>
                    <a:bodyPr/>
                    <a:lstStyle/>
                    <a:p>
                      <a:pPr>
                        <a:buNone/>
                      </a:pPr>
                      <a:r>
                        <a:rPr lang="en-IN"/>
                        <a:t>0.82</a:t>
                      </a:r>
                    </a:p>
                  </a:txBody>
                  <a:tcPr anchor="ctr"/>
                </a:tc>
                <a:extLst>
                  <a:ext uri="{0D108BD9-81ED-4DB2-BD59-A6C34878D82A}">
                    <a16:rowId xmlns:a16="http://schemas.microsoft.com/office/drawing/2014/main" val="2637488067"/>
                  </a:ext>
                </a:extLst>
              </a:tr>
              <a:tr h="0">
                <a:tc>
                  <a:txBody>
                    <a:bodyPr/>
                    <a:lstStyle/>
                    <a:p>
                      <a:pPr>
                        <a:buNone/>
                      </a:pPr>
                      <a:r>
                        <a:rPr lang="en-IN"/>
                        <a:t>Training</a:t>
                      </a:r>
                    </a:p>
                  </a:txBody>
                  <a:tcPr anchor="ctr"/>
                </a:tc>
                <a:tc>
                  <a:txBody>
                    <a:bodyPr/>
                    <a:lstStyle/>
                    <a:p>
                      <a:pPr>
                        <a:buNone/>
                      </a:pPr>
                      <a:r>
                        <a:rPr lang="en-IN"/>
                        <a:t>0.78</a:t>
                      </a:r>
                    </a:p>
                  </a:txBody>
                  <a:tcPr anchor="ctr"/>
                </a:tc>
                <a:tc>
                  <a:txBody>
                    <a:bodyPr/>
                    <a:lstStyle/>
                    <a:p>
                      <a:pPr>
                        <a:buNone/>
                      </a:pPr>
                      <a:r>
                        <a:rPr lang="en-IN"/>
                        <a:t>1.00</a:t>
                      </a:r>
                    </a:p>
                  </a:txBody>
                  <a:tcPr anchor="ctr"/>
                </a:tc>
                <a:tc>
                  <a:txBody>
                    <a:bodyPr/>
                    <a:lstStyle/>
                    <a:p>
                      <a:pPr>
                        <a:buNone/>
                      </a:pPr>
                      <a:r>
                        <a:rPr lang="en-IN"/>
                        <a:t>0.23</a:t>
                      </a:r>
                    </a:p>
                  </a:txBody>
                  <a:tcPr anchor="ctr"/>
                </a:tc>
                <a:tc>
                  <a:txBody>
                    <a:bodyPr/>
                    <a:lstStyle/>
                    <a:p>
                      <a:pPr>
                        <a:buNone/>
                      </a:pPr>
                      <a:r>
                        <a:rPr lang="en-IN"/>
                        <a:t>0.45</a:t>
                      </a:r>
                    </a:p>
                  </a:txBody>
                  <a:tcPr anchor="ctr"/>
                </a:tc>
                <a:tc>
                  <a:txBody>
                    <a:bodyPr/>
                    <a:lstStyle/>
                    <a:p>
                      <a:pPr>
                        <a:buNone/>
                      </a:pPr>
                      <a:r>
                        <a:rPr lang="en-IN"/>
                        <a:t>0.56</a:t>
                      </a:r>
                    </a:p>
                  </a:txBody>
                  <a:tcPr anchor="ctr"/>
                </a:tc>
                <a:extLst>
                  <a:ext uri="{0D108BD9-81ED-4DB2-BD59-A6C34878D82A}">
                    <a16:rowId xmlns:a16="http://schemas.microsoft.com/office/drawing/2014/main" val="463149425"/>
                  </a:ext>
                </a:extLst>
              </a:tr>
              <a:tr h="0">
                <a:tc>
                  <a:txBody>
                    <a:bodyPr/>
                    <a:lstStyle/>
                    <a:p>
                      <a:pPr>
                        <a:buNone/>
                      </a:pPr>
                      <a:r>
                        <a:rPr lang="en-IN"/>
                        <a:t>Market</a:t>
                      </a:r>
                    </a:p>
                  </a:txBody>
                  <a:tcPr anchor="ctr"/>
                </a:tc>
                <a:tc>
                  <a:txBody>
                    <a:bodyPr/>
                    <a:lstStyle/>
                    <a:p>
                      <a:pPr>
                        <a:buNone/>
                      </a:pPr>
                      <a:r>
                        <a:rPr lang="en-IN"/>
                        <a:t>0.65</a:t>
                      </a:r>
                    </a:p>
                  </a:txBody>
                  <a:tcPr anchor="ctr"/>
                </a:tc>
                <a:tc>
                  <a:txBody>
                    <a:bodyPr/>
                    <a:lstStyle/>
                    <a:p>
                      <a:pPr>
                        <a:buNone/>
                      </a:pPr>
                      <a:r>
                        <a:rPr lang="en-IN"/>
                        <a:t>0.23</a:t>
                      </a:r>
                    </a:p>
                  </a:txBody>
                  <a:tcPr anchor="ctr"/>
                </a:tc>
                <a:tc>
                  <a:txBody>
                    <a:bodyPr/>
                    <a:lstStyle/>
                    <a:p>
                      <a:pPr>
                        <a:buNone/>
                      </a:pPr>
                      <a:r>
                        <a:rPr lang="en-IN"/>
                        <a:t>1.00</a:t>
                      </a:r>
                    </a:p>
                  </a:txBody>
                  <a:tcPr anchor="ctr"/>
                </a:tc>
                <a:tc>
                  <a:txBody>
                    <a:bodyPr/>
                    <a:lstStyle/>
                    <a:p>
                      <a:pPr>
                        <a:buNone/>
                      </a:pPr>
                      <a:r>
                        <a:rPr lang="en-IN"/>
                        <a:t>0.12</a:t>
                      </a:r>
                    </a:p>
                  </a:txBody>
                  <a:tcPr anchor="ctr"/>
                </a:tc>
                <a:tc>
                  <a:txBody>
                    <a:bodyPr/>
                    <a:lstStyle/>
                    <a:p>
                      <a:pPr>
                        <a:buNone/>
                      </a:pPr>
                      <a:r>
                        <a:rPr lang="en-IN"/>
                        <a:t>0.38</a:t>
                      </a:r>
                    </a:p>
                  </a:txBody>
                  <a:tcPr anchor="ctr"/>
                </a:tc>
                <a:extLst>
                  <a:ext uri="{0D108BD9-81ED-4DB2-BD59-A6C34878D82A}">
                    <a16:rowId xmlns:a16="http://schemas.microsoft.com/office/drawing/2014/main" val="660365942"/>
                  </a:ext>
                </a:extLst>
              </a:tr>
              <a:tr h="0">
                <a:tc>
                  <a:txBody>
                    <a:bodyPr/>
                    <a:lstStyle/>
                    <a:p>
                      <a:pPr>
                        <a:buNone/>
                      </a:pPr>
                      <a:r>
                        <a:rPr lang="en-IN"/>
                        <a:t>Team_Size</a:t>
                      </a:r>
                    </a:p>
                  </a:txBody>
                  <a:tcPr anchor="ctr"/>
                </a:tc>
                <a:tc>
                  <a:txBody>
                    <a:bodyPr/>
                    <a:lstStyle/>
                    <a:p>
                      <a:pPr>
                        <a:buNone/>
                      </a:pPr>
                      <a:r>
                        <a:rPr lang="en-IN"/>
                        <a:t>0.34</a:t>
                      </a:r>
                    </a:p>
                  </a:txBody>
                  <a:tcPr anchor="ctr"/>
                </a:tc>
                <a:tc>
                  <a:txBody>
                    <a:bodyPr/>
                    <a:lstStyle/>
                    <a:p>
                      <a:pPr>
                        <a:buNone/>
                      </a:pPr>
                      <a:r>
                        <a:rPr lang="en-IN"/>
                        <a:t>0.45</a:t>
                      </a:r>
                    </a:p>
                  </a:txBody>
                  <a:tcPr anchor="ctr"/>
                </a:tc>
                <a:tc>
                  <a:txBody>
                    <a:bodyPr/>
                    <a:lstStyle/>
                    <a:p>
                      <a:pPr>
                        <a:buNone/>
                      </a:pPr>
                      <a:r>
                        <a:rPr lang="en-IN"/>
                        <a:t>0.12</a:t>
                      </a:r>
                    </a:p>
                  </a:txBody>
                  <a:tcPr anchor="ctr"/>
                </a:tc>
                <a:tc>
                  <a:txBody>
                    <a:bodyPr/>
                    <a:lstStyle/>
                    <a:p>
                      <a:pPr>
                        <a:buNone/>
                      </a:pPr>
                      <a:r>
                        <a:rPr lang="en-IN"/>
                        <a:t>1.00</a:t>
                      </a:r>
                    </a:p>
                  </a:txBody>
                  <a:tcPr anchor="ctr"/>
                </a:tc>
                <a:tc>
                  <a:txBody>
                    <a:bodyPr/>
                    <a:lstStyle/>
                    <a:p>
                      <a:pPr>
                        <a:buNone/>
                      </a:pPr>
                      <a:r>
                        <a:rPr lang="en-IN"/>
                        <a:t>0.28</a:t>
                      </a:r>
                    </a:p>
                  </a:txBody>
                  <a:tcPr anchor="ctr"/>
                </a:tc>
                <a:extLst>
                  <a:ext uri="{0D108BD9-81ED-4DB2-BD59-A6C34878D82A}">
                    <a16:rowId xmlns:a16="http://schemas.microsoft.com/office/drawing/2014/main" val="3320976716"/>
                  </a:ext>
                </a:extLst>
              </a:tr>
              <a:tr h="0">
                <a:tc>
                  <a:txBody>
                    <a:bodyPr/>
                    <a:lstStyle/>
                    <a:p>
                      <a:pPr>
                        <a:buNone/>
                      </a:pPr>
                      <a:r>
                        <a:rPr lang="en-IN"/>
                        <a:t>Experience</a:t>
                      </a:r>
                    </a:p>
                  </a:txBody>
                  <a:tcPr anchor="ctr"/>
                </a:tc>
                <a:tc>
                  <a:txBody>
                    <a:bodyPr/>
                    <a:lstStyle/>
                    <a:p>
                      <a:pPr>
                        <a:buNone/>
                      </a:pPr>
                      <a:r>
                        <a:rPr lang="en-IN"/>
                        <a:t>0.82</a:t>
                      </a:r>
                    </a:p>
                  </a:txBody>
                  <a:tcPr anchor="ctr"/>
                </a:tc>
                <a:tc>
                  <a:txBody>
                    <a:bodyPr/>
                    <a:lstStyle/>
                    <a:p>
                      <a:pPr>
                        <a:buNone/>
                      </a:pPr>
                      <a:r>
                        <a:rPr lang="en-IN"/>
                        <a:t>0.56</a:t>
                      </a:r>
                    </a:p>
                  </a:txBody>
                  <a:tcPr anchor="ctr"/>
                </a:tc>
                <a:tc>
                  <a:txBody>
                    <a:bodyPr/>
                    <a:lstStyle/>
                    <a:p>
                      <a:pPr>
                        <a:buNone/>
                      </a:pPr>
                      <a:r>
                        <a:rPr lang="en-IN"/>
                        <a:t>0.38</a:t>
                      </a:r>
                    </a:p>
                  </a:txBody>
                  <a:tcPr anchor="ctr"/>
                </a:tc>
                <a:tc>
                  <a:txBody>
                    <a:bodyPr/>
                    <a:lstStyle/>
                    <a:p>
                      <a:pPr>
                        <a:buNone/>
                      </a:pPr>
                      <a:r>
                        <a:rPr lang="en-IN"/>
                        <a:t>0.28</a:t>
                      </a:r>
                    </a:p>
                  </a:txBody>
                  <a:tcPr anchor="ctr"/>
                </a:tc>
                <a:tc>
                  <a:txBody>
                    <a:bodyPr/>
                    <a:lstStyle/>
                    <a:p>
                      <a:pPr>
                        <a:buNone/>
                      </a:pPr>
                      <a:r>
                        <a:rPr lang="en-IN" dirty="0"/>
                        <a:t>1.00</a:t>
                      </a:r>
                    </a:p>
                  </a:txBody>
                  <a:tcPr anchor="ctr"/>
                </a:tc>
                <a:extLst>
                  <a:ext uri="{0D108BD9-81ED-4DB2-BD59-A6C34878D82A}">
                    <a16:rowId xmlns:a16="http://schemas.microsoft.com/office/drawing/2014/main" val="2168696046"/>
                  </a:ext>
                </a:extLst>
              </a:tr>
            </a:tbl>
          </a:graphicData>
        </a:graphic>
      </p:graphicFrame>
      <p:sp>
        <p:nvSpPr>
          <p:cNvPr id="6" name="Rectangle 2">
            <a:extLst>
              <a:ext uri="{FF2B5EF4-FFF2-40B4-BE49-F238E27FC236}">
                <a16:creationId xmlns:a16="http://schemas.microsoft.com/office/drawing/2014/main" id="{1B514F35-5487-C5B7-E576-FBF0AB0DC985}"/>
              </a:ext>
            </a:extLst>
          </p:cNvPr>
          <p:cNvSpPr>
            <a:spLocks noChangeArrowheads="1"/>
          </p:cNvSpPr>
          <p:nvPr/>
        </p:nvSpPr>
        <p:spPr bwMode="auto">
          <a:xfrm>
            <a:off x="1401830" y="1196611"/>
            <a:ext cx="938833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Fira Sans" panose="020B0503050000020004" pitchFamily="34" charset="0"/>
              </a:rPr>
              <a:t>Example: Sales Performance Root Cause Analysis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Fira Sans" panose="020B0503050000020004" pitchFamily="34" charset="0"/>
              </a:rPr>
              <a:t>Variables</a:t>
            </a:r>
            <a:r>
              <a:rPr kumimoji="0" lang="en-US" altLang="en-US" b="0" i="0" u="none" strike="noStrike" cap="none" normalizeH="0" baseline="0" dirty="0">
                <a:ln>
                  <a:noFill/>
                </a:ln>
                <a:solidFill>
                  <a:schemeClr val="tx1"/>
                </a:solidFill>
                <a:effectLst/>
                <a:latin typeface="Fira Sans" panose="020B0503050000020004" pitchFamily="34" charset="0"/>
              </a:rPr>
              <a:t>: Sales Performance, Training Hours, Market Conditions, Team Size, Experience</a:t>
            </a:r>
          </a:p>
        </p:txBody>
      </p:sp>
      <p:sp>
        <p:nvSpPr>
          <p:cNvPr id="4" name="TextBox 3">
            <a:extLst>
              <a:ext uri="{FF2B5EF4-FFF2-40B4-BE49-F238E27FC236}">
                <a16:creationId xmlns:a16="http://schemas.microsoft.com/office/drawing/2014/main" id="{AC3CA380-7544-1474-6B62-76BB2094563A}"/>
              </a:ext>
            </a:extLst>
          </p:cNvPr>
          <p:cNvSpPr txBox="1"/>
          <p:nvPr/>
        </p:nvSpPr>
        <p:spPr>
          <a:xfrm>
            <a:off x="3047999" y="4332238"/>
            <a:ext cx="6096000" cy="2308324"/>
          </a:xfrm>
          <a:prstGeom prst="rect">
            <a:avLst/>
          </a:prstGeom>
          <a:noFill/>
        </p:spPr>
        <p:txBody>
          <a:bodyPr wrap="square">
            <a:spAutoFit/>
          </a:bodyPr>
          <a:lstStyle/>
          <a:p>
            <a:pPr>
              <a:buNone/>
            </a:pPr>
            <a:r>
              <a:rPr lang="en-US" b="1" dirty="0"/>
              <a:t>Root Cause Ranking by Correlation:</a:t>
            </a:r>
          </a:p>
          <a:p>
            <a:pPr>
              <a:buFont typeface="+mj-lt"/>
              <a:buAutoNum type="arabicPeriod"/>
            </a:pPr>
            <a:r>
              <a:rPr lang="en-US" b="1" dirty="0"/>
              <a:t>Experience</a:t>
            </a:r>
            <a:r>
              <a:rPr lang="en-US" dirty="0"/>
              <a:t>: r = 0.82 (Strong positive correlation)</a:t>
            </a:r>
          </a:p>
          <a:p>
            <a:pPr>
              <a:buFont typeface="+mj-lt"/>
              <a:buAutoNum type="arabicPeriod"/>
            </a:pPr>
            <a:r>
              <a:rPr lang="en-US" b="1" dirty="0"/>
              <a:t>Training</a:t>
            </a:r>
            <a:r>
              <a:rPr lang="en-US" dirty="0"/>
              <a:t>: r = 0.78 (Strong positive correlation)</a:t>
            </a:r>
          </a:p>
          <a:p>
            <a:pPr>
              <a:buFont typeface="+mj-lt"/>
              <a:buAutoNum type="arabicPeriod"/>
            </a:pPr>
            <a:r>
              <a:rPr lang="en-US" b="1" dirty="0"/>
              <a:t>Market Conditions</a:t>
            </a:r>
            <a:r>
              <a:rPr lang="en-US" dirty="0"/>
              <a:t>: r = 0.65 (Moderate positive correlation)</a:t>
            </a:r>
          </a:p>
          <a:p>
            <a:pPr>
              <a:buFont typeface="+mj-lt"/>
              <a:buAutoNum type="arabicPeriod"/>
            </a:pPr>
            <a:r>
              <a:rPr lang="en-US" b="1" dirty="0"/>
              <a:t>Team Size</a:t>
            </a:r>
            <a:r>
              <a:rPr lang="en-US" dirty="0"/>
              <a:t>: r = 0.34 (Weak positive correlation)</a:t>
            </a:r>
          </a:p>
          <a:p>
            <a:pPr>
              <a:buNone/>
            </a:pPr>
            <a:r>
              <a:rPr lang="en-US" b="1" dirty="0"/>
              <a:t>Coefficient of Determination (R²):</a:t>
            </a:r>
          </a:p>
          <a:p>
            <a:pPr>
              <a:buFont typeface="Arial" panose="020B0604020202020204" pitchFamily="34" charset="0"/>
              <a:buChar char="•"/>
            </a:pPr>
            <a:r>
              <a:rPr lang="en-US" b="1" dirty="0"/>
              <a:t>Experience</a:t>
            </a:r>
            <a:r>
              <a:rPr lang="en-US" dirty="0"/>
              <a:t>: R² = 0.82² = 0.67 (67% of sales variance explained)</a:t>
            </a:r>
          </a:p>
          <a:p>
            <a:pPr>
              <a:buFont typeface="Arial" panose="020B0604020202020204" pitchFamily="34" charset="0"/>
              <a:buChar char="•"/>
            </a:pPr>
            <a:r>
              <a:rPr lang="en-US" b="1" dirty="0"/>
              <a:t>Training</a:t>
            </a:r>
            <a:r>
              <a:rPr lang="en-US" dirty="0"/>
              <a:t>: R² = 0.78² = 0.61 (61% of sales variance explained)</a:t>
            </a:r>
          </a:p>
        </p:txBody>
      </p:sp>
    </p:spTree>
    <p:extLst>
      <p:ext uri="{BB962C8B-B14F-4D97-AF65-F5344CB8AC3E}">
        <p14:creationId xmlns:p14="http://schemas.microsoft.com/office/powerpoint/2010/main" val="38686216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43099-5372-AD26-4D02-B1D09247D24B}"/>
              </a:ext>
            </a:extLst>
          </p:cNvPr>
          <p:cNvSpPr>
            <a:spLocks noGrp="1"/>
          </p:cNvSpPr>
          <p:nvPr>
            <p:ph type="title"/>
          </p:nvPr>
        </p:nvSpPr>
        <p:spPr/>
        <p:txBody>
          <a:bodyPr/>
          <a:lstStyle/>
          <a:p>
            <a:pPr algn="ctr"/>
            <a:r>
              <a:rPr lang="en-IN" b="1" noProof="0" dirty="0">
                <a:latin typeface="Fira Sans" panose="020B0503050000020004" pitchFamily="34" charset="0"/>
              </a:rPr>
              <a:t>Pareto Analysis (80/20 Rule)</a:t>
            </a:r>
            <a:endParaRPr lang="en-IN" b="1" dirty="0"/>
          </a:p>
        </p:txBody>
      </p:sp>
      <p:sp>
        <p:nvSpPr>
          <p:cNvPr id="3" name="Content Placeholder 2">
            <a:extLst>
              <a:ext uri="{FF2B5EF4-FFF2-40B4-BE49-F238E27FC236}">
                <a16:creationId xmlns:a16="http://schemas.microsoft.com/office/drawing/2014/main" id="{57EB3271-D93F-C047-546A-3919BE74682B}"/>
              </a:ext>
            </a:extLst>
          </p:cNvPr>
          <p:cNvSpPr>
            <a:spLocks noGrp="1"/>
          </p:cNvSpPr>
          <p:nvPr>
            <p:ph idx="1"/>
          </p:nvPr>
        </p:nvSpPr>
        <p:spPr/>
        <p:txBody>
          <a:bodyPr>
            <a:normAutofit fontScale="92500" lnSpcReduction="10000"/>
          </a:bodyPr>
          <a:lstStyle/>
          <a:p>
            <a:pPr>
              <a:lnSpc>
                <a:spcPct val="150000"/>
              </a:lnSpc>
            </a:pPr>
            <a:r>
              <a:rPr lang="en-US" b="1" dirty="0">
                <a:latin typeface="Fira Sans" panose="020B0503050000020004" pitchFamily="34" charset="0"/>
              </a:rPr>
              <a:t>Principle</a:t>
            </a:r>
            <a:r>
              <a:rPr lang="en-US" dirty="0">
                <a:latin typeface="Fira Sans" panose="020B0503050000020004" pitchFamily="34" charset="0"/>
              </a:rPr>
              <a:t>: The Pareto Principle is an observed phenomenon which states that 80% of effects result from 20% of causes.</a:t>
            </a:r>
          </a:p>
          <a:p>
            <a:pPr>
              <a:lnSpc>
                <a:spcPct val="150000"/>
              </a:lnSpc>
            </a:pPr>
            <a:r>
              <a:rPr lang="en-US" dirty="0">
                <a:latin typeface="Fira Sans" panose="020B0503050000020004" pitchFamily="34" charset="0"/>
              </a:rPr>
              <a:t>The principle helps in pinpointing the critical few causes that contribute most to a problem, allowing for targeted interventions. </a:t>
            </a:r>
          </a:p>
          <a:p>
            <a:pPr>
              <a:lnSpc>
                <a:spcPct val="150000"/>
              </a:lnSpc>
            </a:pPr>
            <a:r>
              <a:rPr lang="en-US" dirty="0">
                <a:latin typeface="Fira Sans" panose="020B0503050000020004" pitchFamily="34" charset="0"/>
              </a:rPr>
              <a:t>By identifying the vital few, diagnostic analysis can prioritize efforts and resources on addressing the most impactful factors, leading to more efficient solutions. </a:t>
            </a:r>
            <a:endParaRPr lang="en-IN" dirty="0">
              <a:latin typeface="Fira Sans" panose="020B0503050000020004" pitchFamily="34" charset="0"/>
            </a:endParaRPr>
          </a:p>
        </p:txBody>
      </p:sp>
    </p:spTree>
    <p:extLst>
      <p:ext uri="{BB962C8B-B14F-4D97-AF65-F5344CB8AC3E}">
        <p14:creationId xmlns:p14="http://schemas.microsoft.com/office/powerpoint/2010/main" val="1587891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75C09D-ECB9-7640-CE70-5236151537E5}"/>
              </a:ext>
            </a:extLst>
          </p:cNvPr>
          <p:cNvSpPr>
            <a:spLocks noGrp="1"/>
          </p:cNvSpPr>
          <p:nvPr>
            <p:ph idx="1"/>
          </p:nvPr>
        </p:nvSpPr>
        <p:spPr>
          <a:xfrm>
            <a:off x="838200" y="225425"/>
            <a:ext cx="10515600" cy="4351338"/>
          </a:xfrm>
        </p:spPr>
        <p:txBody>
          <a:bodyPr/>
          <a:lstStyle/>
          <a:p>
            <a:r>
              <a:rPr lang="en-US" b="1" dirty="0">
                <a:latin typeface="Fira Sans" panose="020B0503050000020004" pitchFamily="34" charset="0"/>
              </a:rPr>
              <a:t>Formula:</a:t>
            </a:r>
          </a:p>
          <a:p>
            <a:r>
              <a:rPr lang="en-US" i="1" dirty="0">
                <a:latin typeface="Fira Sans" panose="020B0503050000020004" pitchFamily="34" charset="0"/>
              </a:rPr>
              <a:t>Cumulative Percentage = </a:t>
            </a:r>
          </a:p>
          <a:p>
            <a:pPr marL="0" indent="0">
              <a:buNone/>
            </a:pPr>
            <a:r>
              <a:rPr lang="en-US" i="1" dirty="0">
                <a:latin typeface="Fira Sans" panose="020B0503050000020004" pitchFamily="34" charset="0"/>
              </a:rPr>
              <a:t>(Σ Frequency up to item </a:t>
            </a:r>
            <a:r>
              <a:rPr lang="en-US" i="1" dirty="0" err="1">
                <a:latin typeface="Fira Sans" panose="020B0503050000020004" pitchFamily="34" charset="0"/>
              </a:rPr>
              <a:t>i</a:t>
            </a:r>
            <a:r>
              <a:rPr lang="en-US" i="1" dirty="0">
                <a:latin typeface="Fira Sans" panose="020B0503050000020004" pitchFamily="34" charset="0"/>
              </a:rPr>
              <a:t> / Total Frequency) × 100</a:t>
            </a:r>
          </a:p>
          <a:p>
            <a:r>
              <a:rPr lang="en-IN" dirty="0"/>
              <a:t>Example: Customer Complaint Analysis</a:t>
            </a:r>
          </a:p>
          <a:p>
            <a:endParaRPr lang="en-IN" dirty="0">
              <a:latin typeface="Fira Sans" panose="020B0503050000020004" pitchFamily="34" charset="0"/>
            </a:endParaRPr>
          </a:p>
        </p:txBody>
      </p:sp>
      <p:graphicFrame>
        <p:nvGraphicFramePr>
          <p:cNvPr id="4" name="Table 3">
            <a:extLst>
              <a:ext uri="{FF2B5EF4-FFF2-40B4-BE49-F238E27FC236}">
                <a16:creationId xmlns:a16="http://schemas.microsoft.com/office/drawing/2014/main" id="{94DE04E3-DA30-ECD7-E995-125D69B0E486}"/>
              </a:ext>
            </a:extLst>
          </p:cNvPr>
          <p:cNvGraphicFramePr>
            <a:graphicFrameLocks noGrp="1"/>
          </p:cNvGraphicFramePr>
          <p:nvPr>
            <p:extLst>
              <p:ext uri="{D42A27DB-BD31-4B8C-83A1-F6EECF244321}">
                <p14:modId xmlns:p14="http://schemas.microsoft.com/office/powerpoint/2010/main" val="4241266107"/>
              </p:ext>
            </p:extLst>
          </p:nvPr>
        </p:nvGraphicFramePr>
        <p:xfrm>
          <a:off x="838200" y="2721134"/>
          <a:ext cx="5257800" cy="2560320"/>
        </p:xfrm>
        <a:graphic>
          <a:graphicData uri="http://schemas.openxmlformats.org/drawingml/2006/table">
            <a:tbl>
              <a:tblPr/>
              <a:tblGrid>
                <a:gridCol w="2628900">
                  <a:extLst>
                    <a:ext uri="{9D8B030D-6E8A-4147-A177-3AD203B41FA5}">
                      <a16:colId xmlns:a16="http://schemas.microsoft.com/office/drawing/2014/main" val="125780390"/>
                    </a:ext>
                  </a:extLst>
                </a:gridCol>
                <a:gridCol w="2628900">
                  <a:extLst>
                    <a:ext uri="{9D8B030D-6E8A-4147-A177-3AD203B41FA5}">
                      <a16:colId xmlns:a16="http://schemas.microsoft.com/office/drawing/2014/main" val="3923205288"/>
                    </a:ext>
                  </a:extLst>
                </a:gridCol>
              </a:tblGrid>
              <a:tr h="0">
                <a:tc>
                  <a:txBody>
                    <a:bodyPr/>
                    <a:lstStyle/>
                    <a:p>
                      <a:pPr>
                        <a:buNone/>
                      </a:pPr>
                      <a:r>
                        <a:rPr lang="en-IN"/>
                        <a:t>Complaint Type</a:t>
                      </a:r>
                    </a:p>
                  </a:txBody>
                  <a:tcPr anchor="ctr">
                    <a:lnL>
                      <a:noFill/>
                    </a:lnL>
                    <a:lnR>
                      <a:noFill/>
                    </a:lnR>
                    <a:lnT>
                      <a:noFill/>
                    </a:lnT>
                    <a:lnB>
                      <a:noFill/>
                    </a:lnB>
                    <a:noFill/>
                  </a:tcPr>
                </a:tc>
                <a:tc>
                  <a:txBody>
                    <a:bodyPr/>
                    <a:lstStyle/>
                    <a:p>
                      <a:pPr>
                        <a:buNone/>
                      </a:pPr>
                      <a:r>
                        <a:rPr lang="en-IN"/>
                        <a:t>Frequency</a:t>
                      </a:r>
                    </a:p>
                  </a:txBody>
                  <a:tcPr anchor="ctr">
                    <a:lnL>
                      <a:noFill/>
                    </a:lnL>
                    <a:lnR>
                      <a:noFill/>
                    </a:lnR>
                    <a:lnT>
                      <a:noFill/>
                    </a:lnT>
                    <a:lnB>
                      <a:noFill/>
                    </a:lnB>
                    <a:noFill/>
                  </a:tcPr>
                </a:tc>
                <a:extLst>
                  <a:ext uri="{0D108BD9-81ED-4DB2-BD59-A6C34878D82A}">
                    <a16:rowId xmlns:a16="http://schemas.microsoft.com/office/drawing/2014/main" val="4036707340"/>
                  </a:ext>
                </a:extLst>
              </a:tr>
              <a:tr h="0">
                <a:tc>
                  <a:txBody>
                    <a:bodyPr/>
                    <a:lstStyle/>
                    <a:p>
                      <a:pPr>
                        <a:buNone/>
                      </a:pPr>
                      <a:r>
                        <a:rPr lang="en-IN"/>
                        <a:t>Long Wait Times</a:t>
                      </a:r>
                    </a:p>
                  </a:txBody>
                  <a:tcPr anchor="ctr">
                    <a:lnL>
                      <a:noFill/>
                    </a:lnL>
                    <a:lnR>
                      <a:noFill/>
                    </a:lnR>
                    <a:lnT>
                      <a:noFill/>
                    </a:lnT>
                    <a:lnB>
                      <a:noFill/>
                    </a:lnB>
                    <a:noFill/>
                  </a:tcPr>
                </a:tc>
                <a:tc>
                  <a:txBody>
                    <a:bodyPr/>
                    <a:lstStyle/>
                    <a:p>
                      <a:pPr>
                        <a:buNone/>
                      </a:pPr>
                      <a:r>
                        <a:rPr lang="en-IN" dirty="0"/>
                        <a:t>245</a:t>
                      </a:r>
                    </a:p>
                  </a:txBody>
                  <a:tcPr anchor="ctr">
                    <a:lnL>
                      <a:noFill/>
                    </a:lnL>
                    <a:lnR>
                      <a:noFill/>
                    </a:lnR>
                    <a:lnT>
                      <a:noFill/>
                    </a:lnT>
                    <a:lnB>
                      <a:noFill/>
                    </a:lnB>
                    <a:noFill/>
                  </a:tcPr>
                </a:tc>
                <a:extLst>
                  <a:ext uri="{0D108BD9-81ED-4DB2-BD59-A6C34878D82A}">
                    <a16:rowId xmlns:a16="http://schemas.microsoft.com/office/drawing/2014/main" val="3200157570"/>
                  </a:ext>
                </a:extLst>
              </a:tr>
              <a:tr h="0">
                <a:tc>
                  <a:txBody>
                    <a:bodyPr/>
                    <a:lstStyle/>
                    <a:p>
                      <a:pPr>
                        <a:buNone/>
                      </a:pPr>
                      <a:r>
                        <a:rPr lang="en-IN"/>
                        <a:t>Rude Staff</a:t>
                      </a:r>
                    </a:p>
                  </a:txBody>
                  <a:tcPr anchor="ctr">
                    <a:lnL>
                      <a:noFill/>
                    </a:lnL>
                    <a:lnR>
                      <a:noFill/>
                    </a:lnR>
                    <a:lnT>
                      <a:noFill/>
                    </a:lnT>
                    <a:lnB>
                      <a:noFill/>
                    </a:lnB>
                    <a:noFill/>
                  </a:tcPr>
                </a:tc>
                <a:tc>
                  <a:txBody>
                    <a:bodyPr/>
                    <a:lstStyle/>
                    <a:p>
                      <a:pPr>
                        <a:buNone/>
                      </a:pPr>
                      <a:r>
                        <a:rPr lang="en-IN"/>
                        <a:t>156</a:t>
                      </a:r>
                    </a:p>
                  </a:txBody>
                  <a:tcPr anchor="ctr">
                    <a:lnL>
                      <a:noFill/>
                    </a:lnL>
                    <a:lnR>
                      <a:noFill/>
                    </a:lnR>
                    <a:lnT>
                      <a:noFill/>
                    </a:lnT>
                    <a:lnB>
                      <a:noFill/>
                    </a:lnB>
                    <a:noFill/>
                  </a:tcPr>
                </a:tc>
                <a:extLst>
                  <a:ext uri="{0D108BD9-81ED-4DB2-BD59-A6C34878D82A}">
                    <a16:rowId xmlns:a16="http://schemas.microsoft.com/office/drawing/2014/main" val="673518372"/>
                  </a:ext>
                </a:extLst>
              </a:tr>
              <a:tr h="0">
                <a:tc>
                  <a:txBody>
                    <a:bodyPr/>
                    <a:lstStyle/>
                    <a:p>
                      <a:pPr>
                        <a:buNone/>
                      </a:pPr>
                      <a:r>
                        <a:rPr lang="en-IN"/>
                        <a:t>Billing Errors</a:t>
                      </a:r>
                    </a:p>
                  </a:txBody>
                  <a:tcPr anchor="ctr">
                    <a:lnL>
                      <a:noFill/>
                    </a:lnL>
                    <a:lnR>
                      <a:noFill/>
                    </a:lnR>
                    <a:lnT>
                      <a:noFill/>
                    </a:lnT>
                    <a:lnB>
                      <a:noFill/>
                    </a:lnB>
                    <a:noFill/>
                  </a:tcPr>
                </a:tc>
                <a:tc>
                  <a:txBody>
                    <a:bodyPr/>
                    <a:lstStyle/>
                    <a:p>
                      <a:pPr>
                        <a:buNone/>
                      </a:pPr>
                      <a:r>
                        <a:rPr lang="en-IN"/>
                        <a:t>89</a:t>
                      </a:r>
                    </a:p>
                  </a:txBody>
                  <a:tcPr anchor="ctr">
                    <a:lnL>
                      <a:noFill/>
                    </a:lnL>
                    <a:lnR>
                      <a:noFill/>
                    </a:lnR>
                    <a:lnT>
                      <a:noFill/>
                    </a:lnT>
                    <a:lnB>
                      <a:noFill/>
                    </a:lnB>
                    <a:noFill/>
                  </a:tcPr>
                </a:tc>
                <a:extLst>
                  <a:ext uri="{0D108BD9-81ED-4DB2-BD59-A6C34878D82A}">
                    <a16:rowId xmlns:a16="http://schemas.microsoft.com/office/drawing/2014/main" val="1376628342"/>
                  </a:ext>
                </a:extLst>
              </a:tr>
              <a:tr h="0">
                <a:tc>
                  <a:txBody>
                    <a:bodyPr/>
                    <a:lstStyle/>
                    <a:p>
                      <a:pPr>
                        <a:buNone/>
                      </a:pPr>
                      <a:r>
                        <a:rPr lang="en-IN"/>
                        <a:t>Poor Communication</a:t>
                      </a:r>
                    </a:p>
                  </a:txBody>
                  <a:tcPr anchor="ctr">
                    <a:lnL>
                      <a:noFill/>
                    </a:lnL>
                    <a:lnR>
                      <a:noFill/>
                    </a:lnR>
                    <a:lnT>
                      <a:noFill/>
                    </a:lnT>
                    <a:lnB>
                      <a:noFill/>
                    </a:lnB>
                    <a:noFill/>
                  </a:tcPr>
                </a:tc>
                <a:tc>
                  <a:txBody>
                    <a:bodyPr/>
                    <a:lstStyle/>
                    <a:p>
                      <a:pPr>
                        <a:buNone/>
                      </a:pPr>
                      <a:r>
                        <a:rPr lang="en-IN"/>
                        <a:t>67</a:t>
                      </a:r>
                    </a:p>
                  </a:txBody>
                  <a:tcPr anchor="ctr">
                    <a:lnL>
                      <a:noFill/>
                    </a:lnL>
                    <a:lnR>
                      <a:noFill/>
                    </a:lnR>
                    <a:lnT>
                      <a:noFill/>
                    </a:lnT>
                    <a:lnB>
                      <a:noFill/>
                    </a:lnB>
                    <a:noFill/>
                  </a:tcPr>
                </a:tc>
                <a:extLst>
                  <a:ext uri="{0D108BD9-81ED-4DB2-BD59-A6C34878D82A}">
                    <a16:rowId xmlns:a16="http://schemas.microsoft.com/office/drawing/2014/main" val="356034678"/>
                  </a:ext>
                </a:extLst>
              </a:tr>
              <a:tr h="0">
                <a:tc>
                  <a:txBody>
                    <a:bodyPr/>
                    <a:lstStyle/>
                    <a:p>
                      <a:pPr>
                        <a:buNone/>
                      </a:pPr>
                      <a:r>
                        <a:rPr lang="en-IN"/>
                        <a:t>Facility Issues</a:t>
                      </a:r>
                    </a:p>
                  </a:txBody>
                  <a:tcPr anchor="ctr">
                    <a:lnL>
                      <a:noFill/>
                    </a:lnL>
                    <a:lnR>
                      <a:noFill/>
                    </a:lnR>
                    <a:lnT>
                      <a:noFill/>
                    </a:lnT>
                    <a:lnB>
                      <a:noFill/>
                    </a:lnB>
                    <a:noFill/>
                  </a:tcPr>
                </a:tc>
                <a:tc>
                  <a:txBody>
                    <a:bodyPr/>
                    <a:lstStyle/>
                    <a:p>
                      <a:pPr>
                        <a:buNone/>
                      </a:pPr>
                      <a:r>
                        <a:rPr lang="en-IN"/>
                        <a:t>45</a:t>
                      </a:r>
                    </a:p>
                  </a:txBody>
                  <a:tcPr anchor="ctr">
                    <a:lnL>
                      <a:noFill/>
                    </a:lnL>
                    <a:lnR>
                      <a:noFill/>
                    </a:lnR>
                    <a:lnT>
                      <a:noFill/>
                    </a:lnT>
                    <a:lnB>
                      <a:noFill/>
                    </a:lnB>
                    <a:noFill/>
                  </a:tcPr>
                </a:tc>
                <a:extLst>
                  <a:ext uri="{0D108BD9-81ED-4DB2-BD59-A6C34878D82A}">
                    <a16:rowId xmlns:a16="http://schemas.microsoft.com/office/drawing/2014/main" val="115048599"/>
                  </a:ext>
                </a:extLst>
              </a:tr>
              <a:tr h="0">
                <a:tc>
                  <a:txBody>
                    <a:bodyPr/>
                    <a:lstStyle/>
                    <a:p>
                      <a:pPr>
                        <a:buNone/>
                      </a:pPr>
                      <a:r>
                        <a:rPr lang="en-IN"/>
                        <a:t>Other</a:t>
                      </a:r>
                    </a:p>
                  </a:txBody>
                  <a:tcPr anchor="ctr">
                    <a:lnL>
                      <a:noFill/>
                    </a:lnL>
                    <a:lnR>
                      <a:noFill/>
                    </a:lnR>
                    <a:lnT>
                      <a:noFill/>
                    </a:lnT>
                    <a:lnB>
                      <a:noFill/>
                    </a:lnB>
                    <a:noFill/>
                  </a:tcPr>
                </a:tc>
                <a:tc>
                  <a:txBody>
                    <a:bodyPr/>
                    <a:lstStyle/>
                    <a:p>
                      <a:pPr>
                        <a:buNone/>
                      </a:pPr>
                      <a:r>
                        <a:rPr lang="en-IN" dirty="0"/>
                        <a:t>38</a:t>
                      </a:r>
                    </a:p>
                  </a:txBody>
                  <a:tcPr anchor="ctr">
                    <a:lnL>
                      <a:noFill/>
                    </a:lnL>
                    <a:lnR>
                      <a:noFill/>
                    </a:lnR>
                    <a:lnT>
                      <a:noFill/>
                    </a:lnT>
                    <a:lnB>
                      <a:noFill/>
                    </a:lnB>
                    <a:noFill/>
                  </a:tcPr>
                </a:tc>
                <a:extLst>
                  <a:ext uri="{0D108BD9-81ED-4DB2-BD59-A6C34878D82A}">
                    <a16:rowId xmlns:a16="http://schemas.microsoft.com/office/drawing/2014/main" val="2308248267"/>
                  </a:ext>
                </a:extLst>
              </a:tr>
            </a:tbl>
          </a:graphicData>
        </a:graphic>
      </p:graphicFrame>
    </p:spTree>
    <p:extLst>
      <p:ext uri="{BB962C8B-B14F-4D97-AF65-F5344CB8AC3E}">
        <p14:creationId xmlns:p14="http://schemas.microsoft.com/office/powerpoint/2010/main" val="35534375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3B4FB-592F-B210-8A76-256FB6ECDD7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938579-9044-D075-4808-E718F69227AD}"/>
              </a:ext>
            </a:extLst>
          </p:cNvPr>
          <p:cNvSpPr>
            <a:spLocks noGrp="1"/>
          </p:cNvSpPr>
          <p:nvPr>
            <p:ph idx="1"/>
          </p:nvPr>
        </p:nvSpPr>
        <p:spPr>
          <a:xfrm>
            <a:off x="838200" y="225425"/>
            <a:ext cx="10515600" cy="4351338"/>
          </a:xfrm>
        </p:spPr>
        <p:txBody>
          <a:bodyPr/>
          <a:lstStyle/>
          <a:p>
            <a:r>
              <a:rPr lang="en-IN" dirty="0"/>
              <a:t>Example: Customer Complaint Analysis</a:t>
            </a:r>
          </a:p>
          <a:p>
            <a:endParaRPr lang="en-IN" dirty="0">
              <a:latin typeface="Fira Sans" panose="020B0503050000020004" pitchFamily="34" charset="0"/>
            </a:endParaRPr>
          </a:p>
        </p:txBody>
      </p:sp>
      <p:graphicFrame>
        <p:nvGraphicFramePr>
          <p:cNvPr id="4" name="Table 3">
            <a:extLst>
              <a:ext uri="{FF2B5EF4-FFF2-40B4-BE49-F238E27FC236}">
                <a16:creationId xmlns:a16="http://schemas.microsoft.com/office/drawing/2014/main" id="{4FDF8A5F-96D4-E7BD-58CD-F126DEAE847F}"/>
              </a:ext>
            </a:extLst>
          </p:cNvPr>
          <p:cNvGraphicFramePr>
            <a:graphicFrameLocks noGrp="1"/>
          </p:cNvGraphicFramePr>
          <p:nvPr>
            <p:extLst>
              <p:ext uri="{D42A27DB-BD31-4B8C-83A1-F6EECF244321}">
                <p14:modId xmlns:p14="http://schemas.microsoft.com/office/powerpoint/2010/main" val="871563608"/>
              </p:ext>
            </p:extLst>
          </p:nvPr>
        </p:nvGraphicFramePr>
        <p:xfrm>
          <a:off x="838200" y="2721134"/>
          <a:ext cx="7886700" cy="2560320"/>
        </p:xfrm>
        <a:graphic>
          <a:graphicData uri="http://schemas.openxmlformats.org/drawingml/2006/table">
            <a:tbl>
              <a:tblPr/>
              <a:tblGrid>
                <a:gridCol w="2628900">
                  <a:extLst>
                    <a:ext uri="{9D8B030D-6E8A-4147-A177-3AD203B41FA5}">
                      <a16:colId xmlns:a16="http://schemas.microsoft.com/office/drawing/2014/main" val="125780390"/>
                    </a:ext>
                  </a:extLst>
                </a:gridCol>
                <a:gridCol w="2628900">
                  <a:extLst>
                    <a:ext uri="{9D8B030D-6E8A-4147-A177-3AD203B41FA5}">
                      <a16:colId xmlns:a16="http://schemas.microsoft.com/office/drawing/2014/main" val="3923205288"/>
                    </a:ext>
                  </a:extLst>
                </a:gridCol>
                <a:gridCol w="2628900">
                  <a:extLst>
                    <a:ext uri="{9D8B030D-6E8A-4147-A177-3AD203B41FA5}">
                      <a16:colId xmlns:a16="http://schemas.microsoft.com/office/drawing/2014/main" val="2510913409"/>
                    </a:ext>
                  </a:extLst>
                </a:gridCol>
              </a:tblGrid>
              <a:tr h="0">
                <a:tc>
                  <a:txBody>
                    <a:bodyPr/>
                    <a:lstStyle/>
                    <a:p>
                      <a:pPr>
                        <a:buNone/>
                      </a:pPr>
                      <a:r>
                        <a:rPr lang="en-IN"/>
                        <a:t>Complaint Type</a:t>
                      </a:r>
                    </a:p>
                  </a:txBody>
                  <a:tcPr anchor="ctr">
                    <a:lnL>
                      <a:noFill/>
                    </a:lnL>
                    <a:lnR>
                      <a:noFill/>
                    </a:lnR>
                    <a:lnT>
                      <a:noFill/>
                    </a:lnT>
                    <a:lnB>
                      <a:noFill/>
                    </a:lnB>
                    <a:noFill/>
                  </a:tcPr>
                </a:tc>
                <a:tc>
                  <a:txBody>
                    <a:bodyPr/>
                    <a:lstStyle/>
                    <a:p>
                      <a:pPr>
                        <a:buNone/>
                      </a:pPr>
                      <a:r>
                        <a:rPr lang="en-IN"/>
                        <a:t>Frequency</a:t>
                      </a:r>
                    </a:p>
                  </a:txBody>
                  <a:tcPr anchor="ctr">
                    <a:lnL>
                      <a:noFill/>
                    </a:lnL>
                    <a:lnR>
                      <a:noFill/>
                    </a:lnR>
                    <a:lnT>
                      <a:noFill/>
                    </a:lnT>
                    <a:lnB>
                      <a:noFill/>
                    </a:lnB>
                    <a:noFill/>
                  </a:tcPr>
                </a:tc>
                <a:tc>
                  <a:txBody>
                    <a:bodyPr/>
                    <a:lstStyle/>
                    <a:p>
                      <a:pPr>
                        <a:buNone/>
                      </a:pPr>
                      <a:r>
                        <a:rPr lang="en-IN" dirty="0"/>
                        <a:t>Percentage</a:t>
                      </a:r>
                    </a:p>
                  </a:txBody>
                  <a:tcPr anchor="ctr">
                    <a:lnL>
                      <a:noFill/>
                    </a:lnL>
                    <a:lnR>
                      <a:noFill/>
                    </a:lnR>
                    <a:lnT>
                      <a:noFill/>
                    </a:lnT>
                    <a:lnB>
                      <a:noFill/>
                    </a:lnB>
                    <a:noFill/>
                  </a:tcPr>
                </a:tc>
                <a:extLst>
                  <a:ext uri="{0D108BD9-81ED-4DB2-BD59-A6C34878D82A}">
                    <a16:rowId xmlns:a16="http://schemas.microsoft.com/office/drawing/2014/main" val="4036707340"/>
                  </a:ext>
                </a:extLst>
              </a:tr>
              <a:tr h="0">
                <a:tc>
                  <a:txBody>
                    <a:bodyPr/>
                    <a:lstStyle/>
                    <a:p>
                      <a:pPr>
                        <a:buNone/>
                      </a:pPr>
                      <a:r>
                        <a:rPr lang="en-IN"/>
                        <a:t>Long Wait Times</a:t>
                      </a:r>
                    </a:p>
                  </a:txBody>
                  <a:tcPr anchor="ctr">
                    <a:lnL>
                      <a:noFill/>
                    </a:lnL>
                    <a:lnR>
                      <a:noFill/>
                    </a:lnR>
                    <a:lnT>
                      <a:noFill/>
                    </a:lnT>
                    <a:lnB>
                      <a:noFill/>
                    </a:lnB>
                    <a:noFill/>
                  </a:tcPr>
                </a:tc>
                <a:tc>
                  <a:txBody>
                    <a:bodyPr/>
                    <a:lstStyle/>
                    <a:p>
                      <a:pPr>
                        <a:buNone/>
                      </a:pPr>
                      <a:r>
                        <a:rPr lang="en-IN" dirty="0"/>
                        <a:t>245</a:t>
                      </a:r>
                    </a:p>
                  </a:txBody>
                  <a:tcPr anchor="ctr">
                    <a:lnL>
                      <a:noFill/>
                    </a:lnL>
                    <a:lnR>
                      <a:noFill/>
                    </a:lnR>
                    <a:lnT>
                      <a:noFill/>
                    </a:lnT>
                    <a:lnB>
                      <a:noFill/>
                    </a:lnB>
                    <a:noFill/>
                  </a:tcPr>
                </a:tc>
                <a:tc>
                  <a:txBody>
                    <a:bodyPr/>
                    <a:lstStyle/>
                    <a:p>
                      <a:pPr>
                        <a:buNone/>
                      </a:pPr>
                      <a:r>
                        <a:rPr lang="en-IN" dirty="0"/>
                        <a:t>38.3%</a:t>
                      </a:r>
                    </a:p>
                  </a:txBody>
                  <a:tcPr anchor="ctr">
                    <a:lnL>
                      <a:noFill/>
                    </a:lnL>
                    <a:lnR>
                      <a:noFill/>
                    </a:lnR>
                    <a:lnT>
                      <a:noFill/>
                    </a:lnT>
                    <a:lnB>
                      <a:noFill/>
                    </a:lnB>
                    <a:noFill/>
                  </a:tcPr>
                </a:tc>
                <a:extLst>
                  <a:ext uri="{0D108BD9-81ED-4DB2-BD59-A6C34878D82A}">
                    <a16:rowId xmlns:a16="http://schemas.microsoft.com/office/drawing/2014/main" val="3200157570"/>
                  </a:ext>
                </a:extLst>
              </a:tr>
              <a:tr h="0">
                <a:tc>
                  <a:txBody>
                    <a:bodyPr/>
                    <a:lstStyle/>
                    <a:p>
                      <a:pPr>
                        <a:buNone/>
                      </a:pPr>
                      <a:r>
                        <a:rPr lang="en-IN"/>
                        <a:t>Rude Staff</a:t>
                      </a:r>
                    </a:p>
                  </a:txBody>
                  <a:tcPr anchor="ctr">
                    <a:lnL>
                      <a:noFill/>
                    </a:lnL>
                    <a:lnR>
                      <a:noFill/>
                    </a:lnR>
                    <a:lnT>
                      <a:noFill/>
                    </a:lnT>
                    <a:lnB>
                      <a:noFill/>
                    </a:lnB>
                    <a:noFill/>
                  </a:tcPr>
                </a:tc>
                <a:tc>
                  <a:txBody>
                    <a:bodyPr/>
                    <a:lstStyle/>
                    <a:p>
                      <a:pPr>
                        <a:buNone/>
                      </a:pPr>
                      <a:r>
                        <a:rPr lang="en-IN"/>
                        <a:t>156</a:t>
                      </a:r>
                    </a:p>
                  </a:txBody>
                  <a:tcPr anchor="ctr">
                    <a:lnL>
                      <a:noFill/>
                    </a:lnL>
                    <a:lnR>
                      <a:noFill/>
                    </a:lnR>
                    <a:lnT>
                      <a:noFill/>
                    </a:lnT>
                    <a:lnB>
                      <a:noFill/>
                    </a:lnB>
                    <a:noFill/>
                  </a:tcPr>
                </a:tc>
                <a:tc>
                  <a:txBody>
                    <a:bodyPr/>
                    <a:lstStyle/>
                    <a:p>
                      <a:pPr>
                        <a:buNone/>
                      </a:pPr>
                      <a:r>
                        <a:rPr lang="en-IN" dirty="0"/>
                        <a:t>24.4%</a:t>
                      </a:r>
                    </a:p>
                  </a:txBody>
                  <a:tcPr anchor="ctr">
                    <a:lnL>
                      <a:noFill/>
                    </a:lnL>
                    <a:lnR>
                      <a:noFill/>
                    </a:lnR>
                    <a:lnT>
                      <a:noFill/>
                    </a:lnT>
                    <a:lnB>
                      <a:noFill/>
                    </a:lnB>
                    <a:noFill/>
                  </a:tcPr>
                </a:tc>
                <a:extLst>
                  <a:ext uri="{0D108BD9-81ED-4DB2-BD59-A6C34878D82A}">
                    <a16:rowId xmlns:a16="http://schemas.microsoft.com/office/drawing/2014/main" val="673518372"/>
                  </a:ext>
                </a:extLst>
              </a:tr>
              <a:tr h="0">
                <a:tc>
                  <a:txBody>
                    <a:bodyPr/>
                    <a:lstStyle/>
                    <a:p>
                      <a:pPr>
                        <a:buNone/>
                      </a:pPr>
                      <a:r>
                        <a:rPr lang="en-IN"/>
                        <a:t>Billing Errors</a:t>
                      </a:r>
                    </a:p>
                  </a:txBody>
                  <a:tcPr anchor="ctr">
                    <a:lnL>
                      <a:noFill/>
                    </a:lnL>
                    <a:lnR>
                      <a:noFill/>
                    </a:lnR>
                    <a:lnT>
                      <a:noFill/>
                    </a:lnT>
                    <a:lnB>
                      <a:noFill/>
                    </a:lnB>
                    <a:noFill/>
                  </a:tcPr>
                </a:tc>
                <a:tc>
                  <a:txBody>
                    <a:bodyPr/>
                    <a:lstStyle/>
                    <a:p>
                      <a:pPr>
                        <a:buNone/>
                      </a:pPr>
                      <a:r>
                        <a:rPr lang="en-IN"/>
                        <a:t>89</a:t>
                      </a:r>
                    </a:p>
                  </a:txBody>
                  <a:tcPr anchor="ctr">
                    <a:lnL>
                      <a:noFill/>
                    </a:lnL>
                    <a:lnR>
                      <a:noFill/>
                    </a:lnR>
                    <a:lnT>
                      <a:noFill/>
                    </a:lnT>
                    <a:lnB>
                      <a:noFill/>
                    </a:lnB>
                    <a:noFill/>
                  </a:tcPr>
                </a:tc>
                <a:tc>
                  <a:txBody>
                    <a:bodyPr/>
                    <a:lstStyle/>
                    <a:p>
                      <a:pPr>
                        <a:buNone/>
                      </a:pPr>
                      <a:r>
                        <a:rPr lang="en-IN"/>
                        <a:t>13.9%</a:t>
                      </a:r>
                    </a:p>
                  </a:txBody>
                  <a:tcPr anchor="ctr">
                    <a:lnL>
                      <a:noFill/>
                    </a:lnL>
                    <a:lnR>
                      <a:noFill/>
                    </a:lnR>
                    <a:lnT>
                      <a:noFill/>
                    </a:lnT>
                    <a:lnB>
                      <a:noFill/>
                    </a:lnB>
                    <a:noFill/>
                  </a:tcPr>
                </a:tc>
                <a:extLst>
                  <a:ext uri="{0D108BD9-81ED-4DB2-BD59-A6C34878D82A}">
                    <a16:rowId xmlns:a16="http://schemas.microsoft.com/office/drawing/2014/main" val="1376628342"/>
                  </a:ext>
                </a:extLst>
              </a:tr>
              <a:tr h="0">
                <a:tc>
                  <a:txBody>
                    <a:bodyPr/>
                    <a:lstStyle/>
                    <a:p>
                      <a:pPr>
                        <a:buNone/>
                      </a:pPr>
                      <a:r>
                        <a:rPr lang="en-IN"/>
                        <a:t>Poor Communication</a:t>
                      </a:r>
                    </a:p>
                  </a:txBody>
                  <a:tcPr anchor="ctr">
                    <a:lnL>
                      <a:noFill/>
                    </a:lnL>
                    <a:lnR>
                      <a:noFill/>
                    </a:lnR>
                    <a:lnT>
                      <a:noFill/>
                    </a:lnT>
                    <a:lnB>
                      <a:noFill/>
                    </a:lnB>
                    <a:noFill/>
                  </a:tcPr>
                </a:tc>
                <a:tc>
                  <a:txBody>
                    <a:bodyPr/>
                    <a:lstStyle/>
                    <a:p>
                      <a:pPr>
                        <a:buNone/>
                      </a:pPr>
                      <a:r>
                        <a:rPr lang="en-IN"/>
                        <a:t>67</a:t>
                      </a:r>
                    </a:p>
                  </a:txBody>
                  <a:tcPr anchor="ctr">
                    <a:lnL>
                      <a:noFill/>
                    </a:lnL>
                    <a:lnR>
                      <a:noFill/>
                    </a:lnR>
                    <a:lnT>
                      <a:noFill/>
                    </a:lnT>
                    <a:lnB>
                      <a:noFill/>
                    </a:lnB>
                    <a:noFill/>
                  </a:tcPr>
                </a:tc>
                <a:tc>
                  <a:txBody>
                    <a:bodyPr/>
                    <a:lstStyle/>
                    <a:p>
                      <a:pPr>
                        <a:buNone/>
                      </a:pPr>
                      <a:r>
                        <a:rPr lang="en-IN"/>
                        <a:t>10.5%</a:t>
                      </a:r>
                    </a:p>
                  </a:txBody>
                  <a:tcPr anchor="ctr">
                    <a:lnL>
                      <a:noFill/>
                    </a:lnL>
                    <a:lnR>
                      <a:noFill/>
                    </a:lnR>
                    <a:lnT>
                      <a:noFill/>
                    </a:lnT>
                    <a:lnB>
                      <a:noFill/>
                    </a:lnB>
                    <a:noFill/>
                  </a:tcPr>
                </a:tc>
                <a:extLst>
                  <a:ext uri="{0D108BD9-81ED-4DB2-BD59-A6C34878D82A}">
                    <a16:rowId xmlns:a16="http://schemas.microsoft.com/office/drawing/2014/main" val="356034678"/>
                  </a:ext>
                </a:extLst>
              </a:tr>
              <a:tr h="0">
                <a:tc>
                  <a:txBody>
                    <a:bodyPr/>
                    <a:lstStyle/>
                    <a:p>
                      <a:pPr>
                        <a:buNone/>
                      </a:pPr>
                      <a:r>
                        <a:rPr lang="en-IN"/>
                        <a:t>Facility Issues</a:t>
                      </a:r>
                    </a:p>
                  </a:txBody>
                  <a:tcPr anchor="ctr">
                    <a:lnL>
                      <a:noFill/>
                    </a:lnL>
                    <a:lnR>
                      <a:noFill/>
                    </a:lnR>
                    <a:lnT>
                      <a:noFill/>
                    </a:lnT>
                    <a:lnB>
                      <a:noFill/>
                    </a:lnB>
                    <a:noFill/>
                  </a:tcPr>
                </a:tc>
                <a:tc>
                  <a:txBody>
                    <a:bodyPr/>
                    <a:lstStyle/>
                    <a:p>
                      <a:pPr>
                        <a:buNone/>
                      </a:pPr>
                      <a:r>
                        <a:rPr lang="en-IN"/>
                        <a:t>45</a:t>
                      </a:r>
                    </a:p>
                  </a:txBody>
                  <a:tcPr anchor="ctr">
                    <a:lnL>
                      <a:noFill/>
                    </a:lnL>
                    <a:lnR>
                      <a:noFill/>
                    </a:lnR>
                    <a:lnT>
                      <a:noFill/>
                    </a:lnT>
                    <a:lnB>
                      <a:noFill/>
                    </a:lnB>
                    <a:noFill/>
                  </a:tcPr>
                </a:tc>
                <a:tc>
                  <a:txBody>
                    <a:bodyPr/>
                    <a:lstStyle/>
                    <a:p>
                      <a:pPr>
                        <a:buNone/>
                      </a:pPr>
                      <a:r>
                        <a:rPr lang="en-IN"/>
                        <a:t>7.0%</a:t>
                      </a:r>
                    </a:p>
                  </a:txBody>
                  <a:tcPr anchor="ctr">
                    <a:lnL>
                      <a:noFill/>
                    </a:lnL>
                    <a:lnR>
                      <a:noFill/>
                    </a:lnR>
                    <a:lnT>
                      <a:noFill/>
                    </a:lnT>
                    <a:lnB>
                      <a:noFill/>
                    </a:lnB>
                    <a:noFill/>
                  </a:tcPr>
                </a:tc>
                <a:extLst>
                  <a:ext uri="{0D108BD9-81ED-4DB2-BD59-A6C34878D82A}">
                    <a16:rowId xmlns:a16="http://schemas.microsoft.com/office/drawing/2014/main" val="115048599"/>
                  </a:ext>
                </a:extLst>
              </a:tr>
              <a:tr h="0">
                <a:tc>
                  <a:txBody>
                    <a:bodyPr/>
                    <a:lstStyle/>
                    <a:p>
                      <a:pPr>
                        <a:buNone/>
                      </a:pPr>
                      <a:r>
                        <a:rPr lang="en-IN"/>
                        <a:t>Other</a:t>
                      </a:r>
                    </a:p>
                  </a:txBody>
                  <a:tcPr anchor="ctr">
                    <a:lnL>
                      <a:noFill/>
                    </a:lnL>
                    <a:lnR>
                      <a:noFill/>
                    </a:lnR>
                    <a:lnT>
                      <a:noFill/>
                    </a:lnT>
                    <a:lnB>
                      <a:noFill/>
                    </a:lnB>
                    <a:noFill/>
                  </a:tcPr>
                </a:tc>
                <a:tc>
                  <a:txBody>
                    <a:bodyPr/>
                    <a:lstStyle/>
                    <a:p>
                      <a:pPr>
                        <a:buNone/>
                      </a:pPr>
                      <a:r>
                        <a:rPr lang="en-IN"/>
                        <a:t>38</a:t>
                      </a:r>
                    </a:p>
                  </a:txBody>
                  <a:tcPr anchor="ctr">
                    <a:lnL>
                      <a:noFill/>
                    </a:lnL>
                    <a:lnR>
                      <a:noFill/>
                    </a:lnR>
                    <a:lnT>
                      <a:noFill/>
                    </a:lnT>
                    <a:lnB>
                      <a:noFill/>
                    </a:lnB>
                    <a:noFill/>
                  </a:tcPr>
                </a:tc>
                <a:tc>
                  <a:txBody>
                    <a:bodyPr/>
                    <a:lstStyle/>
                    <a:p>
                      <a:pPr>
                        <a:buNone/>
                      </a:pPr>
                      <a:r>
                        <a:rPr lang="en-IN" dirty="0"/>
                        <a:t>5.9%</a:t>
                      </a:r>
                    </a:p>
                  </a:txBody>
                  <a:tcPr anchor="ctr">
                    <a:lnL>
                      <a:noFill/>
                    </a:lnL>
                    <a:lnR>
                      <a:noFill/>
                    </a:lnR>
                    <a:lnT>
                      <a:noFill/>
                    </a:lnT>
                    <a:lnB>
                      <a:noFill/>
                    </a:lnB>
                    <a:noFill/>
                  </a:tcPr>
                </a:tc>
                <a:extLst>
                  <a:ext uri="{0D108BD9-81ED-4DB2-BD59-A6C34878D82A}">
                    <a16:rowId xmlns:a16="http://schemas.microsoft.com/office/drawing/2014/main" val="2308248267"/>
                  </a:ext>
                </a:extLst>
              </a:tr>
            </a:tbl>
          </a:graphicData>
        </a:graphic>
      </p:graphicFrame>
    </p:spTree>
    <p:extLst>
      <p:ext uri="{BB962C8B-B14F-4D97-AF65-F5344CB8AC3E}">
        <p14:creationId xmlns:p14="http://schemas.microsoft.com/office/powerpoint/2010/main" val="32921644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611C0-511A-B371-2985-8A1C9AA91F2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DB16E1-C5B2-2D2B-8DC7-991B2D100DD1}"/>
              </a:ext>
            </a:extLst>
          </p:cNvPr>
          <p:cNvSpPr>
            <a:spLocks noGrp="1"/>
          </p:cNvSpPr>
          <p:nvPr>
            <p:ph idx="1"/>
          </p:nvPr>
        </p:nvSpPr>
        <p:spPr>
          <a:xfrm>
            <a:off x="838200" y="225425"/>
            <a:ext cx="10515600" cy="4351338"/>
          </a:xfrm>
        </p:spPr>
        <p:txBody>
          <a:bodyPr/>
          <a:lstStyle/>
          <a:p>
            <a:r>
              <a:rPr lang="en-IN" dirty="0"/>
              <a:t>Example: Customer Complaint Analysis</a:t>
            </a:r>
          </a:p>
          <a:p>
            <a:endParaRPr lang="en-IN" dirty="0">
              <a:latin typeface="Fira Sans" panose="020B0503050000020004" pitchFamily="34" charset="0"/>
            </a:endParaRPr>
          </a:p>
        </p:txBody>
      </p:sp>
      <p:graphicFrame>
        <p:nvGraphicFramePr>
          <p:cNvPr id="4" name="Table 3">
            <a:extLst>
              <a:ext uri="{FF2B5EF4-FFF2-40B4-BE49-F238E27FC236}">
                <a16:creationId xmlns:a16="http://schemas.microsoft.com/office/drawing/2014/main" id="{4C3E9AD5-4C13-1DD4-72A9-8F08D9DC6F8F}"/>
              </a:ext>
            </a:extLst>
          </p:cNvPr>
          <p:cNvGraphicFramePr>
            <a:graphicFrameLocks noGrp="1"/>
          </p:cNvGraphicFramePr>
          <p:nvPr/>
        </p:nvGraphicFramePr>
        <p:xfrm>
          <a:off x="838200" y="2721134"/>
          <a:ext cx="10515600" cy="2560320"/>
        </p:xfrm>
        <a:graphic>
          <a:graphicData uri="http://schemas.openxmlformats.org/drawingml/2006/table">
            <a:tbl>
              <a:tblPr/>
              <a:tblGrid>
                <a:gridCol w="2628900">
                  <a:extLst>
                    <a:ext uri="{9D8B030D-6E8A-4147-A177-3AD203B41FA5}">
                      <a16:colId xmlns:a16="http://schemas.microsoft.com/office/drawing/2014/main" val="125780390"/>
                    </a:ext>
                  </a:extLst>
                </a:gridCol>
                <a:gridCol w="2628900">
                  <a:extLst>
                    <a:ext uri="{9D8B030D-6E8A-4147-A177-3AD203B41FA5}">
                      <a16:colId xmlns:a16="http://schemas.microsoft.com/office/drawing/2014/main" val="3923205288"/>
                    </a:ext>
                  </a:extLst>
                </a:gridCol>
                <a:gridCol w="2628900">
                  <a:extLst>
                    <a:ext uri="{9D8B030D-6E8A-4147-A177-3AD203B41FA5}">
                      <a16:colId xmlns:a16="http://schemas.microsoft.com/office/drawing/2014/main" val="2510913409"/>
                    </a:ext>
                  </a:extLst>
                </a:gridCol>
                <a:gridCol w="2628900">
                  <a:extLst>
                    <a:ext uri="{9D8B030D-6E8A-4147-A177-3AD203B41FA5}">
                      <a16:colId xmlns:a16="http://schemas.microsoft.com/office/drawing/2014/main" val="4086136357"/>
                    </a:ext>
                  </a:extLst>
                </a:gridCol>
              </a:tblGrid>
              <a:tr h="0">
                <a:tc>
                  <a:txBody>
                    <a:bodyPr/>
                    <a:lstStyle/>
                    <a:p>
                      <a:pPr>
                        <a:buNone/>
                      </a:pPr>
                      <a:r>
                        <a:rPr lang="en-IN"/>
                        <a:t>Complaint Type</a:t>
                      </a:r>
                    </a:p>
                  </a:txBody>
                  <a:tcPr anchor="ctr">
                    <a:lnL>
                      <a:noFill/>
                    </a:lnL>
                    <a:lnR>
                      <a:noFill/>
                    </a:lnR>
                    <a:lnT>
                      <a:noFill/>
                    </a:lnT>
                    <a:lnB>
                      <a:noFill/>
                    </a:lnB>
                    <a:noFill/>
                  </a:tcPr>
                </a:tc>
                <a:tc>
                  <a:txBody>
                    <a:bodyPr/>
                    <a:lstStyle/>
                    <a:p>
                      <a:pPr>
                        <a:buNone/>
                      </a:pPr>
                      <a:r>
                        <a:rPr lang="en-IN"/>
                        <a:t>Frequency</a:t>
                      </a:r>
                    </a:p>
                  </a:txBody>
                  <a:tcPr anchor="ctr">
                    <a:lnL>
                      <a:noFill/>
                    </a:lnL>
                    <a:lnR>
                      <a:noFill/>
                    </a:lnR>
                    <a:lnT>
                      <a:noFill/>
                    </a:lnT>
                    <a:lnB>
                      <a:noFill/>
                    </a:lnB>
                    <a:noFill/>
                  </a:tcPr>
                </a:tc>
                <a:tc>
                  <a:txBody>
                    <a:bodyPr/>
                    <a:lstStyle/>
                    <a:p>
                      <a:pPr>
                        <a:buNone/>
                      </a:pPr>
                      <a:r>
                        <a:rPr lang="en-IN" dirty="0"/>
                        <a:t>Percentage</a:t>
                      </a:r>
                    </a:p>
                  </a:txBody>
                  <a:tcPr anchor="ctr">
                    <a:lnL>
                      <a:noFill/>
                    </a:lnL>
                    <a:lnR>
                      <a:noFill/>
                    </a:lnR>
                    <a:lnT>
                      <a:noFill/>
                    </a:lnT>
                    <a:lnB>
                      <a:noFill/>
                    </a:lnB>
                    <a:noFill/>
                  </a:tcPr>
                </a:tc>
                <a:tc>
                  <a:txBody>
                    <a:bodyPr/>
                    <a:lstStyle/>
                    <a:p>
                      <a:pPr>
                        <a:buNone/>
                      </a:pPr>
                      <a:r>
                        <a:rPr lang="en-IN"/>
                        <a:t>Cumulative %</a:t>
                      </a:r>
                    </a:p>
                  </a:txBody>
                  <a:tcPr anchor="ctr">
                    <a:lnL>
                      <a:noFill/>
                    </a:lnL>
                    <a:lnR>
                      <a:noFill/>
                    </a:lnR>
                    <a:lnT>
                      <a:noFill/>
                    </a:lnT>
                    <a:lnB>
                      <a:noFill/>
                    </a:lnB>
                    <a:noFill/>
                  </a:tcPr>
                </a:tc>
                <a:extLst>
                  <a:ext uri="{0D108BD9-81ED-4DB2-BD59-A6C34878D82A}">
                    <a16:rowId xmlns:a16="http://schemas.microsoft.com/office/drawing/2014/main" val="4036707340"/>
                  </a:ext>
                </a:extLst>
              </a:tr>
              <a:tr h="0">
                <a:tc>
                  <a:txBody>
                    <a:bodyPr/>
                    <a:lstStyle/>
                    <a:p>
                      <a:pPr>
                        <a:buNone/>
                      </a:pPr>
                      <a:r>
                        <a:rPr lang="en-IN"/>
                        <a:t>Long Wait Times</a:t>
                      </a:r>
                    </a:p>
                  </a:txBody>
                  <a:tcPr anchor="ctr">
                    <a:lnL>
                      <a:noFill/>
                    </a:lnL>
                    <a:lnR>
                      <a:noFill/>
                    </a:lnR>
                    <a:lnT>
                      <a:noFill/>
                    </a:lnT>
                    <a:lnB>
                      <a:noFill/>
                    </a:lnB>
                    <a:noFill/>
                  </a:tcPr>
                </a:tc>
                <a:tc>
                  <a:txBody>
                    <a:bodyPr/>
                    <a:lstStyle/>
                    <a:p>
                      <a:pPr>
                        <a:buNone/>
                      </a:pPr>
                      <a:r>
                        <a:rPr lang="en-IN" dirty="0"/>
                        <a:t>245</a:t>
                      </a:r>
                    </a:p>
                  </a:txBody>
                  <a:tcPr anchor="ctr">
                    <a:lnL>
                      <a:noFill/>
                    </a:lnL>
                    <a:lnR>
                      <a:noFill/>
                    </a:lnR>
                    <a:lnT>
                      <a:noFill/>
                    </a:lnT>
                    <a:lnB>
                      <a:noFill/>
                    </a:lnB>
                    <a:noFill/>
                  </a:tcPr>
                </a:tc>
                <a:tc>
                  <a:txBody>
                    <a:bodyPr/>
                    <a:lstStyle/>
                    <a:p>
                      <a:pPr>
                        <a:buNone/>
                      </a:pPr>
                      <a:r>
                        <a:rPr lang="en-IN" dirty="0"/>
                        <a:t>38.3%</a:t>
                      </a:r>
                    </a:p>
                  </a:txBody>
                  <a:tcPr anchor="ctr">
                    <a:lnL>
                      <a:noFill/>
                    </a:lnL>
                    <a:lnR>
                      <a:noFill/>
                    </a:lnR>
                    <a:lnT>
                      <a:noFill/>
                    </a:lnT>
                    <a:lnB>
                      <a:noFill/>
                    </a:lnB>
                    <a:noFill/>
                  </a:tcPr>
                </a:tc>
                <a:tc>
                  <a:txBody>
                    <a:bodyPr/>
                    <a:lstStyle/>
                    <a:p>
                      <a:pPr>
                        <a:buNone/>
                      </a:pPr>
                      <a:r>
                        <a:rPr lang="en-IN"/>
                        <a:t>38.3%</a:t>
                      </a:r>
                    </a:p>
                  </a:txBody>
                  <a:tcPr anchor="ctr">
                    <a:lnL>
                      <a:noFill/>
                    </a:lnL>
                    <a:lnR>
                      <a:noFill/>
                    </a:lnR>
                    <a:lnT>
                      <a:noFill/>
                    </a:lnT>
                    <a:lnB>
                      <a:noFill/>
                    </a:lnB>
                    <a:noFill/>
                  </a:tcPr>
                </a:tc>
                <a:extLst>
                  <a:ext uri="{0D108BD9-81ED-4DB2-BD59-A6C34878D82A}">
                    <a16:rowId xmlns:a16="http://schemas.microsoft.com/office/drawing/2014/main" val="3200157570"/>
                  </a:ext>
                </a:extLst>
              </a:tr>
              <a:tr h="0">
                <a:tc>
                  <a:txBody>
                    <a:bodyPr/>
                    <a:lstStyle/>
                    <a:p>
                      <a:pPr>
                        <a:buNone/>
                      </a:pPr>
                      <a:r>
                        <a:rPr lang="en-IN"/>
                        <a:t>Rude Staff</a:t>
                      </a:r>
                    </a:p>
                  </a:txBody>
                  <a:tcPr anchor="ctr">
                    <a:lnL>
                      <a:noFill/>
                    </a:lnL>
                    <a:lnR>
                      <a:noFill/>
                    </a:lnR>
                    <a:lnT>
                      <a:noFill/>
                    </a:lnT>
                    <a:lnB>
                      <a:noFill/>
                    </a:lnB>
                    <a:noFill/>
                  </a:tcPr>
                </a:tc>
                <a:tc>
                  <a:txBody>
                    <a:bodyPr/>
                    <a:lstStyle/>
                    <a:p>
                      <a:pPr>
                        <a:buNone/>
                      </a:pPr>
                      <a:r>
                        <a:rPr lang="en-IN"/>
                        <a:t>156</a:t>
                      </a:r>
                    </a:p>
                  </a:txBody>
                  <a:tcPr anchor="ctr">
                    <a:lnL>
                      <a:noFill/>
                    </a:lnL>
                    <a:lnR>
                      <a:noFill/>
                    </a:lnR>
                    <a:lnT>
                      <a:noFill/>
                    </a:lnT>
                    <a:lnB>
                      <a:noFill/>
                    </a:lnB>
                    <a:noFill/>
                  </a:tcPr>
                </a:tc>
                <a:tc>
                  <a:txBody>
                    <a:bodyPr/>
                    <a:lstStyle/>
                    <a:p>
                      <a:pPr>
                        <a:buNone/>
                      </a:pPr>
                      <a:r>
                        <a:rPr lang="en-IN" dirty="0"/>
                        <a:t>24.4%</a:t>
                      </a:r>
                    </a:p>
                  </a:txBody>
                  <a:tcPr anchor="ctr">
                    <a:lnL>
                      <a:noFill/>
                    </a:lnL>
                    <a:lnR>
                      <a:noFill/>
                    </a:lnR>
                    <a:lnT>
                      <a:noFill/>
                    </a:lnT>
                    <a:lnB>
                      <a:noFill/>
                    </a:lnB>
                    <a:noFill/>
                  </a:tcPr>
                </a:tc>
                <a:tc>
                  <a:txBody>
                    <a:bodyPr/>
                    <a:lstStyle/>
                    <a:p>
                      <a:pPr>
                        <a:buNone/>
                      </a:pPr>
                      <a:r>
                        <a:rPr lang="en-IN"/>
                        <a:t>62.7%</a:t>
                      </a:r>
                    </a:p>
                  </a:txBody>
                  <a:tcPr anchor="ctr">
                    <a:lnL>
                      <a:noFill/>
                    </a:lnL>
                    <a:lnR>
                      <a:noFill/>
                    </a:lnR>
                    <a:lnT>
                      <a:noFill/>
                    </a:lnT>
                    <a:lnB>
                      <a:noFill/>
                    </a:lnB>
                    <a:noFill/>
                  </a:tcPr>
                </a:tc>
                <a:extLst>
                  <a:ext uri="{0D108BD9-81ED-4DB2-BD59-A6C34878D82A}">
                    <a16:rowId xmlns:a16="http://schemas.microsoft.com/office/drawing/2014/main" val="673518372"/>
                  </a:ext>
                </a:extLst>
              </a:tr>
              <a:tr h="0">
                <a:tc>
                  <a:txBody>
                    <a:bodyPr/>
                    <a:lstStyle/>
                    <a:p>
                      <a:pPr>
                        <a:buNone/>
                      </a:pPr>
                      <a:r>
                        <a:rPr lang="en-IN"/>
                        <a:t>Billing Errors</a:t>
                      </a:r>
                    </a:p>
                  </a:txBody>
                  <a:tcPr anchor="ctr">
                    <a:lnL>
                      <a:noFill/>
                    </a:lnL>
                    <a:lnR>
                      <a:noFill/>
                    </a:lnR>
                    <a:lnT>
                      <a:noFill/>
                    </a:lnT>
                    <a:lnB>
                      <a:noFill/>
                    </a:lnB>
                    <a:noFill/>
                  </a:tcPr>
                </a:tc>
                <a:tc>
                  <a:txBody>
                    <a:bodyPr/>
                    <a:lstStyle/>
                    <a:p>
                      <a:pPr>
                        <a:buNone/>
                      </a:pPr>
                      <a:r>
                        <a:rPr lang="en-IN"/>
                        <a:t>89</a:t>
                      </a:r>
                    </a:p>
                  </a:txBody>
                  <a:tcPr anchor="ctr">
                    <a:lnL>
                      <a:noFill/>
                    </a:lnL>
                    <a:lnR>
                      <a:noFill/>
                    </a:lnR>
                    <a:lnT>
                      <a:noFill/>
                    </a:lnT>
                    <a:lnB>
                      <a:noFill/>
                    </a:lnB>
                    <a:noFill/>
                  </a:tcPr>
                </a:tc>
                <a:tc>
                  <a:txBody>
                    <a:bodyPr/>
                    <a:lstStyle/>
                    <a:p>
                      <a:pPr>
                        <a:buNone/>
                      </a:pPr>
                      <a:r>
                        <a:rPr lang="en-IN"/>
                        <a:t>13.9%</a:t>
                      </a:r>
                    </a:p>
                  </a:txBody>
                  <a:tcPr anchor="ctr">
                    <a:lnL>
                      <a:noFill/>
                    </a:lnL>
                    <a:lnR>
                      <a:noFill/>
                    </a:lnR>
                    <a:lnT>
                      <a:noFill/>
                    </a:lnT>
                    <a:lnB>
                      <a:noFill/>
                    </a:lnB>
                    <a:noFill/>
                  </a:tcPr>
                </a:tc>
                <a:tc>
                  <a:txBody>
                    <a:bodyPr/>
                    <a:lstStyle/>
                    <a:p>
                      <a:pPr>
                        <a:buNone/>
                      </a:pPr>
                      <a:r>
                        <a:rPr lang="en-IN" dirty="0"/>
                        <a:t>76.6%</a:t>
                      </a:r>
                    </a:p>
                  </a:txBody>
                  <a:tcPr anchor="ctr">
                    <a:lnL>
                      <a:noFill/>
                    </a:lnL>
                    <a:lnR>
                      <a:noFill/>
                    </a:lnR>
                    <a:lnT>
                      <a:noFill/>
                    </a:lnT>
                    <a:lnB>
                      <a:noFill/>
                    </a:lnB>
                    <a:noFill/>
                  </a:tcPr>
                </a:tc>
                <a:extLst>
                  <a:ext uri="{0D108BD9-81ED-4DB2-BD59-A6C34878D82A}">
                    <a16:rowId xmlns:a16="http://schemas.microsoft.com/office/drawing/2014/main" val="1376628342"/>
                  </a:ext>
                </a:extLst>
              </a:tr>
              <a:tr h="0">
                <a:tc>
                  <a:txBody>
                    <a:bodyPr/>
                    <a:lstStyle/>
                    <a:p>
                      <a:pPr>
                        <a:buNone/>
                      </a:pPr>
                      <a:r>
                        <a:rPr lang="en-IN"/>
                        <a:t>Poor Communication</a:t>
                      </a:r>
                    </a:p>
                  </a:txBody>
                  <a:tcPr anchor="ctr">
                    <a:lnL>
                      <a:noFill/>
                    </a:lnL>
                    <a:lnR>
                      <a:noFill/>
                    </a:lnR>
                    <a:lnT>
                      <a:noFill/>
                    </a:lnT>
                    <a:lnB>
                      <a:noFill/>
                    </a:lnB>
                    <a:noFill/>
                  </a:tcPr>
                </a:tc>
                <a:tc>
                  <a:txBody>
                    <a:bodyPr/>
                    <a:lstStyle/>
                    <a:p>
                      <a:pPr>
                        <a:buNone/>
                      </a:pPr>
                      <a:r>
                        <a:rPr lang="en-IN"/>
                        <a:t>67</a:t>
                      </a:r>
                    </a:p>
                  </a:txBody>
                  <a:tcPr anchor="ctr">
                    <a:lnL>
                      <a:noFill/>
                    </a:lnL>
                    <a:lnR>
                      <a:noFill/>
                    </a:lnR>
                    <a:lnT>
                      <a:noFill/>
                    </a:lnT>
                    <a:lnB>
                      <a:noFill/>
                    </a:lnB>
                    <a:noFill/>
                  </a:tcPr>
                </a:tc>
                <a:tc>
                  <a:txBody>
                    <a:bodyPr/>
                    <a:lstStyle/>
                    <a:p>
                      <a:pPr>
                        <a:buNone/>
                      </a:pPr>
                      <a:r>
                        <a:rPr lang="en-IN"/>
                        <a:t>10.5%</a:t>
                      </a:r>
                    </a:p>
                  </a:txBody>
                  <a:tcPr anchor="ctr">
                    <a:lnL>
                      <a:noFill/>
                    </a:lnL>
                    <a:lnR>
                      <a:noFill/>
                    </a:lnR>
                    <a:lnT>
                      <a:noFill/>
                    </a:lnT>
                    <a:lnB>
                      <a:noFill/>
                    </a:lnB>
                    <a:noFill/>
                  </a:tcPr>
                </a:tc>
                <a:tc>
                  <a:txBody>
                    <a:bodyPr/>
                    <a:lstStyle/>
                    <a:p>
                      <a:pPr>
                        <a:buNone/>
                      </a:pPr>
                      <a:r>
                        <a:rPr lang="en-IN" dirty="0"/>
                        <a:t>87.1%</a:t>
                      </a:r>
                    </a:p>
                  </a:txBody>
                  <a:tcPr anchor="ctr">
                    <a:lnL>
                      <a:noFill/>
                    </a:lnL>
                    <a:lnR>
                      <a:noFill/>
                    </a:lnR>
                    <a:lnT>
                      <a:noFill/>
                    </a:lnT>
                    <a:lnB>
                      <a:noFill/>
                    </a:lnB>
                    <a:noFill/>
                  </a:tcPr>
                </a:tc>
                <a:extLst>
                  <a:ext uri="{0D108BD9-81ED-4DB2-BD59-A6C34878D82A}">
                    <a16:rowId xmlns:a16="http://schemas.microsoft.com/office/drawing/2014/main" val="356034678"/>
                  </a:ext>
                </a:extLst>
              </a:tr>
              <a:tr h="0">
                <a:tc>
                  <a:txBody>
                    <a:bodyPr/>
                    <a:lstStyle/>
                    <a:p>
                      <a:pPr>
                        <a:buNone/>
                      </a:pPr>
                      <a:r>
                        <a:rPr lang="en-IN"/>
                        <a:t>Facility Issues</a:t>
                      </a:r>
                    </a:p>
                  </a:txBody>
                  <a:tcPr anchor="ctr">
                    <a:lnL>
                      <a:noFill/>
                    </a:lnL>
                    <a:lnR>
                      <a:noFill/>
                    </a:lnR>
                    <a:lnT>
                      <a:noFill/>
                    </a:lnT>
                    <a:lnB>
                      <a:noFill/>
                    </a:lnB>
                    <a:noFill/>
                  </a:tcPr>
                </a:tc>
                <a:tc>
                  <a:txBody>
                    <a:bodyPr/>
                    <a:lstStyle/>
                    <a:p>
                      <a:pPr>
                        <a:buNone/>
                      </a:pPr>
                      <a:r>
                        <a:rPr lang="en-IN"/>
                        <a:t>45</a:t>
                      </a:r>
                    </a:p>
                  </a:txBody>
                  <a:tcPr anchor="ctr">
                    <a:lnL>
                      <a:noFill/>
                    </a:lnL>
                    <a:lnR>
                      <a:noFill/>
                    </a:lnR>
                    <a:lnT>
                      <a:noFill/>
                    </a:lnT>
                    <a:lnB>
                      <a:noFill/>
                    </a:lnB>
                    <a:noFill/>
                  </a:tcPr>
                </a:tc>
                <a:tc>
                  <a:txBody>
                    <a:bodyPr/>
                    <a:lstStyle/>
                    <a:p>
                      <a:pPr>
                        <a:buNone/>
                      </a:pPr>
                      <a:r>
                        <a:rPr lang="en-IN"/>
                        <a:t>7.0%</a:t>
                      </a:r>
                    </a:p>
                  </a:txBody>
                  <a:tcPr anchor="ctr">
                    <a:lnL>
                      <a:noFill/>
                    </a:lnL>
                    <a:lnR>
                      <a:noFill/>
                    </a:lnR>
                    <a:lnT>
                      <a:noFill/>
                    </a:lnT>
                    <a:lnB>
                      <a:noFill/>
                    </a:lnB>
                    <a:noFill/>
                  </a:tcPr>
                </a:tc>
                <a:tc>
                  <a:txBody>
                    <a:bodyPr/>
                    <a:lstStyle/>
                    <a:p>
                      <a:pPr>
                        <a:buNone/>
                      </a:pPr>
                      <a:r>
                        <a:rPr lang="en-IN" dirty="0"/>
                        <a:t>94.1%</a:t>
                      </a:r>
                    </a:p>
                  </a:txBody>
                  <a:tcPr anchor="ctr">
                    <a:lnL>
                      <a:noFill/>
                    </a:lnL>
                    <a:lnR>
                      <a:noFill/>
                    </a:lnR>
                    <a:lnT>
                      <a:noFill/>
                    </a:lnT>
                    <a:lnB>
                      <a:noFill/>
                    </a:lnB>
                    <a:noFill/>
                  </a:tcPr>
                </a:tc>
                <a:extLst>
                  <a:ext uri="{0D108BD9-81ED-4DB2-BD59-A6C34878D82A}">
                    <a16:rowId xmlns:a16="http://schemas.microsoft.com/office/drawing/2014/main" val="115048599"/>
                  </a:ext>
                </a:extLst>
              </a:tr>
              <a:tr h="0">
                <a:tc>
                  <a:txBody>
                    <a:bodyPr/>
                    <a:lstStyle/>
                    <a:p>
                      <a:pPr>
                        <a:buNone/>
                      </a:pPr>
                      <a:r>
                        <a:rPr lang="en-IN"/>
                        <a:t>Other</a:t>
                      </a:r>
                    </a:p>
                  </a:txBody>
                  <a:tcPr anchor="ctr">
                    <a:lnL>
                      <a:noFill/>
                    </a:lnL>
                    <a:lnR>
                      <a:noFill/>
                    </a:lnR>
                    <a:lnT>
                      <a:noFill/>
                    </a:lnT>
                    <a:lnB>
                      <a:noFill/>
                    </a:lnB>
                    <a:noFill/>
                  </a:tcPr>
                </a:tc>
                <a:tc>
                  <a:txBody>
                    <a:bodyPr/>
                    <a:lstStyle/>
                    <a:p>
                      <a:pPr>
                        <a:buNone/>
                      </a:pPr>
                      <a:r>
                        <a:rPr lang="en-IN"/>
                        <a:t>38</a:t>
                      </a:r>
                    </a:p>
                  </a:txBody>
                  <a:tcPr anchor="ctr">
                    <a:lnL>
                      <a:noFill/>
                    </a:lnL>
                    <a:lnR>
                      <a:noFill/>
                    </a:lnR>
                    <a:lnT>
                      <a:noFill/>
                    </a:lnT>
                    <a:lnB>
                      <a:noFill/>
                    </a:lnB>
                    <a:noFill/>
                  </a:tcPr>
                </a:tc>
                <a:tc>
                  <a:txBody>
                    <a:bodyPr/>
                    <a:lstStyle/>
                    <a:p>
                      <a:pPr>
                        <a:buNone/>
                      </a:pPr>
                      <a:r>
                        <a:rPr lang="en-IN"/>
                        <a:t>5.9%</a:t>
                      </a:r>
                    </a:p>
                  </a:txBody>
                  <a:tcPr anchor="ctr">
                    <a:lnL>
                      <a:noFill/>
                    </a:lnL>
                    <a:lnR>
                      <a:noFill/>
                    </a:lnR>
                    <a:lnT>
                      <a:noFill/>
                    </a:lnT>
                    <a:lnB>
                      <a:noFill/>
                    </a:lnB>
                    <a:noFill/>
                  </a:tcPr>
                </a:tc>
                <a:tc>
                  <a:txBody>
                    <a:bodyPr/>
                    <a:lstStyle/>
                    <a:p>
                      <a:pPr>
                        <a:buNone/>
                      </a:pPr>
                      <a:r>
                        <a:rPr lang="en-IN" dirty="0"/>
                        <a:t>100.0%</a:t>
                      </a:r>
                    </a:p>
                  </a:txBody>
                  <a:tcPr anchor="ctr">
                    <a:lnL>
                      <a:noFill/>
                    </a:lnL>
                    <a:lnR>
                      <a:noFill/>
                    </a:lnR>
                    <a:lnT>
                      <a:noFill/>
                    </a:lnT>
                    <a:lnB>
                      <a:noFill/>
                    </a:lnB>
                    <a:noFill/>
                  </a:tcPr>
                </a:tc>
                <a:extLst>
                  <a:ext uri="{0D108BD9-81ED-4DB2-BD59-A6C34878D82A}">
                    <a16:rowId xmlns:a16="http://schemas.microsoft.com/office/drawing/2014/main" val="2308248267"/>
                  </a:ext>
                </a:extLst>
              </a:tr>
            </a:tbl>
          </a:graphicData>
        </a:graphic>
      </p:graphicFrame>
    </p:spTree>
    <p:extLst>
      <p:ext uri="{BB962C8B-B14F-4D97-AF65-F5344CB8AC3E}">
        <p14:creationId xmlns:p14="http://schemas.microsoft.com/office/powerpoint/2010/main" val="1751762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54B1E-4730-53E5-6A15-AEBB453915C2}"/>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B5E4793C-7F79-6407-FA22-DE6001BF0CF2}"/>
              </a:ext>
            </a:extLst>
          </p:cNvPr>
          <p:cNvGraphicFramePr>
            <a:graphicFrameLocks noGrp="1"/>
          </p:cNvGraphicFramePr>
          <p:nvPr>
            <p:extLst>
              <p:ext uri="{D42A27DB-BD31-4B8C-83A1-F6EECF244321}">
                <p14:modId xmlns:p14="http://schemas.microsoft.com/office/powerpoint/2010/main" val="1982305258"/>
              </p:ext>
            </p:extLst>
          </p:nvPr>
        </p:nvGraphicFramePr>
        <p:xfrm>
          <a:off x="838200" y="337163"/>
          <a:ext cx="10515600" cy="2560320"/>
        </p:xfrm>
        <a:graphic>
          <a:graphicData uri="http://schemas.openxmlformats.org/drawingml/2006/table">
            <a:tbl>
              <a:tblPr/>
              <a:tblGrid>
                <a:gridCol w="2628900">
                  <a:extLst>
                    <a:ext uri="{9D8B030D-6E8A-4147-A177-3AD203B41FA5}">
                      <a16:colId xmlns:a16="http://schemas.microsoft.com/office/drawing/2014/main" val="125780390"/>
                    </a:ext>
                  </a:extLst>
                </a:gridCol>
                <a:gridCol w="2628900">
                  <a:extLst>
                    <a:ext uri="{9D8B030D-6E8A-4147-A177-3AD203B41FA5}">
                      <a16:colId xmlns:a16="http://schemas.microsoft.com/office/drawing/2014/main" val="3923205288"/>
                    </a:ext>
                  </a:extLst>
                </a:gridCol>
                <a:gridCol w="2628900">
                  <a:extLst>
                    <a:ext uri="{9D8B030D-6E8A-4147-A177-3AD203B41FA5}">
                      <a16:colId xmlns:a16="http://schemas.microsoft.com/office/drawing/2014/main" val="2510913409"/>
                    </a:ext>
                  </a:extLst>
                </a:gridCol>
                <a:gridCol w="2628900">
                  <a:extLst>
                    <a:ext uri="{9D8B030D-6E8A-4147-A177-3AD203B41FA5}">
                      <a16:colId xmlns:a16="http://schemas.microsoft.com/office/drawing/2014/main" val="4086136357"/>
                    </a:ext>
                  </a:extLst>
                </a:gridCol>
              </a:tblGrid>
              <a:tr h="0">
                <a:tc>
                  <a:txBody>
                    <a:bodyPr/>
                    <a:lstStyle/>
                    <a:p>
                      <a:pPr>
                        <a:buNone/>
                      </a:pPr>
                      <a:r>
                        <a:rPr lang="en-IN"/>
                        <a:t>Complaint Type</a:t>
                      </a:r>
                    </a:p>
                  </a:txBody>
                  <a:tcPr anchor="ctr">
                    <a:lnL>
                      <a:noFill/>
                    </a:lnL>
                    <a:lnR>
                      <a:noFill/>
                    </a:lnR>
                    <a:lnT>
                      <a:noFill/>
                    </a:lnT>
                    <a:lnB>
                      <a:noFill/>
                    </a:lnB>
                    <a:noFill/>
                  </a:tcPr>
                </a:tc>
                <a:tc>
                  <a:txBody>
                    <a:bodyPr/>
                    <a:lstStyle/>
                    <a:p>
                      <a:pPr>
                        <a:buNone/>
                      </a:pPr>
                      <a:r>
                        <a:rPr lang="en-IN" dirty="0"/>
                        <a:t>Frequency</a:t>
                      </a:r>
                    </a:p>
                  </a:txBody>
                  <a:tcPr anchor="ctr">
                    <a:lnL>
                      <a:noFill/>
                    </a:lnL>
                    <a:lnR>
                      <a:noFill/>
                    </a:lnR>
                    <a:lnT>
                      <a:noFill/>
                    </a:lnT>
                    <a:lnB>
                      <a:noFill/>
                    </a:lnB>
                    <a:noFill/>
                  </a:tcPr>
                </a:tc>
                <a:tc>
                  <a:txBody>
                    <a:bodyPr/>
                    <a:lstStyle/>
                    <a:p>
                      <a:pPr>
                        <a:buNone/>
                      </a:pPr>
                      <a:r>
                        <a:rPr lang="en-IN" dirty="0"/>
                        <a:t>Percentage</a:t>
                      </a:r>
                    </a:p>
                  </a:txBody>
                  <a:tcPr anchor="ctr">
                    <a:lnL>
                      <a:noFill/>
                    </a:lnL>
                    <a:lnR>
                      <a:noFill/>
                    </a:lnR>
                    <a:lnT>
                      <a:noFill/>
                    </a:lnT>
                    <a:lnB>
                      <a:noFill/>
                    </a:lnB>
                    <a:noFill/>
                  </a:tcPr>
                </a:tc>
                <a:tc>
                  <a:txBody>
                    <a:bodyPr/>
                    <a:lstStyle/>
                    <a:p>
                      <a:pPr>
                        <a:buNone/>
                      </a:pPr>
                      <a:r>
                        <a:rPr lang="en-IN"/>
                        <a:t>Cumulative %</a:t>
                      </a:r>
                    </a:p>
                  </a:txBody>
                  <a:tcPr anchor="ctr">
                    <a:lnL>
                      <a:noFill/>
                    </a:lnL>
                    <a:lnR>
                      <a:noFill/>
                    </a:lnR>
                    <a:lnT>
                      <a:noFill/>
                    </a:lnT>
                    <a:lnB>
                      <a:noFill/>
                    </a:lnB>
                    <a:noFill/>
                  </a:tcPr>
                </a:tc>
                <a:extLst>
                  <a:ext uri="{0D108BD9-81ED-4DB2-BD59-A6C34878D82A}">
                    <a16:rowId xmlns:a16="http://schemas.microsoft.com/office/drawing/2014/main" val="4036707340"/>
                  </a:ext>
                </a:extLst>
              </a:tr>
              <a:tr h="0">
                <a:tc>
                  <a:txBody>
                    <a:bodyPr/>
                    <a:lstStyle/>
                    <a:p>
                      <a:pPr>
                        <a:buNone/>
                      </a:pPr>
                      <a:r>
                        <a:rPr lang="en-IN"/>
                        <a:t>Long Wait Times</a:t>
                      </a:r>
                    </a:p>
                  </a:txBody>
                  <a:tcPr anchor="ctr">
                    <a:lnL>
                      <a:noFill/>
                    </a:lnL>
                    <a:lnR>
                      <a:noFill/>
                    </a:lnR>
                    <a:lnT>
                      <a:noFill/>
                    </a:lnT>
                    <a:lnB>
                      <a:noFill/>
                    </a:lnB>
                    <a:noFill/>
                  </a:tcPr>
                </a:tc>
                <a:tc>
                  <a:txBody>
                    <a:bodyPr/>
                    <a:lstStyle/>
                    <a:p>
                      <a:pPr>
                        <a:buNone/>
                      </a:pPr>
                      <a:r>
                        <a:rPr lang="en-IN" dirty="0"/>
                        <a:t>245</a:t>
                      </a:r>
                    </a:p>
                  </a:txBody>
                  <a:tcPr anchor="ctr">
                    <a:lnL>
                      <a:noFill/>
                    </a:lnL>
                    <a:lnR>
                      <a:noFill/>
                    </a:lnR>
                    <a:lnT>
                      <a:noFill/>
                    </a:lnT>
                    <a:lnB>
                      <a:noFill/>
                    </a:lnB>
                    <a:noFill/>
                  </a:tcPr>
                </a:tc>
                <a:tc>
                  <a:txBody>
                    <a:bodyPr/>
                    <a:lstStyle/>
                    <a:p>
                      <a:pPr>
                        <a:buNone/>
                      </a:pPr>
                      <a:r>
                        <a:rPr lang="en-IN" dirty="0"/>
                        <a:t>38.3%</a:t>
                      </a:r>
                    </a:p>
                  </a:txBody>
                  <a:tcPr anchor="ctr">
                    <a:lnL>
                      <a:noFill/>
                    </a:lnL>
                    <a:lnR>
                      <a:noFill/>
                    </a:lnR>
                    <a:lnT>
                      <a:noFill/>
                    </a:lnT>
                    <a:lnB>
                      <a:noFill/>
                    </a:lnB>
                    <a:noFill/>
                  </a:tcPr>
                </a:tc>
                <a:tc>
                  <a:txBody>
                    <a:bodyPr/>
                    <a:lstStyle/>
                    <a:p>
                      <a:pPr>
                        <a:buNone/>
                      </a:pPr>
                      <a:r>
                        <a:rPr lang="en-IN"/>
                        <a:t>38.3%</a:t>
                      </a:r>
                    </a:p>
                  </a:txBody>
                  <a:tcPr anchor="ctr">
                    <a:lnL>
                      <a:noFill/>
                    </a:lnL>
                    <a:lnR>
                      <a:noFill/>
                    </a:lnR>
                    <a:lnT>
                      <a:noFill/>
                    </a:lnT>
                    <a:lnB>
                      <a:noFill/>
                    </a:lnB>
                    <a:noFill/>
                  </a:tcPr>
                </a:tc>
                <a:extLst>
                  <a:ext uri="{0D108BD9-81ED-4DB2-BD59-A6C34878D82A}">
                    <a16:rowId xmlns:a16="http://schemas.microsoft.com/office/drawing/2014/main" val="3200157570"/>
                  </a:ext>
                </a:extLst>
              </a:tr>
              <a:tr h="0">
                <a:tc>
                  <a:txBody>
                    <a:bodyPr/>
                    <a:lstStyle/>
                    <a:p>
                      <a:pPr>
                        <a:buNone/>
                      </a:pPr>
                      <a:r>
                        <a:rPr lang="en-IN" dirty="0"/>
                        <a:t>Rude Staff</a:t>
                      </a:r>
                    </a:p>
                  </a:txBody>
                  <a:tcPr anchor="ctr">
                    <a:lnL>
                      <a:noFill/>
                    </a:lnL>
                    <a:lnR>
                      <a:noFill/>
                    </a:lnR>
                    <a:lnT>
                      <a:noFill/>
                    </a:lnT>
                    <a:lnB>
                      <a:noFill/>
                    </a:lnB>
                    <a:noFill/>
                  </a:tcPr>
                </a:tc>
                <a:tc>
                  <a:txBody>
                    <a:bodyPr/>
                    <a:lstStyle/>
                    <a:p>
                      <a:pPr>
                        <a:buNone/>
                      </a:pPr>
                      <a:r>
                        <a:rPr lang="en-IN"/>
                        <a:t>156</a:t>
                      </a:r>
                    </a:p>
                  </a:txBody>
                  <a:tcPr anchor="ctr">
                    <a:lnL>
                      <a:noFill/>
                    </a:lnL>
                    <a:lnR>
                      <a:noFill/>
                    </a:lnR>
                    <a:lnT>
                      <a:noFill/>
                    </a:lnT>
                    <a:lnB>
                      <a:noFill/>
                    </a:lnB>
                    <a:noFill/>
                  </a:tcPr>
                </a:tc>
                <a:tc>
                  <a:txBody>
                    <a:bodyPr/>
                    <a:lstStyle/>
                    <a:p>
                      <a:pPr>
                        <a:buNone/>
                      </a:pPr>
                      <a:r>
                        <a:rPr lang="en-IN" dirty="0"/>
                        <a:t>24.4%</a:t>
                      </a:r>
                    </a:p>
                  </a:txBody>
                  <a:tcPr anchor="ctr">
                    <a:lnL>
                      <a:noFill/>
                    </a:lnL>
                    <a:lnR>
                      <a:noFill/>
                    </a:lnR>
                    <a:lnT>
                      <a:noFill/>
                    </a:lnT>
                    <a:lnB>
                      <a:noFill/>
                    </a:lnB>
                    <a:noFill/>
                  </a:tcPr>
                </a:tc>
                <a:tc>
                  <a:txBody>
                    <a:bodyPr/>
                    <a:lstStyle/>
                    <a:p>
                      <a:pPr>
                        <a:buNone/>
                      </a:pPr>
                      <a:r>
                        <a:rPr lang="en-IN"/>
                        <a:t>62.7%</a:t>
                      </a:r>
                    </a:p>
                  </a:txBody>
                  <a:tcPr anchor="ctr">
                    <a:lnL>
                      <a:noFill/>
                    </a:lnL>
                    <a:lnR>
                      <a:noFill/>
                    </a:lnR>
                    <a:lnT>
                      <a:noFill/>
                    </a:lnT>
                    <a:lnB>
                      <a:noFill/>
                    </a:lnB>
                    <a:noFill/>
                  </a:tcPr>
                </a:tc>
                <a:extLst>
                  <a:ext uri="{0D108BD9-81ED-4DB2-BD59-A6C34878D82A}">
                    <a16:rowId xmlns:a16="http://schemas.microsoft.com/office/drawing/2014/main" val="673518372"/>
                  </a:ext>
                </a:extLst>
              </a:tr>
              <a:tr h="0">
                <a:tc>
                  <a:txBody>
                    <a:bodyPr/>
                    <a:lstStyle/>
                    <a:p>
                      <a:pPr>
                        <a:buNone/>
                      </a:pPr>
                      <a:r>
                        <a:rPr lang="en-IN"/>
                        <a:t>Billing Errors</a:t>
                      </a:r>
                    </a:p>
                  </a:txBody>
                  <a:tcPr anchor="ctr">
                    <a:lnL>
                      <a:noFill/>
                    </a:lnL>
                    <a:lnR>
                      <a:noFill/>
                    </a:lnR>
                    <a:lnT>
                      <a:noFill/>
                    </a:lnT>
                    <a:lnB>
                      <a:noFill/>
                    </a:lnB>
                    <a:noFill/>
                  </a:tcPr>
                </a:tc>
                <a:tc>
                  <a:txBody>
                    <a:bodyPr/>
                    <a:lstStyle/>
                    <a:p>
                      <a:pPr>
                        <a:buNone/>
                      </a:pPr>
                      <a:r>
                        <a:rPr lang="en-IN"/>
                        <a:t>89</a:t>
                      </a:r>
                    </a:p>
                  </a:txBody>
                  <a:tcPr anchor="ctr">
                    <a:lnL>
                      <a:noFill/>
                    </a:lnL>
                    <a:lnR>
                      <a:noFill/>
                    </a:lnR>
                    <a:lnT>
                      <a:noFill/>
                    </a:lnT>
                    <a:lnB>
                      <a:noFill/>
                    </a:lnB>
                    <a:noFill/>
                  </a:tcPr>
                </a:tc>
                <a:tc>
                  <a:txBody>
                    <a:bodyPr/>
                    <a:lstStyle/>
                    <a:p>
                      <a:pPr>
                        <a:buNone/>
                      </a:pPr>
                      <a:r>
                        <a:rPr lang="en-IN"/>
                        <a:t>13.9%</a:t>
                      </a:r>
                    </a:p>
                  </a:txBody>
                  <a:tcPr anchor="ctr">
                    <a:lnL>
                      <a:noFill/>
                    </a:lnL>
                    <a:lnR>
                      <a:noFill/>
                    </a:lnR>
                    <a:lnT>
                      <a:noFill/>
                    </a:lnT>
                    <a:lnB>
                      <a:noFill/>
                    </a:lnB>
                    <a:noFill/>
                  </a:tcPr>
                </a:tc>
                <a:tc>
                  <a:txBody>
                    <a:bodyPr/>
                    <a:lstStyle/>
                    <a:p>
                      <a:pPr>
                        <a:buNone/>
                      </a:pPr>
                      <a:r>
                        <a:rPr lang="en-IN" dirty="0"/>
                        <a:t>76.6%</a:t>
                      </a:r>
                    </a:p>
                  </a:txBody>
                  <a:tcPr anchor="ctr">
                    <a:lnL>
                      <a:noFill/>
                    </a:lnL>
                    <a:lnR>
                      <a:noFill/>
                    </a:lnR>
                    <a:lnT>
                      <a:noFill/>
                    </a:lnT>
                    <a:lnB>
                      <a:noFill/>
                    </a:lnB>
                    <a:noFill/>
                  </a:tcPr>
                </a:tc>
                <a:extLst>
                  <a:ext uri="{0D108BD9-81ED-4DB2-BD59-A6C34878D82A}">
                    <a16:rowId xmlns:a16="http://schemas.microsoft.com/office/drawing/2014/main" val="1376628342"/>
                  </a:ext>
                </a:extLst>
              </a:tr>
              <a:tr h="0">
                <a:tc>
                  <a:txBody>
                    <a:bodyPr/>
                    <a:lstStyle/>
                    <a:p>
                      <a:pPr>
                        <a:buNone/>
                      </a:pPr>
                      <a:r>
                        <a:rPr lang="en-IN"/>
                        <a:t>Poor Communication</a:t>
                      </a:r>
                    </a:p>
                  </a:txBody>
                  <a:tcPr anchor="ctr">
                    <a:lnL>
                      <a:noFill/>
                    </a:lnL>
                    <a:lnR>
                      <a:noFill/>
                    </a:lnR>
                    <a:lnT>
                      <a:noFill/>
                    </a:lnT>
                    <a:lnB>
                      <a:noFill/>
                    </a:lnB>
                    <a:noFill/>
                  </a:tcPr>
                </a:tc>
                <a:tc>
                  <a:txBody>
                    <a:bodyPr/>
                    <a:lstStyle/>
                    <a:p>
                      <a:pPr>
                        <a:buNone/>
                      </a:pPr>
                      <a:r>
                        <a:rPr lang="en-IN"/>
                        <a:t>67</a:t>
                      </a:r>
                    </a:p>
                  </a:txBody>
                  <a:tcPr anchor="ctr">
                    <a:lnL>
                      <a:noFill/>
                    </a:lnL>
                    <a:lnR>
                      <a:noFill/>
                    </a:lnR>
                    <a:lnT>
                      <a:noFill/>
                    </a:lnT>
                    <a:lnB>
                      <a:noFill/>
                    </a:lnB>
                    <a:noFill/>
                  </a:tcPr>
                </a:tc>
                <a:tc>
                  <a:txBody>
                    <a:bodyPr/>
                    <a:lstStyle/>
                    <a:p>
                      <a:pPr>
                        <a:buNone/>
                      </a:pPr>
                      <a:r>
                        <a:rPr lang="en-IN"/>
                        <a:t>10.5%</a:t>
                      </a:r>
                    </a:p>
                  </a:txBody>
                  <a:tcPr anchor="ctr">
                    <a:lnL>
                      <a:noFill/>
                    </a:lnL>
                    <a:lnR>
                      <a:noFill/>
                    </a:lnR>
                    <a:lnT>
                      <a:noFill/>
                    </a:lnT>
                    <a:lnB>
                      <a:noFill/>
                    </a:lnB>
                    <a:noFill/>
                  </a:tcPr>
                </a:tc>
                <a:tc>
                  <a:txBody>
                    <a:bodyPr/>
                    <a:lstStyle/>
                    <a:p>
                      <a:pPr>
                        <a:buNone/>
                      </a:pPr>
                      <a:r>
                        <a:rPr lang="en-IN" dirty="0"/>
                        <a:t>87.1%</a:t>
                      </a:r>
                    </a:p>
                  </a:txBody>
                  <a:tcPr anchor="ctr">
                    <a:lnL>
                      <a:noFill/>
                    </a:lnL>
                    <a:lnR>
                      <a:noFill/>
                    </a:lnR>
                    <a:lnT>
                      <a:noFill/>
                    </a:lnT>
                    <a:lnB>
                      <a:noFill/>
                    </a:lnB>
                    <a:noFill/>
                  </a:tcPr>
                </a:tc>
                <a:extLst>
                  <a:ext uri="{0D108BD9-81ED-4DB2-BD59-A6C34878D82A}">
                    <a16:rowId xmlns:a16="http://schemas.microsoft.com/office/drawing/2014/main" val="356034678"/>
                  </a:ext>
                </a:extLst>
              </a:tr>
              <a:tr h="0">
                <a:tc>
                  <a:txBody>
                    <a:bodyPr/>
                    <a:lstStyle/>
                    <a:p>
                      <a:pPr>
                        <a:buNone/>
                      </a:pPr>
                      <a:r>
                        <a:rPr lang="en-IN"/>
                        <a:t>Facility Issues</a:t>
                      </a:r>
                    </a:p>
                  </a:txBody>
                  <a:tcPr anchor="ctr">
                    <a:lnL>
                      <a:noFill/>
                    </a:lnL>
                    <a:lnR>
                      <a:noFill/>
                    </a:lnR>
                    <a:lnT>
                      <a:noFill/>
                    </a:lnT>
                    <a:lnB>
                      <a:noFill/>
                    </a:lnB>
                    <a:noFill/>
                  </a:tcPr>
                </a:tc>
                <a:tc>
                  <a:txBody>
                    <a:bodyPr/>
                    <a:lstStyle/>
                    <a:p>
                      <a:pPr>
                        <a:buNone/>
                      </a:pPr>
                      <a:r>
                        <a:rPr lang="en-IN"/>
                        <a:t>45</a:t>
                      </a:r>
                    </a:p>
                  </a:txBody>
                  <a:tcPr anchor="ctr">
                    <a:lnL>
                      <a:noFill/>
                    </a:lnL>
                    <a:lnR>
                      <a:noFill/>
                    </a:lnR>
                    <a:lnT>
                      <a:noFill/>
                    </a:lnT>
                    <a:lnB>
                      <a:noFill/>
                    </a:lnB>
                    <a:noFill/>
                  </a:tcPr>
                </a:tc>
                <a:tc>
                  <a:txBody>
                    <a:bodyPr/>
                    <a:lstStyle/>
                    <a:p>
                      <a:pPr>
                        <a:buNone/>
                      </a:pPr>
                      <a:r>
                        <a:rPr lang="en-IN"/>
                        <a:t>7.0%</a:t>
                      </a:r>
                    </a:p>
                  </a:txBody>
                  <a:tcPr anchor="ctr">
                    <a:lnL>
                      <a:noFill/>
                    </a:lnL>
                    <a:lnR>
                      <a:noFill/>
                    </a:lnR>
                    <a:lnT>
                      <a:noFill/>
                    </a:lnT>
                    <a:lnB>
                      <a:noFill/>
                    </a:lnB>
                    <a:noFill/>
                  </a:tcPr>
                </a:tc>
                <a:tc>
                  <a:txBody>
                    <a:bodyPr/>
                    <a:lstStyle/>
                    <a:p>
                      <a:pPr>
                        <a:buNone/>
                      </a:pPr>
                      <a:r>
                        <a:rPr lang="en-IN" dirty="0"/>
                        <a:t>94.1%</a:t>
                      </a:r>
                    </a:p>
                  </a:txBody>
                  <a:tcPr anchor="ctr">
                    <a:lnL>
                      <a:noFill/>
                    </a:lnL>
                    <a:lnR>
                      <a:noFill/>
                    </a:lnR>
                    <a:lnT>
                      <a:noFill/>
                    </a:lnT>
                    <a:lnB>
                      <a:noFill/>
                    </a:lnB>
                    <a:noFill/>
                  </a:tcPr>
                </a:tc>
                <a:extLst>
                  <a:ext uri="{0D108BD9-81ED-4DB2-BD59-A6C34878D82A}">
                    <a16:rowId xmlns:a16="http://schemas.microsoft.com/office/drawing/2014/main" val="115048599"/>
                  </a:ext>
                </a:extLst>
              </a:tr>
              <a:tr h="0">
                <a:tc>
                  <a:txBody>
                    <a:bodyPr/>
                    <a:lstStyle/>
                    <a:p>
                      <a:pPr>
                        <a:buNone/>
                      </a:pPr>
                      <a:r>
                        <a:rPr lang="en-IN"/>
                        <a:t>Other</a:t>
                      </a:r>
                    </a:p>
                  </a:txBody>
                  <a:tcPr anchor="ctr">
                    <a:lnL>
                      <a:noFill/>
                    </a:lnL>
                    <a:lnR>
                      <a:noFill/>
                    </a:lnR>
                    <a:lnT>
                      <a:noFill/>
                    </a:lnT>
                    <a:lnB>
                      <a:noFill/>
                    </a:lnB>
                    <a:noFill/>
                  </a:tcPr>
                </a:tc>
                <a:tc>
                  <a:txBody>
                    <a:bodyPr/>
                    <a:lstStyle/>
                    <a:p>
                      <a:pPr>
                        <a:buNone/>
                      </a:pPr>
                      <a:r>
                        <a:rPr lang="en-IN"/>
                        <a:t>38</a:t>
                      </a:r>
                    </a:p>
                  </a:txBody>
                  <a:tcPr anchor="ctr">
                    <a:lnL>
                      <a:noFill/>
                    </a:lnL>
                    <a:lnR>
                      <a:noFill/>
                    </a:lnR>
                    <a:lnT>
                      <a:noFill/>
                    </a:lnT>
                    <a:lnB>
                      <a:noFill/>
                    </a:lnB>
                    <a:noFill/>
                  </a:tcPr>
                </a:tc>
                <a:tc>
                  <a:txBody>
                    <a:bodyPr/>
                    <a:lstStyle/>
                    <a:p>
                      <a:pPr>
                        <a:buNone/>
                      </a:pPr>
                      <a:r>
                        <a:rPr lang="en-IN"/>
                        <a:t>5.9%</a:t>
                      </a:r>
                    </a:p>
                  </a:txBody>
                  <a:tcPr anchor="ctr">
                    <a:lnL>
                      <a:noFill/>
                    </a:lnL>
                    <a:lnR>
                      <a:noFill/>
                    </a:lnR>
                    <a:lnT>
                      <a:noFill/>
                    </a:lnT>
                    <a:lnB>
                      <a:noFill/>
                    </a:lnB>
                    <a:noFill/>
                  </a:tcPr>
                </a:tc>
                <a:tc>
                  <a:txBody>
                    <a:bodyPr/>
                    <a:lstStyle/>
                    <a:p>
                      <a:pPr>
                        <a:buNone/>
                      </a:pPr>
                      <a:r>
                        <a:rPr lang="en-IN" dirty="0"/>
                        <a:t>100.0%</a:t>
                      </a:r>
                    </a:p>
                  </a:txBody>
                  <a:tcPr anchor="ctr">
                    <a:lnL>
                      <a:noFill/>
                    </a:lnL>
                    <a:lnR>
                      <a:noFill/>
                    </a:lnR>
                    <a:lnT>
                      <a:noFill/>
                    </a:lnT>
                    <a:lnB>
                      <a:noFill/>
                    </a:lnB>
                    <a:noFill/>
                  </a:tcPr>
                </a:tc>
                <a:extLst>
                  <a:ext uri="{0D108BD9-81ED-4DB2-BD59-A6C34878D82A}">
                    <a16:rowId xmlns:a16="http://schemas.microsoft.com/office/drawing/2014/main" val="2308248267"/>
                  </a:ext>
                </a:extLst>
              </a:tr>
            </a:tbl>
          </a:graphicData>
        </a:graphic>
      </p:graphicFrame>
      <p:sp>
        <p:nvSpPr>
          <p:cNvPr id="5" name="TextBox 4">
            <a:extLst>
              <a:ext uri="{FF2B5EF4-FFF2-40B4-BE49-F238E27FC236}">
                <a16:creationId xmlns:a16="http://schemas.microsoft.com/office/drawing/2014/main" id="{1C5EAAB2-60E6-80C5-5C14-B1F7443A2B1A}"/>
              </a:ext>
            </a:extLst>
          </p:cNvPr>
          <p:cNvSpPr txBox="1"/>
          <p:nvPr/>
        </p:nvSpPr>
        <p:spPr>
          <a:xfrm>
            <a:off x="838200" y="3428999"/>
            <a:ext cx="10297886" cy="1569660"/>
          </a:xfrm>
          <a:prstGeom prst="rect">
            <a:avLst/>
          </a:prstGeom>
          <a:noFill/>
        </p:spPr>
        <p:txBody>
          <a:bodyPr wrap="square">
            <a:spAutoFit/>
          </a:bodyPr>
          <a:lstStyle/>
          <a:p>
            <a:pPr>
              <a:buNone/>
            </a:pPr>
            <a:r>
              <a:rPr lang="en-US" sz="2400" b="1" dirty="0"/>
              <a:t>Pareto Principle Application:</a:t>
            </a:r>
          </a:p>
          <a:p>
            <a:pPr>
              <a:buFont typeface="Arial" panose="020B0604020202020204" pitchFamily="34" charset="0"/>
              <a:buChar char="•"/>
            </a:pPr>
            <a:r>
              <a:rPr lang="en-US" sz="2400" b="1" dirty="0"/>
              <a:t>Vital Few</a:t>
            </a:r>
            <a:r>
              <a:rPr lang="en-US" sz="2400" dirty="0"/>
              <a:t>: Top 2 causes (Wait Times + Rude Staff) = 62.7% of complaints</a:t>
            </a:r>
          </a:p>
          <a:p>
            <a:pPr>
              <a:buFont typeface="Arial" panose="020B0604020202020204" pitchFamily="34" charset="0"/>
              <a:buChar char="•"/>
            </a:pPr>
            <a:r>
              <a:rPr lang="en-US" sz="2400" b="1" dirty="0"/>
              <a:t>Trivial Many</a:t>
            </a:r>
            <a:r>
              <a:rPr lang="en-US" sz="2400" dirty="0"/>
              <a:t>: Bottom 4 causes = 37.3% of complaints</a:t>
            </a:r>
          </a:p>
          <a:p>
            <a:pPr>
              <a:buFont typeface="Arial" panose="020B0604020202020204" pitchFamily="34" charset="0"/>
              <a:buChar char="•"/>
            </a:pPr>
            <a:r>
              <a:rPr lang="en-US" sz="2400" b="1" dirty="0"/>
              <a:t>Focus Area</a:t>
            </a:r>
            <a:r>
              <a:rPr lang="en-US" sz="2400" dirty="0"/>
              <a:t>: Address top 2 causes to eliminate 63% of complaints</a:t>
            </a:r>
          </a:p>
        </p:txBody>
      </p:sp>
    </p:spTree>
    <p:extLst>
      <p:ext uri="{BB962C8B-B14F-4D97-AF65-F5344CB8AC3E}">
        <p14:creationId xmlns:p14="http://schemas.microsoft.com/office/powerpoint/2010/main" val="18108741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93E63-E4A3-8BAC-9C13-DFA915DEB9D9}"/>
              </a:ext>
            </a:extLst>
          </p:cNvPr>
          <p:cNvSpPr>
            <a:spLocks noGrp="1"/>
          </p:cNvSpPr>
          <p:nvPr>
            <p:ph type="title"/>
          </p:nvPr>
        </p:nvSpPr>
        <p:spPr>
          <a:xfrm>
            <a:off x="751114" y="354239"/>
            <a:ext cx="10689771" cy="1325563"/>
          </a:xfrm>
        </p:spPr>
        <p:txBody>
          <a:bodyPr/>
          <a:lstStyle/>
          <a:p>
            <a:r>
              <a:rPr lang="en-IN" b="1" noProof="0" dirty="0">
                <a:latin typeface="Fira Sans" panose="020B0503050000020004" pitchFamily="34" charset="0"/>
              </a:rPr>
              <a:t>Failure Mode and Effects Analysis (FMEA)</a:t>
            </a:r>
            <a:endParaRPr lang="en-IN" b="1" dirty="0"/>
          </a:p>
        </p:txBody>
      </p:sp>
      <p:sp>
        <p:nvSpPr>
          <p:cNvPr id="3" name="Content Placeholder 2">
            <a:extLst>
              <a:ext uri="{FF2B5EF4-FFF2-40B4-BE49-F238E27FC236}">
                <a16:creationId xmlns:a16="http://schemas.microsoft.com/office/drawing/2014/main" id="{E953F589-7B87-E67D-A717-83BD5AD2D740}"/>
              </a:ext>
            </a:extLst>
          </p:cNvPr>
          <p:cNvSpPr>
            <a:spLocks noGrp="1"/>
          </p:cNvSpPr>
          <p:nvPr>
            <p:ph idx="1"/>
          </p:nvPr>
        </p:nvSpPr>
        <p:spPr/>
        <p:txBody>
          <a:bodyPr/>
          <a:lstStyle/>
          <a:p>
            <a:r>
              <a:rPr lang="en-IN" b="1" dirty="0">
                <a:latin typeface="Fira Sans" panose="020B0503050000020004" pitchFamily="34" charset="0"/>
              </a:rPr>
              <a:t>FMEA scoring system</a:t>
            </a:r>
            <a:r>
              <a:rPr lang="en-IN" dirty="0">
                <a:latin typeface="Fira Sans" panose="020B0503050000020004" pitchFamily="34" charset="0"/>
              </a:rPr>
              <a:t>:</a:t>
            </a:r>
            <a:br>
              <a:rPr lang="en-IN" dirty="0">
                <a:latin typeface="Fira Sans" panose="020B0503050000020004" pitchFamily="34" charset="0"/>
              </a:rPr>
            </a:br>
            <a:r>
              <a:rPr lang="en-US" i="1" dirty="0">
                <a:latin typeface="Fira Sans" panose="020B0503050000020004" pitchFamily="34" charset="0"/>
              </a:rPr>
              <a:t>Risk Priority Number (RPN) = Severity × Occurrence × Detection</a:t>
            </a:r>
          </a:p>
          <a:p>
            <a:r>
              <a:rPr lang="en-US" dirty="0">
                <a:latin typeface="Fira Sans" panose="020B0503050000020004" pitchFamily="34" charset="0"/>
              </a:rPr>
              <a:t>Where each factor is rated 1-10:- </a:t>
            </a:r>
          </a:p>
          <a:p>
            <a:r>
              <a:rPr lang="en-US" b="1" dirty="0">
                <a:latin typeface="Fira Sans" panose="020B0503050000020004" pitchFamily="34" charset="0"/>
              </a:rPr>
              <a:t>Severity</a:t>
            </a:r>
            <a:r>
              <a:rPr lang="en-US" dirty="0">
                <a:latin typeface="Fira Sans" panose="020B0503050000020004" pitchFamily="34" charset="0"/>
              </a:rPr>
              <a:t>: Impact of failure (1=minor, 10=catastrophic)</a:t>
            </a:r>
          </a:p>
          <a:p>
            <a:r>
              <a:rPr lang="en-US" b="1" dirty="0">
                <a:latin typeface="Fira Sans" panose="020B0503050000020004" pitchFamily="34" charset="0"/>
              </a:rPr>
              <a:t>Occurrence</a:t>
            </a:r>
            <a:r>
              <a:rPr lang="en-US" dirty="0">
                <a:latin typeface="Fira Sans" panose="020B0503050000020004" pitchFamily="34" charset="0"/>
              </a:rPr>
              <a:t>: Frequency of failure (1=rare, 10=very frequent)</a:t>
            </a:r>
          </a:p>
          <a:p>
            <a:r>
              <a:rPr lang="en-US" b="1" dirty="0">
                <a:latin typeface="Fira Sans" panose="020B0503050000020004" pitchFamily="34" charset="0"/>
              </a:rPr>
              <a:t>Detection</a:t>
            </a:r>
            <a:r>
              <a:rPr lang="en-US" dirty="0">
                <a:latin typeface="Fira Sans" panose="020B0503050000020004" pitchFamily="34" charset="0"/>
              </a:rPr>
              <a:t>: Ability to detect before impact (1=always detected, 10=never detected)</a:t>
            </a:r>
            <a:endParaRPr lang="en-IN" dirty="0">
              <a:latin typeface="Fira Sans" panose="020B0503050000020004" pitchFamily="34" charset="0"/>
            </a:endParaRPr>
          </a:p>
        </p:txBody>
      </p:sp>
    </p:spTree>
    <p:extLst>
      <p:ext uri="{BB962C8B-B14F-4D97-AF65-F5344CB8AC3E}">
        <p14:creationId xmlns:p14="http://schemas.microsoft.com/office/powerpoint/2010/main" val="3459751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93F30-F349-F48B-DAF5-88A21F6FDDFB}"/>
              </a:ext>
            </a:extLst>
          </p:cNvPr>
          <p:cNvSpPr>
            <a:spLocks noGrp="1"/>
          </p:cNvSpPr>
          <p:nvPr>
            <p:ph type="title"/>
          </p:nvPr>
        </p:nvSpPr>
        <p:spPr/>
        <p:txBody>
          <a:bodyPr/>
          <a:lstStyle/>
          <a:p>
            <a:endParaRPr lang="en-IN" dirty="0"/>
          </a:p>
        </p:txBody>
      </p:sp>
      <p:graphicFrame>
        <p:nvGraphicFramePr>
          <p:cNvPr id="4" name="Content Placeholder 3">
            <a:extLst>
              <a:ext uri="{FF2B5EF4-FFF2-40B4-BE49-F238E27FC236}">
                <a16:creationId xmlns:a16="http://schemas.microsoft.com/office/drawing/2014/main" id="{56FF804D-3A46-0B34-6AA7-43F3A642845F}"/>
              </a:ext>
            </a:extLst>
          </p:cNvPr>
          <p:cNvGraphicFramePr>
            <a:graphicFrameLocks noGrp="1"/>
          </p:cNvGraphicFramePr>
          <p:nvPr>
            <p:ph idx="1"/>
            <p:extLst>
              <p:ext uri="{D42A27DB-BD31-4B8C-83A1-F6EECF244321}">
                <p14:modId xmlns:p14="http://schemas.microsoft.com/office/powerpoint/2010/main" val="446758518"/>
              </p:ext>
            </p:extLst>
          </p:nvPr>
        </p:nvGraphicFramePr>
        <p:xfrm>
          <a:off x="838200" y="3010861"/>
          <a:ext cx="7010400" cy="2743200"/>
        </p:xfrm>
        <a:graphic>
          <a:graphicData uri="http://schemas.openxmlformats.org/drawingml/2006/table">
            <a:tbl>
              <a:tblPr/>
              <a:tblGrid>
                <a:gridCol w="1752600">
                  <a:extLst>
                    <a:ext uri="{9D8B030D-6E8A-4147-A177-3AD203B41FA5}">
                      <a16:colId xmlns:a16="http://schemas.microsoft.com/office/drawing/2014/main" val="2195037481"/>
                    </a:ext>
                  </a:extLst>
                </a:gridCol>
                <a:gridCol w="1752600">
                  <a:extLst>
                    <a:ext uri="{9D8B030D-6E8A-4147-A177-3AD203B41FA5}">
                      <a16:colId xmlns:a16="http://schemas.microsoft.com/office/drawing/2014/main" val="1144396891"/>
                    </a:ext>
                  </a:extLst>
                </a:gridCol>
                <a:gridCol w="1752600">
                  <a:extLst>
                    <a:ext uri="{9D8B030D-6E8A-4147-A177-3AD203B41FA5}">
                      <a16:colId xmlns:a16="http://schemas.microsoft.com/office/drawing/2014/main" val="4219133660"/>
                    </a:ext>
                  </a:extLst>
                </a:gridCol>
                <a:gridCol w="1752600">
                  <a:extLst>
                    <a:ext uri="{9D8B030D-6E8A-4147-A177-3AD203B41FA5}">
                      <a16:colId xmlns:a16="http://schemas.microsoft.com/office/drawing/2014/main" val="2592431364"/>
                    </a:ext>
                  </a:extLst>
                </a:gridCol>
              </a:tblGrid>
              <a:tr h="0">
                <a:tc>
                  <a:txBody>
                    <a:bodyPr/>
                    <a:lstStyle/>
                    <a:p>
                      <a:pPr>
                        <a:buNone/>
                      </a:pPr>
                      <a:r>
                        <a:rPr lang="en-IN"/>
                        <a:t>Failure Mode</a:t>
                      </a:r>
                    </a:p>
                  </a:txBody>
                  <a:tcPr anchor="ctr">
                    <a:lnL>
                      <a:noFill/>
                    </a:lnL>
                    <a:lnR>
                      <a:noFill/>
                    </a:lnR>
                    <a:lnT>
                      <a:noFill/>
                    </a:lnT>
                    <a:lnB>
                      <a:noFill/>
                    </a:lnB>
                    <a:noFill/>
                  </a:tcPr>
                </a:tc>
                <a:tc>
                  <a:txBody>
                    <a:bodyPr/>
                    <a:lstStyle/>
                    <a:p>
                      <a:pPr>
                        <a:buNone/>
                      </a:pPr>
                      <a:r>
                        <a:rPr lang="en-IN" dirty="0"/>
                        <a:t>Severity</a:t>
                      </a:r>
                    </a:p>
                  </a:txBody>
                  <a:tcPr anchor="ctr">
                    <a:lnL>
                      <a:noFill/>
                    </a:lnL>
                    <a:lnR>
                      <a:noFill/>
                    </a:lnR>
                    <a:lnT>
                      <a:noFill/>
                    </a:lnT>
                    <a:lnB>
                      <a:noFill/>
                    </a:lnB>
                    <a:noFill/>
                  </a:tcPr>
                </a:tc>
                <a:tc>
                  <a:txBody>
                    <a:bodyPr/>
                    <a:lstStyle/>
                    <a:p>
                      <a:pPr>
                        <a:buNone/>
                      </a:pPr>
                      <a:r>
                        <a:rPr lang="en-IN"/>
                        <a:t>Occurrence</a:t>
                      </a:r>
                    </a:p>
                  </a:txBody>
                  <a:tcPr anchor="ctr">
                    <a:lnL>
                      <a:noFill/>
                    </a:lnL>
                    <a:lnR>
                      <a:noFill/>
                    </a:lnR>
                    <a:lnT>
                      <a:noFill/>
                    </a:lnT>
                    <a:lnB>
                      <a:noFill/>
                    </a:lnB>
                    <a:noFill/>
                  </a:tcPr>
                </a:tc>
                <a:tc>
                  <a:txBody>
                    <a:bodyPr/>
                    <a:lstStyle/>
                    <a:p>
                      <a:pPr>
                        <a:buNone/>
                      </a:pPr>
                      <a:r>
                        <a:rPr lang="en-IN"/>
                        <a:t>Detection</a:t>
                      </a:r>
                    </a:p>
                  </a:txBody>
                  <a:tcPr anchor="ctr">
                    <a:lnL>
                      <a:noFill/>
                    </a:lnL>
                    <a:lnR>
                      <a:noFill/>
                    </a:lnR>
                    <a:lnT>
                      <a:noFill/>
                    </a:lnT>
                    <a:lnB>
                      <a:noFill/>
                    </a:lnB>
                    <a:noFill/>
                  </a:tcPr>
                </a:tc>
                <a:extLst>
                  <a:ext uri="{0D108BD9-81ED-4DB2-BD59-A6C34878D82A}">
                    <a16:rowId xmlns:a16="http://schemas.microsoft.com/office/drawing/2014/main" val="426490699"/>
                  </a:ext>
                </a:extLst>
              </a:tr>
              <a:tr h="0">
                <a:tc>
                  <a:txBody>
                    <a:bodyPr/>
                    <a:lstStyle/>
                    <a:p>
                      <a:pPr>
                        <a:buNone/>
                      </a:pPr>
                      <a:r>
                        <a:rPr lang="en-IN"/>
                        <a:t>Staff Shortage</a:t>
                      </a:r>
                    </a:p>
                  </a:txBody>
                  <a:tcPr anchor="ctr">
                    <a:lnL>
                      <a:noFill/>
                    </a:lnL>
                    <a:lnR>
                      <a:noFill/>
                    </a:lnR>
                    <a:lnT>
                      <a:noFill/>
                    </a:lnT>
                    <a:lnB>
                      <a:noFill/>
                    </a:lnB>
                    <a:noFill/>
                  </a:tcPr>
                </a:tc>
                <a:tc>
                  <a:txBody>
                    <a:bodyPr/>
                    <a:lstStyle/>
                    <a:p>
                      <a:pPr>
                        <a:buNone/>
                      </a:pPr>
                      <a:r>
                        <a:rPr lang="en-IN"/>
                        <a:t>8</a:t>
                      </a:r>
                    </a:p>
                  </a:txBody>
                  <a:tcPr anchor="ctr">
                    <a:lnL>
                      <a:noFill/>
                    </a:lnL>
                    <a:lnR>
                      <a:noFill/>
                    </a:lnR>
                    <a:lnT>
                      <a:noFill/>
                    </a:lnT>
                    <a:lnB>
                      <a:noFill/>
                    </a:lnB>
                    <a:noFill/>
                  </a:tcPr>
                </a:tc>
                <a:tc>
                  <a:txBody>
                    <a:bodyPr/>
                    <a:lstStyle/>
                    <a:p>
                      <a:pPr>
                        <a:buNone/>
                      </a:pPr>
                      <a:r>
                        <a:rPr lang="en-IN"/>
                        <a:t>7</a:t>
                      </a:r>
                    </a:p>
                  </a:txBody>
                  <a:tcPr anchor="ctr">
                    <a:lnL>
                      <a:noFill/>
                    </a:lnL>
                    <a:lnR>
                      <a:noFill/>
                    </a:lnR>
                    <a:lnT>
                      <a:noFill/>
                    </a:lnT>
                    <a:lnB>
                      <a:noFill/>
                    </a:lnB>
                    <a:noFill/>
                  </a:tcPr>
                </a:tc>
                <a:tc>
                  <a:txBody>
                    <a:bodyPr/>
                    <a:lstStyle/>
                    <a:p>
                      <a:pPr>
                        <a:buNone/>
                      </a:pPr>
                      <a:r>
                        <a:rPr lang="en-IN"/>
                        <a:t>3</a:t>
                      </a:r>
                    </a:p>
                  </a:txBody>
                  <a:tcPr anchor="ctr">
                    <a:lnL>
                      <a:noFill/>
                    </a:lnL>
                    <a:lnR>
                      <a:noFill/>
                    </a:lnR>
                    <a:lnT>
                      <a:noFill/>
                    </a:lnT>
                    <a:lnB>
                      <a:noFill/>
                    </a:lnB>
                    <a:noFill/>
                  </a:tcPr>
                </a:tc>
                <a:extLst>
                  <a:ext uri="{0D108BD9-81ED-4DB2-BD59-A6C34878D82A}">
                    <a16:rowId xmlns:a16="http://schemas.microsoft.com/office/drawing/2014/main" val="1244996547"/>
                  </a:ext>
                </a:extLst>
              </a:tr>
              <a:tr h="0">
                <a:tc>
                  <a:txBody>
                    <a:bodyPr/>
                    <a:lstStyle/>
                    <a:p>
                      <a:pPr>
                        <a:buNone/>
                      </a:pPr>
                      <a:r>
                        <a:rPr lang="en-IN"/>
                        <a:t>Equipment Failure</a:t>
                      </a:r>
                    </a:p>
                  </a:txBody>
                  <a:tcPr anchor="ctr">
                    <a:lnL>
                      <a:noFill/>
                    </a:lnL>
                    <a:lnR>
                      <a:noFill/>
                    </a:lnR>
                    <a:lnT>
                      <a:noFill/>
                    </a:lnT>
                    <a:lnB>
                      <a:noFill/>
                    </a:lnB>
                    <a:noFill/>
                  </a:tcPr>
                </a:tc>
                <a:tc>
                  <a:txBody>
                    <a:bodyPr/>
                    <a:lstStyle/>
                    <a:p>
                      <a:pPr>
                        <a:buNone/>
                      </a:pPr>
                      <a:r>
                        <a:rPr lang="en-IN"/>
                        <a:t>9</a:t>
                      </a:r>
                    </a:p>
                  </a:txBody>
                  <a:tcPr anchor="ctr">
                    <a:lnL>
                      <a:noFill/>
                    </a:lnL>
                    <a:lnR>
                      <a:noFill/>
                    </a:lnR>
                    <a:lnT>
                      <a:noFill/>
                    </a:lnT>
                    <a:lnB>
                      <a:noFill/>
                    </a:lnB>
                    <a:noFill/>
                  </a:tcPr>
                </a:tc>
                <a:tc>
                  <a:txBody>
                    <a:bodyPr/>
                    <a:lstStyle/>
                    <a:p>
                      <a:pPr>
                        <a:buNone/>
                      </a:pPr>
                      <a:r>
                        <a:rPr lang="en-IN"/>
                        <a:t>4</a:t>
                      </a:r>
                    </a:p>
                  </a:txBody>
                  <a:tcPr anchor="ctr">
                    <a:lnL>
                      <a:noFill/>
                    </a:lnL>
                    <a:lnR>
                      <a:noFill/>
                    </a:lnR>
                    <a:lnT>
                      <a:noFill/>
                    </a:lnT>
                    <a:lnB>
                      <a:noFill/>
                    </a:lnB>
                    <a:noFill/>
                  </a:tcPr>
                </a:tc>
                <a:tc>
                  <a:txBody>
                    <a:bodyPr/>
                    <a:lstStyle/>
                    <a:p>
                      <a:pPr>
                        <a:buNone/>
                      </a:pPr>
                      <a:r>
                        <a:rPr lang="en-IN"/>
                        <a:t>2</a:t>
                      </a:r>
                    </a:p>
                  </a:txBody>
                  <a:tcPr anchor="ctr">
                    <a:lnL>
                      <a:noFill/>
                    </a:lnL>
                    <a:lnR>
                      <a:noFill/>
                    </a:lnR>
                    <a:lnT>
                      <a:noFill/>
                    </a:lnT>
                    <a:lnB>
                      <a:noFill/>
                    </a:lnB>
                    <a:noFill/>
                  </a:tcPr>
                </a:tc>
                <a:extLst>
                  <a:ext uri="{0D108BD9-81ED-4DB2-BD59-A6C34878D82A}">
                    <a16:rowId xmlns:a16="http://schemas.microsoft.com/office/drawing/2014/main" val="2610402184"/>
                  </a:ext>
                </a:extLst>
              </a:tr>
              <a:tr h="0">
                <a:tc>
                  <a:txBody>
                    <a:bodyPr/>
                    <a:lstStyle/>
                    <a:p>
                      <a:pPr>
                        <a:buNone/>
                      </a:pPr>
                      <a:r>
                        <a:rPr lang="en-IN"/>
                        <a:t>System Downtime</a:t>
                      </a:r>
                    </a:p>
                  </a:txBody>
                  <a:tcPr anchor="ctr">
                    <a:lnL>
                      <a:noFill/>
                    </a:lnL>
                    <a:lnR>
                      <a:noFill/>
                    </a:lnR>
                    <a:lnT>
                      <a:noFill/>
                    </a:lnT>
                    <a:lnB>
                      <a:noFill/>
                    </a:lnB>
                    <a:noFill/>
                  </a:tcPr>
                </a:tc>
                <a:tc>
                  <a:txBody>
                    <a:bodyPr/>
                    <a:lstStyle/>
                    <a:p>
                      <a:pPr>
                        <a:buNone/>
                      </a:pPr>
                      <a:r>
                        <a:rPr lang="en-IN"/>
                        <a:t>7</a:t>
                      </a:r>
                    </a:p>
                  </a:txBody>
                  <a:tcPr anchor="ctr">
                    <a:lnL>
                      <a:noFill/>
                    </a:lnL>
                    <a:lnR>
                      <a:noFill/>
                    </a:lnR>
                    <a:lnT>
                      <a:noFill/>
                    </a:lnT>
                    <a:lnB>
                      <a:noFill/>
                    </a:lnB>
                    <a:noFill/>
                  </a:tcPr>
                </a:tc>
                <a:tc>
                  <a:txBody>
                    <a:bodyPr/>
                    <a:lstStyle/>
                    <a:p>
                      <a:pPr>
                        <a:buNone/>
                      </a:pPr>
                      <a:r>
                        <a:rPr lang="en-IN"/>
                        <a:t>5</a:t>
                      </a:r>
                    </a:p>
                  </a:txBody>
                  <a:tcPr anchor="ctr">
                    <a:lnL>
                      <a:noFill/>
                    </a:lnL>
                    <a:lnR>
                      <a:noFill/>
                    </a:lnR>
                    <a:lnT>
                      <a:noFill/>
                    </a:lnT>
                    <a:lnB>
                      <a:noFill/>
                    </a:lnB>
                    <a:noFill/>
                  </a:tcPr>
                </a:tc>
                <a:tc>
                  <a:txBody>
                    <a:bodyPr/>
                    <a:lstStyle/>
                    <a:p>
                      <a:pPr>
                        <a:buNone/>
                      </a:pPr>
                      <a:r>
                        <a:rPr lang="en-IN"/>
                        <a:t>2</a:t>
                      </a:r>
                    </a:p>
                  </a:txBody>
                  <a:tcPr anchor="ctr">
                    <a:lnL>
                      <a:noFill/>
                    </a:lnL>
                    <a:lnR>
                      <a:noFill/>
                    </a:lnR>
                    <a:lnT>
                      <a:noFill/>
                    </a:lnT>
                    <a:lnB>
                      <a:noFill/>
                    </a:lnB>
                    <a:noFill/>
                  </a:tcPr>
                </a:tc>
                <a:extLst>
                  <a:ext uri="{0D108BD9-81ED-4DB2-BD59-A6C34878D82A}">
                    <a16:rowId xmlns:a16="http://schemas.microsoft.com/office/drawing/2014/main" val="4014031589"/>
                  </a:ext>
                </a:extLst>
              </a:tr>
              <a:tr h="0">
                <a:tc>
                  <a:txBody>
                    <a:bodyPr/>
                    <a:lstStyle/>
                    <a:p>
                      <a:pPr>
                        <a:buNone/>
                      </a:pPr>
                      <a:r>
                        <a:rPr lang="en-IN"/>
                        <a:t>Supply Shortage</a:t>
                      </a:r>
                    </a:p>
                  </a:txBody>
                  <a:tcPr anchor="ctr">
                    <a:lnL>
                      <a:noFill/>
                    </a:lnL>
                    <a:lnR>
                      <a:noFill/>
                    </a:lnR>
                    <a:lnT>
                      <a:noFill/>
                    </a:lnT>
                    <a:lnB>
                      <a:noFill/>
                    </a:lnB>
                    <a:noFill/>
                  </a:tcPr>
                </a:tc>
                <a:tc>
                  <a:txBody>
                    <a:bodyPr/>
                    <a:lstStyle/>
                    <a:p>
                      <a:pPr>
                        <a:buNone/>
                      </a:pPr>
                      <a:r>
                        <a:rPr lang="en-IN"/>
                        <a:t>6</a:t>
                      </a:r>
                    </a:p>
                  </a:txBody>
                  <a:tcPr anchor="ctr">
                    <a:lnL>
                      <a:noFill/>
                    </a:lnL>
                    <a:lnR>
                      <a:noFill/>
                    </a:lnR>
                    <a:lnT>
                      <a:noFill/>
                    </a:lnT>
                    <a:lnB>
                      <a:noFill/>
                    </a:lnB>
                    <a:noFill/>
                  </a:tcPr>
                </a:tc>
                <a:tc>
                  <a:txBody>
                    <a:bodyPr/>
                    <a:lstStyle/>
                    <a:p>
                      <a:pPr>
                        <a:buNone/>
                      </a:pPr>
                      <a:r>
                        <a:rPr lang="en-IN"/>
                        <a:t>3</a:t>
                      </a:r>
                    </a:p>
                  </a:txBody>
                  <a:tcPr anchor="ctr">
                    <a:lnL>
                      <a:noFill/>
                    </a:lnL>
                    <a:lnR>
                      <a:noFill/>
                    </a:lnR>
                    <a:lnT>
                      <a:noFill/>
                    </a:lnT>
                    <a:lnB>
                      <a:noFill/>
                    </a:lnB>
                    <a:noFill/>
                  </a:tcPr>
                </a:tc>
                <a:tc>
                  <a:txBody>
                    <a:bodyPr/>
                    <a:lstStyle/>
                    <a:p>
                      <a:pPr>
                        <a:buNone/>
                      </a:pPr>
                      <a:r>
                        <a:rPr lang="en-IN"/>
                        <a:t>4</a:t>
                      </a:r>
                    </a:p>
                  </a:txBody>
                  <a:tcPr anchor="ctr">
                    <a:lnL>
                      <a:noFill/>
                    </a:lnL>
                    <a:lnR>
                      <a:noFill/>
                    </a:lnR>
                    <a:lnT>
                      <a:noFill/>
                    </a:lnT>
                    <a:lnB>
                      <a:noFill/>
                    </a:lnB>
                    <a:noFill/>
                  </a:tcPr>
                </a:tc>
                <a:extLst>
                  <a:ext uri="{0D108BD9-81ED-4DB2-BD59-A6C34878D82A}">
                    <a16:rowId xmlns:a16="http://schemas.microsoft.com/office/drawing/2014/main" val="112249884"/>
                  </a:ext>
                </a:extLst>
              </a:tr>
              <a:tr h="0">
                <a:tc>
                  <a:txBody>
                    <a:bodyPr/>
                    <a:lstStyle/>
                    <a:p>
                      <a:pPr>
                        <a:buNone/>
                      </a:pPr>
                      <a:r>
                        <a:rPr lang="en-IN"/>
                        <a:t>Patient Surge</a:t>
                      </a:r>
                    </a:p>
                  </a:txBody>
                  <a:tcPr anchor="ctr">
                    <a:lnL>
                      <a:noFill/>
                    </a:lnL>
                    <a:lnR>
                      <a:noFill/>
                    </a:lnR>
                    <a:lnT>
                      <a:noFill/>
                    </a:lnT>
                    <a:lnB>
                      <a:noFill/>
                    </a:lnB>
                    <a:noFill/>
                  </a:tcPr>
                </a:tc>
                <a:tc>
                  <a:txBody>
                    <a:bodyPr/>
                    <a:lstStyle/>
                    <a:p>
                      <a:pPr>
                        <a:buNone/>
                      </a:pPr>
                      <a:r>
                        <a:rPr lang="en-IN"/>
                        <a:t>8</a:t>
                      </a:r>
                    </a:p>
                  </a:txBody>
                  <a:tcPr anchor="ctr">
                    <a:lnL>
                      <a:noFill/>
                    </a:lnL>
                    <a:lnR>
                      <a:noFill/>
                    </a:lnR>
                    <a:lnT>
                      <a:noFill/>
                    </a:lnT>
                    <a:lnB>
                      <a:noFill/>
                    </a:lnB>
                    <a:noFill/>
                  </a:tcPr>
                </a:tc>
                <a:tc>
                  <a:txBody>
                    <a:bodyPr/>
                    <a:lstStyle/>
                    <a:p>
                      <a:pPr>
                        <a:buNone/>
                      </a:pPr>
                      <a:r>
                        <a:rPr lang="en-IN"/>
                        <a:t>6</a:t>
                      </a:r>
                    </a:p>
                  </a:txBody>
                  <a:tcPr anchor="ctr">
                    <a:lnL>
                      <a:noFill/>
                    </a:lnL>
                    <a:lnR>
                      <a:noFill/>
                    </a:lnR>
                    <a:lnT>
                      <a:noFill/>
                    </a:lnT>
                    <a:lnB>
                      <a:noFill/>
                    </a:lnB>
                    <a:noFill/>
                  </a:tcPr>
                </a:tc>
                <a:tc>
                  <a:txBody>
                    <a:bodyPr/>
                    <a:lstStyle/>
                    <a:p>
                      <a:pPr>
                        <a:buNone/>
                      </a:pPr>
                      <a:r>
                        <a:rPr lang="en-IN" dirty="0"/>
                        <a:t>5</a:t>
                      </a:r>
                    </a:p>
                  </a:txBody>
                  <a:tcPr anchor="ctr">
                    <a:lnL>
                      <a:noFill/>
                    </a:lnL>
                    <a:lnR>
                      <a:noFill/>
                    </a:lnR>
                    <a:lnT>
                      <a:noFill/>
                    </a:lnT>
                    <a:lnB>
                      <a:noFill/>
                    </a:lnB>
                    <a:noFill/>
                  </a:tcPr>
                </a:tc>
                <a:extLst>
                  <a:ext uri="{0D108BD9-81ED-4DB2-BD59-A6C34878D82A}">
                    <a16:rowId xmlns:a16="http://schemas.microsoft.com/office/drawing/2014/main" val="38910505"/>
                  </a:ext>
                </a:extLst>
              </a:tr>
            </a:tbl>
          </a:graphicData>
        </a:graphic>
      </p:graphicFrame>
      <p:sp>
        <p:nvSpPr>
          <p:cNvPr id="5" name="Rectangle 1">
            <a:extLst>
              <a:ext uri="{FF2B5EF4-FFF2-40B4-BE49-F238E27FC236}">
                <a16:creationId xmlns:a16="http://schemas.microsoft.com/office/drawing/2014/main" id="{5A27D9EC-97A2-F8CA-3734-4F87541F4F55}"/>
              </a:ext>
            </a:extLst>
          </p:cNvPr>
          <p:cNvSpPr>
            <a:spLocks noChangeArrowheads="1"/>
          </p:cNvSpPr>
          <p:nvPr/>
        </p:nvSpPr>
        <p:spPr bwMode="auto">
          <a:xfrm>
            <a:off x="838200" y="2087934"/>
            <a:ext cx="698569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Example: Hospital Emergency Department Wait Time Analysis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42853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06E8B-CFA5-0E73-A706-F1487F99B8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224F86-1D61-7D4E-1A8A-34ABBD6AEB9E}"/>
              </a:ext>
            </a:extLst>
          </p:cNvPr>
          <p:cNvSpPr>
            <a:spLocks noGrp="1"/>
          </p:cNvSpPr>
          <p:nvPr>
            <p:ph type="title"/>
          </p:nvPr>
        </p:nvSpPr>
        <p:spPr/>
        <p:txBody>
          <a:bodyPr/>
          <a:lstStyle/>
          <a:p>
            <a:endParaRPr lang="en-IN" dirty="0"/>
          </a:p>
        </p:txBody>
      </p:sp>
      <p:graphicFrame>
        <p:nvGraphicFramePr>
          <p:cNvPr id="4" name="Content Placeholder 3">
            <a:extLst>
              <a:ext uri="{FF2B5EF4-FFF2-40B4-BE49-F238E27FC236}">
                <a16:creationId xmlns:a16="http://schemas.microsoft.com/office/drawing/2014/main" id="{7B4A1BB6-44B4-F984-AF4A-8A0854DB2CA2}"/>
              </a:ext>
            </a:extLst>
          </p:cNvPr>
          <p:cNvGraphicFramePr>
            <a:graphicFrameLocks noGrp="1"/>
          </p:cNvGraphicFramePr>
          <p:nvPr>
            <p:ph idx="1"/>
          </p:nvPr>
        </p:nvGraphicFramePr>
        <p:xfrm>
          <a:off x="838200" y="3010861"/>
          <a:ext cx="10515600" cy="2743200"/>
        </p:xfrm>
        <a:graphic>
          <a:graphicData uri="http://schemas.openxmlformats.org/drawingml/2006/table">
            <a:tbl>
              <a:tblPr/>
              <a:tblGrid>
                <a:gridCol w="1752600">
                  <a:extLst>
                    <a:ext uri="{9D8B030D-6E8A-4147-A177-3AD203B41FA5}">
                      <a16:colId xmlns:a16="http://schemas.microsoft.com/office/drawing/2014/main" val="2195037481"/>
                    </a:ext>
                  </a:extLst>
                </a:gridCol>
                <a:gridCol w="1752600">
                  <a:extLst>
                    <a:ext uri="{9D8B030D-6E8A-4147-A177-3AD203B41FA5}">
                      <a16:colId xmlns:a16="http://schemas.microsoft.com/office/drawing/2014/main" val="1144396891"/>
                    </a:ext>
                  </a:extLst>
                </a:gridCol>
                <a:gridCol w="1752600">
                  <a:extLst>
                    <a:ext uri="{9D8B030D-6E8A-4147-A177-3AD203B41FA5}">
                      <a16:colId xmlns:a16="http://schemas.microsoft.com/office/drawing/2014/main" val="4219133660"/>
                    </a:ext>
                  </a:extLst>
                </a:gridCol>
                <a:gridCol w="1752600">
                  <a:extLst>
                    <a:ext uri="{9D8B030D-6E8A-4147-A177-3AD203B41FA5}">
                      <a16:colId xmlns:a16="http://schemas.microsoft.com/office/drawing/2014/main" val="2592431364"/>
                    </a:ext>
                  </a:extLst>
                </a:gridCol>
                <a:gridCol w="1752600">
                  <a:extLst>
                    <a:ext uri="{9D8B030D-6E8A-4147-A177-3AD203B41FA5}">
                      <a16:colId xmlns:a16="http://schemas.microsoft.com/office/drawing/2014/main" val="4239123461"/>
                    </a:ext>
                  </a:extLst>
                </a:gridCol>
                <a:gridCol w="1752600">
                  <a:extLst>
                    <a:ext uri="{9D8B030D-6E8A-4147-A177-3AD203B41FA5}">
                      <a16:colId xmlns:a16="http://schemas.microsoft.com/office/drawing/2014/main" val="1846949746"/>
                    </a:ext>
                  </a:extLst>
                </a:gridCol>
              </a:tblGrid>
              <a:tr h="0">
                <a:tc>
                  <a:txBody>
                    <a:bodyPr/>
                    <a:lstStyle/>
                    <a:p>
                      <a:pPr>
                        <a:buNone/>
                      </a:pPr>
                      <a:r>
                        <a:rPr lang="en-IN"/>
                        <a:t>Failure Mode</a:t>
                      </a:r>
                    </a:p>
                  </a:txBody>
                  <a:tcPr anchor="ctr">
                    <a:lnL>
                      <a:noFill/>
                    </a:lnL>
                    <a:lnR>
                      <a:noFill/>
                    </a:lnR>
                    <a:lnT>
                      <a:noFill/>
                    </a:lnT>
                    <a:lnB>
                      <a:noFill/>
                    </a:lnB>
                    <a:noFill/>
                  </a:tcPr>
                </a:tc>
                <a:tc>
                  <a:txBody>
                    <a:bodyPr/>
                    <a:lstStyle/>
                    <a:p>
                      <a:pPr>
                        <a:buNone/>
                      </a:pPr>
                      <a:r>
                        <a:rPr lang="en-IN" dirty="0"/>
                        <a:t>Severity</a:t>
                      </a:r>
                    </a:p>
                  </a:txBody>
                  <a:tcPr anchor="ctr">
                    <a:lnL>
                      <a:noFill/>
                    </a:lnL>
                    <a:lnR>
                      <a:noFill/>
                    </a:lnR>
                    <a:lnT>
                      <a:noFill/>
                    </a:lnT>
                    <a:lnB>
                      <a:noFill/>
                    </a:lnB>
                    <a:noFill/>
                  </a:tcPr>
                </a:tc>
                <a:tc>
                  <a:txBody>
                    <a:bodyPr/>
                    <a:lstStyle/>
                    <a:p>
                      <a:pPr>
                        <a:buNone/>
                      </a:pPr>
                      <a:r>
                        <a:rPr lang="en-IN"/>
                        <a:t>Occurrence</a:t>
                      </a:r>
                    </a:p>
                  </a:txBody>
                  <a:tcPr anchor="ctr">
                    <a:lnL>
                      <a:noFill/>
                    </a:lnL>
                    <a:lnR>
                      <a:noFill/>
                    </a:lnR>
                    <a:lnT>
                      <a:noFill/>
                    </a:lnT>
                    <a:lnB>
                      <a:noFill/>
                    </a:lnB>
                    <a:noFill/>
                  </a:tcPr>
                </a:tc>
                <a:tc>
                  <a:txBody>
                    <a:bodyPr/>
                    <a:lstStyle/>
                    <a:p>
                      <a:pPr>
                        <a:buNone/>
                      </a:pPr>
                      <a:r>
                        <a:rPr lang="en-IN"/>
                        <a:t>Detection</a:t>
                      </a:r>
                    </a:p>
                  </a:txBody>
                  <a:tcPr anchor="ctr">
                    <a:lnL>
                      <a:noFill/>
                    </a:lnL>
                    <a:lnR>
                      <a:noFill/>
                    </a:lnR>
                    <a:lnT>
                      <a:noFill/>
                    </a:lnT>
                    <a:lnB>
                      <a:noFill/>
                    </a:lnB>
                    <a:noFill/>
                  </a:tcPr>
                </a:tc>
                <a:tc>
                  <a:txBody>
                    <a:bodyPr/>
                    <a:lstStyle/>
                    <a:p>
                      <a:pPr>
                        <a:buNone/>
                      </a:pPr>
                      <a:r>
                        <a:rPr lang="en-IN"/>
                        <a:t>RPN</a:t>
                      </a:r>
                    </a:p>
                  </a:txBody>
                  <a:tcPr anchor="ctr">
                    <a:lnL>
                      <a:noFill/>
                    </a:lnL>
                    <a:lnR>
                      <a:noFill/>
                    </a:lnR>
                    <a:lnT>
                      <a:noFill/>
                    </a:lnT>
                    <a:lnB>
                      <a:noFill/>
                    </a:lnB>
                    <a:noFill/>
                  </a:tcPr>
                </a:tc>
                <a:tc>
                  <a:txBody>
                    <a:bodyPr/>
                    <a:lstStyle/>
                    <a:p>
                      <a:pPr>
                        <a:buNone/>
                      </a:pPr>
                      <a:r>
                        <a:rPr lang="en-IN"/>
                        <a:t>Priority</a:t>
                      </a:r>
                    </a:p>
                  </a:txBody>
                  <a:tcPr anchor="ctr">
                    <a:lnL>
                      <a:noFill/>
                    </a:lnL>
                    <a:lnR>
                      <a:noFill/>
                    </a:lnR>
                    <a:lnT>
                      <a:noFill/>
                    </a:lnT>
                    <a:lnB>
                      <a:noFill/>
                    </a:lnB>
                    <a:noFill/>
                  </a:tcPr>
                </a:tc>
                <a:extLst>
                  <a:ext uri="{0D108BD9-81ED-4DB2-BD59-A6C34878D82A}">
                    <a16:rowId xmlns:a16="http://schemas.microsoft.com/office/drawing/2014/main" val="426490699"/>
                  </a:ext>
                </a:extLst>
              </a:tr>
              <a:tr h="0">
                <a:tc>
                  <a:txBody>
                    <a:bodyPr/>
                    <a:lstStyle/>
                    <a:p>
                      <a:pPr>
                        <a:buNone/>
                      </a:pPr>
                      <a:r>
                        <a:rPr lang="en-IN"/>
                        <a:t>Staff Shortage</a:t>
                      </a:r>
                    </a:p>
                  </a:txBody>
                  <a:tcPr anchor="ctr">
                    <a:lnL>
                      <a:noFill/>
                    </a:lnL>
                    <a:lnR>
                      <a:noFill/>
                    </a:lnR>
                    <a:lnT>
                      <a:noFill/>
                    </a:lnT>
                    <a:lnB>
                      <a:noFill/>
                    </a:lnB>
                    <a:noFill/>
                  </a:tcPr>
                </a:tc>
                <a:tc>
                  <a:txBody>
                    <a:bodyPr/>
                    <a:lstStyle/>
                    <a:p>
                      <a:pPr>
                        <a:buNone/>
                      </a:pPr>
                      <a:r>
                        <a:rPr lang="en-IN"/>
                        <a:t>8</a:t>
                      </a:r>
                    </a:p>
                  </a:txBody>
                  <a:tcPr anchor="ctr">
                    <a:lnL>
                      <a:noFill/>
                    </a:lnL>
                    <a:lnR>
                      <a:noFill/>
                    </a:lnR>
                    <a:lnT>
                      <a:noFill/>
                    </a:lnT>
                    <a:lnB>
                      <a:noFill/>
                    </a:lnB>
                    <a:noFill/>
                  </a:tcPr>
                </a:tc>
                <a:tc>
                  <a:txBody>
                    <a:bodyPr/>
                    <a:lstStyle/>
                    <a:p>
                      <a:pPr>
                        <a:buNone/>
                      </a:pPr>
                      <a:r>
                        <a:rPr lang="en-IN"/>
                        <a:t>7</a:t>
                      </a:r>
                    </a:p>
                  </a:txBody>
                  <a:tcPr anchor="ctr">
                    <a:lnL>
                      <a:noFill/>
                    </a:lnL>
                    <a:lnR>
                      <a:noFill/>
                    </a:lnR>
                    <a:lnT>
                      <a:noFill/>
                    </a:lnT>
                    <a:lnB>
                      <a:noFill/>
                    </a:lnB>
                    <a:noFill/>
                  </a:tcPr>
                </a:tc>
                <a:tc>
                  <a:txBody>
                    <a:bodyPr/>
                    <a:lstStyle/>
                    <a:p>
                      <a:pPr>
                        <a:buNone/>
                      </a:pPr>
                      <a:r>
                        <a:rPr lang="en-IN"/>
                        <a:t>3</a:t>
                      </a:r>
                    </a:p>
                  </a:txBody>
                  <a:tcPr anchor="ctr">
                    <a:lnL>
                      <a:noFill/>
                    </a:lnL>
                    <a:lnR>
                      <a:noFill/>
                    </a:lnR>
                    <a:lnT>
                      <a:noFill/>
                    </a:lnT>
                    <a:lnB>
                      <a:noFill/>
                    </a:lnB>
                    <a:noFill/>
                  </a:tcPr>
                </a:tc>
                <a:tc>
                  <a:txBody>
                    <a:bodyPr/>
                    <a:lstStyle/>
                    <a:p>
                      <a:pPr>
                        <a:buNone/>
                      </a:pPr>
                      <a:r>
                        <a:rPr lang="en-IN"/>
                        <a:t>168</a:t>
                      </a:r>
                    </a:p>
                  </a:txBody>
                  <a:tcPr anchor="ctr">
                    <a:lnL>
                      <a:noFill/>
                    </a:lnL>
                    <a:lnR>
                      <a:noFill/>
                    </a:lnR>
                    <a:lnT>
                      <a:noFill/>
                    </a:lnT>
                    <a:lnB>
                      <a:noFill/>
                    </a:lnB>
                    <a:noFill/>
                  </a:tcPr>
                </a:tc>
                <a:tc>
                  <a:txBody>
                    <a:bodyPr/>
                    <a:lstStyle/>
                    <a:p>
                      <a:pPr>
                        <a:buNone/>
                      </a:pPr>
                      <a:r>
                        <a:rPr lang="en-IN"/>
                        <a:t>1</a:t>
                      </a:r>
                    </a:p>
                  </a:txBody>
                  <a:tcPr anchor="ctr">
                    <a:lnL>
                      <a:noFill/>
                    </a:lnL>
                    <a:lnR>
                      <a:noFill/>
                    </a:lnR>
                    <a:lnT>
                      <a:noFill/>
                    </a:lnT>
                    <a:lnB>
                      <a:noFill/>
                    </a:lnB>
                    <a:noFill/>
                  </a:tcPr>
                </a:tc>
                <a:extLst>
                  <a:ext uri="{0D108BD9-81ED-4DB2-BD59-A6C34878D82A}">
                    <a16:rowId xmlns:a16="http://schemas.microsoft.com/office/drawing/2014/main" val="1244996547"/>
                  </a:ext>
                </a:extLst>
              </a:tr>
              <a:tr h="0">
                <a:tc>
                  <a:txBody>
                    <a:bodyPr/>
                    <a:lstStyle/>
                    <a:p>
                      <a:pPr>
                        <a:buNone/>
                      </a:pPr>
                      <a:r>
                        <a:rPr lang="en-IN"/>
                        <a:t>Equipment Failure</a:t>
                      </a:r>
                    </a:p>
                  </a:txBody>
                  <a:tcPr anchor="ctr">
                    <a:lnL>
                      <a:noFill/>
                    </a:lnL>
                    <a:lnR>
                      <a:noFill/>
                    </a:lnR>
                    <a:lnT>
                      <a:noFill/>
                    </a:lnT>
                    <a:lnB>
                      <a:noFill/>
                    </a:lnB>
                    <a:noFill/>
                  </a:tcPr>
                </a:tc>
                <a:tc>
                  <a:txBody>
                    <a:bodyPr/>
                    <a:lstStyle/>
                    <a:p>
                      <a:pPr>
                        <a:buNone/>
                      </a:pPr>
                      <a:r>
                        <a:rPr lang="en-IN"/>
                        <a:t>9</a:t>
                      </a:r>
                    </a:p>
                  </a:txBody>
                  <a:tcPr anchor="ctr">
                    <a:lnL>
                      <a:noFill/>
                    </a:lnL>
                    <a:lnR>
                      <a:noFill/>
                    </a:lnR>
                    <a:lnT>
                      <a:noFill/>
                    </a:lnT>
                    <a:lnB>
                      <a:noFill/>
                    </a:lnB>
                    <a:noFill/>
                  </a:tcPr>
                </a:tc>
                <a:tc>
                  <a:txBody>
                    <a:bodyPr/>
                    <a:lstStyle/>
                    <a:p>
                      <a:pPr>
                        <a:buNone/>
                      </a:pPr>
                      <a:r>
                        <a:rPr lang="en-IN"/>
                        <a:t>4</a:t>
                      </a:r>
                    </a:p>
                  </a:txBody>
                  <a:tcPr anchor="ctr">
                    <a:lnL>
                      <a:noFill/>
                    </a:lnL>
                    <a:lnR>
                      <a:noFill/>
                    </a:lnR>
                    <a:lnT>
                      <a:noFill/>
                    </a:lnT>
                    <a:lnB>
                      <a:noFill/>
                    </a:lnB>
                    <a:noFill/>
                  </a:tcPr>
                </a:tc>
                <a:tc>
                  <a:txBody>
                    <a:bodyPr/>
                    <a:lstStyle/>
                    <a:p>
                      <a:pPr>
                        <a:buNone/>
                      </a:pPr>
                      <a:r>
                        <a:rPr lang="en-IN"/>
                        <a:t>2</a:t>
                      </a:r>
                    </a:p>
                  </a:txBody>
                  <a:tcPr anchor="ctr">
                    <a:lnL>
                      <a:noFill/>
                    </a:lnL>
                    <a:lnR>
                      <a:noFill/>
                    </a:lnR>
                    <a:lnT>
                      <a:noFill/>
                    </a:lnT>
                    <a:lnB>
                      <a:noFill/>
                    </a:lnB>
                    <a:noFill/>
                  </a:tcPr>
                </a:tc>
                <a:tc>
                  <a:txBody>
                    <a:bodyPr/>
                    <a:lstStyle/>
                    <a:p>
                      <a:pPr>
                        <a:buNone/>
                      </a:pPr>
                      <a:r>
                        <a:rPr lang="en-IN"/>
                        <a:t>72</a:t>
                      </a:r>
                    </a:p>
                  </a:txBody>
                  <a:tcPr anchor="ctr">
                    <a:lnL>
                      <a:noFill/>
                    </a:lnL>
                    <a:lnR>
                      <a:noFill/>
                    </a:lnR>
                    <a:lnT>
                      <a:noFill/>
                    </a:lnT>
                    <a:lnB>
                      <a:noFill/>
                    </a:lnB>
                    <a:noFill/>
                  </a:tcPr>
                </a:tc>
                <a:tc>
                  <a:txBody>
                    <a:bodyPr/>
                    <a:lstStyle/>
                    <a:p>
                      <a:pPr>
                        <a:buNone/>
                      </a:pPr>
                      <a:r>
                        <a:rPr lang="en-IN"/>
                        <a:t>2</a:t>
                      </a:r>
                    </a:p>
                  </a:txBody>
                  <a:tcPr anchor="ctr">
                    <a:lnL>
                      <a:noFill/>
                    </a:lnL>
                    <a:lnR>
                      <a:noFill/>
                    </a:lnR>
                    <a:lnT>
                      <a:noFill/>
                    </a:lnT>
                    <a:lnB>
                      <a:noFill/>
                    </a:lnB>
                    <a:noFill/>
                  </a:tcPr>
                </a:tc>
                <a:extLst>
                  <a:ext uri="{0D108BD9-81ED-4DB2-BD59-A6C34878D82A}">
                    <a16:rowId xmlns:a16="http://schemas.microsoft.com/office/drawing/2014/main" val="2610402184"/>
                  </a:ext>
                </a:extLst>
              </a:tr>
              <a:tr h="0">
                <a:tc>
                  <a:txBody>
                    <a:bodyPr/>
                    <a:lstStyle/>
                    <a:p>
                      <a:pPr>
                        <a:buNone/>
                      </a:pPr>
                      <a:r>
                        <a:rPr lang="en-IN"/>
                        <a:t>System Downtime</a:t>
                      </a:r>
                    </a:p>
                  </a:txBody>
                  <a:tcPr anchor="ctr">
                    <a:lnL>
                      <a:noFill/>
                    </a:lnL>
                    <a:lnR>
                      <a:noFill/>
                    </a:lnR>
                    <a:lnT>
                      <a:noFill/>
                    </a:lnT>
                    <a:lnB>
                      <a:noFill/>
                    </a:lnB>
                    <a:noFill/>
                  </a:tcPr>
                </a:tc>
                <a:tc>
                  <a:txBody>
                    <a:bodyPr/>
                    <a:lstStyle/>
                    <a:p>
                      <a:pPr>
                        <a:buNone/>
                      </a:pPr>
                      <a:r>
                        <a:rPr lang="en-IN"/>
                        <a:t>7</a:t>
                      </a:r>
                    </a:p>
                  </a:txBody>
                  <a:tcPr anchor="ctr">
                    <a:lnL>
                      <a:noFill/>
                    </a:lnL>
                    <a:lnR>
                      <a:noFill/>
                    </a:lnR>
                    <a:lnT>
                      <a:noFill/>
                    </a:lnT>
                    <a:lnB>
                      <a:noFill/>
                    </a:lnB>
                    <a:noFill/>
                  </a:tcPr>
                </a:tc>
                <a:tc>
                  <a:txBody>
                    <a:bodyPr/>
                    <a:lstStyle/>
                    <a:p>
                      <a:pPr>
                        <a:buNone/>
                      </a:pPr>
                      <a:r>
                        <a:rPr lang="en-IN"/>
                        <a:t>5</a:t>
                      </a:r>
                    </a:p>
                  </a:txBody>
                  <a:tcPr anchor="ctr">
                    <a:lnL>
                      <a:noFill/>
                    </a:lnL>
                    <a:lnR>
                      <a:noFill/>
                    </a:lnR>
                    <a:lnT>
                      <a:noFill/>
                    </a:lnT>
                    <a:lnB>
                      <a:noFill/>
                    </a:lnB>
                    <a:noFill/>
                  </a:tcPr>
                </a:tc>
                <a:tc>
                  <a:txBody>
                    <a:bodyPr/>
                    <a:lstStyle/>
                    <a:p>
                      <a:pPr>
                        <a:buNone/>
                      </a:pPr>
                      <a:r>
                        <a:rPr lang="en-IN"/>
                        <a:t>2</a:t>
                      </a:r>
                    </a:p>
                  </a:txBody>
                  <a:tcPr anchor="ctr">
                    <a:lnL>
                      <a:noFill/>
                    </a:lnL>
                    <a:lnR>
                      <a:noFill/>
                    </a:lnR>
                    <a:lnT>
                      <a:noFill/>
                    </a:lnT>
                    <a:lnB>
                      <a:noFill/>
                    </a:lnB>
                    <a:noFill/>
                  </a:tcPr>
                </a:tc>
                <a:tc>
                  <a:txBody>
                    <a:bodyPr/>
                    <a:lstStyle/>
                    <a:p>
                      <a:pPr>
                        <a:buNone/>
                      </a:pPr>
                      <a:r>
                        <a:rPr lang="en-IN"/>
                        <a:t>70</a:t>
                      </a:r>
                    </a:p>
                  </a:txBody>
                  <a:tcPr anchor="ctr">
                    <a:lnL>
                      <a:noFill/>
                    </a:lnL>
                    <a:lnR>
                      <a:noFill/>
                    </a:lnR>
                    <a:lnT>
                      <a:noFill/>
                    </a:lnT>
                    <a:lnB>
                      <a:noFill/>
                    </a:lnB>
                    <a:noFill/>
                  </a:tcPr>
                </a:tc>
                <a:tc>
                  <a:txBody>
                    <a:bodyPr/>
                    <a:lstStyle/>
                    <a:p>
                      <a:pPr>
                        <a:buNone/>
                      </a:pPr>
                      <a:r>
                        <a:rPr lang="en-IN"/>
                        <a:t>3</a:t>
                      </a:r>
                    </a:p>
                  </a:txBody>
                  <a:tcPr anchor="ctr">
                    <a:lnL>
                      <a:noFill/>
                    </a:lnL>
                    <a:lnR>
                      <a:noFill/>
                    </a:lnR>
                    <a:lnT>
                      <a:noFill/>
                    </a:lnT>
                    <a:lnB>
                      <a:noFill/>
                    </a:lnB>
                    <a:noFill/>
                  </a:tcPr>
                </a:tc>
                <a:extLst>
                  <a:ext uri="{0D108BD9-81ED-4DB2-BD59-A6C34878D82A}">
                    <a16:rowId xmlns:a16="http://schemas.microsoft.com/office/drawing/2014/main" val="4014031589"/>
                  </a:ext>
                </a:extLst>
              </a:tr>
              <a:tr h="0">
                <a:tc>
                  <a:txBody>
                    <a:bodyPr/>
                    <a:lstStyle/>
                    <a:p>
                      <a:pPr>
                        <a:buNone/>
                      </a:pPr>
                      <a:r>
                        <a:rPr lang="en-IN"/>
                        <a:t>Supply Shortage</a:t>
                      </a:r>
                    </a:p>
                  </a:txBody>
                  <a:tcPr anchor="ctr">
                    <a:lnL>
                      <a:noFill/>
                    </a:lnL>
                    <a:lnR>
                      <a:noFill/>
                    </a:lnR>
                    <a:lnT>
                      <a:noFill/>
                    </a:lnT>
                    <a:lnB>
                      <a:noFill/>
                    </a:lnB>
                    <a:noFill/>
                  </a:tcPr>
                </a:tc>
                <a:tc>
                  <a:txBody>
                    <a:bodyPr/>
                    <a:lstStyle/>
                    <a:p>
                      <a:pPr>
                        <a:buNone/>
                      </a:pPr>
                      <a:r>
                        <a:rPr lang="en-IN"/>
                        <a:t>6</a:t>
                      </a:r>
                    </a:p>
                  </a:txBody>
                  <a:tcPr anchor="ctr">
                    <a:lnL>
                      <a:noFill/>
                    </a:lnL>
                    <a:lnR>
                      <a:noFill/>
                    </a:lnR>
                    <a:lnT>
                      <a:noFill/>
                    </a:lnT>
                    <a:lnB>
                      <a:noFill/>
                    </a:lnB>
                    <a:noFill/>
                  </a:tcPr>
                </a:tc>
                <a:tc>
                  <a:txBody>
                    <a:bodyPr/>
                    <a:lstStyle/>
                    <a:p>
                      <a:pPr>
                        <a:buNone/>
                      </a:pPr>
                      <a:r>
                        <a:rPr lang="en-IN"/>
                        <a:t>3</a:t>
                      </a:r>
                    </a:p>
                  </a:txBody>
                  <a:tcPr anchor="ctr">
                    <a:lnL>
                      <a:noFill/>
                    </a:lnL>
                    <a:lnR>
                      <a:noFill/>
                    </a:lnR>
                    <a:lnT>
                      <a:noFill/>
                    </a:lnT>
                    <a:lnB>
                      <a:noFill/>
                    </a:lnB>
                    <a:noFill/>
                  </a:tcPr>
                </a:tc>
                <a:tc>
                  <a:txBody>
                    <a:bodyPr/>
                    <a:lstStyle/>
                    <a:p>
                      <a:pPr>
                        <a:buNone/>
                      </a:pPr>
                      <a:r>
                        <a:rPr lang="en-IN"/>
                        <a:t>4</a:t>
                      </a:r>
                    </a:p>
                  </a:txBody>
                  <a:tcPr anchor="ctr">
                    <a:lnL>
                      <a:noFill/>
                    </a:lnL>
                    <a:lnR>
                      <a:noFill/>
                    </a:lnR>
                    <a:lnT>
                      <a:noFill/>
                    </a:lnT>
                    <a:lnB>
                      <a:noFill/>
                    </a:lnB>
                    <a:noFill/>
                  </a:tcPr>
                </a:tc>
                <a:tc>
                  <a:txBody>
                    <a:bodyPr/>
                    <a:lstStyle/>
                    <a:p>
                      <a:pPr>
                        <a:buNone/>
                      </a:pPr>
                      <a:r>
                        <a:rPr lang="en-IN"/>
                        <a:t>72</a:t>
                      </a:r>
                    </a:p>
                  </a:txBody>
                  <a:tcPr anchor="ctr">
                    <a:lnL>
                      <a:noFill/>
                    </a:lnL>
                    <a:lnR>
                      <a:noFill/>
                    </a:lnR>
                    <a:lnT>
                      <a:noFill/>
                    </a:lnT>
                    <a:lnB>
                      <a:noFill/>
                    </a:lnB>
                    <a:noFill/>
                  </a:tcPr>
                </a:tc>
                <a:tc>
                  <a:txBody>
                    <a:bodyPr/>
                    <a:lstStyle/>
                    <a:p>
                      <a:pPr>
                        <a:buNone/>
                      </a:pPr>
                      <a:r>
                        <a:rPr lang="en-IN"/>
                        <a:t>2</a:t>
                      </a:r>
                    </a:p>
                  </a:txBody>
                  <a:tcPr anchor="ctr">
                    <a:lnL>
                      <a:noFill/>
                    </a:lnL>
                    <a:lnR>
                      <a:noFill/>
                    </a:lnR>
                    <a:lnT>
                      <a:noFill/>
                    </a:lnT>
                    <a:lnB>
                      <a:noFill/>
                    </a:lnB>
                    <a:noFill/>
                  </a:tcPr>
                </a:tc>
                <a:extLst>
                  <a:ext uri="{0D108BD9-81ED-4DB2-BD59-A6C34878D82A}">
                    <a16:rowId xmlns:a16="http://schemas.microsoft.com/office/drawing/2014/main" val="112249884"/>
                  </a:ext>
                </a:extLst>
              </a:tr>
              <a:tr h="0">
                <a:tc>
                  <a:txBody>
                    <a:bodyPr/>
                    <a:lstStyle/>
                    <a:p>
                      <a:pPr>
                        <a:buNone/>
                      </a:pPr>
                      <a:r>
                        <a:rPr lang="en-IN"/>
                        <a:t>Patient Surge</a:t>
                      </a:r>
                    </a:p>
                  </a:txBody>
                  <a:tcPr anchor="ctr">
                    <a:lnL>
                      <a:noFill/>
                    </a:lnL>
                    <a:lnR>
                      <a:noFill/>
                    </a:lnR>
                    <a:lnT>
                      <a:noFill/>
                    </a:lnT>
                    <a:lnB>
                      <a:noFill/>
                    </a:lnB>
                    <a:noFill/>
                  </a:tcPr>
                </a:tc>
                <a:tc>
                  <a:txBody>
                    <a:bodyPr/>
                    <a:lstStyle/>
                    <a:p>
                      <a:pPr>
                        <a:buNone/>
                      </a:pPr>
                      <a:r>
                        <a:rPr lang="en-IN"/>
                        <a:t>8</a:t>
                      </a:r>
                    </a:p>
                  </a:txBody>
                  <a:tcPr anchor="ctr">
                    <a:lnL>
                      <a:noFill/>
                    </a:lnL>
                    <a:lnR>
                      <a:noFill/>
                    </a:lnR>
                    <a:lnT>
                      <a:noFill/>
                    </a:lnT>
                    <a:lnB>
                      <a:noFill/>
                    </a:lnB>
                    <a:noFill/>
                  </a:tcPr>
                </a:tc>
                <a:tc>
                  <a:txBody>
                    <a:bodyPr/>
                    <a:lstStyle/>
                    <a:p>
                      <a:pPr>
                        <a:buNone/>
                      </a:pPr>
                      <a:r>
                        <a:rPr lang="en-IN"/>
                        <a:t>6</a:t>
                      </a:r>
                    </a:p>
                  </a:txBody>
                  <a:tcPr anchor="ctr">
                    <a:lnL>
                      <a:noFill/>
                    </a:lnL>
                    <a:lnR>
                      <a:noFill/>
                    </a:lnR>
                    <a:lnT>
                      <a:noFill/>
                    </a:lnT>
                    <a:lnB>
                      <a:noFill/>
                    </a:lnB>
                    <a:noFill/>
                  </a:tcPr>
                </a:tc>
                <a:tc>
                  <a:txBody>
                    <a:bodyPr/>
                    <a:lstStyle/>
                    <a:p>
                      <a:pPr>
                        <a:buNone/>
                      </a:pPr>
                      <a:r>
                        <a:rPr lang="en-IN"/>
                        <a:t>5</a:t>
                      </a:r>
                    </a:p>
                  </a:txBody>
                  <a:tcPr anchor="ctr">
                    <a:lnL>
                      <a:noFill/>
                    </a:lnL>
                    <a:lnR>
                      <a:noFill/>
                    </a:lnR>
                    <a:lnT>
                      <a:noFill/>
                    </a:lnT>
                    <a:lnB>
                      <a:noFill/>
                    </a:lnB>
                    <a:noFill/>
                  </a:tcPr>
                </a:tc>
                <a:tc>
                  <a:txBody>
                    <a:bodyPr/>
                    <a:lstStyle/>
                    <a:p>
                      <a:pPr>
                        <a:buNone/>
                      </a:pPr>
                      <a:r>
                        <a:rPr lang="en-IN"/>
                        <a:t>240</a:t>
                      </a:r>
                    </a:p>
                  </a:txBody>
                  <a:tcPr anchor="ctr">
                    <a:lnL>
                      <a:noFill/>
                    </a:lnL>
                    <a:lnR>
                      <a:noFill/>
                    </a:lnR>
                    <a:lnT>
                      <a:noFill/>
                    </a:lnT>
                    <a:lnB>
                      <a:noFill/>
                    </a:lnB>
                    <a:noFill/>
                  </a:tcPr>
                </a:tc>
                <a:tc>
                  <a:txBody>
                    <a:bodyPr/>
                    <a:lstStyle/>
                    <a:p>
                      <a:pPr>
                        <a:buNone/>
                      </a:pPr>
                      <a:r>
                        <a:rPr lang="en-IN" dirty="0"/>
                        <a:t>1</a:t>
                      </a:r>
                    </a:p>
                  </a:txBody>
                  <a:tcPr anchor="ctr">
                    <a:lnL>
                      <a:noFill/>
                    </a:lnL>
                    <a:lnR>
                      <a:noFill/>
                    </a:lnR>
                    <a:lnT>
                      <a:noFill/>
                    </a:lnT>
                    <a:lnB>
                      <a:noFill/>
                    </a:lnB>
                    <a:noFill/>
                  </a:tcPr>
                </a:tc>
                <a:extLst>
                  <a:ext uri="{0D108BD9-81ED-4DB2-BD59-A6C34878D82A}">
                    <a16:rowId xmlns:a16="http://schemas.microsoft.com/office/drawing/2014/main" val="38910505"/>
                  </a:ext>
                </a:extLst>
              </a:tr>
            </a:tbl>
          </a:graphicData>
        </a:graphic>
      </p:graphicFrame>
      <p:sp>
        <p:nvSpPr>
          <p:cNvPr id="5" name="Rectangle 1">
            <a:extLst>
              <a:ext uri="{FF2B5EF4-FFF2-40B4-BE49-F238E27FC236}">
                <a16:creationId xmlns:a16="http://schemas.microsoft.com/office/drawing/2014/main" id="{7446C3F4-8C71-CD67-5B8B-F3EF965DF45F}"/>
              </a:ext>
            </a:extLst>
          </p:cNvPr>
          <p:cNvSpPr>
            <a:spLocks noChangeArrowheads="1"/>
          </p:cNvSpPr>
          <p:nvPr/>
        </p:nvSpPr>
        <p:spPr bwMode="auto">
          <a:xfrm>
            <a:off x="838200" y="2087934"/>
            <a:ext cx="698569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Example: Hospital Emergency Department Wait Time Analysis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205114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9FAE6-5C1F-62DB-BD3D-F67075758008}"/>
              </a:ext>
            </a:extLst>
          </p:cNvPr>
          <p:cNvSpPr>
            <a:spLocks noGrp="1"/>
          </p:cNvSpPr>
          <p:nvPr>
            <p:ph type="title"/>
          </p:nvPr>
        </p:nvSpPr>
        <p:spPr/>
        <p:txBody>
          <a:bodyPr/>
          <a:lstStyle/>
          <a:p>
            <a:pPr algn="ctr"/>
            <a:r>
              <a:rPr lang="en-IN" b="1" dirty="0">
                <a:latin typeface="Fira Sans" panose="020B0503050000020004" pitchFamily="34" charset="0"/>
              </a:rPr>
              <a:t>FMEA Calculations</a:t>
            </a:r>
          </a:p>
        </p:txBody>
      </p:sp>
      <p:sp>
        <p:nvSpPr>
          <p:cNvPr id="3" name="Content Placeholder 2">
            <a:extLst>
              <a:ext uri="{FF2B5EF4-FFF2-40B4-BE49-F238E27FC236}">
                <a16:creationId xmlns:a16="http://schemas.microsoft.com/office/drawing/2014/main" id="{2912388D-AD7C-158C-E59F-5200EE45833E}"/>
              </a:ext>
            </a:extLst>
          </p:cNvPr>
          <p:cNvSpPr>
            <a:spLocks noGrp="1"/>
          </p:cNvSpPr>
          <p:nvPr>
            <p:ph idx="1"/>
          </p:nvPr>
        </p:nvSpPr>
        <p:spPr/>
        <p:txBody>
          <a:bodyPr/>
          <a:lstStyle/>
          <a:p>
            <a:r>
              <a:rPr lang="en-US" dirty="0"/>
              <a:t>Staff Shortage RPN = 8 × 7 × 3 = 168</a:t>
            </a:r>
          </a:p>
          <a:p>
            <a:r>
              <a:rPr lang="en-US" dirty="0"/>
              <a:t>Patient Surge RPN = 8 × 6 × 5 = 240</a:t>
            </a:r>
          </a:p>
          <a:p>
            <a:r>
              <a:rPr lang="en-US" dirty="0"/>
              <a:t>Total Risk Score = Σ(RPN) = 168 + 72 + 70 + 72 + 240 = 622</a:t>
            </a:r>
          </a:p>
          <a:p>
            <a:r>
              <a:rPr lang="en-US" b="1" dirty="0"/>
              <a:t>Risk Distribution:</a:t>
            </a:r>
          </a:p>
          <a:p>
            <a:r>
              <a:rPr lang="en-US" b="1" dirty="0"/>
              <a:t>High Risk</a:t>
            </a:r>
            <a:r>
              <a:rPr lang="en-US" dirty="0"/>
              <a:t> (RPN &gt; 100): Patient Surge (38.6%), Staff Shortage (27.0%)</a:t>
            </a:r>
          </a:p>
          <a:p>
            <a:r>
              <a:rPr lang="en-US" b="1" dirty="0"/>
              <a:t>Medium Risk</a:t>
            </a:r>
            <a:r>
              <a:rPr lang="en-US" dirty="0"/>
              <a:t> (RPN 50-100): Equipment Failure (11.6%), Supply Shortage (11.6%)</a:t>
            </a:r>
          </a:p>
          <a:p>
            <a:r>
              <a:rPr lang="en-US" b="1" dirty="0"/>
              <a:t>Low Risk</a:t>
            </a:r>
            <a:r>
              <a:rPr lang="en-US" dirty="0"/>
              <a:t> (RPN &lt; 50): System Downtime (11.3%)</a:t>
            </a:r>
          </a:p>
          <a:p>
            <a:endParaRPr lang="en-IN" dirty="0"/>
          </a:p>
        </p:txBody>
      </p:sp>
    </p:spTree>
    <p:extLst>
      <p:ext uri="{BB962C8B-B14F-4D97-AF65-F5344CB8AC3E}">
        <p14:creationId xmlns:p14="http://schemas.microsoft.com/office/powerpoint/2010/main" val="4230873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7E2D0-5B08-6B90-D302-CD7253AC6E16}"/>
              </a:ext>
            </a:extLst>
          </p:cNvPr>
          <p:cNvSpPr>
            <a:spLocks noGrp="1"/>
          </p:cNvSpPr>
          <p:nvPr>
            <p:ph type="title"/>
          </p:nvPr>
        </p:nvSpPr>
        <p:spPr>
          <a:xfrm>
            <a:off x="838200" y="0"/>
            <a:ext cx="10515600" cy="1325563"/>
          </a:xfrm>
        </p:spPr>
        <p:txBody>
          <a:bodyPr/>
          <a:lstStyle/>
          <a:p>
            <a:pPr algn="ctr"/>
            <a:r>
              <a:rPr lang="en-IN" b="1" dirty="0">
                <a:latin typeface="Fira Sans" panose="020B0503050000020004" pitchFamily="34" charset="0"/>
              </a:rPr>
              <a:t>Statistical Process Control</a:t>
            </a:r>
          </a:p>
        </p:txBody>
      </p:sp>
      <p:sp>
        <p:nvSpPr>
          <p:cNvPr id="3" name="Content Placeholder 2">
            <a:extLst>
              <a:ext uri="{FF2B5EF4-FFF2-40B4-BE49-F238E27FC236}">
                <a16:creationId xmlns:a16="http://schemas.microsoft.com/office/drawing/2014/main" id="{35CB31BC-F43D-D2BD-11C0-9204B1B7D1DC}"/>
              </a:ext>
            </a:extLst>
          </p:cNvPr>
          <p:cNvSpPr>
            <a:spLocks noGrp="1"/>
          </p:cNvSpPr>
          <p:nvPr>
            <p:ph idx="1"/>
          </p:nvPr>
        </p:nvSpPr>
        <p:spPr>
          <a:xfrm>
            <a:off x="838200" y="1325562"/>
            <a:ext cx="10515600" cy="5314723"/>
          </a:xfrm>
        </p:spPr>
        <p:txBody>
          <a:bodyPr>
            <a:normAutofit fontScale="92500" lnSpcReduction="20000"/>
          </a:bodyPr>
          <a:lstStyle/>
          <a:p>
            <a:r>
              <a:rPr lang="en-US" dirty="0"/>
              <a:t>A control chart monitors a process variable over time – e.g., the time to get to work.</a:t>
            </a:r>
          </a:p>
          <a:p>
            <a:r>
              <a:rPr lang="en-US" dirty="0"/>
              <a:t>The average is calculated after you have sufficient data.</a:t>
            </a:r>
          </a:p>
          <a:p>
            <a:r>
              <a:rPr lang="en-US" dirty="0"/>
              <a:t>The control limits are calculated – an </a:t>
            </a:r>
            <a:r>
              <a:rPr lang="en-US" b="1" dirty="0"/>
              <a:t>upper control limit (UCL) </a:t>
            </a:r>
            <a:r>
              <a:rPr lang="en-US" dirty="0"/>
              <a:t>and a </a:t>
            </a:r>
            <a:r>
              <a:rPr lang="en-US" b="1" dirty="0"/>
              <a:t>lower control limit (LCL)</a:t>
            </a:r>
            <a:r>
              <a:rPr lang="en-US" dirty="0"/>
              <a:t>.</a:t>
            </a:r>
          </a:p>
          <a:p>
            <a:r>
              <a:rPr lang="en-US" dirty="0"/>
              <a:t>The UCL is the largest value you would expect from a process with just common causes of variation present.</a:t>
            </a:r>
          </a:p>
          <a:p>
            <a:r>
              <a:rPr lang="en-US" dirty="0"/>
              <a:t>The LCL is the smallest value you would expect with just common cause of variation present. </a:t>
            </a:r>
          </a:p>
          <a:p>
            <a:r>
              <a:rPr lang="en-US" dirty="0"/>
              <a:t>If the all the points are within the limits and there are no patterns, only common causes of variation are present. The process is said to be “</a:t>
            </a:r>
            <a:r>
              <a:rPr lang="en-US" b="1" dirty="0"/>
              <a:t>in control.</a:t>
            </a:r>
            <a:r>
              <a:rPr lang="en-US" dirty="0"/>
              <a:t>”</a:t>
            </a:r>
          </a:p>
          <a:p>
            <a:r>
              <a:rPr lang="en-IN" b="1" dirty="0"/>
              <a:t>Upper Control Limit (UCL) = </a:t>
            </a:r>
            <a:r>
              <a:rPr lang="el-GR" b="1" dirty="0"/>
              <a:t>μ + 3σ</a:t>
            </a:r>
            <a:endParaRPr lang="en-IN" b="1" dirty="0"/>
          </a:p>
          <a:p>
            <a:r>
              <a:rPr lang="en-IN" b="1" dirty="0"/>
              <a:t>Lower Control Limit (LCL) = </a:t>
            </a:r>
            <a:r>
              <a:rPr lang="el-GR" b="1" dirty="0"/>
              <a:t>μ - 3σ</a:t>
            </a:r>
            <a:endParaRPr lang="en-IN" b="1" dirty="0"/>
          </a:p>
          <a:p>
            <a:r>
              <a:rPr lang="en-IN" dirty="0"/>
              <a:t>6</a:t>
            </a:r>
            <a:r>
              <a:rPr lang="el-GR" dirty="0"/>
              <a:t>σ</a:t>
            </a:r>
            <a:r>
              <a:rPr lang="en-IN" dirty="0"/>
              <a:t> spread</a:t>
            </a:r>
          </a:p>
        </p:txBody>
      </p:sp>
    </p:spTree>
    <p:extLst>
      <p:ext uri="{BB962C8B-B14F-4D97-AF65-F5344CB8AC3E}">
        <p14:creationId xmlns:p14="http://schemas.microsoft.com/office/powerpoint/2010/main" val="2352119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36045-C36C-807C-D7FD-F16542C13F87}"/>
              </a:ext>
            </a:extLst>
          </p:cNvPr>
          <p:cNvSpPr>
            <a:spLocks noGrp="1"/>
          </p:cNvSpPr>
          <p:nvPr>
            <p:ph type="title"/>
          </p:nvPr>
        </p:nvSpPr>
        <p:spPr/>
        <p:txBody>
          <a:bodyPr/>
          <a:lstStyle/>
          <a:p>
            <a:pPr algn="ctr"/>
            <a:r>
              <a:rPr lang="en-US" b="1" dirty="0">
                <a:latin typeface="Fira Sans" panose="020B0503050000020004" pitchFamily="34" charset="0"/>
                <a:ea typeface="FangSong" panose="020B0503020204020204" pitchFamily="49" charset="-122"/>
              </a:rPr>
              <a:t>Example</a:t>
            </a:r>
            <a:endParaRPr lang="en-IN" b="1" dirty="0">
              <a:latin typeface="Fira Sans" panose="020B0503050000020004" pitchFamily="34" charset="0"/>
              <a:ea typeface="FangSong" panose="020B0503020204020204" pitchFamily="49" charset="-122"/>
            </a:endParaRPr>
          </a:p>
        </p:txBody>
      </p:sp>
      <p:sp>
        <p:nvSpPr>
          <p:cNvPr id="3" name="Content Placeholder 2">
            <a:extLst>
              <a:ext uri="{FF2B5EF4-FFF2-40B4-BE49-F238E27FC236}">
                <a16:creationId xmlns:a16="http://schemas.microsoft.com/office/drawing/2014/main" id="{5BF3C45F-232D-E9BC-5B1A-E275DD984E4A}"/>
              </a:ext>
            </a:extLst>
          </p:cNvPr>
          <p:cNvSpPr>
            <a:spLocks noGrp="1"/>
          </p:cNvSpPr>
          <p:nvPr>
            <p:ph idx="1"/>
          </p:nvPr>
        </p:nvSpPr>
        <p:spPr>
          <a:xfrm>
            <a:off x="838200" y="1825625"/>
            <a:ext cx="10515600" cy="4901746"/>
          </a:xfrm>
        </p:spPr>
        <p:txBody>
          <a:bodyPr>
            <a:normAutofit/>
          </a:bodyPr>
          <a:lstStyle/>
          <a:p>
            <a:r>
              <a:rPr lang="en-US" dirty="0"/>
              <a:t>Emergency department wait times (minutes): 45, 52, 38, 61, 49, 55, 43, 58, 46, 50.</a:t>
            </a:r>
            <a:br>
              <a:rPr lang="en-US" dirty="0"/>
            </a:br>
            <a:r>
              <a:rPr lang="en-US" dirty="0"/>
              <a:t>Calculate the control limits and identify if any points are out of control.</a:t>
            </a:r>
          </a:p>
          <a:p>
            <a:r>
              <a:rPr lang="el-GR" dirty="0"/>
              <a:t>μ = (45 + 52 + 38 + 61 + 49 + 55 + 43 + 58 + 46 + 50) / 10 = 49.7 </a:t>
            </a:r>
            <a:r>
              <a:rPr lang="en-IN" dirty="0"/>
              <a:t>minutes</a:t>
            </a:r>
          </a:p>
          <a:p>
            <a:r>
              <a:rPr lang="el-GR" dirty="0"/>
              <a:t>σ = √[(45-49.7)² + (52-49.7)² + ... + (50-49.7)²] / 9 = 7.18 </a:t>
            </a:r>
            <a:r>
              <a:rPr lang="en-IN" dirty="0"/>
              <a:t>minutes</a:t>
            </a:r>
          </a:p>
          <a:p>
            <a:r>
              <a:rPr lang="en-IN" dirty="0"/>
              <a:t>UCL = 49.7 + 3(7.18) = 71.2 minutes</a:t>
            </a:r>
          </a:p>
          <a:p>
            <a:r>
              <a:rPr lang="en-IN" dirty="0"/>
              <a:t>LCL = 49.7 - 3(7.18) = 28.2 minutes</a:t>
            </a:r>
          </a:p>
          <a:p>
            <a:r>
              <a:rPr lang="en-IN" dirty="0"/>
              <a:t>No points are out of control</a:t>
            </a:r>
          </a:p>
        </p:txBody>
      </p:sp>
    </p:spTree>
    <p:extLst>
      <p:ext uri="{BB962C8B-B14F-4D97-AF65-F5344CB8AC3E}">
        <p14:creationId xmlns:p14="http://schemas.microsoft.com/office/powerpoint/2010/main" val="865091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0BACE-6336-02B2-66AA-C06ECF3BBE0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2BFD106-5DD3-FD4C-31A3-17EA1F4FC4A6}"/>
              </a:ext>
            </a:extLst>
          </p:cNvPr>
          <p:cNvSpPr>
            <a:spLocks noGrp="1"/>
          </p:cNvSpPr>
          <p:nvPr>
            <p:ph idx="1"/>
          </p:nvPr>
        </p:nvSpPr>
        <p:spPr/>
        <p:txBody>
          <a:bodyPr/>
          <a:lstStyle/>
          <a:p>
            <a:r>
              <a:rPr lang="en-US" b="1" dirty="0"/>
              <a:t>Unsolved Example:</a:t>
            </a:r>
            <a:r>
              <a:rPr lang="en-US" dirty="0"/>
              <a:t> Quality control data for defect rates (%): 2.1, 3.4, 1.8, 4.2, 2.9, 3.1, 2.7, 3.8, 2.3, 2.9, 3.5, 2.4 Calculate the control limits and identify if any points are out of control.</a:t>
            </a:r>
            <a:endParaRPr lang="en-IN" dirty="0"/>
          </a:p>
        </p:txBody>
      </p:sp>
    </p:spTree>
    <p:extLst>
      <p:ext uri="{BB962C8B-B14F-4D97-AF65-F5344CB8AC3E}">
        <p14:creationId xmlns:p14="http://schemas.microsoft.com/office/powerpoint/2010/main" val="19596185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FEF2651-965A-B82E-F915-E4C74543C5CD}"/>
              </a:ext>
            </a:extLst>
          </p:cNvPr>
          <p:cNvGraphicFramePr>
            <a:graphicFrameLocks noGrp="1"/>
          </p:cNvGraphicFramePr>
          <p:nvPr>
            <p:ph idx="1"/>
            <p:extLst>
              <p:ext uri="{D42A27DB-BD31-4B8C-83A1-F6EECF244321}">
                <p14:modId xmlns:p14="http://schemas.microsoft.com/office/powerpoint/2010/main" val="1544586232"/>
              </p:ext>
            </p:extLst>
          </p:nvPr>
        </p:nvGraphicFramePr>
        <p:xfrm>
          <a:off x="381001" y="424543"/>
          <a:ext cx="11332028" cy="5976258"/>
        </p:xfrm>
        <a:graphic>
          <a:graphicData uri="http://schemas.openxmlformats.org/drawingml/2006/table">
            <a:tbl>
              <a:tblPr firstRow="1">
                <a:tableStyleId>{6E25E649-3F16-4E02-A733-19D2CDBF48F0}</a:tableStyleId>
              </a:tblPr>
              <a:tblGrid>
                <a:gridCol w="3813981">
                  <a:extLst>
                    <a:ext uri="{9D8B030D-6E8A-4147-A177-3AD203B41FA5}">
                      <a16:colId xmlns:a16="http://schemas.microsoft.com/office/drawing/2014/main" val="2280911183"/>
                    </a:ext>
                  </a:extLst>
                </a:gridCol>
                <a:gridCol w="7518047">
                  <a:extLst>
                    <a:ext uri="{9D8B030D-6E8A-4147-A177-3AD203B41FA5}">
                      <a16:colId xmlns:a16="http://schemas.microsoft.com/office/drawing/2014/main" val="3168489577"/>
                    </a:ext>
                  </a:extLst>
                </a:gridCol>
              </a:tblGrid>
              <a:tr h="441581">
                <a:tc>
                  <a:txBody>
                    <a:bodyPr/>
                    <a:lstStyle/>
                    <a:p>
                      <a:pPr>
                        <a:buNone/>
                      </a:pPr>
                      <a:r>
                        <a:rPr lang="en-IN" sz="1600"/>
                        <a:t>Technique</a:t>
                      </a:r>
                    </a:p>
                  </a:txBody>
                  <a:tcPr marL="79115" marR="79115" marT="39558" marB="39558" anchor="ctr"/>
                </a:tc>
                <a:tc>
                  <a:txBody>
                    <a:bodyPr/>
                    <a:lstStyle/>
                    <a:p>
                      <a:pPr>
                        <a:buNone/>
                      </a:pPr>
                      <a:r>
                        <a:rPr lang="en-IN" sz="1600"/>
                        <a:t>Diagnostic Role</a:t>
                      </a:r>
                    </a:p>
                  </a:txBody>
                  <a:tcPr marL="79115" marR="79115" marT="39558" marB="39558" anchor="ctr"/>
                </a:tc>
                <a:extLst>
                  <a:ext uri="{0D108BD9-81ED-4DB2-BD59-A6C34878D82A}">
                    <a16:rowId xmlns:a16="http://schemas.microsoft.com/office/drawing/2014/main" val="2726033640"/>
                  </a:ext>
                </a:extLst>
              </a:tr>
              <a:tr h="757224">
                <a:tc>
                  <a:txBody>
                    <a:bodyPr/>
                    <a:lstStyle/>
                    <a:p>
                      <a:pPr>
                        <a:buNone/>
                      </a:pPr>
                      <a:r>
                        <a:rPr lang="en-IN" sz="1600" b="1"/>
                        <a:t>Correlation Analysis (Pearson)</a:t>
                      </a:r>
                      <a:endParaRPr lang="en-IN" sz="1600"/>
                    </a:p>
                  </a:txBody>
                  <a:tcPr marL="79115" marR="79115" marT="39558" marB="39558" anchor="ctr"/>
                </a:tc>
                <a:tc>
                  <a:txBody>
                    <a:bodyPr/>
                    <a:lstStyle/>
                    <a:p>
                      <a:pPr>
                        <a:buNone/>
                      </a:pPr>
                      <a:r>
                        <a:rPr lang="en-US" sz="1600"/>
                        <a:t>Shows </a:t>
                      </a:r>
                      <a:r>
                        <a:rPr lang="en-US" sz="1600" b="1"/>
                        <a:t>linear relationship</a:t>
                      </a:r>
                      <a:r>
                        <a:rPr lang="en-US" sz="1600"/>
                        <a:t> between variables — helps in identifying possible causes.</a:t>
                      </a:r>
                    </a:p>
                  </a:txBody>
                  <a:tcPr marL="79115" marR="79115" marT="39558" marB="39558" anchor="ctr"/>
                </a:tc>
                <a:extLst>
                  <a:ext uri="{0D108BD9-81ED-4DB2-BD59-A6C34878D82A}">
                    <a16:rowId xmlns:a16="http://schemas.microsoft.com/office/drawing/2014/main" val="2413504626"/>
                  </a:ext>
                </a:extLst>
              </a:tr>
              <a:tr h="1081748">
                <a:tc>
                  <a:txBody>
                    <a:bodyPr/>
                    <a:lstStyle/>
                    <a:p>
                      <a:pPr>
                        <a:buNone/>
                      </a:pPr>
                      <a:r>
                        <a:rPr lang="en-IN" sz="1600" b="1"/>
                        <a:t>Hypothesis Testing</a:t>
                      </a:r>
                      <a:endParaRPr lang="en-IN" sz="1600"/>
                    </a:p>
                  </a:txBody>
                  <a:tcPr marL="79115" marR="79115" marT="39558" marB="39558" anchor="ctr"/>
                </a:tc>
                <a:tc>
                  <a:txBody>
                    <a:bodyPr/>
                    <a:lstStyle/>
                    <a:p>
                      <a:pPr>
                        <a:buNone/>
                      </a:pPr>
                      <a:r>
                        <a:rPr lang="en-US" sz="1600"/>
                        <a:t>Evaluates assumptions (e.g., is the difference in means significant?) — identifies </a:t>
                      </a:r>
                      <a:r>
                        <a:rPr lang="en-US" sz="1600" b="1"/>
                        <a:t>statistically valid drivers</a:t>
                      </a:r>
                      <a:r>
                        <a:rPr lang="en-US" sz="1600"/>
                        <a:t> of observed behavior.</a:t>
                      </a:r>
                    </a:p>
                  </a:txBody>
                  <a:tcPr marL="79115" marR="79115" marT="39558" marB="39558" anchor="ctr"/>
                </a:tc>
                <a:extLst>
                  <a:ext uri="{0D108BD9-81ED-4DB2-BD59-A6C34878D82A}">
                    <a16:rowId xmlns:a16="http://schemas.microsoft.com/office/drawing/2014/main" val="2105146145"/>
                  </a:ext>
                </a:extLst>
              </a:tr>
              <a:tr h="757224">
                <a:tc>
                  <a:txBody>
                    <a:bodyPr/>
                    <a:lstStyle/>
                    <a:p>
                      <a:pPr>
                        <a:buNone/>
                      </a:pPr>
                      <a:r>
                        <a:rPr lang="en-IN" sz="1600" b="1"/>
                        <a:t>Pareto Analysis (80/20 Rule)</a:t>
                      </a:r>
                      <a:endParaRPr lang="en-IN" sz="1600"/>
                    </a:p>
                  </a:txBody>
                  <a:tcPr marL="79115" marR="79115" marT="39558" marB="39558" anchor="ctr"/>
                </a:tc>
                <a:tc>
                  <a:txBody>
                    <a:bodyPr/>
                    <a:lstStyle/>
                    <a:p>
                      <a:pPr>
                        <a:buNone/>
                      </a:pPr>
                      <a:r>
                        <a:rPr lang="en-US" sz="1600"/>
                        <a:t>Helps find </a:t>
                      </a:r>
                      <a:r>
                        <a:rPr lang="en-US" sz="1600" b="1"/>
                        <a:t>vital few causes</a:t>
                      </a:r>
                      <a:r>
                        <a:rPr lang="en-US" sz="1600"/>
                        <a:t> behind majority of problems — classic diagnostic tool.</a:t>
                      </a:r>
                    </a:p>
                  </a:txBody>
                  <a:tcPr marL="79115" marR="79115" marT="39558" marB="39558" anchor="ctr"/>
                </a:tc>
                <a:extLst>
                  <a:ext uri="{0D108BD9-81ED-4DB2-BD59-A6C34878D82A}">
                    <a16:rowId xmlns:a16="http://schemas.microsoft.com/office/drawing/2014/main" val="2964449303"/>
                  </a:ext>
                </a:extLst>
              </a:tr>
              <a:tr h="774985">
                <a:tc>
                  <a:txBody>
                    <a:bodyPr/>
                    <a:lstStyle/>
                    <a:p>
                      <a:pPr>
                        <a:buNone/>
                      </a:pPr>
                      <a:r>
                        <a:rPr lang="fr-FR" sz="1600" b="1"/>
                        <a:t>Correlation Matrix for Root Cause</a:t>
                      </a:r>
                      <a:endParaRPr lang="fr-FR" sz="1600"/>
                    </a:p>
                  </a:txBody>
                  <a:tcPr marL="79115" marR="79115" marT="39558" marB="39558" anchor="ctr"/>
                </a:tc>
                <a:tc>
                  <a:txBody>
                    <a:bodyPr/>
                    <a:lstStyle/>
                    <a:p>
                      <a:pPr>
                        <a:buNone/>
                      </a:pPr>
                      <a:r>
                        <a:rPr lang="en-US" sz="1600"/>
                        <a:t>Broadens correlation analysis to </a:t>
                      </a:r>
                      <a:r>
                        <a:rPr lang="en-US" sz="1600" b="1"/>
                        <a:t>multiple variables</a:t>
                      </a:r>
                      <a:r>
                        <a:rPr lang="en-US" sz="1600"/>
                        <a:t> — helpful for uncovering </a:t>
                      </a:r>
                      <a:r>
                        <a:rPr lang="en-US" sz="1600" b="1"/>
                        <a:t>multivariate influences</a:t>
                      </a:r>
                      <a:r>
                        <a:rPr lang="en-US" sz="1600"/>
                        <a:t>.</a:t>
                      </a:r>
                    </a:p>
                  </a:txBody>
                  <a:tcPr marL="79115" marR="79115" marT="39558" marB="39558" anchor="ctr"/>
                </a:tc>
                <a:extLst>
                  <a:ext uri="{0D108BD9-81ED-4DB2-BD59-A6C34878D82A}">
                    <a16:rowId xmlns:a16="http://schemas.microsoft.com/office/drawing/2014/main" val="1889523406"/>
                  </a:ext>
                </a:extLst>
              </a:tr>
              <a:tr h="1081748">
                <a:tc>
                  <a:txBody>
                    <a:bodyPr/>
                    <a:lstStyle/>
                    <a:p>
                      <a:pPr>
                        <a:buNone/>
                      </a:pPr>
                      <a:r>
                        <a:rPr lang="en-US" sz="1600" b="1"/>
                        <a:t>FMEA (Failure Mode and Effects Analysis)</a:t>
                      </a:r>
                      <a:endParaRPr lang="en-US" sz="1600"/>
                    </a:p>
                  </a:txBody>
                  <a:tcPr marL="79115" marR="79115" marT="39558" marB="39558" anchor="ctr"/>
                </a:tc>
                <a:tc>
                  <a:txBody>
                    <a:bodyPr/>
                    <a:lstStyle/>
                    <a:p>
                      <a:pPr>
                        <a:buNone/>
                      </a:pPr>
                      <a:r>
                        <a:rPr lang="en-US" sz="1600"/>
                        <a:t>Systematic approach to identifying </a:t>
                      </a:r>
                      <a:r>
                        <a:rPr lang="en-US" sz="1600" b="1"/>
                        <a:t>potential failures and causes</a:t>
                      </a:r>
                      <a:r>
                        <a:rPr lang="en-US" sz="1600"/>
                        <a:t> — highly diagnostic, especially in manufacturing or engineering data.</a:t>
                      </a:r>
                    </a:p>
                  </a:txBody>
                  <a:tcPr marL="79115" marR="79115" marT="39558" marB="39558" anchor="ctr"/>
                </a:tc>
                <a:extLst>
                  <a:ext uri="{0D108BD9-81ED-4DB2-BD59-A6C34878D82A}">
                    <a16:rowId xmlns:a16="http://schemas.microsoft.com/office/drawing/2014/main" val="2911400201"/>
                  </a:ext>
                </a:extLst>
              </a:tr>
              <a:tr h="1081748">
                <a:tc>
                  <a:txBody>
                    <a:bodyPr/>
                    <a:lstStyle/>
                    <a:p>
                      <a:pPr>
                        <a:buNone/>
                      </a:pPr>
                      <a:r>
                        <a:rPr lang="en-IN" sz="1600" b="1"/>
                        <a:t>Statistical Process Control (SPC)</a:t>
                      </a:r>
                      <a:endParaRPr lang="en-IN" sz="1600"/>
                    </a:p>
                  </a:txBody>
                  <a:tcPr marL="79115" marR="79115" marT="39558" marB="39558" anchor="ctr"/>
                </a:tc>
                <a:tc>
                  <a:txBody>
                    <a:bodyPr/>
                    <a:lstStyle/>
                    <a:p>
                      <a:pPr>
                        <a:buNone/>
                      </a:pPr>
                      <a:r>
                        <a:rPr lang="en-US" sz="1600" dirty="0"/>
                        <a:t>Monitors process behavior — if abnormal variation is detected, SPC leads to </a:t>
                      </a:r>
                      <a:r>
                        <a:rPr lang="en-US" sz="1600" b="1" dirty="0"/>
                        <a:t>root cause analysis</a:t>
                      </a:r>
                      <a:r>
                        <a:rPr lang="en-US" sz="1600" dirty="0"/>
                        <a:t> (diagnostic goal).</a:t>
                      </a:r>
                    </a:p>
                  </a:txBody>
                  <a:tcPr marL="79115" marR="79115" marT="39558" marB="39558" anchor="ctr"/>
                </a:tc>
                <a:extLst>
                  <a:ext uri="{0D108BD9-81ED-4DB2-BD59-A6C34878D82A}">
                    <a16:rowId xmlns:a16="http://schemas.microsoft.com/office/drawing/2014/main" val="3465080391"/>
                  </a:ext>
                </a:extLst>
              </a:tr>
            </a:tbl>
          </a:graphicData>
        </a:graphic>
      </p:graphicFrame>
    </p:spTree>
    <p:extLst>
      <p:ext uri="{BB962C8B-B14F-4D97-AF65-F5344CB8AC3E}">
        <p14:creationId xmlns:p14="http://schemas.microsoft.com/office/powerpoint/2010/main" val="6116575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80E4A-11B0-3260-4C9F-689735C84A95}"/>
              </a:ext>
            </a:extLst>
          </p:cNvPr>
          <p:cNvSpPr>
            <a:spLocks noGrp="1"/>
          </p:cNvSpPr>
          <p:nvPr>
            <p:ph type="title"/>
          </p:nvPr>
        </p:nvSpPr>
        <p:spPr/>
        <p:txBody>
          <a:bodyPr/>
          <a:lstStyle/>
          <a:p>
            <a:pPr algn="ctr"/>
            <a:r>
              <a:rPr lang="en-IN" noProof="0" dirty="0">
                <a:latin typeface="Fira Sans Medium" panose="020B0603050000020004" pitchFamily="34" charset="0"/>
              </a:rPr>
              <a:t>Predictive Analysis</a:t>
            </a:r>
          </a:p>
        </p:txBody>
      </p:sp>
      <p:sp>
        <p:nvSpPr>
          <p:cNvPr id="3" name="Content Placeholder 2">
            <a:extLst>
              <a:ext uri="{FF2B5EF4-FFF2-40B4-BE49-F238E27FC236}">
                <a16:creationId xmlns:a16="http://schemas.microsoft.com/office/drawing/2014/main" id="{E315B32D-81AD-DE98-519D-131FC9184A48}"/>
              </a:ext>
            </a:extLst>
          </p:cNvPr>
          <p:cNvSpPr>
            <a:spLocks noGrp="1"/>
          </p:cNvSpPr>
          <p:nvPr>
            <p:ph idx="1"/>
          </p:nvPr>
        </p:nvSpPr>
        <p:spPr/>
        <p:txBody>
          <a:bodyPr/>
          <a:lstStyle/>
          <a:p>
            <a:r>
              <a:rPr lang="en-IN" noProof="0" dirty="0">
                <a:latin typeface="Fira Sans" panose="020B0503050000020004" pitchFamily="34" charset="0"/>
              </a:rPr>
              <a:t>Linear Regression</a:t>
            </a:r>
          </a:p>
          <a:p>
            <a:r>
              <a:rPr lang="en-IN" dirty="0">
                <a:latin typeface="Fira Sans" panose="020B0503050000020004" pitchFamily="34" charset="0"/>
              </a:rPr>
              <a:t>Logistic Regression</a:t>
            </a:r>
          </a:p>
          <a:p>
            <a:r>
              <a:rPr lang="en-IN" noProof="0" dirty="0">
                <a:latin typeface="Fira Sans" panose="020B0503050000020004" pitchFamily="34" charset="0"/>
              </a:rPr>
              <a:t>Probability distributions </a:t>
            </a:r>
            <a:r>
              <a:rPr lang="en-IN" i="1" noProof="0" dirty="0">
                <a:solidFill>
                  <a:schemeClr val="bg2">
                    <a:lumMod val="75000"/>
                  </a:schemeClr>
                </a:solidFill>
                <a:latin typeface="Fira Sans" panose="020B0503050000020004" pitchFamily="34" charset="0"/>
              </a:rPr>
              <a:t>(shared separately within Module 1 material on classroom)</a:t>
            </a:r>
          </a:p>
          <a:p>
            <a:r>
              <a:rPr lang="en-IN" dirty="0">
                <a:latin typeface="Fira Sans" panose="020B0503050000020004" pitchFamily="34" charset="0"/>
              </a:rPr>
              <a:t>Naïve Bayes classification </a:t>
            </a:r>
            <a:r>
              <a:rPr lang="en-IN" i="1" dirty="0">
                <a:solidFill>
                  <a:schemeClr val="bg2">
                    <a:lumMod val="75000"/>
                  </a:schemeClr>
                </a:solidFill>
                <a:latin typeface="Fira Sans" panose="020B0503050000020004" pitchFamily="34" charset="0"/>
              </a:rPr>
              <a:t>(shared separately within Module 1 material on classroom)</a:t>
            </a:r>
            <a:endParaRPr lang="en-IN" dirty="0">
              <a:latin typeface="Fira Sans" panose="020B0503050000020004" pitchFamily="34" charset="0"/>
            </a:endParaRPr>
          </a:p>
          <a:p>
            <a:r>
              <a:rPr lang="en-IN" noProof="0" dirty="0">
                <a:latin typeface="Fira Sans" panose="020B0503050000020004" pitchFamily="34" charset="0"/>
              </a:rPr>
              <a:t>Other classification algorithms (ML course, Sem 6)</a:t>
            </a:r>
          </a:p>
          <a:p>
            <a:r>
              <a:rPr lang="en-IN" noProof="0" dirty="0">
                <a:latin typeface="Fira Sans" panose="020B0503050000020004" pitchFamily="34" charset="0"/>
              </a:rPr>
              <a:t>Time Series Analysis (Module 4)</a:t>
            </a:r>
          </a:p>
        </p:txBody>
      </p:sp>
    </p:spTree>
    <p:extLst>
      <p:ext uri="{BB962C8B-B14F-4D97-AF65-F5344CB8AC3E}">
        <p14:creationId xmlns:p14="http://schemas.microsoft.com/office/powerpoint/2010/main" val="27358926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EE544-DD50-5A00-D381-0546A5D57167}"/>
              </a:ext>
            </a:extLst>
          </p:cNvPr>
          <p:cNvSpPr>
            <a:spLocks noGrp="1"/>
          </p:cNvSpPr>
          <p:nvPr>
            <p:ph type="title"/>
          </p:nvPr>
        </p:nvSpPr>
        <p:spPr/>
        <p:txBody>
          <a:bodyPr/>
          <a:lstStyle/>
          <a:p>
            <a:pPr algn="ctr"/>
            <a:r>
              <a:rPr lang="en-IN" b="1" dirty="0">
                <a:latin typeface="Fira Sans Medium" panose="020B0603050000020004" pitchFamily="34" charset="0"/>
              </a:rPr>
              <a:t>Linear Regression Formulas</a:t>
            </a:r>
          </a:p>
        </p:txBody>
      </p:sp>
      <p:pic>
        <p:nvPicPr>
          <p:cNvPr id="5" name="Picture 4">
            <a:extLst>
              <a:ext uri="{FF2B5EF4-FFF2-40B4-BE49-F238E27FC236}">
                <a16:creationId xmlns:a16="http://schemas.microsoft.com/office/drawing/2014/main" id="{B1FD55D7-F275-E70F-0C82-5044F874CC52}"/>
              </a:ext>
            </a:extLst>
          </p:cNvPr>
          <p:cNvPicPr>
            <a:picLocks noChangeAspect="1"/>
          </p:cNvPicPr>
          <p:nvPr/>
        </p:nvPicPr>
        <p:blipFill>
          <a:blip r:embed="rId2"/>
          <a:stretch>
            <a:fillRect/>
          </a:stretch>
        </p:blipFill>
        <p:spPr>
          <a:xfrm>
            <a:off x="0" y="1825625"/>
            <a:ext cx="12192000" cy="4836562"/>
          </a:xfrm>
          <a:prstGeom prst="rect">
            <a:avLst/>
          </a:prstGeom>
        </p:spPr>
      </p:pic>
    </p:spTree>
    <p:extLst>
      <p:ext uri="{BB962C8B-B14F-4D97-AF65-F5344CB8AC3E}">
        <p14:creationId xmlns:p14="http://schemas.microsoft.com/office/powerpoint/2010/main" val="18453477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F85E7-DCC1-2B9F-62C4-A40C6D64020D}"/>
              </a:ext>
            </a:extLst>
          </p:cNvPr>
          <p:cNvSpPr>
            <a:spLocks noGrp="1"/>
          </p:cNvSpPr>
          <p:nvPr>
            <p:ph type="title"/>
          </p:nvPr>
        </p:nvSpPr>
        <p:spPr/>
        <p:txBody>
          <a:bodyPr/>
          <a:lstStyle/>
          <a:p>
            <a:pPr algn="ctr"/>
            <a:r>
              <a:rPr lang="en-IN" b="1" dirty="0">
                <a:latin typeface="Fira Sans Medium" panose="020B0603050000020004" pitchFamily="34" charset="0"/>
              </a:rPr>
              <a:t>Solved Example: House price prediction</a:t>
            </a:r>
          </a:p>
        </p:txBody>
      </p:sp>
      <p:sp>
        <p:nvSpPr>
          <p:cNvPr id="3" name="Content Placeholder 2">
            <a:extLst>
              <a:ext uri="{FF2B5EF4-FFF2-40B4-BE49-F238E27FC236}">
                <a16:creationId xmlns:a16="http://schemas.microsoft.com/office/drawing/2014/main" id="{61BC09BB-A9D9-DE58-3C8D-AF2C1112548A}"/>
              </a:ext>
            </a:extLst>
          </p:cNvPr>
          <p:cNvSpPr>
            <a:spLocks noGrp="1"/>
          </p:cNvSpPr>
          <p:nvPr>
            <p:ph idx="1"/>
          </p:nvPr>
        </p:nvSpPr>
        <p:spPr/>
        <p:txBody>
          <a:bodyPr/>
          <a:lstStyle/>
          <a:p>
            <a:r>
              <a:rPr lang="nn-NO" dirty="0"/>
              <a:t>Area of the house in sq. ft. (x) vs. House price in USD (y)</a:t>
            </a:r>
          </a:p>
          <a:p>
            <a:r>
              <a:rPr lang="nn-NO" dirty="0"/>
              <a:t>Data: (1000, 150k), (1200, 180k), (1400, 210k), (1600, 240k), (1800, 270k)</a:t>
            </a:r>
          </a:p>
          <a:p>
            <a:r>
              <a:rPr lang="nn-NO" dirty="0"/>
              <a:t>Predict the price for a 1500 sq.ft. house</a:t>
            </a:r>
            <a:endParaRPr lang="en-IN" dirty="0"/>
          </a:p>
        </p:txBody>
      </p:sp>
    </p:spTree>
    <p:extLst>
      <p:ext uri="{BB962C8B-B14F-4D97-AF65-F5344CB8AC3E}">
        <p14:creationId xmlns:p14="http://schemas.microsoft.com/office/powerpoint/2010/main" val="6458944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14BB5-4369-BB32-2A3C-053CF8D52E3F}"/>
              </a:ext>
            </a:extLst>
          </p:cNvPr>
          <p:cNvSpPr>
            <a:spLocks noGrp="1"/>
          </p:cNvSpPr>
          <p:nvPr>
            <p:ph type="title"/>
          </p:nvPr>
        </p:nvSpPr>
        <p:spPr/>
        <p:txBody>
          <a:bodyPr/>
          <a:lstStyle/>
          <a:p>
            <a:pPr algn="ctr"/>
            <a:r>
              <a:rPr lang="en-IN" b="1" dirty="0">
                <a:latin typeface="Fira Sans Medium" panose="020B0603050000020004" pitchFamily="34" charset="0"/>
              </a:rPr>
              <a:t>Solution</a:t>
            </a:r>
          </a:p>
        </p:txBody>
      </p:sp>
      <p:sp>
        <p:nvSpPr>
          <p:cNvPr id="3" name="Content Placeholder 2">
            <a:extLst>
              <a:ext uri="{FF2B5EF4-FFF2-40B4-BE49-F238E27FC236}">
                <a16:creationId xmlns:a16="http://schemas.microsoft.com/office/drawing/2014/main" id="{ECF07567-8627-A26B-8707-54BA99046B43}"/>
              </a:ext>
            </a:extLst>
          </p:cNvPr>
          <p:cNvSpPr>
            <a:spLocks noGrp="1"/>
          </p:cNvSpPr>
          <p:nvPr>
            <p:ph idx="1"/>
          </p:nvPr>
        </p:nvSpPr>
        <p:spPr/>
        <p:txBody>
          <a:bodyPr/>
          <a:lstStyle/>
          <a:p>
            <a:r>
              <a:rPr lang="en-IN" dirty="0"/>
              <a:t>x̄ = 1400, ȳ = 210</a:t>
            </a:r>
          </a:p>
          <a:p>
            <a:r>
              <a:rPr lang="el-GR" dirty="0"/>
              <a:t>Σ(</a:t>
            </a:r>
            <a:r>
              <a:rPr lang="en-IN" dirty="0"/>
              <a:t>xi - x̄)(</a:t>
            </a:r>
            <a:r>
              <a:rPr lang="en-IN" dirty="0" err="1"/>
              <a:t>yi</a:t>
            </a:r>
            <a:r>
              <a:rPr lang="en-IN" dirty="0"/>
              <a:t> - ȳ) = (-400)(-60) + (-200)(-30) + (0)(0) + (200)(30) + (400)(60) = 60,000</a:t>
            </a:r>
          </a:p>
          <a:p>
            <a:r>
              <a:rPr lang="el-GR" dirty="0"/>
              <a:t>Σ(</a:t>
            </a:r>
            <a:r>
              <a:rPr lang="en-IN" dirty="0"/>
              <a:t>xi - x̄)² = 400,000</a:t>
            </a:r>
          </a:p>
          <a:p>
            <a:r>
              <a:rPr lang="el-GR" dirty="0"/>
              <a:t>β₁ = 60,000 / 400,000 = 0.15 (</a:t>
            </a:r>
            <a:r>
              <a:rPr lang="en-IN" dirty="0"/>
              <a:t>price increases $150 per </a:t>
            </a:r>
            <a:r>
              <a:rPr lang="en-IN" dirty="0" err="1"/>
              <a:t>sq</a:t>
            </a:r>
            <a:r>
              <a:rPr lang="en-IN" dirty="0"/>
              <a:t> ft)</a:t>
            </a:r>
          </a:p>
          <a:p>
            <a:r>
              <a:rPr lang="el-GR" dirty="0"/>
              <a:t>β₀ = 210 - 0.15(1400) = 0</a:t>
            </a:r>
            <a:endParaRPr lang="en-IN" dirty="0"/>
          </a:p>
          <a:p>
            <a:r>
              <a:rPr lang="en-IN" dirty="0"/>
              <a:t>Equation: Price = 0.15 × Size For 1500 </a:t>
            </a:r>
            <a:r>
              <a:rPr lang="en-IN" dirty="0" err="1"/>
              <a:t>sq</a:t>
            </a:r>
            <a:r>
              <a:rPr lang="en-IN" dirty="0"/>
              <a:t> ft: Price = 0.15 × 1500 = $225,000</a:t>
            </a:r>
          </a:p>
        </p:txBody>
      </p:sp>
    </p:spTree>
    <p:extLst>
      <p:ext uri="{BB962C8B-B14F-4D97-AF65-F5344CB8AC3E}">
        <p14:creationId xmlns:p14="http://schemas.microsoft.com/office/powerpoint/2010/main" val="28834845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F85F2-37F8-1D8C-AE0C-C6E3056C5DAC}"/>
              </a:ext>
            </a:extLst>
          </p:cNvPr>
          <p:cNvSpPr>
            <a:spLocks noGrp="1"/>
          </p:cNvSpPr>
          <p:nvPr>
            <p:ph type="title"/>
          </p:nvPr>
        </p:nvSpPr>
        <p:spPr/>
        <p:txBody>
          <a:bodyPr/>
          <a:lstStyle/>
          <a:p>
            <a:pPr algn="ctr"/>
            <a:r>
              <a:rPr lang="en-IN" b="1" dirty="0">
                <a:latin typeface="Fira Sans Medium" panose="020B0603050000020004" pitchFamily="34" charset="0"/>
              </a:rPr>
              <a:t>Unsolved Example: Sales Forecasting</a:t>
            </a:r>
          </a:p>
        </p:txBody>
      </p:sp>
      <p:sp>
        <p:nvSpPr>
          <p:cNvPr id="3" name="Content Placeholder 2">
            <a:extLst>
              <a:ext uri="{FF2B5EF4-FFF2-40B4-BE49-F238E27FC236}">
                <a16:creationId xmlns:a16="http://schemas.microsoft.com/office/drawing/2014/main" id="{3AE3E8DE-C8F4-71A9-7381-B20863C55C3D}"/>
              </a:ext>
            </a:extLst>
          </p:cNvPr>
          <p:cNvSpPr>
            <a:spLocks noGrp="1"/>
          </p:cNvSpPr>
          <p:nvPr>
            <p:ph idx="1"/>
          </p:nvPr>
        </p:nvSpPr>
        <p:spPr/>
        <p:txBody>
          <a:bodyPr/>
          <a:lstStyle/>
          <a:p>
            <a:r>
              <a:rPr lang="en-US" dirty="0"/>
              <a:t>Monthly advertising spend (x) vs sales revenue (y)</a:t>
            </a:r>
          </a:p>
          <a:p>
            <a:r>
              <a:rPr lang="en-US" dirty="0"/>
              <a:t>Data: (5k, 50k), (8k, 65k), (12k, 85k), (15k, 95k), (20k, 120k)</a:t>
            </a:r>
          </a:p>
          <a:p>
            <a:r>
              <a:rPr lang="en-US" dirty="0"/>
              <a:t>Calculate the regression equation and predict sales for $18k advertising spend.</a:t>
            </a:r>
            <a:endParaRPr lang="en-IN" dirty="0"/>
          </a:p>
        </p:txBody>
      </p:sp>
    </p:spTree>
    <p:extLst>
      <p:ext uri="{BB962C8B-B14F-4D97-AF65-F5344CB8AC3E}">
        <p14:creationId xmlns:p14="http://schemas.microsoft.com/office/powerpoint/2010/main" val="22522296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2943B-55BF-B21F-E94B-D85FAEAF0F17}"/>
              </a:ext>
            </a:extLst>
          </p:cNvPr>
          <p:cNvSpPr>
            <a:spLocks noGrp="1"/>
          </p:cNvSpPr>
          <p:nvPr>
            <p:ph type="title"/>
          </p:nvPr>
        </p:nvSpPr>
        <p:spPr/>
        <p:txBody>
          <a:bodyPr/>
          <a:lstStyle/>
          <a:p>
            <a:pPr algn="ctr"/>
            <a:r>
              <a:rPr lang="en-IN" b="1" dirty="0">
                <a:latin typeface="Fira Sans Medium" panose="020B0603050000020004" pitchFamily="34" charset="0"/>
              </a:rPr>
              <a:t>Logistic Regression Formulas</a:t>
            </a:r>
          </a:p>
        </p:txBody>
      </p:sp>
      <p:pic>
        <p:nvPicPr>
          <p:cNvPr id="5" name="Content Placeholder 4">
            <a:extLst>
              <a:ext uri="{FF2B5EF4-FFF2-40B4-BE49-F238E27FC236}">
                <a16:creationId xmlns:a16="http://schemas.microsoft.com/office/drawing/2014/main" id="{0775FB5F-7824-0E1C-48C7-08D1AB0DFAAD}"/>
              </a:ext>
            </a:extLst>
          </p:cNvPr>
          <p:cNvPicPr>
            <a:picLocks noGrp="1" noChangeAspect="1"/>
          </p:cNvPicPr>
          <p:nvPr>
            <p:ph idx="1"/>
          </p:nvPr>
        </p:nvPicPr>
        <p:blipFill>
          <a:blip r:embed="rId2"/>
          <a:stretch>
            <a:fillRect/>
          </a:stretch>
        </p:blipFill>
        <p:spPr>
          <a:xfrm>
            <a:off x="838200" y="1892585"/>
            <a:ext cx="10515600" cy="3072830"/>
          </a:xfrm>
        </p:spPr>
      </p:pic>
    </p:spTree>
    <p:extLst>
      <p:ext uri="{BB962C8B-B14F-4D97-AF65-F5344CB8AC3E}">
        <p14:creationId xmlns:p14="http://schemas.microsoft.com/office/powerpoint/2010/main" val="14989009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A9CFC-4F65-F74B-C2D7-4BE34DC2A113}"/>
              </a:ext>
            </a:extLst>
          </p:cNvPr>
          <p:cNvSpPr>
            <a:spLocks noGrp="1"/>
          </p:cNvSpPr>
          <p:nvPr>
            <p:ph type="title"/>
          </p:nvPr>
        </p:nvSpPr>
        <p:spPr/>
        <p:txBody>
          <a:bodyPr/>
          <a:lstStyle/>
          <a:p>
            <a:pPr algn="ctr"/>
            <a:r>
              <a:rPr lang="en-IN" b="1" dirty="0">
                <a:latin typeface="Fira Sans" panose="020B0503050000020004" pitchFamily="34" charset="0"/>
              </a:rPr>
              <a:t>Solved Example: </a:t>
            </a:r>
            <a:br>
              <a:rPr lang="en-IN" b="1" dirty="0">
                <a:latin typeface="Fira Sans" panose="020B0503050000020004" pitchFamily="34" charset="0"/>
              </a:rPr>
            </a:br>
            <a:r>
              <a:rPr lang="en-US" dirty="0">
                <a:latin typeface="Fira Sans" panose="020B0503050000020004" pitchFamily="34" charset="0"/>
              </a:rPr>
              <a:t>Customer churn prediction </a:t>
            </a:r>
            <a:endParaRPr lang="en-IN" b="1" dirty="0">
              <a:latin typeface="Fira Sans" panose="020B0503050000020004" pitchFamily="34" charset="0"/>
            </a:endParaRPr>
          </a:p>
        </p:txBody>
      </p:sp>
      <p:sp>
        <p:nvSpPr>
          <p:cNvPr id="3" name="Content Placeholder 2">
            <a:extLst>
              <a:ext uri="{FF2B5EF4-FFF2-40B4-BE49-F238E27FC236}">
                <a16:creationId xmlns:a16="http://schemas.microsoft.com/office/drawing/2014/main" id="{E4FBE475-EE13-08C6-82C3-47BD6621407F}"/>
              </a:ext>
            </a:extLst>
          </p:cNvPr>
          <p:cNvSpPr>
            <a:spLocks noGrp="1"/>
          </p:cNvSpPr>
          <p:nvPr>
            <p:ph idx="1"/>
          </p:nvPr>
        </p:nvSpPr>
        <p:spPr/>
        <p:txBody>
          <a:bodyPr>
            <a:normAutofit fontScale="92500"/>
          </a:bodyPr>
          <a:lstStyle/>
          <a:p>
            <a:r>
              <a:rPr lang="en-US" dirty="0"/>
              <a:t>A logistic regression model is trained on a telco customer data that has the features : tenure which is the number of years the customer has stayed with the company and monthly charges which is the amount charged to the customer monthly. Following coefficients are obtained from the model:</a:t>
            </a:r>
          </a:p>
          <a:p>
            <a:r>
              <a:rPr lang="en-US" dirty="0"/>
              <a:t>β₀ = -1.2 (intercept) </a:t>
            </a:r>
          </a:p>
          <a:p>
            <a:r>
              <a:rPr lang="en-US" dirty="0"/>
              <a:t>β₁ = 0.5 (coefficient for tenure in years) </a:t>
            </a:r>
          </a:p>
          <a:p>
            <a:r>
              <a:rPr lang="en-US" dirty="0"/>
              <a:t>β₂ = 0.3 (coefficient for monthly charges in $100s) </a:t>
            </a:r>
          </a:p>
          <a:p>
            <a:r>
              <a:rPr lang="en-US" dirty="0"/>
              <a:t>For a customer with tenure = 2 years and monthly charges = $80, find the probability that the customer will switch to another operator (churn) </a:t>
            </a:r>
            <a:endParaRPr lang="en-IN" dirty="0"/>
          </a:p>
        </p:txBody>
      </p:sp>
    </p:spTree>
    <p:extLst>
      <p:ext uri="{BB962C8B-B14F-4D97-AF65-F5344CB8AC3E}">
        <p14:creationId xmlns:p14="http://schemas.microsoft.com/office/powerpoint/2010/main" val="28499470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F42EF-5AC3-4994-8E6B-3F2635E88B51}"/>
              </a:ext>
            </a:extLst>
          </p:cNvPr>
          <p:cNvSpPr>
            <a:spLocks noGrp="1"/>
          </p:cNvSpPr>
          <p:nvPr>
            <p:ph type="title"/>
          </p:nvPr>
        </p:nvSpPr>
        <p:spPr/>
        <p:txBody>
          <a:bodyPr/>
          <a:lstStyle/>
          <a:p>
            <a:pPr algn="ctr"/>
            <a:r>
              <a:rPr lang="en-IN" b="1" dirty="0">
                <a:latin typeface="Fira Sans" panose="020B0503050000020004" pitchFamily="34" charset="0"/>
              </a:rPr>
              <a:t>Solution</a:t>
            </a:r>
          </a:p>
        </p:txBody>
      </p:sp>
      <p:sp>
        <p:nvSpPr>
          <p:cNvPr id="3" name="Content Placeholder 2">
            <a:extLst>
              <a:ext uri="{FF2B5EF4-FFF2-40B4-BE49-F238E27FC236}">
                <a16:creationId xmlns:a16="http://schemas.microsoft.com/office/drawing/2014/main" id="{2D5347A8-09DD-B135-8F26-2A6BD3EF83DC}"/>
              </a:ext>
            </a:extLst>
          </p:cNvPr>
          <p:cNvSpPr>
            <a:spLocks noGrp="1"/>
          </p:cNvSpPr>
          <p:nvPr>
            <p:ph idx="1"/>
          </p:nvPr>
        </p:nvSpPr>
        <p:spPr/>
        <p:txBody>
          <a:bodyPr/>
          <a:lstStyle/>
          <a:p>
            <a:r>
              <a:rPr lang="en-US" dirty="0"/>
              <a:t>z = -1.2 + 0.5(2) + 0.3(0.8) = -1.2 + 1.0 + 0.24 = 0.04</a:t>
            </a:r>
          </a:p>
          <a:p>
            <a:r>
              <a:rPr lang="en-US" dirty="0"/>
              <a:t>p = 1 / (1 + e^(-0.04)) = 1 / (1 + 0.96) = 0.51 or 51%</a:t>
            </a:r>
          </a:p>
          <a:p>
            <a:r>
              <a:rPr lang="en-US" dirty="0"/>
              <a:t>Odds = p/(1-p) = 0.51/0.49 = 1.04</a:t>
            </a:r>
          </a:p>
          <a:p>
            <a:r>
              <a:rPr lang="en-US" dirty="0"/>
              <a:t>Odds ratio for tenure: e^0.5 = 1.65</a:t>
            </a:r>
          </a:p>
          <a:p>
            <a:pPr marL="0" indent="0">
              <a:buNone/>
            </a:pPr>
            <a:r>
              <a:rPr lang="en-US" dirty="0"/>
              <a:t>(each additional year increases odds by 65%)</a:t>
            </a:r>
            <a:endParaRPr lang="en-IN" dirty="0"/>
          </a:p>
        </p:txBody>
      </p:sp>
    </p:spTree>
    <p:extLst>
      <p:ext uri="{BB962C8B-B14F-4D97-AF65-F5344CB8AC3E}">
        <p14:creationId xmlns:p14="http://schemas.microsoft.com/office/powerpoint/2010/main" val="1655845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902E4-77DE-8580-DBBE-FE0858A7B24A}"/>
              </a:ext>
            </a:extLst>
          </p:cNvPr>
          <p:cNvSpPr>
            <a:spLocks noGrp="1"/>
          </p:cNvSpPr>
          <p:nvPr>
            <p:ph type="title"/>
          </p:nvPr>
        </p:nvSpPr>
        <p:spPr/>
        <p:txBody>
          <a:bodyPr/>
          <a:lstStyle/>
          <a:p>
            <a:pPr algn="ctr"/>
            <a:r>
              <a:rPr lang="en-IN" b="1" dirty="0">
                <a:latin typeface="Fira Sans Medium" panose="020B0603050000020004" pitchFamily="34" charset="0"/>
              </a:rPr>
              <a:t>Unsolved Example</a:t>
            </a:r>
          </a:p>
        </p:txBody>
      </p:sp>
      <p:sp>
        <p:nvSpPr>
          <p:cNvPr id="3" name="Content Placeholder 2">
            <a:extLst>
              <a:ext uri="{FF2B5EF4-FFF2-40B4-BE49-F238E27FC236}">
                <a16:creationId xmlns:a16="http://schemas.microsoft.com/office/drawing/2014/main" id="{0B603368-A460-A47C-6103-6DE70ADFE5C3}"/>
              </a:ext>
            </a:extLst>
          </p:cNvPr>
          <p:cNvSpPr>
            <a:spLocks noGrp="1"/>
          </p:cNvSpPr>
          <p:nvPr>
            <p:ph idx="1"/>
          </p:nvPr>
        </p:nvSpPr>
        <p:spPr/>
        <p:txBody>
          <a:bodyPr/>
          <a:lstStyle/>
          <a:p>
            <a:r>
              <a:rPr lang="en-IN" dirty="0"/>
              <a:t>Email spam detection model: </a:t>
            </a:r>
          </a:p>
          <a:p>
            <a:r>
              <a:rPr lang="en-IN" dirty="0"/>
              <a:t>ln(p/(1-p)) = 2.1 - 0.8x₁ + 1.5x₂ </a:t>
            </a:r>
          </a:p>
          <a:p>
            <a:r>
              <a:rPr lang="en-IN" dirty="0"/>
              <a:t>where x₁ = sender reputation score (0-10) and x₂ = suspicious keywords count</a:t>
            </a:r>
          </a:p>
          <a:p>
            <a:r>
              <a:rPr lang="en-IN" dirty="0"/>
              <a:t>Calculate spam probability for an email with sender reputation = 6 and suspicious keywords = 2.</a:t>
            </a:r>
          </a:p>
        </p:txBody>
      </p:sp>
    </p:spTree>
    <p:extLst>
      <p:ext uri="{BB962C8B-B14F-4D97-AF65-F5344CB8AC3E}">
        <p14:creationId xmlns:p14="http://schemas.microsoft.com/office/powerpoint/2010/main" val="6034961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6945F-4CD1-C23D-B957-7DDCB2C3AECF}"/>
              </a:ext>
            </a:extLst>
          </p:cNvPr>
          <p:cNvSpPr>
            <a:spLocks noGrp="1"/>
          </p:cNvSpPr>
          <p:nvPr>
            <p:ph type="title"/>
          </p:nvPr>
        </p:nvSpPr>
        <p:spPr/>
        <p:txBody>
          <a:bodyPr/>
          <a:lstStyle/>
          <a:p>
            <a:pPr algn="ctr"/>
            <a:r>
              <a:rPr lang="en-IN" b="1" noProof="0" dirty="0">
                <a:latin typeface="Fira Sans" panose="020B0503050000020004" pitchFamily="34" charset="0"/>
              </a:rPr>
              <a:t>Prescriptive Analysis</a:t>
            </a:r>
          </a:p>
        </p:txBody>
      </p:sp>
      <p:sp>
        <p:nvSpPr>
          <p:cNvPr id="3" name="Content Placeholder 2">
            <a:extLst>
              <a:ext uri="{FF2B5EF4-FFF2-40B4-BE49-F238E27FC236}">
                <a16:creationId xmlns:a16="http://schemas.microsoft.com/office/drawing/2014/main" id="{93F823AC-9D69-ADEA-F983-486D1EED9685}"/>
              </a:ext>
            </a:extLst>
          </p:cNvPr>
          <p:cNvSpPr>
            <a:spLocks noGrp="1"/>
          </p:cNvSpPr>
          <p:nvPr>
            <p:ph idx="1"/>
          </p:nvPr>
        </p:nvSpPr>
        <p:spPr/>
        <p:txBody>
          <a:bodyPr/>
          <a:lstStyle/>
          <a:p>
            <a:r>
              <a:rPr lang="en-IN" noProof="0" dirty="0"/>
              <a:t>Linear Programming to solve optimization problems given the objective function </a:t>
            </a:r>
            <a:r>
              <a:rPr lang="en-IN" noProof="0"/>
              <a:t>and constraints.</a:t>
            </a:r>
            <a:endParaRPr lang="en-IN" noProof="0" dirty="0"/>
          </a:p>
        </p:txBody>
      </p:sp>
    </p:spTree>
    <p:extLst>
      <p:ext uri="{BB962C8B-B14F-4D97-AF65-F5344CB8AC3E}">
        <p14:creationId xmlns:p14="http://schemas.microsoft.com/office/powerpoint/2010/main" val="16369491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690D3-CC12-F07B-4D40-D2A3B476F849}"/>
              </a:ext>
            </a:extLst>
          </p:cNvPr>
          <p:cNvSpPr>
            <a:spLocks noGrp="1"/>
          </p:cNvSpPr>
          <p:nvPr>
            <p:ph type="title"/>
          </p:nvPr>
        </p:nvSpPr>
        <p:spPr>
          <a:xfrm>
            <a:off x="838200" y="50353"/>
            <a:ext cx="10515600" cy="1325563"/>
          </a:xfrm>
        </p:spPr>
        <p:txBody>
          <a:bodyPr/>
          <a:lstStyle/>
          <a:p>
            <a:pPr algn="ctr"/>
            <a:r>
              <a:rPr lang="en-IN" b="1" dirty="0">
                <a:latin typeface="Fira Sans Medium" panose="020B0603050000020004" pitchFamily="34" charset="0"/>
              </a:rPr>
              <a:t>Standard Linear Programming Form</a:t>
            </a:r>
          </a:p>
        </p:txBody>
      </p:sp>
      <p:sp>
        <p:nvSpPr>
          <p:cNvPr id="3" name="Content Placeholder 2">
            <a:extLst>
              <a:ext uri="{FF2B5EF4-FFF2-40B4-BE49-F238E27FC236}">
                <a16:creationId xmlns:a16="http://schemas.microsoft.com/office/drawing/2014/main" id="{B9A927A0-AC82-BCD1-3F36-C4EBF48805BB}"/>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ACA580C9-D9ED-7648-4467-A40CC3C0CFDE}"/>
              </a:ext>
            </a:extLst>
          </p:cNvPr>
          <p:cNvPicPr>
            <a:picLocks noChangeAspect="1"/>
          </p:cNvPicPr>
          <p:nvPr/>
        </p:nvPicPr>
        <p:blipFill>
          <a:blip r:embed="rId2"/>
          <a:stretch>
            <a:fillRect/>
          </a:stretch>
        </p:blipFill>
        <p:spPr>
          <a:xfrm>
            <a:off x="0" y="1194940"/>
            <a:ext cx="12192000" cy="5612707"/>
          </a:xfrm>
          <a:prstGeom prst="rect">
            <a:avLst/>
          </a:prstGeom>
        </p:spPr>
      </p:pic>
    </p:spTree>
    <p:extLst>
      <p:ext uri="{BB962C8B-B14F-4D97-AF65-F5344CB8AC3E}">
        <p14:creationId xmlns:p14="http://schemas.microsoft.com/office/powerpoint/2010/main" val="30794995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35C48-8140-01A9-902F-1E3978403622}"/>
              </a:ext>
            </a:extLst>
          </p:cNvPr>
          <p:cNvSpPr>
            <a:spLocks noGrp="1"/>
          </p:cNvSpPr>
          <p:nvPr>
            <p:ph type="title"/>
          </p:nvPr>
        </p:nvSpPr>
        <p:spPr/>
        <p:txBody>
          <a:bodyPr/>
          <a:lstStyle/>
          <a:p>
            <a:pPr algn="ctr"/>
            <a:r>
              <a:rPr lang="en-IN" b="1" dirty="0">
                <a:latin typeface="Fira Sans Medium" panose="020B0603050000020004" pitchFamily="34" charset="0"/>
              </a:rPr>
              <a:t>Solved Example</a:t>
            </a:r>
          </a:p>
        </p:txBody>
      </p:sp>
      <p:sp>
        <p:nvSpPr>
          <p:cNvPr id="3" name="Content Placeholder 2">
            <a:extLst>
              <a:ext uri="{FF2B5EF4-FFF2-40B4-BE49-F238E27FC236}">
                <a16:creationId xmlns:a16="http://schemas.microsoft.com/office/drawing/2014/main" id="{DC0058DD-4F15-06BB-051B-524BE2903B95}"/>
              </a:ext>
            </a:extLst>
          </p:cNvPr>
          <p:cNvSpPr>
            <a:spLocks noGrp="1"/>
          </p:cNvSpPr>
          <p:nvPr>
            <p:ph idx="1"/>
          </p:nvPr>
        </p:nvSpPr>
        <p:spPr/>
        <p:txBody>
          <a:bodyPr/>
          <a:lstStyle/>
          <a:p>
            <a:r>
              <a:rPr lang="en-IN" dirty="0"/>
              <a:t>Production planning problem: </a:t>
            </a:r>
          </a:p>
          <a:p>
            <a:r>
              <a:rPr lang="en-IN" dirty="0"/>
              <a:t>Maximize profit: Z = 40x₁ + 30x₂</a:t>
            </a:r>
          </a:p>
          <a:p>
            <a:r>
              <a:rPr lang="en-IN" dirty="0"/>
              <a:t>Subject to: 2x₁ + x₂ ≤ 100 (material constraint)</a:t>
            </a:r>
          </a:p>
          <a:p>
            <a:r>
              <a:rPr lang="en-IN" dirty="0"/>
              <a:t>x₁ + 2x₂ ≤ 80 (</a:t>
            </a:r>
            <a:r>
              <a:rPr lang="en-IN" dirty="0" err="1"/>
              <a:t>labor</a:t>
            </a:r>
            <a:r>
              <a:rPr lang="en-IN" dirty="0"/>
              <a:t> constraint)</a:t>
            </a:r>
          </a:p>
          <a:p>
            <a:r>
              <a:rPr lang="en-IN" dirty="0"/>
              <a:t>x₁, x₂ ≥ 0</a:t>
            </a:r>
          </a:p>
        </p:txBody>
      </p:sp>
    </p:spTree>
    <p:extLst>
      <p:ext uri="{BB962C8B-B14F-4D97-AF65-F5344CB8AC3E}">
        <p14:creationId xmlns:p14="http://schemas.microsoft.com/office/powerpoint/2010/main" val="31488513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F4EAD-BA41-308C-B62F-592E58F5C590}"/>
              </a:ext>
            </a:extLst>
          </p:cNvPr>
          <p:cNvSpPr>
            <a:spLocks noGrp="1"/>
          </p:cNvSpPr>
          <p:nvPr>
            <p:ph type="title"/>
          </p:nvPr>
        </p:nvSpPr>
        <p:spPr/>
        <p:txBody>
          <a:bodyPr/>
          <a:lstStyle/>
          <a:p>
            <a:pPr algn="ctr"/>
            <a:r>
              <a:rPr lang="en-IN" b="1" dirty="0">
                <a:latin typeface="Fira Sans Medium" panose="020B0603050000020004" pitchFamily="34" charset="0"/>
              </a:rPr>
              <a:t>Solution</a:t>
            </a:r>
          </a:p>
        </p:txBody>
      </p:sp>
      <p:sp>
        <p:nvSpPr>
          <p:cNvPr id="3" name="Content Placeholder 2">
            <a:extLst>
              <a:ext uri="{FF2B5EF4-FFF2-40B4-BE49-F238E27FC236}">
                <a16:creationId xmlns:a16="http://schemas.microsoft.com/office/drawing/2014/main" id="{503521EE-F14F-C7A7-DFA6-7D56A467C3B7}"/>
              </a:ext>
            </a:extLst>
          </p:cNvPr>
          <p:cNvSpPr>
            <a:spLocks noGrp="1"/>
          </p:cNvSpPr>
          <p:nvPr>
            <p:ph idx="1"/>
          </p:nvPr>
        </p:nvSpPr>
        <p:spPr/>
        <p:txBody>
          <a:bodyPr>
            <a:normAutofit lnSpcReduction="10000"/>
          </a:bodyPr>
          <a:lstStyle/>
          <a:p>
            <a:r>
              <a:rPr lang="en-IN" dirty="0"/>
              <a:t>Corner points:</a:t>
            </a:r>
          </a:p>
          <a:p>
            <a:r>
              <a:rPr lang="en-IN" dirty="0"/>
              <a:t>(0,0): Z = 0</a:t>
            </a:r>
          </a:p>
          <a:p>
            <a:r>
              <a:rPr lang="en-IN" dirty="0"/>
              <a:t>(0,40): Z = 1200</a:t>
            </a:r>
          </a:p>
          <a:p>
            <a:r>
              <a:rPr lang="en-IN" dirty="0"/>
              <a:t>(50,0): Z = 2000</a:t>
            </a:r>
          </a:p>
          <a:p>
            <a:r>
              <a:rPr lang="en-IN" dirty="0"/>
              <a:t>Intersection: </a:t>
            </a:r>
          </a:p>
          <a:p>
            <a:r>
              <a:rPr lang="en-IN" dirty="0"/>
              <a:t>2x₁ + x₂ = 100 and x₁ + 2x₂ = 80 </a:t>
            </a:r>
          </a:p>
          <a:p>
            <a:r>
              <a:rPr lang="en-IN" dirty="0"/>
              <a:t>Solving: x₁ = 40, x₂ = 20 </a:t>
            </a:r>
          </a:p>
          <a:p>
            <a:r>
              <a:rPr lang="en-IN" dirty="0"/>
              <a:t>Z = 40(40) + 30(20) = 2200 </a:t>
            </a:r>
          </a:p>
          <a:p>
            <a:r>
              <a:rPr lang="en-IN" dirty="0"/>
              <a:t>Optimal solution: x₁ = 40, x₂ = 20, Z = 2200</a:t>
            </a:r>
          </a:p>
        </p:txBody>
      </p:sp>
    </p:spTree>
    <p:extLst>
      <p:ext uri="{BB962C8B-B14F-4D97-AF65-F5344CB8AC3E}">
        <p14:creationId xmlns:p14="http://schemas.microsoft.com/office/powerpoint/2010/main" val="4774127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3E18A-FAFD-8A90-313C-B05BBFC330AC}"/>
              </a:ext>
            </a:extLst>
          </p:cNvPr>
          <p:cNvSpPr>
            <a:spLocks noGrp="1"/>
          </p:cNvSpPr>
          <p:nvPr>
            <p:ph type="title"/>
          </p:nvPr>
        </p:nvSpPr>
        <p:spPr/>
        <p:txBody>
          <a:bodyPr/>
          <a:lstStyle/>
          <a:p>
            <a:pPr algn="ctr"/>
            <a:r>
              <a:rPr lang="en-IN" b="1" dirty="0">
                <a:latin typeface="Fira Sans Medium" panose="020B0603050000020004" pitchFamily="34" charset="0"/>
              </a:rPr>
              <a:t>Unsolved Example</a:t>
            </a:r>
          </a:p>
        </p:txBody>
      </p:sp>
      <p:sp>
        <p:nvSpPr>
          <p:cNvPr id="3" name="Content Placeholder 2">
            <a:extLst>
              <a:ext uri="{FF2B5EF4-FFF2-40B4-BE49-F238E27FC236}">
                <a16:creationId xmlns:a16="http://schemas.microsoft.com/office/drawing/2014/main" id="{B641AF4A-519C-5AFA-F12C-C639664D4D9F}"/>
              </a:ext>
            </a:extLst>
          </p:cNvPr>
          <p:cNvSpPr>
            <a:spLocks noGrp="1"/>
          </p:cNvSpPr>
          <p:nvPr>
            <p:ph idx="1"/>
          </p:nvPr>
        </p:nvSpPr>
        <p:spPr/>
        <p:txBody>
          <a:bodyPr/>
          <a:lstStyle/>
          <a:p>
            <a:r>
              <a:rPr lang="en-IN" dirty="0"/>
              <a:t>Diet optimization problem:</a:t>
            </a:r>
          </a:p>
          <a:p>
            <a:r>
              <a:rPr lang="en-IN" dirty="0"/>
              <a:t>Minimize cost: Z = 0.5x₁ + 0.3x₂ + 0.8x₃</a:t>
            </a:r>
          </a:p>
          <a:p>
            <a:r>
              <a:rPr lang="en-IN" dirty="0"/>
              <a:t>Subject to:</a:t>
            </a:r>
          </a:p>
          <a:p>
            <a:r>
              <a:rPr lang="en-IN" dirty="0"/>
              <a:t>3x₁ + 2x₂ + 4x₃ ≥ 24 (protein)</a:t>
            </a:r>
          </a:p>
          <a:p>
            <a:r>
              <a:rPr lang="en-IN" dirty="0"/>
              <a:t>x₁ + 3x₂ + 2x₃ ≥ 18 (vitamins)</a:t>
            </a:r>
          </a:p>
          <a:p>
            <a:r>
              <a:rPr lang="en-IN" dirty="0"/>
              <a:t>x₁, x₂, x₃ ≥ 0</a:t>
            </a:r>
          </a:p>
          <a:p>
            <a:r>
              <a:rPr lang="en-IN" dirty="0"/>
              <a:t>Find the optimal solution.</a:t>
            </a:r>
          </a:p>
        </p:txBody>
      </p:sp>
    </p:spTree>
    <p:extLst>
      <p:ext uri="{BB962C8B-B14F-4D97-AF65-F5344CB8AC3E}">
        <p14:creationId xmlns:p14="http://schemas.microsoft.com/office/powerpoint/2010/main" val="17453916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426</TotalTime>
  <Words>2089</Words>
  <Application>Microsoft Office PowerPoint</Application>
  <PresentationFormat>Widescreen</PresentationFormat>
  <Paragraphs>383</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Calibri Light</vt:lpstr>
      <vt:lpstr>Fira Sans</vt:lpstr>
      <vt:lpstr>Fira Sans Medium</vt:lpstr>
      <vt:lpstr>Office Theme</vt:lpstr>
      <vt:lpstr>Numerical questions on  Module 1 Types of Data Analysis</vt:lpstr>
      <vt:lpstr>Descriptive Analysis</vt:lpstr>
      <vt:lpstr>Diagnostic Analysis</vt:lpstr>
      <vt:lpstr>Correlation for Root Cause Analysis</vt:lpstr>
      <vt:lpstr>Correlation for Root Cause Analysis</vt:lpstr>
      <vt:lpstr>Pareto Analysis (80/20 Rule)</vt:lpstr>
      <vt:lpstr>PowerPoint Presentation</vt:lpstr>
      <vt:lpstr>PowerPoint Presentation</vt:lpstr>
      <vt:lpstr>PowerPoint Presentation</vt:lpstr>
      <vt:lpstr>PowerPoint Presentation</vt:lpstr>
      <vt:lpstr>Failure Mode and Effects Analysis (FMEA)</vt:lpstr>
      <vt:lpstr>PowerPoint Presentation</vt:lpstr>
      <vt:lpstr>PowerPoint Presentation</vt:lpstr>
      <vt:lpstr>FMEA Calculations</vt:lpstr>
      <vt:lpstr>Statistical Process Control</vt:lpstr>
      <vt:lpstr>Example</vt:lpstr>
      <vt:lpstr>PowerPoint Presentation</vt:lpstr>
      <vt:lpstr>PowerPoint Presentation</vt:lpstr>
      <vt:lpstr>Predictive Analysis</vt:lpstr>
      <vt:lpstr>Linear Regression Formulas</vt:lpstr>
      <vt:lpstr>Solved Example: House price prediction</vt:lpstr>
      <vt:lpstr>Solution</vt:lpstr>
      <vt:lpstr>Unsolved Example: Sales Forecasting</vt:lpstr>
      <vt:lpstr>Logistic Regression Formulas</vt:lpstr>
      <vt:lpstr>Solved Example:  Customer churn prediction </vt:lpstr>
      <vt:lpstr>Solution</vt:lpstr>
      <vt:lpstr>Unsolved Example</vt:lpstr>
      <vt:lpstr>Prescriptive Analysis</vt:lpstr>
      <vt:lpstr>Standard Linear Programming Form</vt:lpstr>
      <vt:lpstr>Solved Example</vt:lpstr>
      <vt:lpstr>Solution</vt:lpstr>
      <vt:lpstr>Unsolved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Kaustubh Kulkarni</dc:creator>
  <cp:lastModifiedBy>Kaustubh Kulkarni</cp:lastModifiedBy>
  <cp:revision>10</cp:revision>
  <dcterms:created xsi:type="dcterms:W3CDTF">2025-07-22T02:01:11Z</dcterms:created>
  <dcterms:modified xsi:type="dcterms:W3CDTF">2025-07-28T12:12:10Z</dcterms:modified>
</cp:coreProperties>
</file>