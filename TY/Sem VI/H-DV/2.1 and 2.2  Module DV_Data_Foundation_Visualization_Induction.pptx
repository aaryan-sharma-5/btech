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5" r:id="rId13"/>
    <p:sldId id="276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7" r:id="rId22"/>
    <p:sldId id="278" r:id="rId23"/>
    <p:sldId id="279" r:id="rId24"/>
    <p:sldId id="280" r:id="rId25"/>
    <p:sldId id="281" r:id="rId26"/>
    <p:sldId id="282" r:id="rId27"/>
    <p:sldId id="284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-1344" y="-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28EE71-3FB0-4220-8F03-C6E5679FB27E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90B5D9-E471-4B55-8C65-86208A5ECD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8885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4B483-1397-45A4-A41D-D10333FD36DE}" type="datetime1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Module 2: 216H03L602 Jan-May 2026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F6583-A97A-4836-883D-721E9BCA0D50}" type="datetime1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Module 2: 216H03L602 Jan-May 2026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0D450-B7A1-4D70-A65A-0C5C780954E0}" type="datetime1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Module 2: 216H03L602 Jan-May 2026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4AF7D-D18B-413D-8D98-40D11C76B2FF}" type="datetime1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Module 2: 216H03L602 Jan-May 2026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CA7EC-38F3-4BCF-A8E4-DF529A45FEA5}" type="datetime1">
              <a:rPr lang="en-US" smtClean="0"/>
              <a:t>1/20/2026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Module 2: 216H03L602 Jan-May 2026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4F543-DBBD-4A49-9C3A-8AF6DB5608FF}" type="datetime1">
              <a:rPr lang="en-US" smtClean="0"/>
              <a:t>1/20/2026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Module 2: 216H03L602 Jan-May 2026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08ABD-EE06-4C88-AC99-C7E409D0AEB3}" type="datetime1">
              <a:rPr lang="en-US" smtClean="0"/>
              <a:t>1/20/2026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Module 2: 216H03L602 Jan-May 2026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46B6-85C0-421E-866E-C8796559A7B0}" type="datetime1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Module 2: 216H03L602 Jan-May 2026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672E4-D049-40C7-A42C-B7E3F5A15AF4}" type="datetime1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Module 2: 216H03L602 Jan-May 2026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9506E-7463-48CD-AA69-BF4EFD56A36A}" type="datetime1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Module 2: 216H03L602 Jan-May 2026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E153C-19EB-46ED-B1E2-D7E512FBC28D}" type="datetime1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Module 2: 216H03L602 Jan-May 2026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3D6DF5-6D50-4337-A4CD-E8F2445DEFF9}" type="datetime1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Module 2: 216H03L602 Jan-May 2026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3063" y="447098"/>
            <a:ext cx="7772400" cy="1470025"/>
          </a:xfrm>
        </p:spPr>
        <p:txBody>
          <a:bodyPr/>
          <a:lstStyle/>
          <a:p>
            <a:r>
              <a:rPr dirty="0"/>
              <a:t>Induction to Data Foundation in Data Visualization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Module 2</a:t>
            </a:r>
          </a:p>
          <a:p>
            <a:r>
              <a:rPr lang="en-IN" b="1" dirty="0" smtClean="0"/>
              <a:t>216H03L602 </a:t>
            </a:r>
            <a:r>
              <a:rPr lang="en-IN" dirty="0"/>
              <a:t>	</a:t>
            </a:r>
            <a:endParaRPr lang="en-IN" dirty="0" smtClean="0"/>
          </a:p>
          <a:p>
            <a:r>
              <a:rPr lang="en-IN" dirty="0" smtClean="0"/>
              <a:t>Jan- May 2026</a:t>
            </a:r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Module 2: 216H03L602 Jan-May 2026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Importance of </a:t>
            </a:r>
            <a:r>
              <a:rPr dirty="0" smtClean="0"/>
              <a:t>Data Visualization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Visuals are processed faster than text</a:t>
            </a:r>
          </a:p>
          <a:p>
            <a:r>
              <a:t>Reveals patterns, trends, and outliers</a:t>
            </a:r>
          </a:p>
          <a:p>
            <a:r>
              <a:t>Supports data-driven decision making</a:t>
            </a:r>
          </a:p>
          <a:p>
            <a:r>
              <a:t>Enhances communication of insights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Module 2: 216H03L602 Jan-May 2026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smtClean="0"/>
              <a:t>Data Foundation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The groundwork for effective visualization</a:t>
            </a:r>
          </a:p>
          <a:p>
            <a:r>
              <a:rPr dirty="0"/>
              <a:t>Ensures data is accurate, clean, and structured</a:t>
            </a:r>
          </a:p>
          <a:p>
            <a:r>
              <a:rPr dirty="0"/>
              <a:t>Involves collection, storage, and preparation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Module 2: 216H03L602 Jan-May 2026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Structured: Tables, databases (e.g., SQL)</a:t>
            </a:r>
          </a:p>
          <a:p>
            <a:r>
              <a:rPr dirty="0"/>
              <a:t>Unstructured: Text, images, videos</a:t>
            </a:r>
          </a:p>
          <a:p>
            <a:r>
              <a:rPr dirty="0"/>
              <a:t>Semi-structured: JSON, XML</a:t>
            </a:r>
          </a:p>
          <a:p>
            <a:pPr marL="0" indent="0">
              <a:buNone/>
            </a:pPr>
            <a:endParaRPr lang="en-IN" b="1" dirty="0" smtClean="0"/>
          </a:p>
          <a:p>
            <a:pPr marL="0" indent="0">
              <a:buNone/>
            </a:pPr>
            <a:r>
              <a:rPr b="1" dirty="0" smtClean="0"/>
              <a:t>Each </a:t>
            </a:r>
            <a:r>
              <a:rPr b="1" dirty="0"/>
              <a:t>type requires different handling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Module 2: 216H03L602 Jan-May 2026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Quality Dimensions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b="1" dirty="0"/>
              <a:t>Accuracy: </a:t>
            </a:r>
            <a:endParaRPr lang="en-IN" b="1" dirty="0" smtClean="0"/>
          </a:p>
          <a:p>
            <a:pPr lvl="1"/>
            <a:r>
              <a:rPr dirty="0" smtClean="0"/>
              <a:t>Correct </a:t>
            </a:r>
            <a:r>
              <a:rPr dirty="0"/>
              <a:t>and reliable data</a:t>
            </a:r>
          </a:p>
          <a:p>
            <a:r>
              <a:rPr b="1" dirty="0"/>
              <a:t>Completeness</a:t>
            </a:r>
            <a:r>
              <a:rPr dirty="0"/>
              <a:t>: </a:t>
            </a:r>
            <a:endParaRPr lang="en-IN" dirty="0" smtClean="0"/>
          </a:p>
          <a:p>
            <a:pPr lvl="1"/>
            <a:r>
              <a:rPr dirty="0" smtClean="0"/>
              <a:t>No </a:t>
            </a:r>
            <a:r>
              <a:rPr dirty="0"/>
              <a:t>missing values</a:t>
            </a:r>
          </a:p>
          <a:p>
            <a:r>
              <a:rPr b="1" dirty="0"/>
              <a:t>Consistency:</a:t>
            </a:r>
            <a:r>
              <a:rPr dirty="0"/>
              <a:t> </a:t>
            </a:r>
            <a:endParaRPr lang="en-IN" dirty="0" smtClean="0"/>
          </a:p>
          <a:p>
            <a:pPr lvl="1"/>
            <a:r>
              <a:rPr dirty="0" smtClean="0"/>
              <a:t>Uniform </a:t>
            </a:r>
            <a:r>
              <a:rPr dirty="0"/>
              <a:t>format and values</a:t>
            </a:r>
          </a:p>
          <a:p>
            <a:r>
              <a:rPr b="1" dirty="0"/>
              <a:t>Timeliness:</a:t>
            </a:r>
            <a:r>
              <a:rPr dirty="0"/>
              <a:t> </a:t>
            </a:r>
            <a:endParaRPr lang="en-IN" dirty="0" smtClean="0"/>
          </a:p>
          <a:p>
            <a:pPr lvl="1"/>
            <a:r>
              <a:rPr dirty="0" smtClean="0"/>
              <a:t>Up-to-date </a:t>
            </a:r>
            <a:r>
              <a:rPr dirty="0"/>
              <a:t>information</a:t>
            </a:r>
          </a:p>
          <a:p>
            <a:r>
              <a:rPr b="1" dirty="0"/>
              <a:t>Reliability:</a:t>
            </a:r>
            <a:r>
              <a:rPr dirty="0"/>
              <a:t> </a:t>
            </a:r>
            <a:endParaRPr lang="en-IN" dirty="0" smtClean="0"/>
          </a:p>
          <a:p>
            <a:pPr lvl="1"/>
            <a:r>
              <a:rPr dirty="0" smtClean="0"/>
              <a:t>Trusted </a:t>
            </a:r>
            <a:r>
              <a:rPr dirty="0"/>
              <a:t>data sources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Module 2: 216H03L602 Jan-May 2026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smtClean="0"/>
              <a:t>Data </a:t>
            </a:r>
            <a:r>
              <a:rPr dirty="0"/>
              <a:t>Preparation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dirty="0"/>
              <a:t>Data collection from various sources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Cleaning: Remove duplicates, handle missing values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Transformation: Normalize, aggregate, encode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Integration: Combine datasets for analysis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Module 2: 216H03L602 Jan-May 2026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Importance of Metadata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Metadata = 'data about data'</a:t>
            </a:r>
          </a:p>
          <a:p>
            <a:endParaRPr lang="en-IN" dirty="0" smtClean="0"/>
          </a:p>
          <a:p>
            <a:r>
              <a:rPr dirty="0" smtClean="0"/>
              <a:t>Describes </a:t>
            </a:r>
            <a:r>
              <a:rPr dirty="0"/>
              <a:t>source, format, and </a:t>
            </a:r>
            <a:r>
              <a:rPr dirty="0" smtClean="0"/>
              <a:t>meaning</a:t>
            </a:r>
            <a:endParaRPr lang="en-IN" dirty="0" smtClean="0"/>
          </a:p>
          <a:p>
            <a:pPr lvl="1"/>
            <a:r>
              <a:rPr lang="en-IN" dirty="0" smtClean="0"/>
              <a:t>The source of information matters</a:t>
            </a:r>
          </a:p>
          <a:p>
            <a:pPr lvl="1"/>
            <a:r>
              <a:rPr lang="en-IN" dirty="0" smtClean="0"/>
              <a:t>The reason or situation in which data collected </a:t>
            </a:r>
            <a:endParaRPr dirty="0"/>
          </a:p>
          <a:p>
            <a:r>
              <a:rPr dirty="0"/>
              <a:t>Helps in interpreting and managing data</a:t>
            </a:r>
          </a:p>
          <a:p>
            <a:r>
              <a:rPr dirty="0"/>
              <a:t>Essential for data governance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Module 2: 216H03L602 Jan-May 2026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dirty="0"/>
              <a:t>Choosing the Right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9873"/>
            <a:ext cx="8229600" cy="5296477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 smtClean="0"/>
              <a:t>Primary V/S Secondary </a:t>
            </a:r>
          </a:p>
          <a:p>
            <a:r>
              <a:rPr dirty="0" smtClean="0"/>
              <a:t>Align </a:t>
            </a:r>
            <a:r>
              <a:rPr dirty="0"/>
              <a:t>data with business </a:t>
            </a:r>
            <a:r>
              <a:rPr dirty="0" smtClean="0"/>
              <a:t>goals</a:t>
            </a:r>
            <a:r>
              <a:rPr lang="en-IN" dirty="0"/>
              <a:t>:</a:t>
            </a:r>
            <a:r>
              <a:rPr lang="en-IN" dirty="0" smtClean="0"/>
              <a:t> </a:t>
            </a:r>
          </a:p>
          <a:p>
            <a:pPr lvl="1"/>
            <a:r>
              <a:rPr lang="en-IN" dirty="0" smtClean="0"/>
              <a:t>(Objectives of Presentation or reason for collecting) </a:t>
            </a:r>
            <a:endParaRPr dirty="0"/>
          </a:p>
          <a:p>
            <a:r>
              <a:rPr dirty="0"/>
              <a:t>Ensure relevance to the </a:t>
            </a:r>
            <a:r>
              <a:rPr dirty="0" smtClean="0"/>
              <a:t>audience</a:t>
            </a:r>
            <a:r>
              <a:rPr lang="en-IN" dirty="0" smtClean="0"/>
              <a:t>:</a:t>
            </a:r>
          </a:p>
          <a:p>
            <a:pPr lvl="1"/>
            <a:r>
              <a:rPr lang="en-IN" dirty="0" smtClean="0"/>
              <a:t>Create visuals those will have long lasting impact on the audience</a:t>
            </a:r>
          </a:p>
          <a:p>
            <a:pPr lvl="1"/>
            <a:r>
              <a:rPr lang="en-IN" dirty="0" smtClean="0"/>
              <a:t>Choose the appropriate methods, tools,  presentation options</a:t>
            </a:r>
            <a:endParaRPr dirty="0"/>
          </a:p>
          <a:p>
            <a:r>
              <a:rPr dirty="0"/>
              <a:t>Balance detail vs. summary (granularity</a:t>
            </a:r>
            <a:r>
              <a:rPr dirty="0" smtClean="0"/>
              <a:t>)</a:t>
            </a:r>
            <a:endParaRPr lang="en-IN" dirty="0" smtClean="0"/>
          </a:p>
          <a:p>
            <a:pPr lvl="1"/>
            <a:r>
              <a:rPr lang="en-IN" dirty="0" smtClean="0"/>
              <a:t>Too much information will reduce impact while too little may not convince the audience </a:t>
            </a:r>
            <a:endParaRPr dirty="0"/>
          </a:p>
          <a:p>
            <a:r>
              <a:rPr dirty="0"/>
              <a:t>Consider ethical and privacy aspects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Module 2: 216H03L602 Jan-May 2026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Visualization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Choose appropriate chart types</a:t>
            </a:r>
          </a:p>
          <a:p>
            <a:r>
              <a:t>Keep visuals simple and clear</a:t>
            </a:r>
          </a:p>
          <a:p>
            <a:r>
              <a:t>Highlight key insights</a:t>
            </a:r>
          </a:p>
          <a:p>
            <a:r>
              <a:t>Avoid misleading representations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Module 2: 216H03L602 Jan-May 2026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Addressing the Design of Visualisations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Strong data foundation = reliable insights</a:t>
            </a:r>
          </a:p>
          <a:p>
            <a:r>
              <a:rPr dirty="0"/>
              <a:t>Visualization is storytelling with data</a:t>
            </a:r>
          </a:p>
          <a:p>
            <a:r>
              <a:rPr dirty="0"/>
              <a:t>Practice with real-world datasets</a:t>
            </a:r>
          </a:p>
          <a:p>
            <a:r>
              <a:rPr dirty="0"/>
              <a:t>Explore → Clean → Visualize → Interpret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Module 2: 216H03L602 Jan-May 2026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dirty="0"/>
              <a:t>Importance of Visualization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2118" y="1236519"/>
            <a:ext cx="8364682" cy="4525963"/>
          </a:xfrm>
        </p:spPr>
        <p:txBody>
          <a:bodyPr>
            <a:normAutofit/>
          </a:bodyPr>
          <a:lstStyle/>
          <a:p>
            <a:r>
              <a:rPr dirty="0"/>
              <a:t>Enhances data comprehension and insight </a:t>
            </a:r>
            <a:r>
              <a:rPr dirty="0" smtClean="0"/>
              <a:t>discovery</a:t>
            </a:r>
            <a:endParaRPr lang="en-IN" dirty="0" smtClean="0"/>
          </a:p>
          <a:p>
            <a:pPr lvl="1"/>
            <a:r>
              <a:rPr lang="en-IN" dirty="0" smtClean="0"/>
              <a:t>Recognition is easier than remembrance </a:t>
            </a:r>
          </a:p>
          <a:p>
            <a:pPr lvl="1"/>
            <a:r>
              <a:rPr lang="en-IN" dirty="0" smtClean="0"/>
              <a:t>Easy to interpret patterns with graphs and figures</a:t>
            </a:r>
          </a:p>
          <a:p>
            <a:r>
              <a:rPr dirty="0" smtClean="0"/>
              <a:t>Improves </a:t>
            </a:r>
            <a:r>
              <a:rPr dirty="0"/>
              <a:t>communication and </a:t>
            </a:r>
            <a:r>
              <a:rPr dirty="0" smtClean="0"/>
              <a:t>storytelling</a:t>
            </a:r>
            <a:endParaRPr lang="en-IN" dirty="0" smtClean="0"/>
          </a:p>
          <a:p>
            <a:pPr marL="914400" lvl="1" indent="-514350"/>
            <a:r>
              <a:rPr lang="en-IN" dirty="0" smtClean="0"/>
              <a:t>Less time to communicate more</a:t>
            </a:r>
            <a:endParaRPr dirty="0"/>
          </a:p>
          <a:p>
            <a:r>
              <a:rPr dirty="0"/>
              <a:t>Reduces misinterpretation and cognitive </a:t>
            </a:r>
            <a:r>
              <a:rPr dirty="0" smtClean="0"/>
              <a:t>load</a:t>
            </a:r>
            <a:endParaRPr lang="en-IN" dirty="0" smtClean="0"/>
          </a:p>
          <a:p>
            <a:pPr lvl="1"/>
            <a:r>
              <a:rPr lang="en-IN" dirty="0" smtClean="0"/>
              <a:t>The audience is bound to the visualization </a:t>
            </a:r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Module 2: 216H03L602 Jan-May 2026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3603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74"/>
            <a:ext cx="8229600" cy="1143000"/>
          </a:xfrm>
        </p:spPr>
        <p:txBody>
          <a:bodyPr/>
          <a:lstStyle/>
          <a:p>
            <a:r>
              <a:rPr lang="en-IN" dirty="0" smtClean="0"/>
              <a:t>Steps in Visualization Design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 smtClean="0"/>
              <a:t>Understanding the Audience</a:t>
            </a:r>
          </a:p>
          <a:p>
            <a:r>
              <a:rPr lang="en-IN" b="1" dirty="0" smtClean="0"/>
              <a:t>Choose the right Chart Type</a:t>
            </a:r>
          </a:p>
          <a:p>
            <a:r>
              <a:rPr lang="en-IN" b="1" dirty="0" smtClean="0"/>
              <a:t>Colour Theory</a:t>
            </a:r>
          </a:p>
          <a:p>
            <a:r>
              <a:rPr lang="en-IN" b="1" dirty="0" smtClean="0"/>
              <a:t>Typography, Text and Labels</a:t>
            </a:r>
          </a:p>
          <a:p>
            <a:r>
              <a:rPr lang="en-IN" b="1" dirty="0" smtClean="0"/>
              <a:t>Layouts and Composition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Module 2: 216H03L602 Jan-May 2026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8254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74"/>
            <a:ext cx="8229600" cy="1143000"/>
          </a:xfrm>
        </p:spPr>
        <p:txBody>
          <a:bodyPr/>
          <a:lstStyle/>
          <a:p>
            <a:r>
              <a:rPr lang="en-IN" dirty="0" smtClean="0"/>
              <a:t>Steps in Visualization Design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b="1" dirty="0" smtClean="0"/>
              <a:t>Understanding the Audience</a:t>
            </a:r>
          </a:p>
          <a:p>
            <a:pPr marL="342900" lvl="1" indent="-342900">
              <a:buFont typeface="Arial"/>
              <a:buChar char="•"/>
            </a:pPr>
            <a:r>
              <a:rPr lang="en-US" sz="3200" dirty="0"/>
              <a:t>Tailor visuals to audience's knowledge </a:t>
            </a:r>
            <a:r>
              <a:rPr lang="en-US" sz="3200" dirty="0"/>
              <a:t>level</a:t>
            </a:r>
          </a:p>
          <a:p>
            <a:pPr lvl="1"/>
            <a:r>
              <a:rPr lang="en-IN" dirty="0"/>
              <a:t>Educational</a:t>
            </a:r>
            <a:r>
              <a:rPr lang="en-IN" dirty="0"/>
              <a:t>, Ethnical background</a:t>
            </a:r>
          </a:p>
          <a:p>
            <a:r>
              <a:rPr lang="en-US" dirty="0" smtClean="0"/>
              <a:t>Consider </a:t>
            </a:r>
            <a:r>
              <a:rPr lang="en-US" dirty="0"/>
              <a:t>stakeholders' goals and </a:t>
            </a:r>
            <a:r>
              <a:rPr lang="en-US" dirty="0" smtClean="0"/>
              <a:t>interests</a:t>
            </a:r>
          </a:p>
          <a:p>
            <a:pPr lvl="1"/>
            <a:r>
              <a:rPr lang="en-IN" dirty="0"/>
              <a:t>Reason for </a:t>
            </a:r>
            <a:r>
              <a:rPr lang="en-IN" dirty="0" smtClean="0"/>
              <a:t>presentation</a:t>
            </a:r>
          </a:p>
          <a:p>
            <a:pPr lvl="1"/>
            <a:r>
              <a:rPr lang="en-IN" dirty="0"/>
              <a:t>Available time for interaction</a:t>
            </a:r>
          </a:p>
          <a:p>
            <a:r>
              <a:rPr lang="en-US" dirty="0" smtClean="0"/>
              <a:t>Use </a:t>
            </a:r>
            <a:r>
              <a:rPr lang="en-US" dirty="0"/>
              <a:t>appropriate complexity and </a:t>
            </a:r>
            <a:r>
              <a:rPr lang="en-US" dirty="0" smtClean="0"/>
              <a:t>terminology</a:t>
            </a:r>
            <a:endParaRPr lang="en-IN" b="1" dirty="0" smtClean="0"/>
          </a:p>
          <a:p>
            <a:pPr lvl="1"/>
            <a:r>
              <a:rPr lang="en-IN" dirty="0" smtClean="0"/>
              <a:t>Tool for presentation</a:t>
            </a:r>
          </a:p>
          <a:p>
            <a:pPr lvl="1"/>
            <a:r>
              <a:rPr lang="en-IN" dirty="0" smtClean="0"/>
              <a:t>Age, Gender, Nationality   </a:t>
            </a:r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Module 2: 216H03L602 Jan-May 2026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6581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Choosing the Right Chart 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Bar/Column: Compare categories</a:t>
            </a:r>
          </a:p>
          <a:p>
            <a:r>
              <a:rPr dirty="0"/>
              <a:t>Line: Show trends over time</a:t>
            </a:r>
          </a:p>
          <a:p>
            <a:r>
              <a:rPr dirty="0"/>
              <a:t>Pie: Show proportions (use sparingly)</a:t>
            </a:r>
          </a:p>
          <a:p>
            <a:r>
              <a:rPr dirty="0"/>
              <a:t>Scatter: Show relationships between </a:t>
            </a:r>
            <a:r>
              <a:rPr dirty="0" smtClean="0"/>
              <a:t>variables</a:t>
            </a:r>
            <a:endParaRPr lang="en-IN" dirty="0" smtClean="0"/>
          </a:p>
          <a:p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Module 2: 216H03L602 Jan-May 2026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3031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74"/>
            <a:ext cx="8229600" cy="1143000"/>
          </a:xfrm>
        </p:spPr>
        <p:txBody>
          <a:bodyPr/>
          <a:lstStyle/>
          <a:p>
            <a:r>
              <a:rPr dirty="0"/>
              <a:t>Color Theory in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809" y="1059873"/>
            <a:ext cx="8229600" cy="5424054"/>
          </a:xfrm>
        </p:spPr>
        <p:txBody>
          <a:bodyPr/>
          <a:lstStyle/>
          <a:p>
            <a:r>
              <a:rPr dirty="0"/>
              <a:t>Use </a:t>
            </a:r>
            <a:r>
              <a:rPr dirty="0" err="1" smtClean="0"/>
              <a:t>colo</a:t>
            </a:r>
            <a:r>
              <a:rPr lang="en-IN" dirty="0" smtClean="0"/>
              <a:t>u</a:t>
            </a:r>
            <a:r>
              <a:rPr dirty="0" smtClean="0"/>
              <a:t>r </a:t>
            </a:r>
            <a:r>
              <a:rPr dirty="0"/>
              <a:t>to highlight, not </a:t>
            </a:r>
            <a:r>
              <a:rPr dirty="0" smtClean="0"/>
              <a:t>decorate</a:t>
            </a:r>
            <a:endParaRPr lang="en-IN" dirty="0" smtClean="0"/>
          </a:p>
          <a:p>
            <a:pPr lvl="1"/>
            <a:r>
              <a:rPr lang="en-IN" dirty="0" smtClean="0"/>
              <a:t>Colours attract attention but may be distracting</a:t>
            </a:r>
            <a:endParaRPr dirty="0"/>
          </a:p>
          <a:p>
            <a:r>
              <a:rPr dirty="0"/>
              <a:t>Limit color palette for </a:t>
            </a:r>
            <a:r>
              <a:rPr dirty="0" smtClean="0"/>
              <a:t>clarity</a:t>
            </a:r>
            <a:endParaRPr lang="en-IN" dirty="0" smtClean="0"/>
          </a:p>
          <a:p>
            <a:pPr lvl="1"/>
            <a:r>
              <a:rPr lang="en-IN" dirty="0" smtClean="0"/>
              <a:t>Too many colours and colours which are close to each other may lead to confusion</a:t>
            </a:r>
            <a:endParaRPr dirty="0"/>
          </a:p>
          <a:p>
            <a:r>
              <a:rPr dirty="0"/>
              <a:t>Use colorblind-friendly </a:t>
            </a:r>
            <a:r>
              <a:rPr dirty="0" smtClean="0"/>
              <a:t>schemes</a:t>
            </a:r>
            <a:endParaRPr lang="en-IN" dirty="0" smtClean="0"/>
          </a:p>
          <a:p>
            <a:pPr lvl="1"/>
            <a:r>
              <a:rPr lang="en-IN" dirty="0" smtClean="0"/>
              <a:t>Avoid using red-green yellow-brown combination</a:t>
            </a:r>
            <a:endParaRPr dirty="0"/>
          </a:p>
          <a:p>
            <a:r>
              <a:rPr dirty="0"/>
              <a:t>Maintain contrast for readability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Module 2: 216H03L602 Jan-May 2026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8545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6698"/>
            <a:ext cx="8229600" cy="816407"/>
          </a:xfrm>
        </p:spPr>
        <p:txBody>
          <a:bodyPr/>
          <a:lstStyle/>
          <a:p>
            <a:r>
              <a:rPr dirty="0"/>
              <a:t>Typography and Labels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84564"/>
            <a:ext cx="8229600" cy="4525963"/>
          </a:xfrm>
        </p:spPr>
        <p:txBody>
          <a:bodyPr/>
          <a:lstStyle/>
          <a:p>
            <a:r>
              <a:rPr dirty="0"/>
              <a:t>Use clear, legible fonts</a:t>
            </a:r>
          </a:p>
          <a:p>
            <a:r>
              <a:rPr dirty="0"/>
              <a:t>Avoid excessive font styles or sizes</a:t>
            </a:r>
          </a:p>
          <a:p>
            <a:r>
              <a:rPr dirty="0"/>
              <a:t>Label axes and data points clearly</a:t>
            </a:r>
          </a:p>
          <a:p>
            <a:r>
              <a:rPr dirty="0"/>
              <a:t>Use annotations to explain </a:t>
            </a:r>
            <a:r>
              <a:rPr dirty="0" smtClean="0"/>
              <a:t>insights</a:t>
            </a:r>
            <a:endParaRPr lang="en-IN" dirty="0" smtClean="0"/>
          </a:p>
          <a:p>
            <a:r>
              <a:rPr lang="en-IN" dirty="0" smtClean="0"/>
              <a:t>Use simple language and cues instead of complicated words</a:t>
            </a:r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Module 2: 216H03L602 Jan-May 2026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8041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74"/>
            <a:ext cx="8229600" cy="868362"/>
          </a:xfrm>
        </p:spPr>
        <p:txBody>
          <a:bodyPr/>
          <a:lstStyle/>
          <a:p>
            <a:r>
              <a:rPr dirty="0"/>
              <a:t>Layout and Composition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28700"/>
            <a:ext cx="8229600" cy="5216236"/>
          </a:xfrm>
        </p:spPr>
        <p:txBody>
          <a:bodyPr>
            <a:normAutofit fontScale="92500" lnSpcReduction="10000"/>
          </a:bodyPr>
          <a:lstStyle/>
          <a:p>
            <a:r>
              <a:rPr lang="en-IN" dirty="0" smtClean="0"/>
              <a:t>Gestalt Principles of Design</a:t>
            </a:r>
          </a:p>
          <a:p>
            <a:pPr lvl="1"/>
            <a:r>
              <a:rPr lang="en-US" b="1" dirty="0" smtClean="0"/>
              <a:t>Similarity</a:t>
            </a:r>
            <a:r>
              <a:rPr lang="en-US" dirty="0" smtClean="0"/>
              <a:t> </a:t>
            </a:r>
            <a:r>
              <a:rPr lang="en-US" dirty="0"/>
              <a:t>(grouping like items</a:t>
            </a:r>
            <a:r>
              <a:rPr lang="en-US" dirty="0" smtClean="0"/>
              <a:t>)</a:t>
            </a:r>
          </a:p>
          <a:p>
            <a:pPr lvl="1"/>
            <a:r>
              <a:rPr lang="en-US" b="1" dirty="0" smtClean="0"/>
              <a:t>Proximity</a:t>
            </a:r>
            <a:r>
              <a:rPr lang="en-US" dirty="0" smtClean="0"/>
              <a:t> </a:t>
            </a:r>
            <a:r>
              <a:rPr lang="en-US" dirty="0"/>
              <a:t>(grouping nearby </a:t>
            </a:r>
            <a:r>
              <a:rPr lang="en-US" dirty="0" smtClean="0"/>
              <a:t>items)</a:t>
            </a:r>
          </a:p>
          <a:p>
            <a:pPr lvl="1"/>
            <a:r>
              <a:rPr lang="en-US" b="1" dirty="0" smtClean="0"/>
              <a:t>Closure</a:t>
            </a:r>
            <a:r>
              <a:rPr lang="en-US" dirty="0" smtClean="0"/>
              <a:t> </a:t>
            </a:r>
            <a:r>
              <a:rPr lang="en-US" dirty="0"/>
              <a:t>(seeing incomplete shapes as </a:t>
            </a:r>
            <a:r>
              <a:rPr lang="en-US" dirty="0" smtClean="0"/>
              <a:t>complete)</a:t>
            </a:r>
          </a:p>
          <a:p>
            <a:pPr lvl="1"/>
            <a:r>
              <a:rPr lang="en-US" b="1" dirty="0" smtClean="0"/>
              <a:t>Continuity</a:t>
            </a:r>
            <a:r>
              <a:rPr lang="en-US" dirty="0" smtClean="0"/>
              <a:t> </a:t>
            </a:r>
            <a:r>
              <a:rPr lang="en-US" dirty="0"/>
              <a:t>(perceiving smooth </a:t>
            </a:r>
            <a:r>
              <a:rPr lang="en-US" dirty="0" smtClean="0"/>
              <a:t>paths)</a:t>
            </a:r>
          </a:p>
          <a:p>
            <a:pPr lvl="1"/>
            <a:r>
              <a:rPr lang="en-US" b="1" dirty="0" smtClean="0"/>
              <a:t>Figure/Ground</a:t>
            </a:r>
            <a:r>
              <a:rPr lang="en-US" dirty="0" smtClean="0"/>
              <a:t> </a:t>
            </a:r>
            <a:r>
              <a:rPr lang="en-US" dirty="0"/>
              <a:t>(separating objects from background</a:t>
            </a:r>
            <a:r>
              <a:rPr lang="en-US" dirty="0" smtClean="0"/>
              <a:t>)</a:t>
            </a:r>
          </a:p>
          <a:p>
            <a:pPr lvl="1"/>
            <a:r>
              <a:rPr lang="en-US" b="1" dirty="0" smtClean="0"/>
              <a:t>Symmetry</a:t>
            </a:r>
            <a:r>
              <a:rPr lang="en-US" dirty="0" smtClean="0"/>
              <a:t> </a:t>
            </a:r>
            <a:endParaRPr lang="en-IN" dirty="0" smtClean="0"/>
          </a:p>
          <a:p>
            <a:r>
              <a:rPr dirty="0" smtClean="0"/>
              <a:t>Align </a:t>
            </a:r>
            <a:r>
              <a:rPr dirty="0"/>
              <a:t>elements for visual balance</a:t>
            </a:r>
          </a:p>
          <a:p>
            <a:r>
              <a:rPr dirty="0"/>
              <a:t>Use whitespace to reduce clutter</a:t>
            </a:r>
          </a:p>
          <a:p>
            <a:r>
              <a:rPr dirty="0"/>
              <a:t>Group related elements together</a:t>
            </a:r>
          </a:p>
          <a:p>
            <a:r>
              <a:rPr dirty="0"/>
              <a:t>Maintain consistent margins and spacing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Module 2: 216H03L602 Jan-May 2026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7491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Accessibility in Visualization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Ensure readability for all users</a:t>
            </a:r>
          </a:p>
          <a:p>
            <a:r>
              <a:t>Use alt text for charts in digital formats</a:t>
            </a:r>
          </a:p>
          <a:p>
            <a:r>
              <a:t>Avoid relying solely on color to convey meaning</a:t>
            </a:r>
          </a:p>
          <a:p>
            <a:r>
              <a:t>Test with accessibility tools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Module 2: 216H03L602 Jan-May 2026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404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27" y="97992"/>
            <a:ext cx="8863445" cy="1143000"/>
          </a:xfrm>
        </p:spPr>
        <p:txBody>
          <a:bodyPr>
            <a:normAutofit fontScale="90000"/>
          </a:bodyPr>
          <a:lstStyle/>
          <a:p>
            <a:r>
              <a:rPr dirty="0"/>
              <a:t>Common Pitfalls to </a:t>
            </a:r>
            <a:r>
              <a:rPr dirty="0" smtClean="0"/>
              <a:t>Avoid</a:t>
            </a:r>
            <a:r>
              <a:rPr lang="en-IN" dirty="0" smtClean="0"/>
              <a:t> in Visual Design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Overloading with data or visuals</a:t>
            </a:r>
          </a:p>
          <a:p>
            <a:r>
              <a:t>Using misleading scales or axes</a:t>
            </a:r>
          </a:p>
          <a:p>
            <a:r>
              <a:t>Ignoring context or audience needs</a:t>
            </a:r>
          </a:p>
          <a:p>
            <a:r>
              <a:t>Neglecting interactivity or responsiveness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Module 2: 216H03L602 Jan-May 2026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1421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62346" y="4472"/>
            <a:ext cx="9123219" cy="1143000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Human Perception and </a:t>
            </a:r>
            <a:br>
              <a:rPr lang="en-IN" dirty="0" smtClean="0"/>
            </a:br>
            <a:r>
              <a:rPr lang="en-IN" dirty="0" smtClean="0"/>
              <a:t>Information Processing 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96290"/>
            <a:ext cx="8229600" cy="4525963"/>
          </a:xfrm>
        </p:spPr>
        <p:txBody>
          <a:bodyPr>
            <a:normAutofit lnSpcReduction="10000"/>
          </a:bodyPr>
          <a:lstStyle/>
          <a:p>
            <a:r>
              <a:rPr lang="en-IN" dirty="0" smtClean="0"/>
              <a:t>Perception</a:t>
            </a:r>
          </a:p>
          <a:p>
            <a:r>
              <a:rPr lang="en-IN" dirty="0" smtClean="0"/>
              <a:t>Sensory System</a:t>
            </a:r>
          </a:p>
          <a:p>
            <a:r>
              <a:rPr lang="en-IN" dirty="0" smtClean="0"/>
              <a:t>Stages of Perception</a:t>
            </a:r>
          </a:p>
          <a:p>
            <a:r>
              <a:rPr lang="en-IN" dirty="0" smtClean="0"/>
              <a:t>Attention span</a:t>
            </a:r>
          </a:p>
          <a:p>
            <a:r>
              <a:rPr lang="en-IN" dirty="0" smtClean="0"/>
              <a:t>Cognitive processing</a:t>
            </a:r>
          </a:p>
          <a:p>
            <a:r>
              <a:rPr lang="en-IN" dirty="0" smtClean="0"/>
              <a:t>Working Memory Limits</a:t>
            </a:r>
          </a:p>
          <a:p>
            <a:r>
              <a:rPr lang="en-IN" dirty="0" smtClean="0"/>
              <a:t> Visual perception principles</a:t>
            </a:r>
          </a:p>
          <a:p>
            <a:r>
              <a:rPr lang="en-IN" dirty="0" smtClean="0"/>
              <a:t>Information overload</a:t>
            </a:r>
          </a:p>
          <a:p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Module 2: 216H03L602 Jan-May 2026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4451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2564" y="25256"/>
            <a:ext cx="8229600" cy="1143000"/>
          </a:xfrm>
        </p:spPr>
        <p:txBody>
          <a:bodyPr/>
          <a:lstStyle/>
          <a:p>
            <a:r>
              <a:rPr dirty="0"/>
              <a:t>Importance of Studying Perception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20211"/>
            <a:ext cx="8229600" cy="5136139"/>
          </a:xfrm>
        </p:spPr>
        <p:txBody>
          <a:bodyPr>
            <a:normAutofit/>
          </a:bodyPr>
          <a:lstStyle/>
          <a:p>
            <a:r>
              <a:rPr dirty="0"/>
              <a:t>Explains how humans interpret sensory </a:t>
            </a:r>
            <a:r>
              <a:rPr dirty="0" smtClean="0"/>
              <a:t>input</a:t>
            </a:r>
            <a:endParaRPr lang="en-IN" dirty="0" smtClean="0"/>
          </a:p>
          <a:p>
            <a:pPr lvl="1"/>
            <a:r>
              <a:rPr lang="en-IN" dirty="0" smtClean="0"/>
              <a:t>We see with brain and not eyes</a:t>
            </a:r>
            <a:endParaRPr dirty="0"/>
          </a:p>
          <a:p>
            <a:r>
              <a:rPr dirty="0"/>
              <a:t>Helps design effective communication and </a:t>
            </a:r>
            <a:r>
              <a:rPr dirty="0" smtClean="0"/>
              <a:t>visuals</a:t>
            </a:r>
            <a:endParaRPr dirty="0"/>
          </a:p>
          <a:p>
            <a:r>
              <a:rPr dirty="0"/>
              <a:t>Supports better decision-making and </a:t>
            </a:r>
            <a:r>
              <a:rPr dirty="0" smtClean="0"/>
              <a:t>learning</a:t>
            </a:r>
            <a:endParaRPr lang="en-IN" dirty="0" smtClean="0"/>
          </a:p>
          <a:p>
            <a:pPr lvl="1"/>
            <a:r>
              <a:rPr lang="en-IN" dirty="0" smtClean="0"/>
              <a:t>Presented in appropriate manner helps people to understand, grasp and decide</a:t>
            </a:r>
          </a:p>
          <a:p>
            <a:pPr lvl="1"/>
            <a:r>
              <a:rPr lang="en-IN" dirty="0" smtClean="0"/>
              <a:t>Comparison in columns instead of paragraphs</a:t>
            </a:r>
          </a:p>
          <a:p>
            <a:pPr lvl="1"/>
            <a:r>
              <a:rPr lang="en-IN" dirty="0" smtClean="0"/>
              <a:t> bullets and numbers instead of longer text</a:t>
            </a:r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Module 2: 216H03L602 Jan-May 2026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2344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2564" y="118775"/>
            <a:ext cx="8229600" cy="899534"/>
          </a:xfrm>
        </p:spPr>
        <p:txBody>
          <a:bodyPr/>
          <a:lstStyle/>
          <a:p>
            <a:r>
              <a:rPr dirty="0"/>
              <a:t>Sensory Systems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Vision: Primary channel for information intake</a:t>
            </a:r>
          </a:p>
          <a:p>
            <a:r>
              <a:rPr dirty="0"/>
              <a:t>Hearing: Understanding speech and sound cues</a:t>
            </a:r>
          </a:p>
          <a:p>
            <a:r>
              <a:rPr dirty="0"/>
              <a:t>Touch, Smell, Taste: Complementary senses</a:t>
            </a:r>
          </a:p>
          <a:p>
            <a:r>
              <a:rPr dirty="0"/>
              <a:t>Integration of multiple senses for perception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Module 2: 216H03L602 Jan-May 2026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6645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256"/>
            <a:ext cx="8229600" cy="1143000"/>
          </a:xfrm>
        </p:spPr>
        <p:txBody>
          <a:bodyPr/>
          <a:lstStyle/>
          <a:p>
            <a:r>
              <a:rPr dirty="0"/>
              <a:t>Stages of Perception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89038"/>
            <a:ext cx="8229600" cy="4525963"/>
          </a:xfrm>
        </p:spPr>
        <p:txBody>
          <a:bodyPr/>
          <a:lstStyle/>
          <a:p>
            <a:r>
              <a:rPr dirty="0"/>
              <a:t>Sensation: Receiving stimuli</a:t>
            </a:r>
          </a:p>
          <a:p>
            <a:r>
              <a:rPr dirty="0"/>
              <a:t>Attention: Selecting relevant information</a:t>
            </a:r>
          </a:p>
          <a:p>
            <a:r>
              <a:rPr dirty="0"/>
              <a:t>Interpretation: Assigning meaning</a:t>
            </a:r>
          </a:p>
          <a:p>
            <a:r>
              <a:rPr dirty="0"/>
              <a:t>Response: Acting on perceived information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Module 2: 216H03L602 Jan-May 2026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9003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9947"/>
            <a:ext cx="8229600" cy="857971"/>
          </a:xfrm>
        </p:spPr>
        <p:txBody>
          <a:bodyPr/>
          <a:lstStyle/>
          <a:p>
            <a:r>
              <a:rPr dirty="0"/>
              <a:t>Attention Mechanisms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22783"/>
            <a:ext cx="8229600" cy="5333567"/>
          </a:xfrm>
        </p:spPr>
        <p:txBody>
          <a:bodyPr>
            <a:normAutofit lnSpcReduction="10000"/>
          </a:bodyPr>
          <a:lstStyle/>
          <a:p>
            <a:r>
              <a:rPr dirty="0"/>
              <a:t>Selective attention: Focusing on key </a:t>
            </a:r>
            <a:r>
              <a:rPr dirty="0" smtClean="0"/>
              <a:t>stimuli</a:t>
            </a:r>
            <a:endParaRPr lang="en-IN" dirty="0" smtClean="0"/>
          </a:p>
          <a:p>
            <a:pPr lvl="1"/>
            <a:r>
              <a:rPr lang="en-IN" dirty="0" smtClean="0"/>
              <a:t>Instead of advertisement on the screen we focus on the cricket match</a:t>
            </a:r>
            <a:endParaRPr dirty="0"/>
          </a:p>
          <a:p>
            <a:r>
              <a:rPr dirty="0"/>
              <a:t>Divided attention: Handling multiple </a:t>
            </a:r>
            <a:r>
              <a:rPr dirty="0" smtClean="0"/>
              <a:t>inputs</a:t>
            </a:r>
            <a:endParaRPr lang="en-IN" dirty="0" smtClean="0"/>
          </a:p>
          <a:p>
            <a:pPr lvl="1"/>
            <a:r>
              <a:rPr lang="en-IN" dirty="0" smtClean="0"/>
              <a:t>In games, driving we can focus on multiple inputs </a:t>
            </a:r>
            <a:endParaRPr dirty="0"/>
          </a:p>
          <a:p>
            <a:r>
              <a:rPr dirty="0"/>
              <a:t>Sustained attention: Maintaining focus over </a:t>
            </a:r>
            <a:r>
              <a:rPr dirty="0" smtClean="0"/>
              <a:t>time</a:t>
            </a:r>
            <a:endParaRPr lang="en-IN" dirty="0" smtClean="0"/>
          </a:p>
          <a:p>
            <a:pPr lvl="1"/>
            <a:r>
              <a:rPr lang="en-IN" dirty="0" smtClean="0"/>
              <a:t>Created in better manner can create interest and increase attention span</a:t>
            </a:r>
            <a:endParaRPr dirty="0"/>
          </a:p>
          <a:p>
            <a:r>
              <a:rPr dirty="0"/>
              <a:t>Influencing factors: novelty, relevance, emotion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Module 2: 216H03L602 Jan-May 2026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0418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865"/>
            <a:ext cx="8229600" cy="1143000"/>
          </a:xfrm>
        </p:spPr>
        <p:txBody>
          <a:bodyPr/>
          <a:lstStyle/>
          <a:p>
            <a:r>
              <a:rPr dirty="0"/>
              <a:t>Cognitive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9429"/>
            <a:ext cx="8229600" cy="4525963"/>
          </a:xfrm>
        </p:spPr>
        <p:txBody>
          <a:bodyPr/>
          <a:lstStyle/>
          <a:p>
            <a:r>
              <a:rPr dirty="0"/>
              <a:t>Encoding: Transforming input into memory</a:t>
            </a:r>
          </a:p>
          <a:p>
            <a:r>
              <a:rPr dirty="0"/>
              <a:t>Storage: Retaining information</a:t>
            </a:r>
          </a:p>
          <a:p>
            <a:r>
              <a:rPr dirty="0"/>
              <a:t>Retrieval: Accessing stored knowledge</a:t>
            </a:r>
          </a:p>
          <a:p>
            <a:r>
              <a:rPr dirty="0"/>
              <a:t>Influenced by prior experience and context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Module 2: 216H03L602 Jan-May 2026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5268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dirty="0"/>
              <a:t>Working Memory and Limits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525963"/>
          </a:xfrm>
        </p:spPr>
        <p:txBody>
          <a:bodyPr>
            <a:normAutofit lnSpcReduction="10000"/>
          </a:bodyPr>
          <a:lstStyle/>
          <a:p>
            <a:r>
              <a:rPr dirty="0"/>
              <a:t>Capacity: 7 ± 2 </a:t>
            </a:r>
            <a:r>
              <a:rPr dirty="0" smtClean="0"/>
              <a:t>items</a:t>
            </a:r>
            <a:endParaRPr lang="en-IN" dirty="0" smtClean="0"/>
          </a:p>
          <a:p>
            <a:pPr lvl="1"/>
            <a:r>
              <a:rPr lang="en-IN" dirty="0" smtClean="0"/>
              <a:t>Provide limited number of option at a time</a:t>
            </a:r>
            <a:endParaRPr dirty="0"/>
          </a:p>
          <a:p>
            <a:r>
              <a:rPr dirty="0"/>
              <a:t>Short duration without </a:t>
            </a:r>
            <a:r>
              <a:rPr dirty="0" smtClean="0"/>
              <a:t>rehearsal</a:t>
            </a:r>
            <a:endParaRPr lang="en-IN" dirty="0" smtClean="0"/>
          </a:p>
          <a:p>
            <a:pPr lvl="1"/>
            <a:r>
              <a:rPr lang="en-IN" dirty="0" smtClean="0"/>
              <a:t>Unless bombarded people tend to forget</a:t>
            </a:r>
            <a:endParaRPr dirty="0"/>
          </a:p>
          <a:p>
            <a:r>
              <a:rPr dirty="0"/>
              <a:t>Critical for reasoning and </a:t>
            </a:r>
            <a:r>
              <a:rPr dirty="0" smtClean="0"/>
              <a:t>comprehension</a:t>
            </a:r>
            <a:endParaRPr lang="en-IN" dirty="0" smtClean="0"/>
          </a:p>
          <a:p>
            <a:pPr lvl="1"/>
            <a:endParaRPr dirty="0"/>
          </a:p>
          <a:p>
            <a:r>
              <a:rPr dirty="0"/>
              <a:t>Design implication: avoid </a:t>
            </a:r>
            <a:r>
              <a:rPr dirty="0" smtClean="0"/>
              <a:t>overload</a:t>
            </a:r>
            <a:endParaRPr lang="en-IN" dirty="0" smtClean="0"/>
          </a:p>
          <a:p>
            <a:pPr lvl="1"/>
            <a:r>
              <a:rPr lang="en-IN" dirty="0" smtClean="0"/>
              <a:t>Too much information will distract and dilute the commination message </a:t>
            </a:r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Module 2: 216H03L602 Jan-May 2026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5264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Information Overload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Too much data reduces comprehension</a:t>
            </a:r>
          </a:p>
          <a:p>
            <a:r>
              <a:t>Causes stress and poor decision-making</a:t>
            </a:r>
          </a:p>
          <a:p>
            <a:r>
              <a:t>Strategies: simplify, prioritize, chunk information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Module 2: 216H03L602 Jan-May 2026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8410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1116</Words>
  <Application>Microsoft Office PowerPoint</Application>
  <PresentationFormat>On-screen Show (4:3)</PresentationFormat>
  <Paragraphs>235</Paragraphs>
  <Slides>27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Office Theme</vt:lpstr>
      <vt:lpstr>Induction to Data Foundation in Data Visualization</vt:lpstr>
      <vt:lpstr>Importance of Data Visualization</vt:lpstr>
      <vt:lpstr>Data Foundation</vt:lpstr>
      <vt:lpstr>Types of Data</vt:lpstr>
      <vt:lpstr>Data Quality Dimensions</vt:lpstr>
      <vt:lpstr>Data Preparation Steps</vt:lpstr>
      <vt:lpstr>Importance of Metadata</vt:lpstr>
      <vt:lpstr>Choosing the Right Data</vt:lpstr>
      <vt:lpstr>Data Visualization Principles</vt:lpstr>
      <vt:lpstr>Addressing the Design of Visualisations</vt:lpstr>
      <vt:lpstr>Importance of Visualization Design</vt:lpstr>
      <vt:lpstr>Steps in Visualization Design</vt:lpstr>
      <vt:lpstr>Steps in Visualization Design</vt:lpstr>
      <vt:lpstr>Choosing the Right Chart Type</vt:lpstr>
      <vt:lpstr>Color Theory in Visualization</vt:lpstr>
      <vt:lpstr>Typography and Labels</vt:lpstr>
      <vt:lpstr>Layout and Composition</vt:lpstr>
      <vt:lpstr>Accessibility in Visualization Design</vt:lpstr>
      <vt:lpstr>Common Pitfalls to Avoid in Visual Design</vt:lpstr>
      <vt:lpstr>Human Perception and  Information Processing </vt:lpstr>
      <vt:lpstr>Importance of Studying Perception</vt:lpstr>
      <vt:lpstr>Sensory Systems Overview</vt:lpstr>
      <vt:lpstr>Stages of Perception</vt:lpstr>
      <vt:lpstr>Attention Mechanisms</vt:lpstr>
      <vt:lpstr>Cognitive Processing</vt:lpstr>
      <vt:lpstr>Working Memory and Limits</vt:lpstr>
      <vt:lpstr>Information Overload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Induction to Data Foundation in Data Visualization</dc:title>
  <dc:creator>UBJ</dc:creator>
  <dc:description>generated using python-pptx</dc:description>
  <cp:lastModifiedBy>Uday Joshi</cp:lastModifiedBy>
  <cp:revision>9</cp:revision>
  <dcterms:created xsi:type="dcterms:W3CDTF">2013-01-27T09:14:16Z</dcterms:created>
  <dcterms:modified xsi:type="dcterms:W3CDTF">2026-01-20T05:20:32Z</dcterms:modified>
</cp:coreProperties>
</file>