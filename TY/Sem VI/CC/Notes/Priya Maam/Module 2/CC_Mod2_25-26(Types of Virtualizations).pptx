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y="6858000" cx="9144000"/>
  <p:notesSz cx="6858000" cy="9144000"/>
  <p:embeddedFontLst>
    <p:embeddedFont>
      <p:font typeface="Marcellus SC"/>
      <p:regular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3" roundtripDataSignature="AMtx7mhjzmmuWA8S3JLWTnAjxeEAGCfo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D465A9-3F72-4788-94C0-18515E385642}">
  <a:tblStyle styleId="{F8D465A9-3F72-4788-94C0-18515E38564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MarcellusSC-regular.fntdata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3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@a2zlearningzone/delving-into-bell-and-whistle-of-virtualization-part-1-5e12ce91fb68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google.com/search?q=virtual+machines&amp;rlz=1C1UEAD_enIN1145IN1145&amp;oq=what+is+intel+vt+x&amp;gs_lcrp=EgZjaHJvbWUyBggAEEUYOTIICAEQABgWGB4yCggCEAAYChgWGB4yCggDEAAYChgWGB4yCAgEEAAYFhgeMggIBRAAGBYYHjIICAYQABgWGB4yCggHEAAYChgWGB4yCAgIEAAYFhgeMggICRAAGBYYHtIBCDI4NzRqMGo3qAIAsAIA&amp;sourceid=chrome&amp;ie=UTF-8&amp;ved=2ahUKEwjsieL0p5eSAxWnXGwGHez6KAgQgK4QegQIARAC" TargetMode="Externa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a787bc74_1_2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b7a787bc74_1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g3b7a787bc74_1_2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7b2301977_1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b7b2301977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b7b2301977_1_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7b2301977_1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b7b230197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Result: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100 physical servers → maybe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10–15 powerful servers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Without virtualization: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CPU usage ≈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5–15%</a:t>
            </a:r>
            <a:br>
              <a:rPr b="1" lang="en-I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Memory underutilized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With virtualization: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CPU usage ≈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60–80%</a:t>
            </a:r>
            <a:br>
              <a:rPr b="1" lang="en-I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Memory shared efficiently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👉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Result: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Fewer machines do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more work</a:t>
            </a:r>
            <a:br>
              <a:rPr b="1" lang="en-I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b="1" lang="en-IN" sz="1300">
                <a:latin typeface="Arial"/>
                <a:ea typeface="Arial"/>
                <a:cs typeface="Arial"/>
                <a:sym typeface="Arial"/>
              </a:rPr>
              <a:t>3️⃣ Huge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latin typeface="Arial"/>
                <a:ea typeface="Arial"/>
                <a:cs typeface="Arial"/>
                <a:sym typeface="Arial"/>
              </a:rPr>
              <a:t>Huge cost savings (this answers your previous question)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Because: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Fewer servers to buy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Less electricity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Less cooling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Less maintenance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Fewer admins needed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👉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Result: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Millions of dollars</a:t>
            </a:r>
            <a:r>
              <a:rPr b="1" lang="en-IN" sz="1300">
                <a:latin typeface="Arial"/>
                <a:ea typeface="Arial"/>
                <a:cs typeface="Arial"/>
                <a:sym typeface="Arial"/>
              </a:rPr>
              <a:t>Better isolation and reliability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Each VM is isolated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One VM crash ≠ entire server crash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👉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Result: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Higher reliability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Better fault isolation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 saved every year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b7b2301977_1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7b2301977_1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b7b2301977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b7b2301977_1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7b2301977_1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b7b2301977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Result: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100 physical servers → maybe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10–15 powerful servers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Without virtualization: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CPU usage ≈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5–15%</a:t>
            </a:r>
            <a:br>
              <a:rPr b="1" lang="en-I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Memory underutilized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With virtualization: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CPU usage ≈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60–80%</a:t>
            </a:r>
            <a:br>
              <a:rPr b="1" lang="en-I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Memory shared efficiently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👉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Result: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Fewer machines do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more work</a:t>
            </a:r>
            <a:br>
              <a:rPr b="1" lang="en-I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b="1" lang="en-IN" sz="1300">
                <a:latin typeface="Arial"/>
                <a:ea typeface="Arial"/>
                <a:cs typeface="Arial"/>
                <a:sym typeface="Arial"/>
              </a:rPr>
              <a:t>3️⃣ Huge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b="1" lang="en-IN" sz="1300">
                <a:latin typeface="Arial"/>
                <a:ea typeface="Arial"/>
                <a:cs typeface="Arial"/>
                <a:sym typeface="Arial"/>
              </a:rPr>
              <a:t>Huge cost savings (this answers your previous question)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Because: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Fewer servers to buy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Less electricity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Less cooling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Less maintenance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Fewer admins needed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👉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Result: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Millions of dollars</a:t>
            </a:r>
            <a:r>
              <a:rPr b="1" lang="en-IN" sz="1300">
                <a:latin typeface="Arial"/>
                <a:ea typeface="Arial"/>
                <a:cs typeface="Arial"/>
                <a:sym typeface="Arial"/>
              </a:rPr>
              <a:t>Better isolation and reliability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Each VM is isolated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One VM crash ≠ entire server crash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👉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Result: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Higher reliability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Better fault isolation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 saved every year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b7b2301977_1_6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7b2301977_1_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b7b2301977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https://medium.com/@a2zlearningzone/delving-into-bell-and-whistle-of-virtualization-part-1-5e12ce91fb68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b7b2301977_1_7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7b2301977_1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b7b2301977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Result: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100 physical servers → maybe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10–15 powerful servers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Without virtualization: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CPU usage ≈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5–15%</a:t>
            </a:r>
            <a:br>
              <a:rPr b="1" lang="en-I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Memory underutilized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With virtualization: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CPU usage ≈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60–80%</a:t>
            </a:r>
            <a:br>
              <a:rPr b="1" lang="en-I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Memory shared efficiently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👉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Result: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Fewer machines do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more work</a:t>
            </a:r>
            <a:br>
              <a:rPr b="1" lang="en-I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b="1" lang="en-IN" sz="1300">
                <a:latin typeface="Arial"/>
                <a:ea typeface="Arial"/>
                <a:cs typeface="Arial"/>
                <a:sym typeface="Arial"/>
              </a:rPr>
              <a:t>3️⃣ Huge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b="1" lang="en-IN" sz="1300">
                <a:latin typeface="Arial"/>
                <a:ea typeface="Arial"/>
                <a:cs typeface="Arial"/>
                <a:sym typeface="Arial"/>
              </a:rPr>
              <a:t>Huge cost savings (this answers your previous question)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Because: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Fewer servers to buy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Less electricity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Less cooling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Less maintenance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Fewer admins needed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👉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Result: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Millions of dollars</a:t>
            </a:r>
            <a:r>
              <a:rPr b="1" lang="en-IN" sz="1300">
                <a:latin typeface="Arial"/>
                <a:ea typeface="Arial"/>
                <a:cs typeface="Arial"/>
                <a:sym typeface="Arial"/>
              </a:rPr>
              <a:t>Better isolation and reliability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Each VM is isolated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One VM crash ≠ entire server crash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👉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Result: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Higher reliability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Better fault isolation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 saved every year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b7b2301977_1_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7b2301977_1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b7b2301977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3b7b2301977_1_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7b2301977_1_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b7b2301977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b7b2301977_1_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7b2301977_1_1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b7b2301977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/>
              <a:t>Android Emulator on laptop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/>
              <a:t>Emulation is a software-based technique that reproduces the behavior of another system’s hardware or software, enabling programs designed for one platform to run on a different platform at the cost of performance.</a:t>
            </a:r>
            <a:endParaRPr/>
          </a:p>
        </p:txBody>
      </p:sp>
      <p:sp>
        <p:nvSpPr>
          <p:cNvPr id="217" name="Google Shape;217;g3b7b2301977_1_1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8d6464d38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b8d6464d3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g3b8d6464d38_0_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8d6464d38_0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b8d6464d3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b8d6464d38_0_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8d6464d38_0_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b8d6464d3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Each process is: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/>
              <a:t>Isolated</a:t>
            </a:r>
            <a:br>
              <a:rPr lang="en-I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/>
              <a:t>Protected</a:t>
            </a:r>
            <a:br>
              <a:rPr lang="en-I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/>
              <a:t>Abstracted from others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g3b8d6464d38_0_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8d6464d38_0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b8d6464d3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8086 emulator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 (like the ones used to run old DOS/assembly programs) runs as a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normal application (process)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 on a host OS and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creates a virtual CPU environment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 for the 8086 instruction set.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g3b8d6464d38_0_7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8d6464d38_0_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b8d6464d3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b8d6464d38_0_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b7b557b310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b7b557b31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g3b7b557b310_0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7b557b310_0_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b7b557b31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b7b557b310_0_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7b557b310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b7b557b31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API –Application Programming Interface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ABI – Application Binary Instructions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ISA – Instruction Set Architecture</a:t>
            </a:r>
            <a:endParaRPr/>
          </a:p>
        </p:txBody>
      </p:sp>
      <p:sp>
        <p:nvSpPr>
          <p:cNvPr id="327" name="Google Shape;327;g3b7b557b310_0_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7339b4998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b7339b499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b7339b4998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Result: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100 physical servers → maybe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10–15 powerful servers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Without virtualization: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CPU usage ≈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5–15%</a:t>
            </a:r>
            <a:br>
              <a:rPr b="1" lang="en-I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Memory underutilized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With virtualization: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CPU usage ≈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60–80%</a:t>
            </a:r>
            <a:br>
              <a:rPr b="1" lang="en-I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Memory shared efficiently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👉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Result: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Fewer machines do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more work</a:t>
            </a:r>
            <a:br>
              <a:rPr b="1" lang="en-I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b="1" lang="en-IN" sz="1300">
                <a:latin typeface="Arial"/>
                <a:ea typeface="Arial"/>
                <a:cs typeface="Arial"/>
                <a:sym typeface="Arial"/>
              </a:rPr>
              <a:t>3️⃣ Huge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b="1" lang="en-IN" sz="1300">
                <a:latin typeface="Arial"/>
                <a:ea typeface="Arial"/>
                <a:cs typeface="Arial"/>
                <a:sym typeface="Arial"/>
              </a:rPr>
              <a:t>Huge cost savings (this answers your previous question)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Because: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Fewer servers to buy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Less electricity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Less cooling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Less maintenance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Fewer admins needed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👉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Result: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Millions of dollars</a:t>
            </a:r>
            <a:r>
              <a:rPr b="1" lang="en-IN" sz="1300">
                <a:latin typeface="Arial"/>
                <a:ea typeface="Arial"/>
                <a:cs typeface="Arial"/>
                <a:sym typeface="Arial"/>
              </a:rPr>
              <a:t>Better isolation and reliability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Each VM is isolated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One VM crash ≠ entire server crash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👉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Result: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Higher reliability</a:t>
            </a:r>
            <a:br>
              <a:rPr lang="en-I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Better fault isolation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 saved every year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aca32e0b0_1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baca32e0b0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baca32e0b0_1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1100"/>
              <a:t>Installing a programming language does not imply virtualization.</a:t>
            </a:r>
            <a:br>
              <a:rPr lang="en-IN" sz="1100"/>
            </a:br>
            <a:r>
              <a:rPr lang="en-IN" sz="1100"/>
              <a:t>Only languages that execute on a defined virtual machine (like JVM or CLR) are considered process-level virtualization.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7b2301977_1_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3b7b2301977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8" name="Google Shape;428;g3b7b2301977_1_1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b7b2301977_1_1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b7b2301977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b7b2301977_1_1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b7b557b31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b7b557b3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b7b557b310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b6e566a5d8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3b6e566a5d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b6e566a5d8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bacff03ef5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bacff03e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bacff03ef5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bacff03ef5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bacff03ef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bacff03ef5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acff03ef5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bacff03ef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bacff03ef5_0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aca32e0b0_1_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baca32e0b0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baca32e0b0_1_1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baca32e0b0_1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g3baca32e0b0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g3baca32e0b0_1_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baca32e0b0_1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g3baca32e0b0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baca32e0b0_1_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baca32e0b0_1_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baca32e0b0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baca32e0b0_1_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baca32e0b0_1_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g3baca32e0b0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g3baca32e0b0_1_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baca32e0b0_1_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g3baca32e0b0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3baca32e0b0_1_1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b929091e22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b929091e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b929091e22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baca32e0b0_1_1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g3baca32e0b0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 Intel VT-x: </a:t>
            </a:r>
            <a:r>
              <a:rPr lang="en-IN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a hardware feature in Intel CPUs that enables efficient running of multiple operating systems (</a:t>
            </a:r>
            <a:r>
              <a:rPr lang="en-I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virtual machines</a:t>
            </a:r>
            <a:r>
              <a:rPr lang="en-IN">
                <a:solidFill>
                  <a:srgbClr val="001D35"/>
                </a:solidFill>
                <a:latin typeface="Arial"/>
                <a:ea typeface="Arial"/>
                <a:cs typeface="Arial"/>
                <a:sym typeface="Arial"/>
              </a:rPr>
              <a:t>) on a single physical computer</a:t>
            </a:r>
            <a:r>
              <a:rPr lang="en-IN">
                <a:solidFill>
                  <a:srgbClr val="0A0A0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g3baca32e0b0_1_1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baca32e0b0_1_1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baca32e0b0_1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g3baca32e0b0_1_1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b929091e22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b929091e2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g3b929091e22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baca32e0b0_1_1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g3baca32e0b0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3baca32e0b0_1_1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b7339b4998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b7339b49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b7339b4998_0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b7b2301977_1_1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g3b7b2301977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2" name="Google Shape;652;g3b7b2301977_1_15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baca32e0b0_1_1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g3baca32e0b0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1 a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2 c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g3baca32e0b0_1_19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baca32e0b0_1_2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2" name="Google Shape;672;g3baca32e0b0_1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3 b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4 c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g3baca32e0b0_1_2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baca32e0b0_1_2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g3baca32e0b0_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5 b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6 c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g3baca32e0b0_1_2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b8d6464d38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g3b8d6464d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g3b8d6464d38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baca32e0b0_1_1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g3baca32e0b0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g3baca32e0b0_1_17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b8d6464d38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g3b8d6464d3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g3b8d6464d38_0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baca32e0b0_1_2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g3baca32e0b0_1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1 c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2 c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g3baca32e0b0_1_2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b7a787bc74_1_69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b7a787bc74_1_6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b7a787bc74_1_6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g3b7a787bc74_1_6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b7a787bc74_1_6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b7a787bc74_1_1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g3b7a787bc74_1_1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g3b7a787bc74_1_1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g3b7a787bc74_1_1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3b7a787bc74_1_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a787bc74_1_7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g3b7a787bc74_1_7"/>
          <p:cNvSpPr txBox="1"/>
          <p:nvPr>
            <p:ph idx="1" type="body"/>
          </p:nvPr>
        </p:nvSpPr>
        <p:spPr>
          <a:xfrm rot="5400000">
            <a:off x="2309400" y="-251700"/>
            <a:ext cx="4525500" cy="82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g3b7a787bc74_1_7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g3b7a787bc74_1_7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g3b7a787bc74_1_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b7a787bc74_1_13"/>
          <p:cNvSpPr txBox="1"/>
          <p:nvPr>
            <p:ph type="title"/>
          </p:nvPr>
        </p:nvSpPr>
        <p:spPr>
          <a:xfrm rot="5400000">
            <a:off x="4732470" y="2171550"/>
            <a:ext cx="5851200" cy="20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3b7a787bc74_1_13"/>
          <p:cNvSpPr txBox="1"/>
          <p:nvPr>
            <p:ph idx="1" type="body"/>
          </p:nvPr>
        </p:nvSpPr>
        <p:spPr>
          <a:xfrm rot="5400000">
            <a:off x="541770" y="190170"/>
            <a:ext cx="5851200" cy="60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3b7a787bc74_1_13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g3b7a787bc74_1_13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g3b7a787bc74_1_13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a787bc74_1_19"/>
          <p:cNvSpPr txBox="1"/>
          <p:nvPr>
            <p:ph type="title"/>
          </p:nvPr>
        </p:nvSpPr>
        <p:spPr>
          <a:xfrm>
            <a:off x="685800" y="2130480"/>
            <a:ext cx="77721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g3b7a787bc74_1_19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g3b7a787bc74_1_19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g3b7a787bc74_1_19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blank">
  <p:cSld name="BLANK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7a787bc74_1_24"/>
          <p:cNvSpPr txBox="1"/>
          <p:nvPr>
            <p:ph type="title"/>
          </p:nvPr>
        </p:nvSpPr>
        <p:spPr>
          <a:xfrm>
            <a:off x="722160" y="4406760"/>
            <a:ext cx="77721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g3b7a787bc74_1_24"/>
          <p:cNvSpPr txBox="1"/>
          <p:nvPr>
            <p:ph idx="1" type="body"/>
          </p:nvPr>
        </p:nvSpPr>
        <p:spPr>
          <a:xfrm>
            <a:off x="722160" y="2906640"/>
            <a:ext cx="77721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g3b7a787bc74_1_24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g3b7a787bc74_1_24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g3b7a787bc74_1_24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b7a787bc74_1_30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g3b7a787bc74_1_30"/>
          <p:cNvSpPr txBox="1"/>
          <p:nvPr>
            <p:ph idx="1" type="body"/>
          </p:nvPr>
        </p:nvSpPr>
        <p:spPr>
          <a:xfrm>
            <a:off x="457200" y="1600200"/>
            <a:ext cx="40380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3b7a787bc74_1_30"/>
          <p:cNvSpPr txBox="1"/>
          <p:nvPr>
            <p:ph idx="2" type="body"/>
          </p:nvPr>
        </p:nvSpPr>
        <p:spPr>
          <a:xfrm>
            <a:off x="4648320" y="1600200"/>
            <a:ext cx="40380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g3b7a787bc74_1_30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g3b7a787bc74_1_30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g3b7a787bc74_1_3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7a787bc74_1_37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3b7a787bc74_1_37"/>
          <p:cNvSpPr txBox="1"/>
          <p:nvPr>
            <p:ph idx="1" type="body"/>
          </p:nvPr>
        </p:nvSpPr>
        <p:spPr>
          <a:xfrm>
            <a:off x="457200" y="1535040"/>
            <a:ext cx="40398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g3b7a787bc74_1_37"/>
          <p:cNvSpPr txBox="1"/>
          <p:nvPr>
            <p:ph idx="2" type="body"/>
          </p:nvPr>
        </p:nvSpPr>
        <p:spPr>
          <a:xfrm>
            <a:off x="457200" y="2174760"/>
            <a:ext cx="403980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g3b7a787bc74_1_37"/>
          <p:cNvSpPr txBox="1"/>
          <p:nvPr>
            <p:ph idx="3" type="body"/>
          </p:nvPr>
        </p:nvSpPr>
        <p:spPr>
          <a:xfrm>
            <a:off x="4645080" y="1535040"/>
            <a:ext cx="40413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3b7a787bc74_1_37"/>
          <p:cNvSpPr txBox="1"/>
          <p:nvPr>
            <p:ph idx="4" type="body"/>
          </p:nvPr>
        </p:nvSpPr>
        <p:spPr>
          <a:xfrm>
            <a:off x="4645080" y="2174760"/>
            <a:ext cx="404130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b7a787bc74_1_37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g3b7a787bc74_1_37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g3b7a787bc74_1_3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7a787bc74_1_46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g3b7a787bc74_1_46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g3b7a787bc74_1_46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g3b7a787bc74_1_46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7a787bc74_1_51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g3b7a787bc74_1_51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g3b7a787bc74_1_5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7a787bc74_1_55"/>
          <p:cNvSpPr txBox="1"/>
          <p:nvPr>
            <p:ph type="title"/>
          </p:nvPr>
        </p:nvSpPr>
        <p:spPr>
          <a:xfrm>
            <a:off x="457200" y="272880"/>
            <a:ext cx="30078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g3b7a787bc74_1_55"/>
          <p:cNvSpPr txBox="1"/>
          <p:nvPr>
            <p:ph idx="1" type="body"/>
          </p:nvPr>
        </p:nvSpPr>
        <p:spPr>
          <a:xfrm>
            <a:off x="3575160" y="272880"/>
            <a:ext cx="51114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g3b7a787bc74_1_55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g3b7a787bc74_1_55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g3b7a787bc74_1_55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g3b7a787bc74_1_5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7a787bc74_1_62"/>
          <p:cNvSpPr txBox="1"/>
          <p:nvPr>
            <p:ph type="title"/>
          </p:nvPr>
        </p:nvSpPr>
        <p:spPr>
          <a:xfrm>
            <a:off x="1792440" y="4800600"/>
            <a:ext cx="54861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b7a787bc74_1_62"/>
          <p:cNvSpPr txBox="1"/>
          <p:nvPr>
            <p:ph idx="1" type="body"/>
          </p:nvPr>
        </p:nvSpPr>
        <p:spPr>
          <a:xfrm>
            <a:off x="1792440" y="61272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g3b7a787bc74_1_62"/>
          <p:cNvSpPr txBox="1"/>
          <p:nvPr>
            <p:ph idx="2" type="body"/>
          </p:nvPr>
        </p:nvSpPr>
        <p:spPr>
          <a:xfrm>
            <a:off x="1792440" y="5367240"/>
            <a:ext cx="5486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g3b7a787bc74_1_62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b7a787bc74_1_62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g3b7a787bc74_1_6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2.png"/><Relationship Id="rId7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4.jp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4.jp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Relationship Id="rId7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Relationship Id="rId7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Relationship Id="rId7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Relationship Id="rId7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Relationship Id="rId7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Relationship Id="rId7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Relationship Id="rId7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Relationship Id="rId7" Type="http://schemas.openxmlformats.org/officeDocument/2006/relationships/hyperlink" Target="https://www.google.com/search?q=Intel+VT-x&amp;sca_esv=71b86378781733a7&amp;rlz=1C1UEAD_enIN1145IN1145&amp;biw=1366&amp;bih=607&amp;aic=0&amp;ei=YPZtaf_0DKmbnesPuKCy8Qw&amp;ved=2ahUKEwjk3PbJopeSAxX2T2wGHXISJwoQgK4QegQIARAD&amp;uact=5&amp;oq=what+is+HARDWARE+ASSISTED+VIRTUALIZATION&amp;gs_lp=Egxnd3Mtd2l6LXNlcnAiKHdoYXQgaXMgSEFSRFdBUkUgQVNTSVNURUQgVklSVFVBTElaQVRJT04yCxAAGIAEGJECGIoFMgYQABgHGB4yBhAAGAcYHjIFEAAYgAQyBBAAGB4yBRAAGO8FMggQABiABBiiBDIIEAAYgAQYogRIsBlQrgdYmBZwAXgBkAEAmAHeAaAB9gmqAQUwLjYuMrgBA8gBAPgBAZgCCKACjwnCAgoQABiwAxjWBBhHwgINEAAYgAQYsAMYQxiKBcICDhAAGLADGOQCGNYE2AEBwgIXEC4YsAMYuAYY2AIYyAMY2gYY3AbYAQHCAgcQABiABBgNwgILEAAYgAQYhgMYigXCAgYQABgNGB6YAwCIBgGQBhC6BgYIARABGAmSBwUxLjYuMaAHtkeyBwUwLjYuMbgH_AjCBwUyLTMuNcgHUYAIAA&amp;sclient=gws-wiz-serp&amp;mstk=AUtExfB1geE3sHzB_JhWfuRjkJGeeigUUmlzjNcmtHTI_UVO4XwBbFIdcHUqQJsnuPi8cLsYcJso41OT_dld0QL0y0qDe0QUwebwi2xxazU9vcjNMrMmai6yb8oRKhmvY1Q_LLsx3XusspByf255-2JUu5IQzzCmwMyVVbjtelw9W_B1SPpgMBiLOPRNaYZevMs5uTlm&amp;csui=3" TargetMode="External"/><Relationship Id="rId8" Type="http://schemas.openxmlformats.org/officeDocument/2006/relationships/hyperlink" Target="https://www.google.com/search?q=AMD-V&amp;sca_esv=71b86378781733a7&amp;rlz=1C1UEAD_enIN1145IN1145&amp;biw=1366&amp;bih=607&amp;aic=0&amp;ei=YPZtaf_0DKmbnesPuKCy8Qw&amp;ved=2ahUKEwjk3PbJopeSAxX2T2wGHXISJwoQgK4QegQIARAE&amp;uact=5&amp;oq=what+is+HARDWARE+ASSISTED+VIRTUALIZATION&amp;gs_lp=Egxnd3Mtd2l6LXNlcnAiKHdoYXQgaXMgSEFSRFdBUkUgQVNTSVNURUQgVklSVFVBTElaQVRJT04yCxAAGIAEGJECGIoFMgYQABgHGB4yBhAAGAcYHjIFEAAYgAQyBBAAGB4yBRAAGO8FMggQABiABBiiBDIIEAAYgAQYogRIsBlQrgdYmBZwAXgBkAEAmAHeAaAB9gmqAQUwLjYuMrgBA8gBAPgBAZgCCKACjwnCAgoQABiwAxjWBBhHwgINEAAYgAQYsAMYQxiKBcICDhAAGLADGOQCGNYE2AEBwgIXEC4YsAMYuAYY2AIYyAMY2gYY3AbYAQHCAgcQABiABBgNwgILEAAYgAQYhgMYigXCAgYQABgNGB6YAwCIBgGQBhC6BgYIARABGAmSBwUxLjYuMaAHtkeyBwUwLjYuMbgH_AjCBwUyLTMuNcgHUYAIAA&amp;sclient=gws-wiz-serp&amp;mstk=AUtExfB1geE3sHzB_JhWfuRjkJGeeigUUmlzjNcmtHTI_UVO4XwBbFIdcHUqQJsnuPi8cLsYcJso41OT_dld0QL0y0qDe0QUwebwi2xxazU9vcjNMrMmai6yb8oRKhmvY1Q_LLsx3XusspByf255-2JUu5IQzzCmwMyVVbjtelw9W_B1SPpgMBiLOPRNaYZevMs5uTlm&amp;csui=3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Relationship Id="rId7" Type="http://schemas.openxmlformats.org/officeDocument/2006/relationships/image" Target="../media/image3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jp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320" y="1440"/>
            <a:ext cx="568080" cy="685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0"/>
            <a:ext cx="209160" cy="5439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92" name="Google Shape;9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520" y="5929560"/>
            <a:ext cx="3246120" cy="810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3" name="Google Shape;9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8760" y="5932800"/>
            <a:ext cx="968040" cy="7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1061400" y="1850200"/>
            <a:ext cx="7625400" cy="106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3300">
            <a:spAutoFit/>
          </a:bodyPr>
          <a:lstStyle/>
          <a:p>
            <a:pPr indent="0" lvl="0" marL="1259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IN" sz="3400" u="none" cap="none" strike="noStrike">
                <a:solidFill>
                  <a:srgbClr val="FF0000"/>
                </a:solidFill>
                <a:latin typeface="Marcellus SC"/>
                <a:ea typeface="Marcellus SC"/>
                <a:cs typeface="Marcellus SC"/>
                <a:sym typeface="Marcellus SC"/>
              </a:rPr>
              <a:t>Module 2: Virtualization</a:t>
            </a:r>
            <a:endParaRPr b="0" i="0" sz="3400" u="none" cap="none" strike="noStrike">
              <a:solidFill>
                <a:srgbClr val="FF0000"/>
              </a:solidFill>
              <a:latin typeface="Marcellus SC"/>
              <a:ea typeface="Marcellus SC"/>
              <a:cs typeface="Marcellus SC"/>
              <a:sym typeface="Marcellus S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FF0000"/>
              </a:solidFill>
              <a:latin typeface="Marcellus SC"/>
              <a:ea typeface="Marcellus SC"/>
              <a:cs typeface="Marcellus SC"/>
              <a:sym typeface="Marcellus SC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37425" y="3331029"/>
            <a:ext cx="4507975" cy="17309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7a787bc74_1_2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2" name="Google Shape;102;g3b7a787bc74_1_220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b7a787bc74_1_220"/>
          <p:cNvSpPr/>
          <p:nvPr/>
        </p:nvSpPr>
        <p:spPr>
          <a:xfrm>
            <a:off x="521250" y="1639850"/>
            <a:ext cx="8067900" cy="3346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2.1 Introduction, Characteristics of Virtualized Environments, Taxonomy of Virtualization Techniques, Virtualization and Cloud Computing, Pros and Cons of Virtualization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2.2 Technology Examples: Xen: Para virtualization, VMware: Full Virtualization, Microsoft Hyper-V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2.3 Cloud Computing Architecture : Cloud Reference Model, Types of Clouds, Economics of the Cloud, Open Challenges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idx="1" type="body"/>
          </p:nvPr>
        </p:nvSpPr>
        <p:spPr>
          <a:xfrm>
            <a:off x="467550" y="1340772"/>
            <a:ext cx="8229600" cy="1304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</a:pPr>
            <a:r>
              <a:rPr lang="en-IN" sz="2300"/>
              <a:t>The Software methods (including hypervisors) used to allow </a:t>
            </a:r>
            <a:r>
              <a:rPr b="1" lang="en-IN" sz="2300">
                <a:solidFill>
                  <a:srgbClr val="FF0000"/>
                </a:solidFill>
              </a:rPr>
              <a:t>multiple virtual computing resources </a:t>
            </a:r>
            <a:r>
              <a:rPr lang="en-IN" sz="2300"/>
              <a:t>to run on a </a:t>
            </a:r>
            <a:r>
              <a:rPr b="1" lang="en-IN" sz="2300">
                <a:solidFill>
                  <a:srgbClr val="FF0000"/>
                </a:solidFill>
              </a:rPr>
              <a:t>single hardware platform.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457200" y="3098286"/>
            <a:ext cx="82296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is a VM?</a:t>
            </a:r>
            <a:endParaRPr b="1" i="0" sz="3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467550" y="4165750"/>
            <a:ext cx="8229600" cy="1452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I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IN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Software Virtualization of a Computer Hardware </a:t>
            </a:r>
            <a:r>
              <a:rPr b="0" i="0" lang="en-IN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executes program like a physical computer and can be interacted with like a physical computer.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28-01-2025</a:t>
            </a:r>
            <a:endParaRPr/>
          </a:p>
        </p:txBody>
      </p:sp>
      <p:sp>
        <p:nvSpPr>
          <p:cNvPr id="112" name="Google Shape;112;p2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3" name="Google Shape;113;p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16" name="Google Shape;11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17" name="Google Shape;11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is Virtualization?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7b2301977_1_51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b7b2301977_1_5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g3b7b2301977_1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729" y="1416513"/>
            <a:ext cx="7248533" cy="407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7" name="Google Shape;127;g3b7b2301977_1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b7b2301977_1_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29" name="Google Shape;129;g3b7b2301977_1_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30" name="Google Shape;130;g3b7b2301977_1_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b7b2301977_1_51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AutoNum type="arabicPeriod"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Traditional IT Infrastructure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7b2301977_1_1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b7b2301977_1_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g3b7b2301977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38475"/>
            <a:ext cx="9144000" cy="379630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0" name="Google Shape;140;g3b7b2301977_1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b7b2301977_1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42" name="Google Shape;142;g3b7b2301977_1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43" name="Google Shape;143;g3b7b2301977_1_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7b2301977_1_1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g3b7b2301977_1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b7b2301977_1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52" name="Google Shape;152;g3b7b2301977_1_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53" name="Google Shape;153;g3b7b2301977_1_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b7b2301977_1_17"/>
          <p:cNvSpPr txBox="1"/>
          <p:nvPr/>
        </p:nvSpPr>
        <p:spPr>
          <a:xfrm>
            <a:off x="777750" y="1949875"/>
            <a:ext cx="7588500" cy="221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1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Earlier, whenever a company needed a new server, it </a:t>
            </a:r>
            <a:r>
              <a:rPr b="1" i="1" lang="en-IN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bought new hardware</a:t>
            </a:r>
            <a:r>
              <a:rPr b="0" i="1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After virtualization became popular, companies started </a:t>
            </a:r>
            <a:r>
              <a:rPr b="1" i="1" lang="en-IN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creating virtual servers instead</a:t>
            </a:r>
            <a:r>
              <a:rPr b="0" i="1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By 2009, the</a:t>
            </a:r>
            <a:r>
              <a:rPr b="1" i="1" lang="en-IN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number of virtual servers exceeded physical servers</a:t>
            </a:r>
            <a:r>
              <a:rPr b="0" i="1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this gap kept increasing</a:t>
            </a:r>
            <a:endParaRPr b="0" i="1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7b2301977_1_6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g3b7b2301977_1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b7b2301977_1_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63" name="Google Shape;163;g3b7b2301977_1_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4" name="Google Shape;164;g3b7b2301977_1_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b7b2301977_1_67"/>
          <p:cNvSpPr txBox="1"/>
          <p:nvPr/>
        </p:nvSpPr>
        <p:spPr>
          <a:xfrm>
            <a:off x="602575" y="1513575"/>
            <a:ext cx="7950600" cy="350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Virtualization is a technology or methodology that enables the generation of a </a:t>
            </a: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virtual representation</a:t>
            </a: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as opposed to a </a:t>
            </a: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tangible</a:t>
            </a: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one, of entities like </a:t>
            </a: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hardware, storage devices, or network resources</a:t>
            </a: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abstracts</a:t>
            </a: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foundational </a:t>
            </a: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physical elements</a:t>
            </a: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permitting the operation of </a:t>
            </a: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multiple virtual instances</a:t>
            </a: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environments on a solitary physical system.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b7b2301977_1_67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2. Virtualization defined again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7b2301977_1_79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g3b7b2301977_1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b7b2301977_1_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75" name="Google Shape;175;g3b7b2301977_1_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76" name="Google Shape;176;g3b7b2301977_1_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7b2301977_1_79"/>
          <p:cNvSpPr txBox="1"/>
          <p:nvPr/>
        </p:nvSpPr>
        <p:spPr>
          <a:xfrm>
            <a:off x="602575" y="1513575"/>
            <a:ext cx="7950600" cy="387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Resource Efficiency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Savings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Flexibility and Scalability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Improved Disaster Recovery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Isolation and Security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</a:t>
            </a:r>
            <a:r>
              <a:rPr b="0" i="1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(movement of VMs between physical servers with minimal downtime)</a:t>
            </a:r>
            <a:endParaRPr b="0" i="1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 Efficiency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Centralized Management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b7b2301977_1_79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3. Virtualization Benefits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7b2301977_1_3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g3b7b2301977_1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b7b2301977_1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87" name="Google Shape;187;g3b7b2301977_1_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88" name="Google Shape;188;g3b7b2301977_1_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b7b2301977_1_31"/>
          <p:cNvSpPr txBox="1"/>
          <p:nvPr/>
        </p:nvSpPr>
        <p:spPr>
          <a:xfrm>
            <a:off x="760838" y="1697200"/>
            <a:ext cx="7588500" cy="277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Companies usually adopt </a:t>
            </a:r>
            <a:r>
              <a:rPr b="1" i="1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virtualization-first policies</a:t>
            </a:r>
            <a:r>
              <a:rPr b="0" i="1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which state that as new projects come in house, any server requirements will be satisfied by the </a:t>
            </a:r>
            <a:r>
              <a:rPr b="1" i="1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virtual resources</a:t>
            </a:r>
            <a:r>
              <a:rPr b="0" i="1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b="1" i="1" lang="en-IN" sz="2400" u="none" cap="none" strike="noStrike">
                <a:solidFill>
                  <a:srgbClr val="FF0000"/>
                </a:solidFill>
              </a:rPr>
              <a:t>ather than by paying</a:t>
            </a:r>
            <a:r>
              <a:rPr b="0" i="1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new physical resources. Actual hardware will be purchased only if it it can be proven that the need cannot be satisfied with the virtual environment</a:t>
            </a:r>
            <a:endParaRPr b="0" i="1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7b2301977_1_4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6" name="Google Shape;196;g3b7b2301977_1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b7b2301977_1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98" name="Google Shape;198;g3b7b2301977_1_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99" name="Google Shape;199;g3b7b2301977_1_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b7b2301977_1_41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4. Virtualization Reference Model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g3b7b2301977_1_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5488" y="1495995"/>
            <a:ext cx="8839202" cy="4032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7b2301977_1_96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g3b7b2301977_1_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b7b2301977_1_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10" name="Google Shape;210;g3b7b2301977_1_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11" name="Google Shape;211;g3b7b2301977_1_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b7b2301977_1_96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Virtualization Reference Model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b7b2301977_1_96"/>
          <p:cNvSpPr txBox="1"/>
          <p:nvPr/>
        </p:nvSpPr>
        <p:spPr>
          <a:xfrm>
            <a:off x="777738" y="1521052"/>
            <a:ext cx="7588500" cy="3388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5715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1" i="0" lang="en-IN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Guest (Virtual Machine):</a:t>
            </a:r>
            <a:r>
              <a:rPr b="0" i="0" lang="en-I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acts as the element that interacts with the virtualization layer instead of the typical host. </a:t>
            </a:r>
            <a:endParaRPr b="1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5715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1" i="0" lang="en-IN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Host (Physical Hardware):</a:t>
            </a:r>
            <a:r>
              <a:rPr b="0" i="0" lang="en-I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represents the initial environment where the guest is intended to operate. 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5715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1" i="0" lang="en-IN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Virtualization layer (Hypervisor):</a:t>
            </a:r>
            <a:r>
              <a:rPr b="0" i="0" lang="en-I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takes on the role of replicating either an </a:t>
            </a:r>
            <a:r>
              <a:rPr b="1" i="0" lang="en-IN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identical or an alternative environment</a:t>
            </a:r>
            <a:r>
              <a:rPr b="0" i="0" lang="en-I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which the guest operates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7b2301977_1_12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0" name="Google Shape;220;g3b7b2301977_1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b7b2301977_1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22" name="Google Shape;222;g3b7b2301977_1_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23" name="Google Shape;223;g3b7b2301977_1_1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b7b2301977_1_120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5. Virtualization Techniques Taxonomy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g3b7b2301977_1_1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574" y="1117213"/>
            <a:ext cx="7606850" cy="51853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2" name="Google Shape;23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34" name="Google Shape;23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35" name="Google Shape;23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5. Virtualization Techniques Taxonomy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"/>
          <p:cNvSpPr txBox="1"/>
          <p:nvPr/>
        </p:nvSpPr>
        <p:spPr>
          <a:xfrm>
            <a:off x="478800" y="1474237"/>
            <a:ext cx="2507100" cy="4248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is virtualized?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Execution environmen</a:t>
            </a: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Memory, I/O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➡ Leads 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 virtualization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virtualization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virtualization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"/>
          <p:cNvSpPr txBox="1"/>
          <p:nvPr/>
        </p:nvSpPr>
        <p:spPr>
          <a:xfrm>
            <a:off x="3194180" y="1474237"/>
            <a:ext cx="2507100" cy="32784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At what level is virtualization done?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64D79"/>
              </a:buClr>
              <a:buSzPts val="1800"/>
              <a:buAutoNum type="arabicPeriod"/>
            </a:pPr>
            <a:r>
              <a:rPr b="1" i="0" lang="en-IN" sz="1800" u="none" cap="none" strike="noStrike">
                <a:solidFill>
                  <a:srgbClr val="A64D79"/>
                </a:solidFill>
              </a:rPr>
              <a:t>Process-level</a:t>
            </a:r>
            <a:endParaRPr b="1" i="0" sz="1400" u="none" cap="none" strike="noStrike">
              <a:solidFill>
                <a:srgbClr val="A64D79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800"/>
              <a:buAutoNum type="arabicPeriod"/>
            </a:pPr>
            <a:r>
              <a:rPr b="1" i="0" lang="en-IN" sz="1800" u="none" cap="none" strike="noStrike">
                <a:solidFill>
                  <a:srgbClr val="B45F06"/>
                </a:solidFill>
              </a:rPr>
              <a:t>System-level</a:t>
            </a:r>
            <a:endParaRPr b="1" i="0" sz="1400" u="none" cap="none" strike="noStrike">
              <a:solidFill>
                <a:srgbClr val="B45F0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➡ Leads 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JVM, containers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 OS virtual machines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"/>
          <p:cNvSpPr txBox="1"/>
          <p:nvPr/>
        </p:nvSpPr>
        <p:spPr>
          <a:xfrm>
            <a:off x="6124604" y="1458686"/>
            <a:ext cx="2507100" cy="452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How is virtualization implemented?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800"/>
              <a:buAutoNum type="arabicPeriod"/>
            </a:pPr>
            <a:r>
              <a:rPr b="1" i="0" lang="en-IN" sz="1800" u="none" cap="none" strike="noStrike">
                <a:solidFill>
                  <a:srgbClr val="674EA7"/>
                </a:solidFill>
              </a:rPr>
              <a:t>Emulation</a:t>
            </a:r>
            <a:endParaRPr b="1" i="0" sz="1400" u="none" cap="none" strike="noStrike">
              <a:solidFill>
                <a:srgbClr val="674EA7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800"/>
              <a:buAutoNum type="arabicPeriod"/>
            </a:pPr>
            <a:r>
              <a:rPr b="1" i="0" lang="en-IN" sz="1800" u="none" cap="none" strike="noStrike">
                <a:solidFill>
                  <a:srgbClr val="B45F06"/>
                </a:solidFill>
              </a:rPr>
              <a:t>Full virtualization</a:t>
            </a:r>
            <a:endParaRPr b="1" i="0" sz="1400" u="none" cap="none" strike="noStrike">
              <a:solidFill>
                <a:srgbClr val="B45F06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800"/>
              <a:buAutoNum type="arabicPeriod"/>
            </a:pPr>
            <a:r>
              <a:rPr b="1" i="0" lang="en-IN" sz="1800" u="none" cap="none" strike="noStrike">
                <a:solidFill>
                  <a:srgbClr val="B45F06"/>
                </a:solidFill>
              </a:rPr>
              <a:t>Paravirtualization</a:t>
            </a:r>
            <a:endParaRPr b="1" i="0" sz="1800" u="none" cap="none" strike="noStrike">
              <a:solidFill>
                <a:srgbClr val="B45F06"/>
              </a:solidFill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800"/>
              <a:buAutoNum type="arabicPeriod"/>
            </a:pPr>
            <a:r>
              <a:rPr b="1" i="0" lang="en-IN" sz="1800" u="none" cap="none" strike="noStrike">
                <a:solidFill>
                  <a:srgbClr val="B45F06"/>
                </a:solidFill>
              </a:rPr>
              <a:t>Hardware-assisted virtualization</a:t>
            </a:r>
            <a:endParaRPr b="1" i="0" sz="1400" u="none" cap="none" strike="noStrike">
              <a:solidFill>
                <a:srgbClr val="B45F06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➡ Leads 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Hypervisors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 support (Intel VT-x)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"/>
          <p:cNvSpPr/>
          <p:nvPr/>
        </p:nvSpPr>
        <p:spPr>
          <a:xfrm flipH="1" rot="10800000">
            <a:off x="2064825" y="2103351"/>
            <a:ext cx="1070400" cy="463500"/>
          </a:xfrm>
          <a:prstGeom prst="rightArrow">
            <a:avLst>
              <a:gd fmla="val 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"/>
          <p:cNvSpPr/>
          <p:nvPr/>
        </p:nvSpPr>
        <p:spPr>
          <a:xfrm flipH="1" rot="10800000">
            <a:off x="5016125" y="2240325"/>
            <a:ext cx="1097400" cy="424500"/>
          </a:xfrm>
          <a:prstGeom prst="rightArrow">
            <a:avLst>
              <a:gd fmla="val 9879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"/>
          <p:cNvSpPr/>
          <p:nvPr/>
        </p:nvSpPr>
        <p:spPr>
          <a:xfrm flipH="1" rot="10800000">
            <a:off x="5016125" y="2765175"/>
            <a:ext cx="1097400" cy="369900"/>
          </a:xfrm>
          <a:prstGeom prst="rightArrow">
            <a:avLst>
              <a:gd fmla="val 9879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8d6464d38_0_28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9" name="Google Shape;249;g3b8d6464d38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b8d6464d38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51" name="Google Shape;251;g3b8d6464d38_0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52" name="Google Shape;252;g3b8d6464d38_0_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b8d6464d38_0_28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5. Virtualization Techniques Taxonomy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b8d6464d38_0_28"/>
          <p:cNvSpPr txBox="1"/>
          <p:nvPr/>
        </p:nvSpPr>
        <p:spPr>
          <a:xfrm>
            <a:off x="478800" y="1426450"/>
            <a:ext cx="8152800" cy="3832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Process-level virtualization means: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A </a:t>
            </a:r>
            <a:r>
              <a:rPr b="1" lang="en-IN" sz="2000">
                <a:solidFill>
                  <a:schemeClr val="dk1"/>
                </a:solidFill>
              </a:rPr>
              <a:t>single program (process) </a:t>
            </a:r>
            <a:r>
              <a:rPr lang="en-IN" sz="2000">
                <a:solidFill>
                  <a:schemeClr val="dk1"/>
                </a:solidFill>
              </a:rPr>
              <a:t>is given a virtual execution environment that is independent of the underlying OS and hardware.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</a:rPr>
              <a:t>Virtualization applies to one process</a:t>
            </a:r>
            <a:r>
              <a:rPr lang="en-IN" sz="2000">
                <a:solidFill>
                  <a:schemeClr val="dk1"/>
                </a:solidFill>
              </a:rPr>
              <a:t>, not the whole OS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Program sees a virtual machine / abstract machine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</a:rPr>
              <a:t>The JVM is a s</a:t>
            </a:r>
            <a:r>
              <a:rPr b="1" lang="en-IN" sz="2000">
                <a:solidFill>
                  <a:schemeClr val="dk1"/>
                </a:solidFill>
              </a:rPr>
              <a:t>oftware-defined virtual machine</a:t>
            </a:r>
            <a:r>
              <a:rPr lang="en-IN" sz="2000">
                <a:solidFill>
                  <a:schemeClr val="dk1"/>
                </a:solidFill>
              </a:rPr>
              <a:t> created for one process.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IN" sz="2000">
                <a:solidFill>
                  <a:schemeClr val="dk1"/>
                </a:solidFill>
              </a:rPr>
              <a:t>Same .class file</a:t>
            </a:r>
            <a:r>
              <a:rPr lang="en-IN" sz="2000">
                <a:solidFill>
                  <a:schemeClr val="dk1"/>
                </a:solidFill>
              </a:rPr>
              <a:t> runs on: Windows JVM, Linux JVM, macOS JVM. No recompilation needed (platform independence)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8d6464d38_0_5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1" name="Google Shape;261;g3b8d6464d38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b8d6464d38_0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63" name="Google Shape;263;g3b8d6464d38_0_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64" name="Google Shape;264;g3b8d6464d38_0_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b8d6464d38_0_51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5. Virtualization Techniques Taxonomy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b8d6464d38_0_51"/>
          <p:cNvSpPr txBox="1"/>
          <p:nvPr/>
        </p:nvSpPr>
        <p:spPr>
          <a:xfrm>
            <a:off x="495600" y="2011675"/>
            <a:ext cx="7996200" cy="2738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-IN" sz="2100">
                <a:solidFill>
                  <a:schemeClr val="dk1"/>
                </a:solidFill>
              </a:rPr>
              <a:t>The JVM is an example of process-level virtualization because it provides a complete virtual execution environment with its </a:t>
            </a:r>
            <a:r>
              <a:rPr b="1" i="1" lang="en-IN" sz="2100">
                <a:solidFill>
                  <a:srgbClr val="FF0000"/>
                </a:solidFill>
              </a:rPr>
              <a:t>own instruction set (Bytecode)</a:t>
            </a:r>
            <a:r>
              <a:rPr b="1" i="1" lang="en-IN" sz="2100">
                <a:solidFill>
                  <a:schemeClr val="dk1"/>
                </a:solidFill>
              </a:rPr>
              <a:t>, </a:t>
            </a:r>
            <a:r>
              <a:rPr b="1" i="1" lang="en-IN" sz="2100">
                <a:solidFill>
                  <a:srgbClr val="FF0000"/>
                </a:solidFill>
              </a:rPr>
              <a:t>memory model (Stack and Heap)</a:t>
            </a:r>
            <a:r>
              <a:rPr b="1" i="1" lang="en-IN" sz="2100">
                <a:solidFill>
                  <a:schemeClr val="dk1"/>
                </a:solidFill>
              </a:rPr>
              <a:t>, and </a:t>
            </a:r>
            <a:r>
              <a:rPr b="1" i="1" lang="en-IN" sz="2100">
                <a:solidFill>
                  <a:srgbClr val="FF0000"/>
                </a:solidFill>
              </a:rPr>
              <a:t>runtime services</a:t>
            </a:r>
            <a:r>
              <a:rPr b="1" i="1" lang="en-IN" sz="2100">
                <a:solidFill>
                  <a:schemeClr val="dk1"/>
                </a:solidFill>
              </a:rPr>
              <a:t> for a single process, whereas the Python interpreter directly executes code using host OS resources without creating a virtual machine abstraction.</a:t>
            </a:r>
            <a:endParaRPr b="1" i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8d6464d38_0_6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3" name="Google Shape;273;g3b8d6464d38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3b8d6464d38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75" name="Google Shape;275;g3b8d6464d38_0_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76" name="Google Shape;276;g3b8d6464d38_0_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b8d6464d38_0_62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5. Virtualization Techniques Taxonomy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b8d6464d38_0_62"/>
          <p:cNvSpPr txBox="1"/>
          <p:nvPr/>
        </p:nvSpPr>
        <p:spPr>
          <a:xfrm>
            <a:off x="573900" y="2103125"/>
            <a:ext cx="7996200" cy="2366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-IN" sz="2100">
                <a:solidFill>
                  <a:srgbClr val="FF0000"/>
                </a:solidFill>
              </a:rPr>
              <a:t>Multiprogramming</a:t>
            </a:r>
            <a:r>
              <a:rPr b="1" i="1" lang="en-IN" sz="2100">
                <a:solidFill>
                  <a:schemeClr val="dk1"/>
                </a:solidFill>
              </a:rPr>
              <a:t> is a type of process virtualization: Multiple processes are kept in memory and CPU switches rapidly between them. Only one process executes at a time. But all processes appear to run simultaneously. This is done using: </a:t>
            </a:r>
            <a:r>
              <a:rPr b="1" i="1" lang="en-IN" sz="2100">
                <a:solidFill>
                  <a:srgbClr val="FF0000"/>
                </a:solidFill>
              </a:rPr>
              <a:t>Context switching, Scheduling,</a:t>
            </a:r>
            <a:r>
              <a:rPr b="1" i="1" lang="en-IN" sz="2100">
                <a:solidFill>
                  <a:schemeClr val="dk1"/>
                </a:solidFill>
              </a:rPr>
              <a:t> and Memory protection.</a:t>
            </a:r>
            <a:endParaRPr b="1" i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8d6464d38_0_74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5" name="Google Shape;285;g3b8d6464d38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g3b8d6464d38_0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87" name="Google Shape;287;g3b8d6464d38_0_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88" name="Google Shape;288;g3b8d6464d38_0_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3b8d6464d38_0_74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5. Virtualization Techniques Taxonomy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b8d6464d38_0_74"/>
          <p:cNvSpPr txBox="1"/>
          <p:nvPr/>
        </p:nvSpPr>
        <p:spPr>
          <a:xfrm>
            <a:off x="573900" y="1743725"/>
            <a:ext cx="7996200" cy="364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i="1" lang="en-IN" sz="1800">
                <a:solidFill>
                  <a:schemeClr val="dk1"/>
                </a:solidFill>
              </a:rPr>
              <a:t>An </a:t>
            </a:r>
            <a:r>
              <a:rPr b="1" i="1" lang="en-IN" sz="1800">
                <a:solidFill>
                  <a:srgbClr val="FF0000"/>
                </a:solidFill>
              </a:rPr>
              <a:t>emulator </a:t>
            </a:r>
            <a:r>
              <a:rPr b="1" i="1" lang="en-IN" sz="1800">
                <a:solidFill>
                  <a:schemeClr val="dk1"/>
                </a:solidFill>
              </a:rPr>
              <a:t>is a software system that </a:t>
            </a:r>
            <a:r>
              <a:rPr b="1" i="1" lang="en-IN" sz="1800">
                <a:solidFill>
                  <a:srgbClr val="FF0000"/>
                </a:solidFill>
              </a:rPr>
              <a:t>imitates the hardware and instruction set of another machine</a:t>
            </a:r>
            <a:r>
              <a:rPr b="1" i="1" lang="en-IN" sz="1800">
                <a:solidFill>
                  <a:schemeClr val="dk1"/>
                </a:solidFill>
              </a:rPr>
              <a:t>, allowing programs compiled for one architecture to run on a different architecture.</a:t>
            </a:r>
            <a:endParaRPr b="1" i="1" sz="1800">
              <a:solidFill>
                <a:schemeClr val="dk1"/>
              </a:solidFill>
            </a:endParaRPr>
          </a:p>
          <a:p>
            <a:pPr indent="-3429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i="1" lang="en-IN" sz="1800">
                <a:solidFill>
                  <a:schemeClr val="dk1"/>
                </a:solidFill>
              </a:rPr>
              <a:t>Example- Android Emulator</a:t>
            </a:r>
            <a:endParaRPr b="1" i="1" sz="1800">
              <a:solidFill>
                <a:schemeClr val="dk1"/>
              </a:solidFill>
            </a:endParaRPr>
          </a:p>
          <a:p>
            <a:pPr indent="-3429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i="1" lang="en-IN" sz="1800">
                <a:solidFill>
                  <a:schemeClr val="dk1"/>
                </a:solidFill>
              </a:rPr>
              <a:t>An emulator is classified as </a:t>
            </a:r>
            <a:r>
              <a:rPr b="1" i="1" lang="en-IN" sz="1800">
                <a:solidFill>
                  <a:srgbClr val="FF0000"/>
                </a:solidFill>
              </a:rPr>
              <a:t>process-level virtualization </a:t>
            </a:r>
            <a:r>
              <a:rPr b="1" i="1" lang="en-IN" sz="1800">
                <a:solidFill>
                  <a:schemeClr val="dk1"/>
                </a:solidFill>
              </a:rPr>
              <a:t>because-</a:t>
            </a:r>
            <a:endParaRPr b="1" i="1" sz="1800">
              <a:solidFill>
                <a:schemeClr val="dk1"/>
              </a:solidFill>
            </a:endParaRPr>
          </a:p>
          <a:p>
            <a:pPr indent="-342900" lvl="1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i="1" lang="en-IN" sz="1800">
                <a:solidFill>
                  <a:schemeClr val="dk1"/>
                </a:solidFill>
              </a:rPr>
              <a:t>It runs as a single process on the host OS</a:t>
            </a:r>
            <a:endParaRPr b="1" i="1" sz="1800">
              <a:solidFill>
                <a:schemeClr val="dk1"/>
              </a:solidFill>
            </a:endParaRPr>
          </a:p>
          <a:p>
            <a:pPr indent="-342900" lvl="1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i="1" lang="en-IN" sz="1800">
                <a:solidFill>
                  <a:schemeClr val="dk1"/>
                </a:solidFill>
              </a:rPr>
              <a:t>It virtualizes the execution environment of a program</a:t>
            </a:r>
            <a:endParaRPr b="1" i="1" sz="1800">
              <a:solidFill>
                <a:schemeClr val="dk1"/>
              </a:solidFill>
            </a:endParaRPr>
          </a:p>
          <a:p>
            <a:pPr indent="-342900" lvl="1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i="1" lang="en-IN" sz="1800">
                <a:solidFill>
                  <a:schemeClr val="dk1"/>
                </a:solidFill>
              </a:rPr>
              <a:t>It does not virtualize the entire physical machine directly</a:t>
            </a:r>
            <a:endParaRPr b="1" i="1" sz="1800">
              <a:solidFill>
                <a:schemeClr val="dk1"/>
              </a:solidFill>
            </a:endParaRPr>
          </a:p>
          <a:p>
            <a:pPr indent="-342900" lvl="1" marL="9144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i="1" lang="en-IN" sz="1800">
                <a:solidFill>
                  <a:schemeClr val="dk1"/>
                </a:solidFill>
              </a:rPr>
              <a:t>It does not require the host and guest to have the same CPU architecture.</a:t>
            </a:r>
            <a:endParaRPr b="1" i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8d6464d38_0_85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b8d6464d38_0_85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b8d6464d38_0_8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9" name="Google Shape;299;g3b8d6464d38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900" y="341350"/>
            <a:ext cx="7372350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b8d6464d38_0_85"/>
          <p:cNvSpPr txBox="1"/>
          <p:nvPr/>
        </p:nvSpPr>
        <p:spPr>
          <a:xfrm>
            <a:off x="550900" y="4848450"/>
            <a:ext cx="7476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The emulator does </a:t>
            </a:r>
            <a:r>
              <a:rPr b="1" lang="en-IN">
                <a:solidFill>
                  <a:schemeClr val="dk1"/>
                </a:solidFill>
              </a:rPr>
              <a:t>not change</a:t>
            </a:r>
            <a:r>
              <a:rPr lang="en-IN">
                <a:solidFill>
                  <a:schemeClr val="dk1"/>
                </a:solidFill>
              </a:rPr>
              <a:t> for any of these.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>
                <a:solidFill>
                  <a:schemeClr val="dk1"/>
                </a:solidFill>
              </a:rPr>
              <a:t>➡️ Therefore, the emulator does </a:t>
            </a:r>
            <a:r>
              <a:rPr b="1" lang="en-IN">
                <a:solidFill>
                  <a:schemeClr val="dk1"/>
                </a:solidFill>
              </a:rPr>
              <a:t>not depend on the programming language</a:t>
            </a:r>
            <a:r>
              <a:rPr lang="en-I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7b557b310_0_2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" name="Google Shape;307;g3b7b557b310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b7b557b310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09" name="Google Shape;309;g3b7b557b310_0_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10" name="Google Shape;310;g3b7b557b310_0_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b7b557b310_0_22"/>
          <p:cNvSpPr txBox="1"/>
          <p:nvPr/>
        </p:nvSpPr>
        <p:spPr>
          <a:xfrm>
            <a:off x="903463" y="2746900"/>
            <a:ext cx="7588500" cy="60936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6. Machine Reference Model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7b557b310_0_44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8" name="Google Shape;318;g3b7b557b310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b7b557b310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20" name="Google Shape;320;g3b7b557b310_0_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21" name="Google Shape;321;g3b7b557b310_0_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g3b7b557b310_0_44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6. Machine Reference Model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b7b557b310_0_44"/>
          <p:cNvSpPr txBox="1"/>
          <p:nvPr/>
        </p:nvSpPr>
        <p:spPr>
          <a:xfrm>
            <a:off x="602575" y="1411178"/>
            <a:ext cx="8152800" cy="433961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an execution environment is virtualized then it requires a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reference model </a:t>
            </a: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defines the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interfaces</a:t>
            </a: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within the level of abstractions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describes the interfaces between applications,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operating systems, and hardware</a:t>
            </a: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showing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how instructions and calls flow </a:t>
            </a: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 a computing system.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level of abstraction hides the details of implementations. Virtualization techniques can substitute any one layer and can intercept the calls which are directed to it.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7b557b310_0_3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0" name="Google Shape;330;g3b7b557b310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g3b7b557b310_0_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32" name="Google Shape;332;g3b7b557b310_0_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33" name="Google Shape;333;g3b7b557b310_0_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3b7b557b310_0_32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Machine Reference Model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g3b7b557b310_0_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700" y="1477321"/>
            <a:ext cx="7876894" cy="433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b7b557b310_0_32"/>
          <p:cNvSpPr txBox="1"/>
          <p:nvPr/>
        </p:nvSpPr>
        <p:spPr>
          <a:xfrm>
            <a:off x="152400" y="152400"/>
            <a:ext cx="2571600" cy="147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API –Application Programming Interface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ABI – Application Binary Instructions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ISA – Instruction Set Architecture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3" name="Google Shape;3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45" name="Google Shape;34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46" name="Google Shape;34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Machine Reference Model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"/>
          <p:cNvSpPr txBox="1"/>
          <p:nvPr/>
        </p:nvSpPr>
        <p:spPr>
          <a:xfrm>
            <a:off x="261257" y="1474237"/>
            <a:ext cx="2724600" cy="257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I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programs (browser, editor, database, etc.)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b="0" i="0" lang="en-I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Written by developers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"/>
          <p:cNvSpPr txBox="1"/>
          <p:nvPr/>
        </p:nvSpPr>
        <p:spPr>
          <a:xfrm>
            <a:off x="3301730" y="1452387"/>
            <a:ext cx="2507100" cy="2924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Libraries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 reusable 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r>
              <a:rPr b="1" i="0" lang="en-I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: C standard library (glibc), Java libraries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Hide OS complexity from applications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"/>
          <p:cNvSpPr txBox="1"/>
          <p:nvPr/>
        </p:nvSpPr>
        <p:spPr>
          <a:xfrm>
            <a:off x="6124604" y="1458686"/>
            <a:ext cx="2506996" cy="415498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I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Operating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I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Kernel + system 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I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Char char="o"/>
            </a:pPr>
            <a:r>
              <a:rPr b="1" i="0" lang="en-I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CPU scheduling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Char char="o"/>
            </a:pPr>
            <a:r>
              <a:rPr b="1" i="0" lang="en-I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Char char="o"/>
            </a:pPr>
            <a:r>
              <a:rPr b="1" i="0" lang="en-IN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I/O devices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I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Acts as a control layer between software and hardware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"/>
          <p:cNvSpPr txBox="1"/>
          <p:nvPr/>
        </p:nvSpPr>
        <p:spPr>
          <a:xfrm>
            <a:off x="2140953" y="4677232"/>
            <a:ext cx="3209731" cy="14773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CPU, RAM, disk, network card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Executes machine instructions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8" name="Google Shape;3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60" name="Google Shape;3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61" name="Google Shape;36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Machine Reference Model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5"/>
          <p:cNvSpPr txBox="1"/>
          <p:nvPr/>
        </p:nvSpPr>
        <p:spPr>
          <a:xfrm>
            <a:off x="5871583" y="4951233"/>
            <a:ext cx="218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Rings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blog.codinghorror.com/content/images/2025/03/image-405.png" id="364" name="Google Shape;36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2" y="1422752"/>
            <a:ext cx="4504151" cy="33361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5" name="Google Shape;365;p5"/>
          <p:cNvSpPr txBox="1"/>
          <p:nvPr/>
        </p:nvSpPr>
        <p:spPr>
          <a:xfrm>
            <a:off x="280400" y="1898225"/>
            <a:ext cx="3748800" cy="2616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privilege ring model divides CPU execution into levels (rings) so that the most critical code runs with the highest privilege and user programs run with the least privilege.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"/>
          <p:cNvSpPr txBox="1"/>
          <p:nvPr/>
        </p:nvSpPr>
        <p:spPr>
          <a:xfrm>
            <a:off x="445000" y="286500"/>
            <a:ext cx="1828800" cy="1371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 instructions, Memory, Hardware devices, Process scheduling,Interrupt Handling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"/>
          <p:cNvSpPr/>
          <p:nvPr/>
        </p:nvSpPr>
        <p:spPr>
          <a:xfrm rot="3321305">
            <a:off x="4312358" y="3788070"/>
            <a:ext cx="519271" cy="1878569"/>
          </a:xfrm>
          <a:prstGeom prst="downArrow">
            <a:avLst>
              <a:gd fmla="val 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"/>
          <p:cNvSpPr txBox="1"/>
          <p:nvPr/>
        </p:nvSpPr>
        <p:spPr>
          <a:xfrm>
            <a:off x="2273800" y="4951221"/>
            <a:ext cx="1828800" cy="871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Browser, Editor, Java program, Python script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5"/>
          <p:cNvSpPr/>
          <p:nvPr/>
        </p:nvSpPr>
        <p:spPr>
          <a:xfrm rot="7199597">
            <a:off x="4077328" y="-510213"/>
            <a:ext cx="540710" cy="4742841"/>
          </a:xfrm>
          <a:prstGeom prst="downArrow">
            <a:avLst>
              <a:gd fmla="val 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6" name="Google Shape;37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78" name="Google Shape;37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79" name="Google Shape;37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6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Machine Reference Model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"/>
          <p:cNvSpPr/>
          <p:nvPr/>
        </p:nvSpPr>
        <p:spPr>
          <a:xfrm>
            <a:off x="802675" y="1362000"/>
            <a:ext cx="7828800" cy="3869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 runs on two privilege levels: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User Mode: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In this mode, memory access is restricted up to some limit whereas </a:t>
            </a:r>
            <a:r>
              <a:rPr b="1" i="0" lang="en-IN" sz="2200" u="none" cap="none" strike="noStrike">
                <a:solidFill>
                  <a:srgbClr val="FF0000"/>
                </a:solidFill>
              </a:rPr>
              <a:t>access to peripherals is denied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Kernel Mode: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 has instructions which manage </a:t>
            </a:r>
            <a:r>
              <a:rPr b="1" i="0" lang="en-IN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memory 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how to be accessed and it also has instructions which enable </a:t>
            </a:r>
            <a:r>
              <a:rPr b="1" i="0" lang="en-IN" sz="2200" u="none" cap="none" strike="noStrike">
                <a:solidFill>
                  <a:srgbClr val="FF0000"/>
                </a:solidFill>
              </a:rPr>
              <a:t>access of the peripherals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like </a:t>
            </a:r>
            <a:r>
              <a:rPr b="1" i="0" lang="en-IN" sz="2200" u="none" cap="none" strike="noStrike">
                <a:solidFill>
                  <a:srgbClr val="FF0000"/>
                </a:solidFill>
              </a:rPr>
              <a:t>disks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network cards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one running program to another running program, CPU switches automatically.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b7339b4998_0_12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b7339b4998_0_12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b7339b4998_0_1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0" name="Google Shape;390;g3b7339b4998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" y="124874"/>
            <a:ext cx="4603075" cy="320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g3b7339b4998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5677" y="3514975"/>
            <a:ext cx="7450823" cy="273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8" name="Google Shape;3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00" name="Google Shape;40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01" name="Google Shape;40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7"/>
          <p:cNvSpPr/>
          <p:nvPr/>
        </p:nvSpPr>
        <p:spPr>
          <a:xfrm>
            <a:off x="478688" y="372995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5. Virtualization Techniques Taxonomy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574" y="1036938"/>
            <a:ext cx="7606850" cy="51853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baca32e0b0_1_8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baca32e0b0_1_8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baca32e0b0_1_8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2" name="Google Shape;412;g3baca32e0b0_1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700" y="1477321"/>
            <a:ext cx="7876894" cy="433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8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9" name="Google Shape;4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21" name="Google Shape;42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22" name="Google Shape;42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8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Knowledge Check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8"/>
          <p:cNvSpPr/>
          <p:nvPr/>
        </p:nvSpPr>
        <p:spPr>
          <a:xfrm>
            <a:off x="857450" y="1126940"/>
            <a:ext cx="7828800" cy="4401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Q1. Which dimension of taxonomy answers the question: “At what level is virtualization applied?”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Q2. Is JVM an example of process-level or system-level virtualization? Why?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Q3. Which interface binds an operating system to a specific processor architecture?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Q4. Which interface separates applications from libraries in the machine reference model?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Q5. What happens first: API call or system call?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7b2301977_1_13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1" name="Google Shape;431;g3b7b2301977_1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g3b7b2301977_1_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33" name="Google Shape;433;g3b7b2301977_1_1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34" name="Google Shape;434;g3b7b2301977_1_1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g3b7b2301977_1_132"/>
          <p:cNvSpPr txBox="1"/>
          <p:nvPr/>
        </p:nvSpPr>
        <p:spPr>
          <a:xfrm>
            <a:off x="903463" y="2746900"/>
            <a:ext cx="7588500" cy="97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 Level based/ Hardware Virtualization Types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b7b2301977_1_144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2" name="Google Shape;442;g3b7b2301977_1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g3b7b2301977_1_1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44" name="Google Shape;444;g3b7b2301977_1_1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45" name="Google Shape;445;g3b7b2301977_1_1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g3b7b2301977_1_144"/>
          <p:cNvSpPr txBox="1"/>
          <p:nvPr/>
        </p:nvSpPr>
        <p:spPr>
          <a:xfrm>
            <a:off x="596700" y="1316313"/>
            <a:ext cx="7950600" cy="4079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methods and technologies that enable multiple virtual machines (</a:t>
            </a:r>
            <a:r>
              <a:rPr b="1" i="0" lang="en-IN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VMs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to run on a single physical computer or server.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/>
            </a:pPr>
            <a:r>
              <a:rPr b="1" i="0" lang="en-IN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isolate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run </a:t>
            </a:r>
            <a:r>
              <a:rPr b="1" i="0" lang="en-IN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multiple operating systems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IN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the same hardware simultaneously.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/>
            </a:pP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such as </a:t>
            </a:r>
            <a:r>
              <a:rPr b="1" i="0" lang="en-IN" sz="2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resource isolation, improved utilization of hardware resources</a:t>
            </a:r>
            <a:r>
              <a:rPr b="0" i="0" lang="en-IN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increased flexibility in managing and deploying software workloads.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b7b2301977_1_144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System Level based/ Hardware Virtualization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7b557b310_0_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4" name="Google Shape;454;g3b7b557b31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b7b557b31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56" name="Google Shape;456;g3b7b557b310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57" name="Google Shape;457;g3b7b557b310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g3b7b557b310_0_0"/>
          <p:cNvSpPr txBox="1"/>
          <p:nvPr/>
        </p:nvSpPr>
        <p:spPr>
          <a:xfrm>
            <a:off x="602575" y="1513575"/>
            <a:ext cx="7950600" cy="221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 Virtualization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assisted Virtualization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Virtualization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Partial 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Virtualization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b7b557b310_0_0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6. </a:t>
            </a: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Types of Virtualization (How)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6e566a5d8_0_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6" name="Google Shape;466;g3b6e566a5d8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g3b6e566a5d8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468" name="Google Shape;468;g3b6e566a5d8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69" name="Google Shape;469;g3b6e566a5d8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g3b6e566a5d8_0_1"/>
          <p:cNvSpPr/>
          <p:nvPr/>
        </p:nvSpPr>
        <p:spPr>
          <a:xfrm>
            <a:off x="661263" y="2665845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Types of Virtualization- Full Virtualization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bacff03ef5_0_0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bacff03ef5_0_0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bacff03ef5_0_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9" name="Google Shape;479;g3bacff03ef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8350" y="1026450"/>
            <a:ext cx="6411049" cy="48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bacff03ef5_0_9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bacff03ef5_0_9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bacff03ef5_0_9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8" name="Google Shape;488;g3bacff03ef5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0461" y="1303369"/>
            <a:ext cx="6223839" cy="4822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g3bacff03ef5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974" y="1665874"/>
            <a:ext cx="4450975" cy="333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5" name="Google Shape;495;g3bacff03ef5_0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425" y="1665875"/>
            <a:ext cx="4305575" cy="333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6" name="Google Shape;496;g3bacff03ef5_0_17"/>
          <p:cNvSpPr txBox="1"/>
          <p:nvPr/>
        </p:nvSpPr>
        <p:spPr>
          <a:xfrm>
            <a:off x="480375" y="5121175"/>
            <a:ext cx="894600" cy="331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FULL</a:t>
            </a:r>
            <a:endParaRPr/>
          </a:p>
        </p:txBody>
      </p:sp>
      <p:sp>
        <p:nvSpPr>
          <p:cNvPr id="497" name="Google Shape;497;g3bacff03ef5_0_17"/>
          <p:cNvSpPr txBox="1"/>
          <p:nvPr/>
        </p:nvSpPr>
        <p:spPr>
          <a:xfrm>
            <a:off x="7871775" y="5121175"/>
            <a:ext cx="894600" cy="331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PARA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g3baca32e0b0_1_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974" y="274674"/>
            <a:ext cx="4450975" cy="333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4" name="Google Shape;504;g3baca32e0b0_1_1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425" y="274675"/>
            <a:ext cx="4305575" cy="333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05" name="Google Shape;505;g3baca32e0b0_1_1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9100" y="3729974"/>
            <a:ext cx="4503244" cy="29425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6" name="Google Shape;506;g3baca32e0b0_1_132"/>
          <p:cNvSpPr txBox="1"/>
          <p:nvPr/>
        </p:nvSpPr>
        <p:spPr>
          <a:xfrm>
            <a:off x="480375" y="3729975"/>
            <a:ext cx="894600" cy="331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FULL</a:t>
            </a:r>
            <a:endParaRPr/>
          </a:p>
        </p:txBody>
      </p:sp>
      <p:sp>
        <p:nvSpPr>
          <p:cNvPr id="507" name="Google Shape;507;g3baca32e0b0_1_132"/>
          <p:cNvSpPr txBox="1"/>
          <p:nvPr/>
        </p:nvSpPr>
        <p:spPr>
          <a:xfrm>
            <a:off x="7871775" y="3729975"/>
            <a:ext cx="894600" cy="331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PARA</a:t>
            </a:r>
            <a:endParaRPr/>
          </a:p>
        </p:txBody>
      </p:sp>
      <p:sp>
        <p:nvSpPr>
          <p:cNvPr id="508" name="Google Shape;508;g3baca32e0b0_1_132"/>
          <p:cNvSpPr txBox="1"/>
          <p:nvPr/>
        </p:nvSpPr>
        <p:spPr>
          <a:xfrm>
            <a:off x="274975" y="6254525"/>
            <a:ext cx="2431800" cy="331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HARDWARE ASSISTED</a:t>
            </a:r>
            <a:endParaRPr/>
          </a:p>
        </p:txBody>
      </p:sp>
      <p:sp>
        <p:nvSpPr>
          <p:cNvPr id="509" name="Google Shape;509;g3baca32e0b0_1_132"/>
          <p:cNvSpPr txBox="1"/>
          <p:nvPr/>
        </p:nvSpPr>
        <p:spPr>
          <a:xfrm>
            <a:off x="5963475" y="5102075"/>
            <a:ext cx="1507500" cy="99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OS requests cause </a:t>
            </a:r>
            <a:r>
              <a:rPr b="1" lang="en-IN">
                <a:solidFill>
                  <a:srgbClr val="FF0000"/>
                </a:solidFill>
              </a:rPr>
              <a:t>VM-exit to VMM </a:t>
            </a:r>
            <a:r>
              <a:rPr lang="en-IN"/>
              <a:t>(CPU-assisted)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baca32e0b0_1_16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6" name="Google Shape;516;g3baca32e0b0_1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g3baca32e0b0_1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18" name="Google Shape;518;g3baca32e0b0_1_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19" name="Google Shape;519;g3baca32e0b0_1_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g3baca32e0b0_1_16"/>
          <p:cNvSpPr/>
          <p:nvPr/>
        </p:nvSpPr>
        <p:spPr>
          <a:xfrm>
            <a:off x="495588" y="297045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Types of Virtualization- 1. Full Virtualization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3baca32e0b0_1_16"/>
          <p:cNvSpPr txBox="1"/>
          <p:nvPr/>
        </p:nvSpPr>
        <p:spPr>
          <a:xfrm>
            <a:off x="569450" y="1244925"/>
            <a:ext cx="4615500" cy="486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IN" sz="1600">
                <a:solidFill>
                  <a:schemeClr val="dk1"/>
                </a:solidFill>
              </a:rPr>
              <a:t>Full Virtualization</a:t>
            </a:r>
            <a:r>
              <a:rPr b="1" lang="en-IN" sz="1600">
                <a:solidFill>
                  <a:srgbClr val="FF0000"/>
                </a:solidFill>
              </a:rPr>
              <a:t> completely virtualizes the underlying hardware</a:t>
            </a:r>
            <a:r>
              <a:rPr lang="en-I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IN" sz="1600">
                <a:solidFill>
                  <a:schemeClr val="dk1"/>
                </a:solidFill>
              </a:rPr>
              <a:t>The </a:t>
            </a:r>
            <a:r>
              <a:rPr b="1" lang="en-IN" sz="1600">
                <a:solidFill>
                  <a:srgbClr val="FF0000"/>
                </a:solidFill>
              </a:rPr>
              <a:t>guest OS is unaware</a:t>
            </a:r>
            <a:r>
              <a:rPr lang="en-IN" sz="1600">
                <a:solidFill>
                  <a:schemeClr val="dk1"/>
                </a:solidFill>
              </a:rPr>
              <a:t> that it is running inside a virtual machine.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IN" sz="1600">
                <a:solidFill>
                  <a:srgbClr val="FF0000"/>
                </a:solidFill>
              </a:rPr>
              <a:t>Hypervisor/VMM</a:t>
            </a:r>
            <a:r>
              <a:rPr lang="en-IN" sz="1600">
                <a:solidFill>
                  <a:schemeClr val="dk1"/>
                </a:solidFill>
              </a:rPr>
              <a:t> emulates the entire hardware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IN" sz="1600">
                <a:solidFill>
                  <a:srgbClr val="FF0000"/>
                </a:solidFill>
              </a:rPr>
              <a:t>Privileged instructions</a:t>
            </a:r>
            <a:r>
              <a:rPr lang="en-IN" sz="1600">
                <a:solidFill>
                  <a:schemeClr val="dk1"/>
                </a:solidFill>
              </a:rPr>
              <a:t> are handled by the </a:t>
            </a:r>
            <a:r>
              <a:rPr b="1" lang="en-IN" sz="1600">
                <a:solidFill>
                  <a:srgbClr val="FF0000"/>
                </a:solidFill>
              </a:rPr>
              <a:t>hypervisor</a:t>
            </a:r>
            <a:r>
              <a:rPr lang="en-IN" sz="1600">
                <a:solidFill>
                  <a:schemeClr val="dk1"/>
                </a:solidFill>
              </a:rPr>
              <a:t> (binary translation / trap-and-emulate)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IN" sz="1600">
                <a:solidFill>
                  <a:schemeClr val="dk1"/>
                </a:solidFill>
              </a:rPr>
              <a:t>In full virtualization, the guest operating system runs in Ring 1 while the hypervisor occupies Ring 0, ensuring complete control over hardware resources.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522" name="Google Shape;522;g3baca32e0b0_1_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84950" y="2080548"/>
            <a:ext cx="3777600" cy="24928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baca32e0b0_1_33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9" name="Google Shape;529;g3baca32e0b0_1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g3baca32e0b0_1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31" name="Google Shape;531;g3baca32e0b0_1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32" name="Google Shape;532;g3baca32e0b0_1_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g3baca32e0b0_1_33"/>
          <p:cNvSpPr/>
          <p:nvPr/>
        </p:nvSpPr>
        <p:spPr>
          <a:xfrm>
            <a:off x="496950" y="230775"/>
            <a:ext cx="83502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Types of Virtualization- </a:t>
            </a:r>
            <a:r>
              <a:rPr b="1" lang="en-IN" sz="3000">
                <a:solidFill>
                  <a:srgbClr val="FF0000"/>
                </a:solidFill>
              </a:rPr>
              <a:t>2</a:t>
            </a: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IN" sz="3000">
                <a:solidFill>
                  <a:srgbClr val="FF0000"/>
                </a:solidFill>
              </a:rPr>
              <a:t>Para</a:t>
            </a: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Virtualization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g3baca32e0b0_1_33"/>
          <p:cNvSpPr txBox="1"/>
          <p:nvPr/>
        </p:nvSpPr>
        <p:spPr>
          <a:xfrm>
            <a:off x="596350" y="1826138"/>
            <a:ext cx="4257300" cy="2955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IN" sz="1800">
                <a:solidFill>
                  <a:srgbClr val="FF0000"/>
                </a:solidFill>
              </a:rPr>
              <a:t>Guest operating system</a:t>
            </a:r>
            <a:r>
              <a:rPr lang="en-IN" sz="1800">
                <a:solidFill>
                  <a:schemeClr val="dk1"/>
                </a:solidFill>
              </a:rPr>
              <a:t> is modified to be </a:t>
            </a:r>
            <a:r>
              <a:rPr b="1" lang="en-IN" sz="1800">
                <a:solidFill>
                  <a:srgbClr val="FF0000"/>
                </a:solidFill>
              </a:rPr>
              <a:t>aware of the hypervisor </a:t>
            </a:r>
            <a:r>
              <a:rPr lang="en-IN" sz="1800">
                <a:solidFill>
                  <a:schemeClr val="dk1"/>
                </a:solidFill>
              </a:rPr>
              <a:t>and explicitly </a:t>
            </a:r>
            <a:r>
              <a:rPr b="1" lang="en-IN" sz="1800">
                <a:solidFill>
                  <a:srgbClr val="FF0000"/>
                </a:solidFill>
              </a:rPr>
              <a:t>cooperates</a:t>
            </a:r>
            <a:r>
              <a:rPr lang="en-IN" sz="1800">
                <a:solidFill>
                  <a:schemeClr val="dk1"/>
                </a:solidFill>
              </a:rPr>
              <a:t> with it.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IN" sz="1800">
                <a:solidFill>
                  <a:schemeClr val="dk1"/>
                </a:solidFill>
              </a:rPr>
              <a:t>For privileged instructions, the guest OS makes </a:t>
            </a:r>
            <a:r>
              <a:rPr b="1" lang="en-IN" sz="1800">
                <a:solidFill>
                  <a:srgbClr val="FF0000"/>
                </a:solidFill>
              </a:rPr>
              <a:t>hypercalls to the hypervisor</a:t>
            </a:r>
            <a:r>
              <a:rPr lang="en-IN" sz="1800">
                <a:solidFill>
                  <a:schemeClr val="dk1"/>
                </a:solidFill>
              </a:rPr>
              <a:t>. (no trap happens)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35" name="Google Shape;535;g3baca32e0b0_1_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52400" y="1838701"/>
            <a:ext cx="3910150" cy="303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baca32e0b0_1_46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2" name="Google Shape;542;g3baca32e0b0_1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g3baca32e0b0_1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44" name="Google Shape;544;g3baca32e0b0_1_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45" name="Google Shape;545;g3baca32e0b0_1_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g3baca32e0b0_1_46"/>
          <p:cNvSpPr/>
          <p:nvPr/>
        </p:nvSpPr>
        <p:spPr>
          <a:xfrm>
            <a:off x="496950" y="230775"/>
            <a:ext cx="83502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800">
                <a:solidFill>
                  <a:srgbClr val="FF0000"/>
                </a:solidFill>
              </a:rPr>
              <a:t>Difference between Full and Para Virtualization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47" name="Google Shape;547;g3baca32e0b0_1_46"/>
          <p:cNvGraphicFramePr/>
          <p:nvPr/>
        </p:nvGraphicFramePr>
        <p:xfrm>
          <a:off x="1397725" y="148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{F8D465A9-3F72-4788-94C0-18515E385642}</a:tableStyleId>
              </a:tblPr>
              <a:tblGrid>
                <a:gridCol w="2066225"/>
                <a:gridCol w="1843175"/>
                <a:gridCol w="23245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Aspect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Full Virtualization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Para </a:t>
                      </a:r>
                      <a:r>
                        <a:rPr b="1" lang="en-IN" sz="1800">
                          <a:solidFill>
                            <a:srgbClr val="FF0000"/>
                          </a:solidFill>
                        </a:rPr>
                        <a:t>Virtualization</a:t>
                      </a:r>
                      <a:endParaRPr b="1"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Guest OS awareness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Unaware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Aware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Guest OS placement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Ring 1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Ring 0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How hypervisor is invoked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Trap / binary translation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Hypercall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Hypervisor involvement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Reactive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Proactive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Performance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Lower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Higher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aca32e0b0_1_83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4" name="Google Shape;554;g3baca32e0b0_1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g3baca32e0b0_1_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56" name="Google Shape;556;g3baca32e0b0_1_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57" name="Google Shape;557;g3baca32e0b0_1_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g3baca32e0b0_1_83"/>
          <p:cNvSpPr/>
          <p:nvPr/>
        </p:nvSpPr>
        <p:spPr>
          <a:xfrm>
            <a:off x="496950" y="230775"/>
            <a:ext cx="83502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800">
                <a:solidFill>
                  <a:srgbClr val="FF0000"/>
                </a:solidFill>
              </a:rPr>
              <a:t>Difference between Full and Para Virtualization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baca32e0b0_1_83"/>
          <p:cNvSpPr txBox="1"/>
          <p:nvPr/>
        </p:nvSpPr>
        <p:spPr>
          <a:xfrm>
            <a:off x="1615800" y="1614350"/>
            <a:ext cx="6112500" cy="1723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2000"/>
              <a:t>In both full and para virtualization, privileged instructions are executed by the hypervisor; </a:t>
            </a:r>
            <a:r>
              <a:rPr b="1" i="1" lang="en-IN" sz="2000">
                <a:solidFill>
                  <a:srgbClr val="FF0000"/>
                </a:solidFill>
              </a:rPr>
              <a:t>para virtualization</a:t>
            </a:r>
            <a:r>
              <a:rPr b="1" i="1" lang="en-IN" sz="2000"/>
              <a:t> differs by </a:t>
            </a:r>
            <a:r>
              <a:rPr b="1" i="1" lang="en-IN" sz="2000">
                <a:solidFill>
                  <a:srgbClr val="FF0000"/>
                </a:solidFill>
              </a:rPr>
              <a:t>replacing trapped privileged instructions with explicit hypercalls</a:t>
            </a:r>
            <a:r>
              <a:rPr b="1" i="1" lang="en-IN" sz="2000"/>
              <a:t> from a modified guest OS.</a:t>
            </a:r>
            <a:endParaRPr b="1" i="1" sz="2000"/>
          </a:p>
        </p:txBody>
      </p:sp>
      <p:sp>
        <p:nvSpPr>
          <p:cNvPr id="560" name="Google Shape;560;g3baca32e0b0_1_83"/>
          <p:cNvSpPr txBox="1"/>
          <p:nvPr/>
        </p:nvSpPr>
        <p:spPr>
          <a:xfrm>
            <a:off x="1498838" y="4430750"/>
            <a:ext cx="6112500" cy="969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i="1" lang="en-IN" sz="1700"/>
              <a:t>Trap/ binary translation- </a:t>
            </a:r>
            <a:r>
              <a:rPr i="1" lang="en-IN" sz="1700"/>
              <a:t>multiple micro-operations + exception handling + context switches </a:t>
            </a:r>
            <a:endParaRPr i="1"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i="1" lang="en-IN" sz="1700"/>
              <a:t>Explicit Hypercalls-  </a:t>
            </a:r>
            <a:r>
              <a:rPr i="1" lang="en-IN" sz="1700"/>
              <a:t>comparatively</a:t>
            </a:r>
            <a:r>
              <a:rPr i="1" lang="en-IN" sz="1700"/>
              <a:t> less overhead</a:t>
            </a:r>
            <a:endParaRPr i="1" sz="17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baca32e0b0_1_103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7" name="Google Shape;567;g3baca32e0b0_1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g3baca32e0b0_1_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69" name="Google Shape;569;g3baca32e0b0_1_1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70" name="Google Shape;570;g3baca32e0b0_1_10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g3baca32e0b0_1_103"/>
          <p:cNvSpPr/>
          <p:nvPr/>
        </p:nvSpPr>
        <p:spPr>
          <a:xfrm>
            <a:off x="496950" y="230775"/>
            <a:ext cx="83502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800">
                <a:solidFill>
                  <a:srgbClr val="FF0000"/>
                </a:solidFill>
              </a:rPr>
              <a:t>Difference between Full and Para Virtualization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g3baca32e0b0_1_103"/>
          <p:cNvSpPr txBox="1"/>
          <p:nvPr/>
        </p:nvSpPr>
        <p:spPr>
          <a:xfrm>
            <a:off x="116125" y="1272038"/>
            <a:ext cx="4224300" cy="4109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Guest OS executes an instruction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CPU detects </a:t>
            </a:r>
            <a:r>
              <a:rPr b="1" lang="en-IN" sz="1500">
                <a:solidFill>
                  <a:srgbClr val="FF0000"/>
                </a:solidFill>
              </a:rPr>
              <a:t>illegal privilege</a:t>
            </a:r>
            <a:endParaRPr b="1"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CPU raises an </a:t>
            </a:r>
            <a:r>
              <a:rPr b="1" lang="en-IN" sz="1500">
                <a:solidFill>
                  <a:srgbClr val="FF0000"/>
                </a:solidFill>
              </a:rPr>
              <a:t>exception (trap)</a:t>
            </a:r>
            <a:endParaRPr b="1"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Pipeline flush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AutoNum type="arabicPeriod"/>
            </a:pPr>
            <a:r>
              <a:rPr b="1" lang="en-IN" sz="1500">
                <a:solidFill>
                  <a:srgbClr val="FF0000"/>
                </a:solidFill>
              </a:rPr>
              <a:t>Context switch</a:t>
            </a:r>
            <a:endParaRPr b="1"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CPU saves guest state (registers, flags)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Switches to hypervisor context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AutoNum type="arabicPeriod"/>
            </a:pPr>
            <a:r>
              <a:rPr b="1" lang="en-IN" sz="1500">
                <a:solidFill>
                  <a:srgbClr val="FF0000"/>
                </a:solidFill>
              </a:rPr>
              <a:t>Hypervisor decodes the fault</a:t>
            </a:r>
            <a:endParaRPr b="1"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Determines which</a:t>
            </a:r>
            <a:r>
              <a:rPr b="1" lang="en-IN" sz="1500">
                <a:solidFill>
                  <a:srgbClr val="FF0000"/>
                </a:solidFill>
              </a:rPr>
              <a:t> instruction caused the trap </a:t>
            </a:r>
            <a:r>
              <a:rPr lang="en-IN" sz="1500"/>
              <a:t>and what the OS intended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Emulation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IN" sz="1500"/>
              <a:t>Hypervisor performs </a:t>
            </a:r>
            <a:r>
              <a:rPr b="1" lang="en-IN" sz="1500">
                <a:solidFill>
                  <a:srgbClr val="FF0000"/>
                </a:solidFill>
              </a:rPr>
              <a:t>equivalent safe operation</a:t>
            </a:r>
            <a:endParaRPr b="1"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IN" sz="1500"/>
              <a:t>Updates virtual CPU state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Return to guest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Restore guest registers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Resume execution</a:t>
            </a:r>
            <a:endParaRPr sz="1500"/>
          </a:p>
        </p:txBody>
      </p:sp>
      <p:sp>
        <p:nvSpPr>
          <p:cNvPr id="573" name="Google Shape;573;g3baca32e0b0_1_103"/>
          <p:cNvSpPr txBox="1"/>
          <p:nvPr/>
        </p:nvSpPr>
        <p:spPr>
          <a:xfrm>
            <a:off x="4756775" y="1272050"/>
            <a:ext cx="4224300" cy="203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-IN" sz="1500">
                <a:solidFill>
                  <a:srgbClr val="FF0000"/>
                </a:solidFill>
              </a:rPr>
              <a:t>Hypervisor scans guest OS</a:t>
            </a:r>
            <a:r>
              <a:rPr lang="en-IN" sz="1500"/>
              <a:t> code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Detects instructions that Are privileged Or are sensitive but</a:t>
            </a:r>
            <a:r>
              <a:rPr b="1" lang="en-IN" sz="1500">
                <a:solidFill>
                  <a:srgbClr val="FF0000"/>
                </a:solidFill>
              </a:rPr>
              <a:t> does not trap</a:t>
            </a:r>
            <a:endParaRPr b="1"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AutoNum type="arabicPeriod"/>
            </a:pPr>
            <a:r>
              <a:rPr b="1" lang="en-IN" sz="1500">
                <a:solidFill>
                  <a:srgbClr val="FF0000"/>
                </a:solidFill>
              </a:rPr>
              <a:t>Rewrites them</a:t>
            </a:r>
            <a:endParaRPr b="1"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Replaces with</a:t>
            </a:r>
            <a:r>
              <a:rPr b="1" lang="en-IN" sz="1500">
                <a:solidFill>
                  <a:srgbClr val="FF0000"/>
                </a:solidFill>
              </a:rPr>
              <a:t> safe calls</a:t>
            </a:r>
            <a:r>
              <a:rPr lang="en-IN" sz="1500"/>
              <a:t> into hypervisor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Stores translated block in translation cache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Executes translated code</a:t>
            </a:r>
            <a:endParaRPr sz="1500"/>
          </a:p>
        </p:txBody>
      </p:sp>
      <p:sp>
        <p:nvSpPr>
          <p:cNvPr id="574" name="Google Shape;574;g3baca32e0b0_1_103"/>
          <p:cNvSpPr txBox="1"/>
          <p:nvPr/>
        </p:nvSpPr>
        <p:spPr>
          <a:xfrm>
            <a:off x="1733400" y="859250"/>
            <a:ext cx="828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/>
              <a:t>TRAP</a:t>
            </a:r>
            <a:endParaRPr b="1" sz="1600"/>
          </a:p>
        </p:txBody>
      </p:sp>
      <p:sp>
        <p:nvSpPr>
          <p:cNvPr id="575" name="Google Shape;575;g3baca32e0b0_1_103"/>
          <p:cNvSpPr txBox="1"/>
          <p:nvPr/>
        </p:nvSpPr>
        <p:spPr>
          <a:xfrm>
            <a:off x="4930475" y="859250"/>
            <a:ext cx="3876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/>
              <a:t>BINARY TRANSLATION</a:t>
            </a:r>
            <a:endParaRPr b="1" sz="1600"/>
          </a:p>
        </p:txBody>
      </p:sp>
      <p:sp>
        <p:nvSpPr>
          <p:cNvPr id="576" name="Google Shape;576;g3baca32e0b0_1_103"/>
          <p:cNvSpPr txBox="1"/>
          <p:nvPr/>
        </p:nvSpPr>
        <p:spPr>
          <a:xfrm>
            <a:off x="4572000" y="3791425"/>
            <a:ext cx="4409100" cy="249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Guest OS intentionally </a:t>
            </a:r>
            <a:r>
              <a:rPr b="1" lang="en-IN" sz="1500">
                <a:solidFill>
                  <a:srgbClr val="FF0000"/>
                </a:solidFill>
              </a:rPr>
              <a:t>issues a hypercall</a:t>
            </a:r>
            <a:endParaRPr b="1"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CPU performs a controlled transition to hypervisor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Hypervisor executes the requested operation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IN" sz="1500"/>
              <a:t>Clean return to guest OS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/>
              <a:t>✔ No illegal instruction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/>
              <a:t>✔ No exception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/>
              <a:t>✔ No decoding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/>
              <a:t>✔ No emulation</a:t>
            </a:r>
            <a:endParaRPr sz="1500"/>
          </a:p>
        </p:txBody>
      </p:sp>
      <p:sp>
        <p:nvSpPr>
          <p:cNvPr id="577" name="Google Shape;577;g3baca32e0b0_1_103"/>
          <p:cNvSpPr txBox="1"/>
          <p:nvPr/>
        </p:nvSpPr>
        <p:spPr>
          <a:xfrm>
            <a:off x="4930475" y="3459563"/>
            <a:ext cx="3876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600"/>
              <a:t>HYPERCALL</a:t>
            </a:r>
            <a:endParaRPr b="1"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929091e22_0_0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b929091e22_0_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5" name="Google Shape;585;g3b929091e2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175" y="1600200"/>
            <a:ext cx="8911350" cy="413108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6" name="Google Shape;586;g3b929091e22_0_0"/>
          <p:cNvSpPr/>
          <p:nvPr/>
        </p:nvSpPr>
        <p:spPr>
          <a:xfrm>
            <a:off x="396900" y="639225"/>
            <a:ext cx="83502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800">
                <a:solidFill>
                  <a:srgbClr val="FF0000"/>
                </a:solidFill>
              </a:rPr>
              <a:t>Difference between Full and Para Virtualization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baca32e0b0_1_12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3" name="Google Shape;593;g3baca32e0b0_1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g3baca32e0b0_1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95" name="Google Shape;595;g3baca32e0b0_1_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96" name="Google Shape;596;g3baca32e0b0_1_1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g3baca32e0b0_1_120"/>
          <p:cNvSpPr/>
          <p:nvPr/>
        </p:nvSpPr>
        <p:spPr>
          <a:xfrm>
            <a:off x="496950" y="230775"/>
            <a:ext cx="83502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Types of Virtualization- </a:t>
            </a:r>
            <a:r>
              <a:rPr b="1" lang="en-IN" sz="2500">
                <a:solidFill>
                  <a:srgbClr val="FF0000"/>
                </a:solidFill>
              </a:rPr>
              <a:t>3</a:t>
            </a:r>
            <a:r>
              <a:rPr b="1" i="0" lang="en-I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IN" sz="2500">
                <a:solidFill>
                  <a:srgbClr val="FF0000"/>
                </a:solidFill>
              </a:rPr>
              <a:t>Hardware Assisted</a:t>
            </a:r>
            <a:r>
              <a:rPr b="1" i="0" lang="en-I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Virtualization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baca32e0b0_1_120"/>
          <p:cNvSpPr txBox="1"/>
          <p:nvPr/>
        </p:nvSpPr>
        <p:spPr>
          <a:xfrm>
            <a:off x="861450" y="1246375"/>
            <a:ext cx="7421100" cy="4502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>
                <a:solidFill>
                  <a:srgbClr val="001D35"/>
                </a:solidFill>
              </a:rPr>
              <a:t>Uses special CPU features (like </a:t>
            </a:r>
            <a:r>
              <a:rPr lang="en-IN" sz="1900" u="sng">
                <a:solidFill>
                  <a:schemeClr val="hlink"/>
                </a:solidFill>
                <a:hlinkClick r:id="rId7"/>
              </a:rPr>
              <a:t>Intel VT-x</a:t>
            </a:r>
            <a:r>
              <a:rPr lang="en-IN" sz="1900">
                <a:solidFill>
                  <a:srgbClr val="001D35"/>
                </a:solidFill>
              </a:rPr>
              <a:t> or </a:t>
            </a:r>
            <a:r>
              <a:rPr lang="en-IN" sz="1900" u="sng">
                <a:solidFill>
                  <a:schemeClr val="hlink"/>
                </a:solidFill>
                <a:hlinkClick r:id="rId8"/>
              </a:rPr>
              <a:t>AMD-V</a:t>
            </a:r>
            <a:r>
              <a:rPr lang="en-IN" sz="1900">
                <a:solidFill>
                  <a:srgbClr val="001D35"/>
                </a:solidFill>
              </a:rPr>
              <a:t>) to </a:t>
            </a:r>
            <a:r>
              <a:rPr b="1" lang="en-IN" sz="1900">
                <a:solidFill>
                  <a:srgbClr val="FF0000"/>
                </a:solidFill>
              </a:rPr>
              <a:t>offload virtualization tasks from software to the physical hardware</a:t>
            </a:r>
            <a:endParaRPr b="1" sz="1900">
              <a:solidFill>
                <a:srgbClr val="FF0000"/>
              </a:solidFill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>
                <a:solidFill>
                  <a:srgbClr val="001D35"/>
                </a:solidFill>
              </a:rPr>
              <a:t>allowing virtual machines (VMs) to run more efficiently with "near-native" performance by </a:t>
            </a:r>
            <a:r>
              <a:rPr b="1" lang="en-IN" sz="1900">
                <a:solidFill>
                  <a:srgbClr val="FF0000"/>
                </a:solidFill>
              </a:rPr>
              <a:t>directly handling privileged instructions</a:t>
            </a:r>
            <a:r>
              <a:rPr lang="en-IN" sz="1900">
                <a:solidFill>
                  <a:srgbClr val="001D35"/>
                </a:solidFill>
              </a:rPr>
              <a:t> and </a:t>
            </a:r>
            <a:r>
              <a:rPr b="1" lang="en-IN" sz="1900">
                <a:solidFill>
                  <a:srgbClr val="FF0000"/>
                </a:solidFill>
              </a:rPr>
              <a:t>memory management</a:t>
            </a:r>
            <a:r>
              <a:rPr lang="en-IN" sz="1900">
                <a:solidFill>
                  <a:srgbClr val="001D35"/>
                </a:solidFill>
              </a:rPr>
              <a:t>, </a:t>
            </a:r>
            <a:endParaRPr sz="1900">
              <a:solidFill>
                <a:srgbClr val="001D35"/>
              </a:solidFill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IN" sz="1900">
                <a:solidFill>
                  <a:srgbClr val="001D35"/>
                </a:solidFill>
              </a:rPr>
              <a:t>eliminating</a:t>
            </a:r>
            <a:r>
              <a:rPr lang="en-IN" sz="1900">
                <a:solidFill>
                  <a:srgbClr val="001D35"/>
                </a:solidFill>
              </a:rPr>
              <a:t> the performance </a:t>
            </a:r>
            <a:r>
              <a:rPr b="1" lang="en-IN" sz="1900">
                <a:solidFill>
                  <a:srgbClr val="001D35"/>
                </a:solidFill>
              </a:rPr>
              <a:t>bottlenecks</a:t>
            </a:r>
            <a:r>
              <a:rPr lang="en-IN" sz="1900">
                <a:solidFill>
                  <a:srgbClr val="001D35"/>
                </a:solidFill>
              </a:rPr>
              <a:t> of older, software-only methods like binary translation</a:t>
            </a:r>
            <a:r>
              <a:rPr lang="en-IN" sz="1900">
                <a:solidFill>
                  <a:srgbClr val="0A0A0A"/>
                </a:solidFill>
                <a:highlight>
                  <a:srgbClr val="FFFFFF"/>
                </a:highlight>
              </a:rPr>
              <a:t>.</a:t>
            </a:r>
            <a:endParaRPr sz="19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Char char="●"/>
            </a:pPr>
            <a:r>
              <a:rPr b="1" i="1" lang="en-IN" sz="2100">
                <a:solidFill>
                  <a:srgbClr val="FF0000"/>
                </a:solidFill>
                <a:highlight>
                  <a:srgbClr val="FFFFFF"/>
                </a:highlight>
              </a:rPr>
              <a:t>CPU itself is configured to trigger a VM-exit when certain instructions/events occur.</a:t>
            </a:r>
            <a:endParaRPr b="1" i="1" sz="210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baca32e0b0_1_14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5" name="Google Shape;605;g3baca32e0b0_1_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g3baca32e0b0_1_1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07" name="Google Shape;607;g3baca32e0b0_1_1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08" name="Google Shape;608;g3baca32e0b0_1_1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g3baca32e0b0_1_147"/>
          <p:cNvSpPr/>
          <p:nvPr/>
        </p:nvSpPr>
        <p:spPr>
          <a:xfrm>
            <a:off x="496950" y="230775"/>
            <a:ext cx="83502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500">
                <a:solidFill>
                  <a:srgbClr val="FF0000"/>
                </a:solidFill>
              </a:rPr>
              <a:t>3</a:t>
            </a:r>
            <a:r>
              <a:rPr b="1" i="0" lang="en-I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IN" sz="2500">
                <a:solidFill>
                  <a:srgbClr val="FF0000"/>
                </a:solidFill>
              </a:rPr>
              <a:t>Hardware Assisted</a:t>
            </a:r>
            <a:r>
              <a:rPr b="1" i="0" lang="en-I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Virtualization </a:t>
            </a:r>
            <a:r>
              <a:rPr b="1" lang="en-IN" sz="2500">
                <a:solidFill>
                  <a:srgbClr val="FF0000"/>
                </a:solidFill>
              </a:rPr>
              <a:t>- Benefits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3baca32e0b0_1_147"/>
          <p:cNvSpPr txBox="1"/>
          <p:nvPr/>
        </p:nvSpPr>
        <p:spPr>
          <a:xfrm>
            <a:off x="861450" y="1246375"/>
            <a:ext cx="7421100" cy="326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Performance:</a:t>
            </a: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b="1" lang="en-IN" sz="2000">
                <a:solidFill>
                  <a:srgbClr val="FF0000"/>
                </a:solidFill>
                <a:highlight>
                  <a:srgbClr val="FFFFFF"/>
                </a:highlight>
              </a:rPr>
              <a:t>Near-native performance</a:t>
            </a: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 for VMs due to direct hardware management.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Efficiency: </a:t>
            </a:r>
            <a:r>
              <a:rPr b="1" lang="en-IN" sz="2000">
                <a:solidFill>
                  <a:srgbClr val="FF0000"/>
                </a:solidFill>
                <a:highlight>
                  <a:srgbClr val="FFFFFF"/>
                </a:highlight>
              </a:rPr>
              <a:t>Less CPU overhead</a:t>
            </a: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 compared to software-based methods.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Security:</a:t>
            </a:r>
            <a:r>
              <a:rPr b="1" lang="en-IN" sz="2000">
                <a:solidFill>
                  <a:srgbClr val="FF0000"/>
                </a:solidFill>
                <a:highlight>
                  <a:srgbClr val="FFFFFF"/>
                </a:highlight>
              </a:rPr>
              <a:t> Improved isolation and control over privileged operations.</a:t>
            </a:r>
            <a:endParaRPr b="1" sz="200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Simplicity: Streamlined software stacks for hypervisors.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b929091e22_0_9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b929091e22_0_9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b929091e22_0_9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9" name="Google Shape;619;g3b929091e22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750" y="1319875"/>
            <a:ext cx="6925903" cy="452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0" name="Google Shape;620;g3b929091e22_0_9"/>
          <p:cNvSpPr/>
          <p:nvPr/>
        </p:nvSpPr>
        <p:spPr>
          <a:xfrm>
            <a:off x="496950" y="372300"/>
            <a:ext cx="83502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500">
                <a:solidFill>
                  <a:srgbClr val="FF0000"/>
                </a:solidFill>
              </a:rPr>
              <a:t>3</a:t>
            </a:r>
            <a:r>
              <a:rPr b="1" i="0" lang="en-I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IN" sz="2500">
                <a:solidFill>
                  <a:srgbClr val="FF0000"/>
                </a:solidFill>
              </a:rPr>
              <a:t>Hardware Assisted</a:t>
            </a:r>
            <a:r>
              <a:rPr b="1" i="0" lang="en-I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Virtualization </a:t>
            </a:r>
            <a:r>
              <a:rPr b="1" lang="en-IN" sz="2500">
                <a:solidFill>
                  <a:srgbClr val="FF0000"/>
                </a:solidFill>
              </a:rPr>
              <a:t>- Benefits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baca32e0b0_1_158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7" name="Google Shape;627;g3baca32e0b0_1_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g3baca32e0b0_1_1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29" name="Google Shape;629;g3baca32e0b0_1_1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30" name="Google Shape;630;g3baca32e0b0_1_1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g3baca32e0b0_1_158"/>
          <p:cNvSpPr/>
          <p:nvPr/>
        </p:nvSpPr>
        <p:spPr>
          <a:xfrm>
            <a:off x="496950" y="230775"/>
            <a:ext cx="83502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Types of Virtualization- </a:t>
            </a:r>
            <a:r>
              <a:rPr b="1" lang="en-IN" sz="2500">
                <a:solidFill>
                  <a:srgbClr val="FF0000"/>
                </a:solidFill>
              </a:rPr>
              <a:t>4</a:t>
            </a:r>
            <a:r>
              <a:rPr b="1" i="0" lang="en-IN" sz="2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en-IN" sz="2500">
                <a:solidFill>
                  <a:srgbClr val="FF0000"/>
                </a:solidFill>
              </a:rPr>
              <a:t>Partial Virtualization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g3baca32e0b0_1_158"/>
          <p:cNvSpPr txBox="1"/>
          <p:nvPr/>
        </p:nvSpPr>
        <p:spPr>
          <a:xfrm>
            <a:off x="861450" y="1246375"/>
            <a:ext cx="7421100" cy="3547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Char char="●"/>
            </a:pPr>
            <a:r>
              <a:rPr lang="en-IN" sz="1900">
                <a:solidFill>
                  <a:srgbClr val="001D35"/>
                </a:solidFill>
              </a:rPr>
              <a:t>Partial virtualization</a:t>
            </a:r>
            <a:r>
              <a:rPr b="1" lang="en-IN" sz="1900">
                <a:solidFill>
                  <a:srgbClr val="001D35"/>
                </a:solidFill>
              </a:rPr>
              <a:t> virtualizes only a subset of hardware resources</a:t>
            </a:r>
            <a:r>
              <a:rPr lang="en-IN" sz="1900">
                <a:solidFill>
                  <a:srgbClr val="001D35"/>
                </a:solidFill>
              </a:rPr>
              <a:t>, while the remaining resources are exposed directly to the guest OS.</a:t>
            </a:r>
            <a:endParaRPr sz="1900">
              <a:solidFill>
                <a:srgbClr val="001D35"/>
              </a:solidFill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900"/>
              <a:buChar char="●"/>
            </a:pPr>
            <a:r>
              <a:rPr b="1" lang="en-IN" sz="1900">
                <a:solidFill>
                  <a:srgbClr val="001D35"/>
                </a:solidFill>
              </a:rPr>
              <a:t>Guest OS is modified</a:t>
            </a:r>
            <a:r>
              <a:rPr lang="en-IN" sz="1900">
                <a:solidFill>
                  <a:srgbClr val="001D35"/>
                </a:solidFill>
              </a:rPr>
              <a:t> so that it knows which resources are real and which are virtual</a:t>
            </a:r>
            <a:endParaRPr sz="1900">
              <a:solidFill>
                <a:srgbClr val="001D35"/>
              </a:solidFill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900"/>
              <a:buChar char="●"/>
            </a:pPr>
            <a:r>
              <a:rPr lang="en-IN" sz="1900">
                <a:solidFill>
                  <a:srgbClr val="001D35"/>
                </a:solidFill>
              </a:rPr>
              <a:t>Early CPUs could not virtualize all instructions cleanly, hardware support was missing, full virtualization was inefficient - </a:t>
            </a:r>
            <a:r>
              <a:rPr b="1" lang="en-IN" sz="1900">
                <a:solidFill>
                  <a:srgbClr val="FF0000"/>
                </a:solidFill>
              </a:rPr>
              <a:t>academic and historical context</a:t>
            </a:r>
            <a:endParaRPr b="1" sz="19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b7339b4998_0_22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g3b7339b4998_0_2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0" name="Google Shape;640;g3b7339b4998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77" y="171650"/>
            <a:ext cx="2304225" cy="276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1" name="Google Shape;641;g3b7339b4998_0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7126" y="519326"/>
            <a:ext cx="2905575" cy="19335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2" name="Google Shape;642;g3b7339b4998_0_22"/>
          <p:cNvSpPr txBox="1"/>
          <p:nvPr/>
        </p:nvSpPr>
        <p:spPr>
          <a:xfrm>
            <a:off x="108275" y="4793100"/>
            <a:ext cx="3000000" cy="141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/>
              <a:t>Guest OS = Unaware child</a:t>
            </a:r>
            <a:br>
              <a:rPr lang="en-IN" sz="1600"/>
            </a:b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/>
              <a:t>Hypervisor = Game engine</a:t>
            </a:r>
            <a:br>
              <a:rPr lang="en-IN" sz="1600"/>
            </a:b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/>
              <a:t>Hardware = Real car</a:t>
            </a:r>
            <a:endParaRPr sz="1600"/>
          </a:p>
        </p:txBody>
      </p:sp>
      <p:sp>
        <p:nvSpPr>
          <p:cNvPr id="643" name="Google Shape;643;g3b7339b4998_0_22"/>
          <p:cNvSpPr txBox="1"/>
          <p:nvPr/>
        </p:nvSpPr>
        <p:spPr>
          <a:xfrm>
            <a:off x="3257875" y="4509425"/>
            <a:ext cx="30000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Guest OS = Aware child</a:t>
            </a:r>
            <a:br>
              <a:rPr lang="en-I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Hypervisor = Instructor</a:t>
            </a:r>
            <a:br>
              <a:rPr lang="en-I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>
                <a:solidFill>
                  <a:schemeClr val="dk1"/>
                </a:solidFill>
              </a:rPr>
              <a:t>Hardware = Real car</a:t>
            </a:r>
            <a:br>
              <a:rPr lang="en-I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</p:txBody>
      </p:sp>
      <p:sp>
        <p:nvSpPr>
          <p:cNvPr id="644" name="Google Shape;644;g3b7339b4998_0_22"/>
          <p:cNvSpPr txBox="1"/>
          <p:nvPr/>
        </p:nvSpPr>
        <p:spPr>
          <a:xfrm>
            <a:off x="6407475" y="4663325"/>
            <a:ext cx="3000000" cy="1262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Guest OS = Student driver</a:t>
            </a:r>
            <a:br>
              <a:rPr lang="en-I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Hypervisor = Instructor</a:t>
            </a:r>
            <a:br>
              <a:rPr lang="en-I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CPU = Dual-control car</a:t>
            </a:r>
            <a:endParaRPr/>
          </a:p>
        </p:txBody>
      </p:sp>
      <p:sp>
        <p:nvSpPr>
          <p:cNvPr id="645" name="Google Shape;645;g3b7339b4998_0_22"/>
          <p:cNvSpPr txBox="1"/>
          <p:nvPr/>
        </p:nvSpPr>
        <p:spPr>
          <a:xfrm>
            <a:off x="6262375" y="2850088"/>
            <a:ext cx="2714700" cy="1262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 A car designed with </a:t>
            </a:r>
            <a:r>
              <a:rPr b="1" lang="en-IN">
                <a:solidFill>
                  <a:schemeClr val="dk1"/>
                </a:solidFill>
              </a:rPr>
              <a:t>dual controls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Instructor and student both have pedals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The car itself ensures safety</a:t>
            </a:r>
            <a:endParaRPr/>
          </a:p>
        </p:txBody>
      </p:sp>
      <p:sp>
        <p:nvSpPr>
          <p:cNvPr id="646" name="Google Shape;646;g3b7339b4998_0_22"/>
          <p:cNvSpPr txBox="1"/>
          <p:nvPr/>
        </p:nvSpPr>
        <p:spPr>
          <a:xfrm>
            <a:off x="3071850" y="2797950"/>
            <a:ext cx="3000000" cy="1262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Learner</a:t>
            </a:r>
            <a:r>
              <a:rPr lang="en-IN">
                <a:solidFill>
                  <a:schemeClr val="dk1"/>
                </a:solidFill>
              </a:rPr>
              <a:t> knows they are in a </a:t>
            </a:r>
            <a:r>
              <a:rPr b="1" lang="en-IN">
                <a:solidFill>
                  <a:schemeClr val="dk1"/>
                </a:solidFill>
              </a:rPr>
              <a:t>driving school simulator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Instead of pressing pedals directly, they </a:t>
            </a:r>
            <a:r>
              <a:rPr b="1" lang="en-IN">
                <a:solidFill>
                  <a:schemeClr val="dk1"/>
                </a:solidFill>
              </a:rPr>
              <a:t>ask the instructor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“Please accelerate”, “Please brake”</a:t>
            </a:r>
            <a:endParaRPr/>
          </a:p>
        </p:txBody>
      </p:sp>
      <p:pic>
        <p:nvPicPr>
          <p:cNvPr id="647" name="Google Shape;647;g3b7339b4998_0_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9125" y="485583"/>
            <a:ext cx="3000000" cy="2001003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g3b7339b4998_0_22"/>
          <p:cNvSpPr txBox="1"/>
          <p:nvPr/>
        </p:nvSpPr>
        <p:spPr>
          <a:xfrm>
            <a:off x="0" y="3053575"/>
            <a:ext cx="3000000" cy="147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 A child is playing a </a:t>
            </a:r>
            <a:r>
              <a:rPr b="1" lang="en-IN">
                <a:solidFill>
                  <a:schemeClr val="dk1"/>
                </a:solidFill>
              </a:rPr>
              <a:t>video game driving simulator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The child thinks they are driving a real car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But every action is </a:t>
            </a:r>
            <a:r>
              <a:rPr b="1" lang="en-IN">
                <a:solidFill>
                  <a:schemeClr val="dk1"/>
                </a:solidFill>
              </a:rPr>
              <a:t>intercepted and simulated</a:t>
            </a:r>
            <a:r>
              <a:rPr lang="en-IN">
                <a:solidFill>
                  <a:schemeClr val="dk1"/>
                </a:solidFill>
              </a:rPr>
              <a:t> by the game engine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b7b2301977_1_155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5" name="Google Shape;655;g3b7b2301977_1_155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6" name="Google Shape;656;g3b7b2301977_1_15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7" name="Google Shape;657;g3b7b2301977_1_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7738"/>
            <a:ext cx="9143999" cy="52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baca32e0b0_1_198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4" name="Google Shape;664;g3baca32e0b0_1_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g3baca32e0b0_1_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66" name="Google Shape;666;g3baca32e0b0_1_1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67" name="Google Shape;667;g3baca32e0b0_1_1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g3baca32e0b0_1_198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Knowledge Check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3baca32e0b0_1_198"/>
          <p:cNvSpPr/>
          <p:nvPr/>
        </p:nvSpPr>
        <p:spPr>
          <a:xfrm>
            <a:off x="478800" y="1126950"/>
            <a:ext cx="8483700" cy="4401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Q1. In full virtualization, how are privileged operations handled?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A. </a:t>
            </a:r>
            <a:r>
              <a:rPr lang="en-IN" sz="2000">
                <a:solidFill>
                  <a:schemeClr val="dk1"/>
                </a:solidFill>
              </a:rPr>
              <a:t>Privileged instructions are trapped or binary translated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B. Guest OS issues hypercalls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C. </a:t>
            </a:r>
            <a:r>
              <a:rPr lang="en-IN" sz="2000">
                <a:solidFill>
                  <a:schemeClr val="dk1"/>
                </a:solidFill>
              </a:rPr>
              <a:t>Guest OS executes privileged instructions directly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D. CPU performs VM-exit automatically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Q2. Which virtualization technique requires modification of the guest operating system?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A. Full virtualization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B. Hardware-assisted virtualization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C. Para-virtualization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D. Emulation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baca32e0b0_1_21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6" name="Google Shape;676;g3baca32e0b0_1_2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g3baca32e0b0_1_2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78" name="Google Shape;678;g3baca32e0b0_1_2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79" name="Google Shape;679;g3baca32e0b0_1_2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g3baca32e0b0_1_210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Knowledge Check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g3baca32e0b0_1_210"/>
          <p:cNvSpPr/>
          <p:nvPr/>
        </p:nvSpPr>
        <p:spPr>
          <a:xfrm>
            <a:off x="478800" y="1126950"/>
            <a:ext cx="8483700" cy="469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Q3. In hardware-assisted virtualization, which entity triggers transfer of control to the hypervisor?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A. Guest OS using hypercalls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B. </a:t>
            </a:r>
            <a:r>
              <a:rPr lang="en-IN" sz="2000">
                <a:solidFill>
                  <a:schemeClr val="dk1"/>
                </a:solidFill>
              </a:rPr>
              <a:t>CPU using VM-exit mechanism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C. </a:t>
            </a:r>
            <a:r>
              <a:rPr lang="en-IN" sz="2000">
                <a:solidFill>
                  <a:schemeClr val="dk1"/>
                </a:solidFill>
              </a:rPr>
              <a:t>Guest OS due to illegal instruction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D. Host operating system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Q4. In which virtualization technique does the guest OS typically run unmodified in Ring 0?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A. Full virtualization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B. Para-virtualization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C. Hardware-assisted virtualization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D. Partial virtualization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baca32e0b0_1_22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8" name="Google Shape;688;g3baca32e0b0_1_2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g3baca32e0b0_1_2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690" name="Google Shape;690;g3baca32e0b0_1_2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91" name="Google Shape;691;g3baca32e0b0_1_2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g3baca32e0b0_1_221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Knowledge Check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g3baca32e0b0_1_221"/>
          <p:cNvSpPr/>
          <p:nvPr/>
        </p:nvSpPr>
        <p:spPr>
          <a:xfrm>
            <a:off x="478800" y="1126950"/>
            <a:ext cx="8483700" cy="469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Q5. Which of the following correctly orders virtualization techniques from highest to lowest performance?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A. Para → Full → Hardware-assisted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B. Hardware-assisted → Para → Full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C. Full → Para → Hardware-assisted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D. Hardware-assisted → Full → Para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Q6. What is the key advantage of para-virtualization over full virtualization?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A. Guest OS runs unmodified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B. CPU handles virtualization automatically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C. Reduced overhead by avoiding traps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D. No need for hypervisor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b8d6464d38_0_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0" name="Google Shape;700;g3b8d6464d3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g3b8d6464d3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702" name="Google Shape;702;g3b8d6464d38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03" name="Google Shape;703;g3b8d6464d38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g3b8d6464d38_0_0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7. </a:t>
            </a: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Types of Virtualization (</a:t>
            </a:r>
            <a:r>
              <a:rPr b="1" lang="en-IN" sz="3000">
                <a:solidFill>
                  <a:srgbClr val="FF0000"/>
                </a:solidFill>
              </a:rPr>
              <a:t>Where</a:t>
            </a: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5" name="Google Shape;705;g3b8d6464d38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6513" y="1239720"/>
            <a:ext cx="7870966" cy="443088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6" name="Google Shape;706;g3b8d6464d38_0_0"/>
          <p:cNvSpPr txBox="1"/>
          <p:nvPr/>
        </p:nvSpPr>
        <p:spPr>
          <a:xfrm>
            <a:off x="1070950" y="1681650"/>
            <a:ext cx="1865100" cy="424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/>
              <a:t>(</a:t>
            </a:r>
            <a:r>
              <a:rPr b="1" lang="en-IN" sz="1800"/>
              <a:t>Bare Metal)</a:t>
            </a:r>
            <a:endParaRPr b="1" sz="1800"/>
          </a:p>
        </p:txBody>
      </p:sp>
      <p:sp>
        <p:nvSpPr>
          <p:cNvPr id="707" name="Google Shape;707;g3b8d6464d38_0_0"/>
          <p:cNvSpPr txBox="1"/>
          <p:nvPr/>
        </p:nvSpPr>
        <p:spPr>
          <a:xfrm>
            <a:off x="7205700" y="1087325"/>
            <a:ext cx="1425900" cy="38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/>
              <a:t>Hosted</a:t>
            </a:r>
            <a:r>
              <a:rPr b="1" lang="en-IN" sz="1800"/>
              <a:t>)</a:t>
            </a:r>
            <a:endParaRPr b="1" sz="1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baca32e0b0_1_17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4" name="Google Shape;714;g3baca32e0b0_1_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g3baca32e0b0_1_1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716" name="Google Shape;716;g3baca32e0b0_1_1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17" name="Google Shape;717;g3baca32e0b0_1_1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g3baca32e0b0_1_171"/>
          <p:cNvSpPr/>
          <p:nvPr/>
        </p:nvSpPr>
        <p:spPr>
          <a:xfrm>
            <a:off x="478688" y="284925"/>
            <a:ext cx="81528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Types of Virtualization (</a:t>
            </a:r>
            <a:r>
              <a:rPr b="1" lang="en-IN" sz="3000">
                <a:solidFill>
                  <a:srgbClr val="FF0000"/>
                </a:solidFill>
              </a:rPr>
              <a:t>Where</a:t>
            </a: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9" name="Google Shape;719;g3baca32e0b0_1_171"/>
          <p:cNvGraphicFramePr/>
          <p:nvPr/>
        </p:nvGraphicFramePr>
        <p:xfrm>
          <a:off x="2818363" y="120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{F8D465A9-3F72-4788-94C0-18515E385642}</a:tableStyleId>
              </a:tblPr>
              <a:tblGrid>
                <a:gridCol w="29404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700">
                          <a:solidFill>
                            <a:srgbClr val="FF0000"/>
                          </a:solidFill>
                        </a:rPr>
                        <a:t>Parameter</a:t>
                      </a:r>
                      <a:endParaRPr b="1" sz="17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Terminology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Booting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Other Names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Efficiency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Virtualization Support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Availability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Performance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Security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Usage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600"/>
                        <a:t>Examples</a:t>
                      </a:r>
                      <a:endParaRPr b="1"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b8d6464d38_0_13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6" name="Google Shape;726;g3b8d6464d38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g3b8d6464d38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728" name="Google Shape;728;g3b8d6464d38_0_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29" name="Google Shape;729;g3b8d6464d38_0_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g3b8d6464d38_0_13"/>
          <p:cNvSpPr/>
          <p:nvPr/>
        </p:nvSpPr>
        <p:spPr>
          <a:xfrm>
            <a:off x="478688" y="284925"/>
            <a:ext cx="81528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Types of Virtualization (</a:t>
            </a:r>
            <a:r>
              <a:rPr b="1" lang="en-IN" sz="3000">
                <a:solidFill>
                  <a:srgbClr val="FF0000"/>
                </a:solidFill>
              </a:rPr>
              <a:t>Where</a:t>
            </a: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31" name="Google Shape;731;g3b8d6464d38_0_13"/>
          <p:cNvGraphicFramePr/>
          <p:nvPr/>
        </p:nvGraphicFramePr>
        <p:xfrm>
          <a:off x="42863" y="93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{F8D465A9-3F72-4788-94C0-18515E385642}</a:tableStyleId>
              </a:tblPr>
              <a:tblGrid>
                <a:gridCol w="1466850"/>
                <a:gridCol w="4286250"/>
                <a:gridCol w="33051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FF0000"/>
                          </a:solidFill>
                        </a:rPr>
                        <a:t>Parameter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FF0000"/>
                          </a:solidFill>
                        </a:rPr>
                        <a:t>Type 1 Hypervisor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>
                          <a:solidFill>
                            <a:srgbClr val="FF0000"/>
                          </a:solidFill>
                        </a:rPr>
                        <a:t>Type 2 Hypervisor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Terminology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Runs directly on system hardware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Runs on top of a host operating system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Booting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Boots before any guest 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Starts after the host OS is running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Other Names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Native / Bare-metal hypervisor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Hosted hypervisor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Efficiency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High, due to minimal overhead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Lower, due to host OS overhead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Virtualization Support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Hardware-assisted virtualization (VT-x / AMD-V)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Hosted (hypervisor-on-OS) virtualization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Availability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High; failure of one VM does not affect others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Lower; host OS failure affects all VMs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Performance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Near-native, very high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Reduced due to extra software layer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Security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Strong isolation, smaller attack surface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Weaker due to host OS vulnerabilities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Usage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Data centres, cloud platforms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Labs, desktops, testing environments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/>
                        <a:t>Examples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VMware ESXi, Xen (Citrix XenServer), Microsoft Hyper-V (bare-metal)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VirtualBox, VMware Workstation, Microsoft Virtual PC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baca32e0b0_1_23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8" name="Google Shape;738;g3baca32e0b0_1_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g3baca32e0b0_1_2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740" name="Google Shape;740;g3baca32e0b0_1_2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41" name="Google Shape;741;g3baca32e0b0_1_2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g3baca32e0b0_1_232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Knowledge Check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g3baca32e0b0_1_232"/>
          <p:cNvSpPr/>
          <p:nvPr/>
        </p:nvSpPr>
        <p:spPr>
          <a:xfrm>
            <a:off x="478800" y="1126950"/>
            <a:ext cx="8483700" cy="469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Q1. Which statement is TRUE regarding performance?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A. Type-2 hypervisors generally provide better performance than Type-1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B. Type-1 hypervisors have higher overhead due to host OS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C. Type-1 hypervisors generally provide better performance than Type-2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D. Performance is identical for both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Q2. In which environment are Type-1 hypervisors most commonly used?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A. Personal desktops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B. Development laptops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C. Cloud data centers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/>
              <a:t>D. Mobile devices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2023-02-09T09:07:05Z</dcterms:created>
  <dc:creator>Admin</dc:creator>
</cp:coreProperties>
</file>