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6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6" r:id="rId49"/>
    <p:sldId id="307" r:id="rId50"/>
    <p:sldId id="308" r:id="rId51"/>
    <p:sldId id="309" r:id="rId52"/>
    <p:sldId id="310" r:id="rId53"/>
    <p:sldId id="311" r:id="rId54"/>
    <p:sldId id="312" r:id="rId55"/>
    <p:sldId id="313" r:id="rId56"/>
    <p:sldId id="314" r:id="rId57"/>
    <p:sldId id="315" r:id="rId58"/>
    <p:sldId id="316" r:id="rId59"/>
    <p:sldId id="317" r:id="rId60"/>
  </p:sldIdLst>
  <p:sldSz cx="9144000" cy="6858000" type="screen4x3"/>
  <p:notesSz cx="6858000" cy="9144000"/>
  <p:embeddedFontLst>
    <p:embeddedFont>
      <p:font typeface="Fira Sans" panose="020B0604020202020204" charset="0"/>
      <p:regular r:id="rId62"/>
      <p:bold r:id="rId63"/>
      <p:italic r:id="rId64"/>
      <p:boldItalic r:id="rId65"/>
    </p:embeddedFont>
    <p:embeddedFont>
      <p:font typeface="Marcellus" panose="020B0604020202020204" charset="0"/>
      <p:regular r:id="rId66"/>
    </p:embeddedFont>
    <p:embeddedFont>
      <p:font typeface="Calibri" panose="020F0502020204030204" pitchFamily="34" charset="0"/>
      <p:regular r:id="rId67"/>
      <p:bold r:id="rId68"/>
      <p:italic r:id="rId69"/>
      <p:boldItalic r:id="rId7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p15:guide id="1" orient="horz" pos="2160">
          <p15:clr>
            <a:srgbClr val="000000"/>
          </p15:clr>
        </p15:guide>
        <p15:guide id="2" pos="2880">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4" roundtripDataSignature="AMtx7mjp6XmWKhH6TBn46CGbskCiOPXkB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DD32086A-9558-43C3-8A22-B6B2C2D6A52E}">
  <a:tblStyle styleId="{DD32086A-9558-43C3-8A22-B6B2C2D6A52E}"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708E9160-7032-41F5-802E-B7FD925B90A3}" styleName="Table_1">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a:tcStyle>
        <a:tcBdr/>
        <a:fill>
          <a:solidFill>
            <a:srgbClr val="D0DEEF"/>
          </a:solidFill>
        </a:fill>
      </a:tcStyle>
    </a:band1H>
    <a:band2H>
      <a:tcTxStyle/>
      <a:tcStyle>
        <a:tcBdr/>
      </a:tcStyle>
    </a:band2H>
    <a:band1V>
      <a:tcTxStyle/>
      <a:tcStyle>
        <a:tcBdr/>
        <a:fill>
          <a:solidFill>
            <a:srgbClr val="D0DEEF"/>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1" d="100"/>
          <a:sy n="61" d="100"/>
        </p:scale>
        <p:origin x="-1344" y="-5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font" Target="fonts/font2.fntdata"/><Relationship Id="rId68" Type="http://schemas.openxmlformats.org/officeDocument/2006/relationships/font" Target="fonts/font7.fntdata"/><Relationship Id="rId76"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font" Target="fonts/font5.fntdata"/><Relationship Id="rId74"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font" Target="fonts/font4.fntdata"/><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3.fntdata"/><Relationship Id="rId69" Type="http://schemas.openxmlformats.org/officeDocument/2006/relationships/font" Target="fonts/font8.fntdata"/><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6.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1.fntdata"/><Relationship Id="rId70" Type="http://schemas.openxmlformats.org/officeDocument/2006/relationships/font" Target="fonts/font9.fntdata"/><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37565093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 name="Google Shape;103;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 name="Google Shape;104;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3" name="Google Shape;113;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1" name="Google Shape;121;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8" name="Google Shape;128;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5" name="Google Shape;135;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5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3" name="Google Shape;143;p5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0" name="Google Shape;150;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7" name="Google Shape;157;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5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4" name="Google Shape;164;p5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1" name="Google Shape;171;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5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9" name="Google Shape;179;p5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5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6" name="Google Shape;186;p5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2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3" name="Google Shape;193;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2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0" name="Google Shape;200;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2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8" name="Google Shape;208;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2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6" name="Google Shape;216;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2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3" name="Google Shape;223;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5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0" name="Google Shape;230;p5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5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8" name="Google Shape;238;p5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2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5" name="Google Shape;245;p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2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0" name="Google Shape;260;p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p2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8" name="Google Shape;268;p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3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5" name="Google Shape;275;p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5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2" name="Google Shape;282;p5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6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9" name="Google Shape;289;p6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p6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6" name="Google Shape;296;p6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6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3" name="Google Shape;303;p6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6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0" name="Google Shape;310;p6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p6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7" name="Google Shape;317;p6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6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4" name="Google Shape;324;p6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p6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1" name="Google Shape;331;p6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p6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8" name="Google Shape;338;p6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6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6" name="Google Shape;346;p6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p6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4" name="Google Shape;354;p6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p7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1" name="Google Shape;361;p7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p7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8" name="Google Shape;368;p7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p7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5" name="Google Shape;375;p7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p7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2" name="Google Shape;382;p7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p7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9" name="Google Shape;389;p7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p7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6" name="Google Shape;396;p7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p7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3" name="Google Shape;403;p7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
        <p:cNvGrpSpPr/>
        <p:nvPr/>
      </p:nvGrpSpPr>
      <p:grpSpPr>
        <a:xfrm>
          <a:off x="0" y="0"/>
          <a:ext cx="0" cy="0"/>
          <a:chOff x="0" y="0"/>
          <a:chExt cx="0" cy="0"/>
        </a:xfrm>
      </p:grpSpPr>
      <p:sp>
        <p:nvSpPr>
          <p:cNvPr id="409" name="Google Shape;409;p7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0" name="Google Shape;410;p7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p7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7" name="Google Shape;417;p7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p7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4" name="Google Shape;424;p7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p8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1" name="Google Shape;431;p8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p8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8" name="Google Shape;438;p8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p8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5" name="Google Shape;445;p8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4"/>
        <p:cNvGrpSpPr/>
        <p:nvPr/>
      </p:nvGrpSpPr>
      <p:grpSpPr>
        <a:xfrm>
          <a:off x="0" y="0"/>
          <a:ext cx="0" cy="0"/>
          <a:chOff x="0" y="0"/>
          <a:chExt cx="0" cy="0"/>
        </a:xfrm>
      </p:grpSpPr>
      <p:sp>
        <p:nvSpPr>
          <p:cNvPr id="465" name="Google Shape;465;p8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6" name="Google Shape;466;p8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p8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3" name="Google Shape;473;p8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p8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0" name="Google Shape;480;p8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p8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7" name="Google Shape;487;p8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p8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4" name="Google Shape;494;p8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p9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1" name="Google Shape;501;p9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p9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8" name="Google Shape;508;p9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3"/>
        <p:cNvGrpSpPr/>
        <p:nvPr/>
      </p:nvGrpSpPr>
      <p:grpSpPr>
        <a:xfrm>
          <a:off x="0" y="0"/>
          <a:ext cx="0" cy="0"/>
          <a:chOff x="0" y="0"/>
          <a:chExt cx="0" cy="0"/>
        </a:xfrm>
      </p:grpSpPr>
      <p:sp>
        <p:nvSpPr>
          <p:cNvPr id="514" name="Google Shape;514;p9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5" name="Google Shape;515;p9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p9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2" name="Google Shape;522;p9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7"/>
        <p:cNvGrpSpPr/>
        <p:nvPr/>
      </p:nvGrpSpPr>
      <p:grpSpPr>
        <a:xfrm>
          <a:off x="0" y="0"/>
          <a:ext cx="0" cy="0"/>
          <a:chOff x="0" y="0"/>
          <a:chExt cx="0" cy="0"/>
        </a:xfrm>
      </p:grpSpPr>
      <p:sp>
        <p:nvSpPr>
          <p:cNvPr id="528" name="Google Shape;528;p9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9" name="Google Shape;529;p9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p9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6" name="Google Shape;536;p9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1"/>
        <p:cNvGrpSpPr/>
        <p:nvPr/>
      </p:nvGrpSpPr>
      <p:grpSpPr>
        <a:xfrm>
          <a:off x="0" y="0"/>
          <a:ext cx="0" cy="0"/>
          <a:chOff x="0" y="0"/>
          <a:chExt cx="0" cy="0"/>
        </a:xfrm>
      </p:grpSpPr>
      <p:sp>
        <p:nvSpPr>
          <p:cNvPr id="542" name="Google Shape;542;p3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43" name="Google Shape;543;p3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type="title">
  <p:cSld name="TITLE">
    <p:spTree>
      <p:nvGrpSpPr>
        <p:cNvPr id="1" name="Shape 24"/>
        <p:cNvGrpSpPr/>
        <p:nvPr/>
      </p:nvGrpSpPr>
      <p:grpSpPr>
        <a:xfrm>
          <a:off x="0" y="0"/>
          <a:ext cx="0" cy="0"/>
          <a:chOff x="0" y="0"/>
          <a:chExt cx="0" cy="0"/>
        </a:xfrm>
      </p:grpSpPr>
      <p:sp>
        <p:nvSpPr>
          <p:cNvPr id="25" name="Google Shape;25;p36"/>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6" name="Google Shape;26;p36"/>
          <p:cNvSpPr txBox="1">
            <a:spLocks noGrp="1"/>
          </p:cNvSpPr>
          <p:nvPr>
            <p:ph type="subTitle" idx="1"/>
          </p:nvPr>
        </p:nvSpPr>
        <p:spPr>
          <a:xfrm>
            <a:off x="685800" y="3886200"/>
            <a:ext cx="7086600" cy="17526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Noto Sans Symbols"/>
              <a:buNone/>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7"/>
        <p:cNvGrpSpPr/>
        <p:nvPr/>
      </p:nvGrpSpPr>
      <p:grpSpPr>
        <a:xfrm>
          <a:off x="0" y="0"/>
          <a:ext cx="0" cy="0"/>
          <a:chOff x="0" y="0"/>
          <a:chExt cx="0" cy="0"/>
        </a:xfrm>
      </p:grpSpPr>
      <p:sp>
        <p:nvSpPr>
          <p:cNvPr id="28" name="Google Shape;28;p37"/>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29" name="Google Shape;29;p37"/>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30" name="Google Shape;30;p37"/>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
        <p:nvSpPr>
          <p:cNvPr id="31" name="Google Shape;31;p37"/>
          <p:cNvSpPr txBox="1">
            <a:spLocks noGrp="1"/>
          </p:cNvSpPr>
          <p:nvPr>
            <p:ph type="title"/>
          </p:nvPr>
        </p:nvSpPr>
        <p:spPr>
          <a:xfrm>
            <a:off x="817323" y="214817"/>
            <a:ext cx="7402883" cy="874951"/>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0"/>
              </a:spcBef>
              <a:spcAft>
                <a:spcPts val="0"/>
              </a:spcAft>
              <a:buClr>
                <a:srgbClr val="930B0B"/>
              </a:buClr>
              <a:buSzPts val="3600"/>
              <a:buFont typeface="Times New Roman"/>
              <a:buNone/>
              <a:defRPr sz="3600" b="0" i="0" u="none" strike="noStrike" cap="none">
                <a:solidFill>
                  <a:srgbClr val="930B0B"/>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32" name="Google Shape;32;p37"/>
          <p:cNvSpPr txBox="1">
            <a:spLocks noGrp="1"/>
          </p:cNvSpPr>
          <p:nvPr>
            <p:ph type="body" idx="1"/>
          </p:nvPr>
        </p:nvSpPr>
        <p:spPr>
          <a:xfrm>
            <a:off x="700004" y="1324629"/>
            <a:ext cx="8229600" cy="4525963"/>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90000"/>
              </a:lnSpc>
              <a:spcBef>
                <a:spcPts val="500"/>
              </a:spcBef>
              <a:spcAft>
                <a:spcPts val="0"/>
              </a:spcAft>
              <a:buClr>
                <a:schemeClr val="dk1"/>
              </a:buClr>
              <a:buSzPts val="2400"/>
              <a:buFont typeface="Courier New"/>
              <a:buChar char="o"/>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90000"/>
              </a:lnSpc>
              <a:spcBef>
                <a:spcPts val="500"/>
              </a:spcBef>
              <a:spcAft>
                <a:spcPts val="0"/>
              </a:spcAft>
              <a:buClr>
                <a:schemeClr val="dk1"/>
              </a:buClr>
              <a:buSzPts val="2000"/>
              <a:buFont typeface="Calibri"/>
              <a:buChar char="−"/>
              <a:defRPr sz="2000" b="0" i="0" u="none" strike="noStrike" cap="none">
                <a:solidFill>
                  <a:schemeClr val="dk1"/>
                </a:solidFill>
                <a:latin typeface="Times New Roman"/>
                <a:ea typeface="Times New Roman"/>
                <a:cs typeface="Times New Roman"/>
                <a:sym typeface="Times New Roman"/>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4pPr>
            <a:lvl5pPr marL="2286000" marR="0" lvl="4" indent="-317500" algn="l" rtl="0">
              <a:lnSpc>
                <a:spcPct val="90000"/>
              </a:lnSpc>
              <a:spcBef>
                <a:spcPts val="500"/>
              </a:spcBef>
              <a:spcAft>
                <a:spcPts val="0"/>
              </a:spcAft>
              <a:buClr>
                <a:schemeClr val="dk1"/>
              </a:buClr>
              <a:buSzPts val="1400"/>
              <a:buFont typeface="Arial"/>
              <a:buChar char="•"/>
              <a:defRPr sz="1400" b="0" i="0" u="none" strike="noStrike" cap="none">
                <a:solidFill>
                  <a:schemeClr val="dk1"/>
                </a:solidFill>
                <a:latin typeface="Times New Roman"/>
                <a:ea typeface="Times New Roman"/>
                <a:cs typeface="Times New Roman"/>
                <a:sym typeface="Times New Roma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3"/>
        <p:cNvGrpSpPr/>
        <p:nvPr/>
      </p:nvGrpSpPr>
      <p:grpSpPr>
        <a:xfrm>
          <a:off x="0" y="0"/>
          <a:ext cx="0" cy="0"/>
          <a:chOff x="0" y="0"/>
          <a:chExt cx="0" cy="0"/>
        </a:xfrm>
      </p:grpSpPr>
      <p:sp>
        <p:nvSpPr>
          <p:cNvPr id="34" name="Google Shape;34;p38"/>
          <p:cNvSpPr txBox="1">
            <a:spLocks noGrp="1"/>
          </p:cNvSpPr>
          <p:nvPr>
            <p:ph type="title"/>
          </p:nvPr>
        </p:nvSpPr>
        <p:spPr>
          <a:xfrm>
            <a:off x="623888" y="1709739"/>
            <a:ext cx="7886700" cy="2852737"/>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35" name="Google Shape;35;p38"/>
          <p:cNvSpPr txBox="1">
            <a:spLocks noGrp="1"/>
          </p:cNvSpPr>
          <p:nvPr>
            <p:ph type="body" idx="1"/>
          </p:nvPr>
        </p:nvSpPr>
        <p:spPr>
          <a:xfrm>
            <a:off x="623888" y="4589464"/>
            <a:ext cx="7886700" cy="150018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1pPr>
            <a:lvl2pPr marL="914400" marR="0" lvl="1" indent="-228600" algn="l" rtl="0">
              <a:lnSpc>
                <a:spcPct val="90000"/>
              </a:lnSpc>
              <a:spcBef>
                <a:spcPts val="5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2pPr>
            <a:lvl3pPr marL="1371600" marR="0" lvl="2" indent="-228600" algn="l" rtl="0">
              <a:lnSpc>
                <a:spcPct val="90000"/>
              </a:lnSpc>
              <a:spcBef>
                <a:spcPts val="5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3pPr>
            <a:lvl4pPr marL="1828800" marR="0" lvl="3"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4pPr>
            <a:lvl5pPr marL="2286000" marR="0" lvl="4"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5pPr>
            <a:lvl6pPr marL="2743200" marR="0" lvl="5"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9pPr>
          </a:lstStyle>
          <a:p>
            <a:endParaRPr/>
          </a:p>
        </p:txBody>
      </p:sp>
      <p:sp>
        <p:nvSpPr>
          <p:cNvPr id="36" name="Google Shape;36;p38"/>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37" name="Google Shape;37;p38"/>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38" name="Google Shape;38;p3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39"/>
        <p:cNvGrpSpPr/>
        <p:nvPr/>
      </p:nvGrpSpPr>
      <p:grpSpPr>
        <a:xfrm>
          <a:off x="0" y="0"/>
          <a:ext cx="0" cy="0"/>
          <a:chOff x="0" y="0"/>
          <a:chExt cx="0" cy="0"/>
        </a:xfrm>
      </p:grpSpPr>
      <p:sp>
        <p:nvSpPr>
          <p:cNvPr id="40" name="Google Shape;40;p39"/>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1" name="Google Shape;41;p39"/>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2" name="Google Shape;42;p39"/>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
        <p:nvSpPr>
          <p:cNvPr id="43" name="Google Shape;43;p39"/>
          <p:cNvSpPr txBox="1">
            <a:spLocks noGrp="1"/>
          </p:cNvSpPr>
          <p:nvPr>
            <p:ph type="body" idx="1"/>
          </p:nvPr>
        </p:nvSpPr>
        <p:spPr>
          <a:xfrm>
            <a:off x="728983" y="1324629"/>
            <a:ext cx="8229600" cy="4525963"/>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90000"/>
              </a:lnSpc>
              <a:spcBef>
                <a:spcPts val="500"/>
              </a:spcBef>
              <a:spcAft>
                <a:spcPts val="0"/>
              </a:spcAft>
              <a:buClr>
                <a:schemeClr val="dk1"/>
              </a:buClr>
              <a:buSzPts val="2400"/>
              <a:buFont typeface="Courier New"/>
              <a:buChar char="o"/>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90000"/>
              </a:lnSpc>
              <a:spcBef>
                <a:spcPts val="500"/>
              </a:spcBef>
              <a:spcAft>
                <a:spcPts val="0"/>
              </a:spcAft>
              <a:buClr>
                <a:schemeClr val="dk1"/>
              </a:buClr>
              <a:buSzPts val="2000"/>
              <a:buFont typeface="Calibri"/>
              <a:buChar char="−"/>
              <a:defRPr sz="2000" b="0" i="0" u="none" strike="noStrike" cap="none">
                <a:solidFill>
                  <a:schemeClr val="dk1"/>
                </a:solidFill>
                <a:latin typeface="Times New Roman"/>
                <a:ea typeface="Times New Roman"/>
                <a:cs typeface="Times New Roman"/>
                <a:sym typeface="Times New Roman"/>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4pPr>
            <a:lvl5pPr marL="2286000" marR="0" lvl="4" indent="-317500" algn="l" rtl="0">
              <a:lnSpc>
                <a:spcPct val="90000"/>
              </a:lnSpc>
              <a:spcBef>
                <a:spcPts val="500"/>
              </a:spcBef>
              <a:spcAft>
                <a:spcPts val="0"/>
              </a:spcAft>
              <a:buClr>
                <a:schemeClr val="dk1"/>
              </a:buClr>
              <a:buSzPts val="1400"/>
              <a:buFont typeface="Arial"/>
              <a:buChar char="•"/>
              <a:defRPr sz="1400" b="0" i="0" u="none" strike="noStrike" cap="none">
                <a:solidFill>
                  <a:schemeClr val="dk1"/>
                </a:solidFill>
                <a:latin typeface="Times New Roman"/>
                <a:ea typeface="Times New Roman"/>
                <a:cs typeface="Times New Roman"/>
                <a:sym typeface="Times New Roma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2_Custom Layout">
  <p:cSld name="2_Custom Layout">
    <p:spTree>
      <p:nvGrpSpPr>
        <p:cNvPr id="1" name="Shape 44"/>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45"/>
        <p:cNvGrpSpPr/>
        <p:nvPr/>
      </p:nvGrpSpPr>
      <p:grpSpPr>
        <a:xfrm>
          <a:off x="0" y="0"/>
          <a:ext cx="0" cy="0"/>
          <a:chOff x="0" y="0"/>
          <a:chExt cx="0" cy="0"/>
        </a:xfrm>
      </p:grpSpPr>
      <p:sp>
        <p:nvSpPr>
          <p:cNvPr id="46" name="Google Shape;46;p41"/>
          <p:cNvSpPr txBox="1">
            <a:spLocks noGrp="1"/>
          </p:cNvSpPr>
          <p:nvPr>
            <p:ph type="title"/>
          </p:nvPr>
        </p:nvSpPr>
        <p:spPr>
          <a:xfrm>
            <a:off x="817323" y="214817"/>
            <a:ext cx="7402883" cy="874951"/>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0"/>
              </a:spcBef>
              <a:spcAft>
                <a:spcPts val="0"/>
              </a:spcAft>
              <a:buClr>
                <a:srgbClr val="930B0B"/>
              </a:buClr>
              <a:buSzPts val="3600"/>
              <a:buFont typeface="Times New Roman"/>
              <a:buNone/>
              <a:defRPr sz="3600" b="0" i="0" u="none" strike="noStrike" cap="none">
                <a:solidFill>
                  <a:srgbClr val="930B0B"/>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47" name="Google Shape;47;p41"/>
          <p:cNvSpPr txBox="1">
            <a:spLocks noGrp="1"/>
          </p:cNvSpPr>
          <p:nvPr>
            <p:ph type="body" idx="1"/>
          </p:nvPr>
        </p:nvSpPr>
        <p:spPr>
          <a:xfrm>
            <a:off x="655370" y="1189973"/>
            <a:ext cx="8248389" cy="489930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Times New Roman"/>
                <a:ea typeface="Times New Roman"/>
                <a:cs typeface="Times New Roman"/>
                <a:sym typeface="Times New Roman"/>
              </a:defRPr>
            </a:lvl1pPr>
            <a:lvl2pPr marL="914400" marR="0" lvl="1" indent="-335280" algn="l" rtl="0">
              <a:lnSpc>
                <a:spcPct val="90000"/>
              </a:lnSpc>
              <a:spcBef>
                <a:spcPts val="500"/>
              </a:spcBef>
              <a:spcAft>
                <a:spcPts val="0"/>
              </a:spcAft>
              <a:buClr>
                <a:srgbClr val="C55A11"/>
              </a:buClr>
              <a:buSzPts val="1680"/>
              <a:buFont typeface="Courier New"/>
              <a:buChar char="o"/>
              <a:defRPr sz="2400" b="0" i="0" u="none" strike="noStrike" cap="none">
                <a:solidFill>
                  <a:schemeClr val="dk1"/>
                </a:solidFill>
                <a:latin typeface="Times New Roman"/>
                <a:ea typeface="Times New Roman"/>
                <a:cs typeface="Times New Roman"/>
                <a:sym typeface="Times New Roman"/>
              </a:defRPr>
            </a:lvl2pPr>
            <a:lvl3pPr marL="1371600" marR="0" lvl="2" indent="-317500" algn="l" rtl="0">
              <a:lnSpc>
                <a:spcPct val="90000"/>
              </a:lnSpc>
              <a:spcBef>
                <a:spcPts val="500"/>
              </a:spcBef>
              <a:spcAft>
                <a:spcPts val="0"/>
              </a:spcAft>
              <a:buClr>
                <a:srgbClr val="8D4427"/>
              </a:buClr>
              <a:buSzPts val="1400"/>
              <a:buFont typeface="Times New Roman"/>
              <a:buChar char="−"/>
              <a:defRPr sz="2000" b="0" i="0" u="none" strike="noStrike" cap="none">
                <a:solidFill>
                  <a:schemeClr val="dk1"/>
                </a:solidFill>
                <a:latin typeface="Times New Roman"/>
                <a:ea typeface="Times New Roman"/>
                <a:cs typeface="Times New Roman"/>
                <a:sym typeface="Times New Roman"/>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8"/>
        <p:cNvGrpSpPr/>
        <p:nvPr/>
      </p:nvGrpSpPr>
      <p:grpSpPr>
        <a:xfrm>
          <a:off x="0" y="0"/>
          <a:ext cx="0" cy="0"/>
          <a:chOff x="0" y="0"/>
          <a:chExt cx="0" cy="0"/>
        </a:xfrm>
      </p:grpSpPr>
      <p:sp>
        <p:nvSpPr>
          <p:cNvPr id="49" name="Google Shape;49;p42"/>
          <p:cNvSpPr txBox="1">
            <a:spLocks noGrp="1"/>
          </p:cNvSpPr>
          <p:nvPr>
            <p:ph type="title"/>
          </p:nvPr>
        </p:nvSpPr>
        <p:spPr>
          <a:xfrm>
            <a:off x="629841" y="365126"/>
            <a:ext cx="78867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50" name="Google Shape;50;p42"/>
          <p:cNvSpPr txBox="1">
            <a:spLocks noGrp="1"/>
          </p:cNvSpPr>
          <p:nvPr>
            <p:ph type="body" idx="1"/>
          </p:nvPr>
        </p:nvSpPr>
        <p:spPr>
          <a:xfrm>
            <a:off x="681575" y="1606006"/>
            <a:ext cx="3868340" cy="823912"/>
          </a:xfrm>
          <a:prstGeom prst="rect">
            <a:avLst/>
          </a:prstGeom>
          <a:noFill/>
          <a:ln>
            <a:noFill/>
          </a:ln>
        </p:spPr>
        <p:txBody>
          <a:bodyPr spcFirstLastPara="1" wrap="square" lIns="91425" tIns="45700" rIns="91425" bIns="45700"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51" name="Google Shape;51;p42"/>
          <p:cNvSpPr txBox="1">
            <a:spLocks noGrp="1"/>
          </p:cNvSpPr>
          <p:nvPr>
            <p:ph type="body" idx="2"/>
          </p:nvPr>
        </p:nvSpPr>
        <p:spPr>
          <a:xfrm>
            <a:off x="803704" y="2505075"/>
            <a:ext cx="3868340" cy="368458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52" name="Google Shape;52;p42"/>
          <p:cNvSpPr txBox="1">
            <a:spLocks noGrp="1"/>
          </p:cNvSpPr>
          <p:nvPr>
            <p:ph type="body" idx="3"/>
          </p:nvPr>
        </p:nvSpPr>
        <p:spPr>
          <a:xfrm>
            <a:off x="4803013" y="1681163"/>
            <a:ext cx="3887391" cy="823912"/>
          </a:xfrm>
          <a:prstGeom prst="rect">
            <a:avLst/>
          </a:prstGeom>
          <a:noFill/>
          <a:ln>
            <a:noFill/>
          </a:ln>
        </p:spPr>
        <p:txBody>
          <a:bodyPr spcFirstLastPara="1" wrap="square" lIns="91425" tIns="45700" rIns="91425" bIns="45700"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53" name="Google Shape;53;p42"/>
          <p:cNvSpPr txBox="1">
            <a:spLocks noGrp="1"/>
          </p:cNvSpPr>
          <p:nvPr>
            <p:ph type="body" idx="4"/>
          </p:nvPr>
        </p:nvSpPr>
        <p:spPr>
          <a:xfrm>
            <a:off x="4803013" y="2505075"/>
            <a:ext cx="3887391" cy="368458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54" name="Google Shape;54;p42"/>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5" name="Google Shape;55;p42"/>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6" name="Google Shape;56;p42"/>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7"/>
        <p:cNvGrpSpPr/>
        <p:nvPr/>
      </p:nvGrpSpPr>
      <p:grpSpPr>
        <a:xfrm>
          <a:off x="0" y="0"/>
          <a:ext cx="0" cy="0"/>
          <a:chOff x="0" y="0"/>
          <a:chExt cx="0" cy="0"/>
        </a:xfrm>
      </p:grpSpPr>
      <p:sp>
        <p:nvSpPr>
          <p:cNvPr id="58" name="Google Shape;58;p43"/>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59" name="Google Shape;59;p43"/>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60" name="Google Shape;60;p43"/>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61" name="Google Shape;61;p43"/>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2"/>
        <p:cNvGrpSpPr/>
        <p:nvPr/>
      </p:nvGrpSpPr>
      <p:grpSpPr>
        <a:xfrm>
          <a:off x="0" y="0"/>
          <a:ext cx="0" cy="0"/>
          <a:chOff x="0" y="0"/>
          <a:chExt cx="0" cy="0"/>
        </a:xfrm>
      </p:grpSpPr>
      <p:sp>
        <p:nvSpPr>
          <p:cNvPr id="63" name="Google Shape;63;p44"/>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64" name="Google Shape;64;p44"/>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65" name="Google Shape;65;p44"/>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6"/>
        <p:cNvGrpSpPr/>
        <p:nvPr/>
      </p:nvGrpSpPr>
      <p:grpSpPr>
        <a:xfrm>
          <a:off x="0" y="0"/>
          <a:ext cx="0" cy="0"/>
          <a:chOff x="0" y="0"/>
          <a:chExt cx="0" cy="0"/>
        </a:xfrm>
      </p:grpSpPr>
      <p:sp>
        <p:nvSpPr>
          <p:cNvPr id="67" name="Google Shape;67;p45"/>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68" name="Google Shape;68;p45"/>
          <p:cNvSpPr txBox="1">
            <a:spLocks noGrp="1"/>
          </p:cNvSpPr>
          <p:nvPr>
            <p:ph type="body" idx="1"/>
          </p:nvPr>
        </p:nvSpPr>
        <p:spPr>
          <a:xfrm>
            <a:off x="3887391" y="987426"/>
            <a:ext cx="4629150" cy="4873625"/>
          </a:xfrm>
          <a:prstGeom prst="rect">
            <a:avLst/>
          </a:prstGeom>
          <a:noFill/>
          <a:ln>
            <a:noFill/>
          </a:ln>
        </p:spPr>
        <p:txBody>
          <a:bodyPr spcFirstLastPara="1" wrap="square" lIns="91425" tIns="45700" rIns="91425" bIns="45700" anchor="t" anchorCtr="0">
            <a:noAutofit/>
          </a:bodyPr>
          <a:lstStyle>
            <a:lvl1pPr marL="457200" marR="0" lvl="0" indent="-431800" algn="l" rtl="0">
              <a:lnSpc>
                <a:spcPct val="90000"/>
              </a:lnSpc>
              <a:spcBef>
                <a:spcPts val="10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90000"/>
              </a:lnSpc>
              <a:spcBef>
                <a:spcPts val="5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69" name="Google Shape;69;p45"/>
          <p:cNvSpPr txBox="1">
            <a:spLocks noGrp="1"/>
          </p:cNvSpPr>
          <p:nvPr>
            <p:ph type="body" idx="2"/>
          </p:nvPr>
        </p:nvSpPr>
        <p:spPr>
          <a:xfrm>
            <a:off x="629841" y="2057400"/>
            <a:ext cx="2949178" cy="381158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70" name="Google Shape;70;p45"/>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71" name="Google Shape;71;p45"/>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72" name="Google Shape;72;p45"/>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46"/>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5" name="Google Shape;75;p46"/>
          <p:cNvSpPr>
            <a:spLocks noGrp="1"/>
          </p:cNvSpPr>
          <p:nvPr>
            <p:ph type="pic" idx="2"/>
          </p:nvPr>
        </p:nvSpPr>
        <p:spPr>
          <a:xfrm>
            <a:off x="3887391" y="987426"/>
            <a:ext cx="4629150" cy="4873625"/>
          </a:xfrm>
          <a:prstGeom prst="rect">
            <a:avLst/>
          </a:prstGeom>
          <a:noFill/>
          <a:ln>
            <a:noFill/>
          </a:ln>
        </p:spPr>
      </p:sp>
      <p:sp>
        <p:nvSpPr>
          <p:cNvPr id="76" name="Google Shape;76;p46"/>
          <p:cNvSpPr txBox="1">
            <a:spLocks noGrp="1"/>
          </p:cNvSpPr>
          <p:nvPr>
            <p:ph type="body" idx="1"/>
          </p:nvPr>
        </p:nvSpPr>
        <p:spPr>
          <a:xfrm>
            <a:off x="629841" y="2057400"/>
            <a:ext cx="2949178" cy="381158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77" name="Google Shape;77;p46"/>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78" name="Google Shape;78;p46"/>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79" name="Google Shape;79;p46"/>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0"/>
        <p:cNvGrpSpPr/>
        <p:nvPr/>
      </p:nvGrpSpPr>
      <p:grpSpPr>
        <a:xfrm>
          <a:off x="0" y="0"/>
          <a:ext cx="0" cy="0"/>
          <a:chOff x="0" y="0"/>
          <a:chExt cx="0" cy="0"/>
        </a:xfrm>
      </p:grpSpPr>
      <p:sp>
        <p:nvSpPr>
          <p:cNvPr id="81" name="Google Shape;81;p47"/>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2" name="Google Shape;82;p47"/>
          <p:cNvSpPr txBox="1">
            <a:spLocks noGrp="1"/>
          </p:cNvSpPr>
          <p:nvPr>
            <p:ph type="body" idx="1"/>
          </p:nvPr>
        </p:nvSpPr>
        <p:spPr>
          <a:xfrm rot="5400000">
            <a:off x="2396331" y="57944"/>
            <a:ext cx="4351338" cy="78867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3" name="Google Shape;83;p47"/>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4" name="Google Shape;84;p47"/>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5" name="Google Shape;85;p47"/>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6"/>
        <p:cNvGrpSpPr/>
        <p:nvPr/>
      </p:nvGrpSpPr>
      <p:grpSpPr>
        <a:xfrm>
          <a:off x="0" y="0"/>
          <a:ext cx="0" cy="0"/>
          <a:chOff x="0" y="0"/>
          <a:chExt cx="0" cy="0"/>
        </a:xfrm>
      </p:grpSpPr>
      <p:sp>
        <p:nvSpPr>
          <p:cNvPr id="87" name="Google Shape;87;p48"/>
          <p:cNvSpPr txBox="1">
            <a:spLocks noGrp="1"/>
          </p:cNvSpPr>
          <p:nvPr>
            <p:ph type="title"/>
          </p:nvPr>
        </p:nvSpPr>
        <p:spPr>
          <a:xfrm rot="5400000">
            <a:off x="4623594" y="2285207"/>
            <a:ext cx="5811838" cy="1971675"/>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8" name="Google Shape;88;p48"/>
          <p:cNvSpPr txBox="1">
            <a:spLocks noGrp="1"/>
          </p:cNvSpPr>
          <p:nvPr>
            <p:ph type="body" idx="1"/>
          </p:nvPr>
        </p:nvSpPr>
        <p:spPr>
          <a:xfrm rot="5400000">
            <a:off x="623094" y="370681"/>
            <a:ext cx="5811838" cy="5800725"/>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9" name="Google Shape;89;p48"/>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0" name="Google Shape;90;p48"/>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1" name="Google Shape;91;p4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92"/>
        <p:cNvGrpSpPr/>
        <p:nvPr/>
      </p:nvGrpSpPr>
      <p:grpSpPr>
        <a:xfrm>
          <a:off x="0" y="0"/>
          <a:ext cx="0" cy="0"/>
          <a:chOff x="0" y="0"/>
          <a:chExt cx="0" cy="0"/>
        </a:xfrm>
      </p:grpSpPr>
      <p:sp>
        <p:nvSpPr>
          <p:cNvPr id="93" name="Google Shape;93;p4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_Custom Layout">
  <p:cSld name="1_Custom Layout">
    <p:spTree>
      <p:nvGrpSpPr>
        <p:cNvPr id="1" name="Shape 94"/>
        <p:cNvGrpSpPr/>
        <p:nvPr/>
      </p:nvGrpSpPr>
      <p:grpSpPr>
        <a:xfrm>
          <a:off x="0" y="0"/>
          <a:ext cx="0" cy="0"/>
          <a:chOff x="0" y="0"/>
          <a:chExt cx="0" cy="0"/>
        </a:xfrm>
      </p:grpSpPr>
      <p:sp>
        <p:nvSpPr>
          <p:cNvPr id="95" name="Google Shape;95;p5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_Title and Content" type="obj">
  <p:cSld name="OBJECT">
    <p:spTree>
      <p:nvGrpSpPr>
        <p:cNvPr id="1" name="Shape 96"/>
        <p:cNvGrpSpPr/>
        <p:nvPr/>
      </p:nvGrpSpPr>
      <p:grpSpPr>
        <a:xfrm>
          <a:off x="0" y="0"/>
          <a:ext cx="0" cy="0"/>
          <a:chOff x="0" y="0"/>
          <a:chExt cx="0" cy="0"/>
        </a:xfrm>
      </p:grpSpPr>
      <p:sp>
        <p:nvSpPr>
          <p:cNvPr id="97" name="Google Shape;97;p51"/>
          <p:cNvSpPr txBox="1">
            <a:spLocks noGrp="1"/>
          </p:cNvSpPr>
          <p:nvPr>
            <p:ph type="title"/>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98" name="Google Shape;98;p51"/>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99" name="Google Shape;99;p51"/>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0" name="Google Shape;100;p51"/>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9pPr>
          </a:lstStyle>
          <a:p>
            <a:pPr marL="0" lvl="0" indent="0" algn="l" rtl="0">
              <a:spcBef>
                <a:spcPts val="0"/>
              </a:spcBef>
              <a:spcAft>
                <a:spcPts val="0"/>
              </a:spcAft>
              <a:buNone/>
            </a:pPr>
            <a:r>
              <a:rPr lang="en-US"/>
              <a:t>1-</a:t>
            </a: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21" Type="http://schemas.openxmlformats.org/officeDocument/2006/relationships/image" Target="../media/image4.jp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5"/>
          <p:cNvSpPr txBox="1"/>
          <p:nvPr/>
        </p:nvSpPr>
        <p:spPr>
          <a:xfrm>
            <a:off x="1148443" y="294320"/>
            <a:ext cx="6847115" cy="737960"/>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dk1"/>
              </a:buClr>
              <a:buSzPts val="4400"/>
              <a:buFont typeface="Calibri"/>
              <a:buNone/>
            </a:pPr>
            <a:endParaRPr sz="4400" b="0" i="0" u="none" strike="noStrike" cap="none">
              <a:solidFill>
                <a:srgbClr val="000000"/>
              </a:solidFill>
              <a:latin typeface="Calibri"/>
              <a:ea typeface="Calibri"/>
              <a:cs typeface="Calibri"/>
              <a:sym typeface="Calibri"/>
            </a:endParaRPr>
          </a:p>
        </p:txBody>
      </p:sp>
      <p:sp>
        <p:nvSpPr>
          <p:cNvPr id="11" name="Google Shape;11;p35"/>
          <p:cNvSpPr txBox="1"/>
          <p:nvPr/>
        </p:nvSpPr>
        <p:spPr>
          <a:xfrm>
            <a:off x="324390" y="6373654"/>
            <a:ext cx="1455965" cy="365125"/>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FFFFFF"/>
                </a:solidFill>
                <a:latin typeface="Times New Roman"/>
                <a:ea typeface="Times New Roman"/>
                <a:cs typeface="Times New Roman"/>
                <a:sym typeface="Times New Roman"/>
              </a:rPr>
              <a:t>8/26/2022</a:t>
            </a:r>
            <a:endParaRPr sz="1400" b="1" i="0" u="none" strike="noStrike" cap="none">
              <a:solidFill>
                <a:srgbClr val="FFFFFF"/>
              </a:solidFill>
              <a:latin typeface="Times New Roman"/>
              <a:ea typeface="Times New Roman"/>
              <a:cs typeface="Times New Roman"/>
              <a:sym typeface="Times New Roman"/>
            </a:endParaRPr>
          </a:p>
        </p:txBody>
      </p:sp>
      <p:sp>
        <p:nvSpPr>
          <p:cNvPr id="12" name="Google Shape;12;p35"/>
          <p:cNvSpPr txBox="1"/>
          <p:nvPr/>
        </p:nvSpPr>
        <p:spPr>
          <a:xfrm>
            <a:off x="8240198" y="6347051"/>
            <a:ext cx="601436" cy="365125"/>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400"/>
              <a:buFont typeface="Arial"/>
              <a:buNone/>
            </a:pPr>
            <a:fld id="{00000000-1234-1234-1234-123412341234}" type="slidenum">
              <a:rPr lang="en-US" sz="1400" b="1" i="0" u="none" strike="noStrike" cap="none">
                <a:solidFill>
                  <a:srgbClr val="FFFFFF"/>
                </a:solidFill>
                <a:latin typeface="Times New Roman"/>
                <a:ea typeface="Times New Roman"/>
                <a:cs typeface="Times New Roman"/>
                <a:sym typeface="Times New Roman"/>
              </a:rPr>
              <a:t>‹#›</a:t>
            </a:fld>
            <a:endParaRPr sz="1400" b="1" i="0" u="none" strike="noStrike" cap="none">
              <a:solidFill>
                <a:srgbClr val="FFFFFF"/>
              </a:solidFill>
              <a:latin typeface="Times New Roman"/>
              <a:ea typeface="Times New Roman"/>
              <a:cs typeface="Times New Roman"/>
              <a:sym typeface="Times New Roman"/>
            </a:endParaRPr>
          </a:p>
        </p:txBody>
      </p:sp>
      <p:cxnSp>
        <p:nvCxnSpPr>
          <p:cNvPr id="13" name="Google Shape;13;p35"/>
          <p:cNvCxnSpPr/>
          <p:nvPr/>
        </p:nvCxnSpPr>
        <p:spPr>
          <a:xfrm>
            <a:off x="173929" y="524443"/>
            <a:ext cx="15020" cy="5873873"/>
          </a:xfrm>
          <a:prstGeom prst="straightConnector1">
            <a:avLst/>
          </a:prstGeom>
          <a:noFill/>
          <a:ln w="9525" cap="flat" cmpd="sng">
            <a:solidFill>
              <a:schemeClr val="accent2"/>
            </a:solidFill>
            <a:prstDash val="solid"/>
            <a:miter lim="800000"/>
            <a:headEnd type="none" w="sm" len="sm"/>
            <a:tailEnd type="none" w="sm" len="sm"/>
          </a:ln>
        </p:spPr>
      </p:cxnSp>
      <p:cxnSp>
        <p:nvCxnSpPr>
          <p:cNvPr id="14" name="Google Shape;14;p35"/>
          <p:cNvCxnSpPr/>
          <p:nvPr/>
        </p:nvCxnSpPr>
        <p:spPr>
          <a:xfrm>
            <a:off x="8958782" y="135448"/>
            <a:ext cx="14374" cy="6100958"/>
          </a:xfrm>
          <a:prstGeom prst="straightConnector1">
            <a:avLst/>
          </a:prstGeom>
          <a:noFill/>
          <a:ln w="9525" cap="flat" cmpd="sng">
            <a:solidFill>
              <a:schemeClr val="accent2"/>
            </a:solidFill>
            <a:prstDash val="solid"/>
            <a:miter lim="800000"/>
            <a:headEnd type="none" w="sm" len="sm"/>
            <a:tailEnd type="none" w="sm" len="sm"/>
          </a:ln>
        </p:spPr>
      </p:cxnSp>
      <p:cxnSp>
        <p:nvCxnSpPr>
          <p:cNvPr id="15" name="Google Shape;15;p35"/>
          <p:cNvCxnSpPr/>
          <p:nvPr/>
        </p:nvCxnSpPr>
        <p:spPr>
          <a:xfrm>
            <a:off x="429274" y="135448"/>
            <a:ext cx="8536694" cy="0"/>
          </a:xfrm>
          <a:prstGeom prst="straightConnector1">
            <a:avLst/>
          </a:prstGeom>
          <a:noFill/>
          <a:ln w="9525" cap="flat" cmpd="sng">
            <a:solidFill>
              <a:schemeClr val="accent2"/>
            </a:solidFill>
            <a:prstDash val="solid"/>
            <a:miter lim="800000"/>
            <a:headEnd type="none" w="sm" len="sm"/>
            <a:tailEnd type="none" w="sm" len="sm"/>
          </a:ln>
        </p:spPr>
      </p:cxnSp>
      <p:cxnSp>
        <p:nvCxnSpPr>
          <p:cNvPr id="16" name="Google Shape;16;p35"/>
          <p:cNvCxnSpPr/>
          <p:nvPr/>
        </p:nvCxnSpPr>
        <p:spPr>
          <a:xfrm rot="-5400000" flipH="1">
            <a:off x="162549" y="6424715"/>
            <a:ext cx="293100" cy="240300"/>
          </a:xfrm>
          <a:prstGeom prst="curvedConnector3">
            <a:avLst>
              <a:gd name="adj1" fmla="val 50000"/>
            </a:avLst>
          </a:prstGeom>
          <a:noFill/>
          <a:ln w="9525" cap="flat" cmpd="sng">
            <a:solidFill>
              <a:schemeClr val="accent2"/>
            </a:solidFill>
            <a:prstDash val="solid"/>
            <a:miter lim="800000"/>
            <a:headEnd type="none" w="sm" len="sm"/>
            <a:tailEnd type="none" w="sm" len="sm"/>
          </a:ln>
        </p:spPr>
      </p:cxnSp>
      <p:cxnSp>
        <p:nvCxnSpPr>
          <p:cNvPr id="17" name="Google Shape;17;p35"/>
          <p:cNvCxnSpPr/>
          <p:nvPr/>
        </p:nvCxnSpPr>
        <p:spPr>
          <a:xfrm rot="5400000">
            <a:off x="8611957" y="6330007"/>
            <a:ext cx="454800" cy="267600"/>
          </a:xfrm>
          <a:prstGeom prst="curvedConnector3">
            <a:avLst>
              <a:gd name="adj1" fmla="val 50000"/>
            </a:avLst>
          </a:prstGeom>
          <a:noFill/>
          <a:ln w="9525" cap="flat" cmpd="sng">
            <a:solidFill>
              <a:schemeClr val="accent2"/>
            </a:solidFill>
            <a:prstDash val="solid"/>
            <a:miter lim="800000"/>
            <a:headEnd type="none" w="sm" len="sm"/>
            <a:tailEnd type="none" w="sm" len="sm"/>
          </a:ln>
        </p:spPr>
      </p:cxnSp>
      <p:pic>
        <p:nvPicPr>
          <p:cNvPr id="18" name="Google Shape;18;p35"/>
          <p:cNvPicPr preferRelativeResize="0"/>
          <p:nvPr/>
        </p:nvPicPr>
        <p:blipFill rotWithShape="1">
          <a:blip r:embed="rId18">
            <a:alphaModFix/>
          </a:blip>
          <a:srcRect/>
          <a:stretch/>
        </p:blipFill>
        <p:spPr>
          <a:xfrm>
            <a:off x="454" y="135448"/>
            <a:ext cx="425219" cy="6722552"/>
          </a:xfrm>
          <a:prstGeom prst="rect">
            <a:avLst/>
          </a:prstGeom>
          <a:noFill/>
          <a:ln>
            <a:noFill/>
          </a:ln>
        </p:spPr>
      </p:pic>
      <p:pic>
        <p:nvPicPr>
          <p:cNvPr id="19" name="Google Shape;19;p35"/>
          <p:cNvPicPr preferRelativeResize="0"/>
          <p:nvPr/>
        </p:nvPicPr>
        <p:blipFill rotWithShape="1">
          <a:blip r:embed="rId19">
            <a:alphaModFix/>
          </a:blip>
          <a:srcRect/>
          <a:stretch/>
        </p:blipFill>
        <p:spPr>
          <a:xfrm>
            <a:off x="429588" y="135448"/>
            <a:ext cx="153343" cy="5305232"/>
          </a:xfrm>
          <a:prstGeom prst="rect">
            <a:avLst/>
          </a:prstGeom>
          <a:noFill/>
          <a:ln>
            <a:noFill/>
          </a:ln>
        </p:spPr>
      </p:pic>
      <p:pic>
        <p:nvPicPr>
          <p:cNvPr id="20" name="Google Shape;20;p35" descr="A close up of a sign&#10;&#10;Description automatically generated"/>
          <p:cNvPicPr preferRelativeResize="0"/>
          <p:nvPr/>
        </p:nvPicPr>
        <p:blipFill rotWithShape="1">
          <a:blip r:embed="rId20">
            <a:alphaModFix/>
          </a:blip>
          <a:srcRect/>
          <a:stretch/>
        </p:blipFill>
        <p:spPr>
          <a:xfrm>
            <a:off x="8321645" y="6043825"/>
            <a:ext cx="651512" cy="647487"/>
          </a:xfrm>
          <a:prstGeom prst="rect">
            <a:avLst/>
          </a:prstGeom>
          <a:noFill/>
          <a:ln>
            <a:noFill/>
          </a:ln>
        </p:spPr>
      </p:pic>
      <p:pic>
        <p:nvPicPr>
          <p:cNvPr id="21" name="Google Shape;21;p35" descr="A picture containing drawing&#10;&#10;Description automatically generated"/>
          <p:cNvPicPr preferRelativeResize="0"/>
          <p:nvPr/>
        </p:nvPicPr>
        <p:blipFill rotWithShape="1">
          <a:blip r:embed="rId21">
            <a:alphaModFix/>
          </a:blip>
          <a:srcRect/>
          <a:stretch/>
        </p:blipFill>
        <p:spPr>
          <a:xfrm>
            <a:off x="454" y="6214968"/>
            <a:ext cx="1991676" cy="663892"/>
          </a:xfrm>
          <a:prstGeom prst="rect">
            <a:avLst/>
          </a:prstGeom>
          <a:noFill/>
          <a:ln>
            <a:noFill/>
          </a:ln>
        </p:spPr>
      </p:pic>
      <p:pic>
        <p:nvPicPr>
          <p:cNvPr id="22" name="Google Shape;22;p35"/>
          <p:cNvPicPr preferRelativeResize="0"/>
          <p:nvPr/>
        </p:nvPicPr>
        <p:blipFill rotWithShape="1">
          <a:blip r:embed="rId18">
            <a:alphaModFix/>
          </a:blip>
          <a:srcRect/>
          <a:stretch/>
        </p:blipFill>
        <p:spPr>
          <a:xfrm rot="5400000">
            <a:off x="4987623" y="3550281"/>
            <a:ext cx="385984" cy="6282060"/>
          </a:xfrm>
          <a:prstGeom prst="rect">
            <a:avLst/>
          </a:prstGeom>
          <a:noFill/>
          <a:ln>
            <a:noFill/>
          </a:ln>
        </p:spPr>
      </p:pic>
      <p:pic>
        <p:nvPicPr>
          <p:cNvPr id="23" name="Google Shape;23;p35"/>
          <p:cNvPicPr preferRelativeResize="0"/>
          <p:nvPr/>
        </p:nvPicPr>
        <p:blipFill rotWithShape="1">
          <a:blip r:embed="rId19">
            <a:alphaModFix/>
          </a:blip>
          <a:srcRect/>
          <a:stretch/>
        </p:blipFill>
        <p:spPr>
          <a:xfrm rot="5400000">
            <a:off x="5093663" y="3283949"/>
            <a:ext cx="173904" cy="6282059"/>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
          <p:cNvSpPr txBox="1">
            <a:spLocks noGrp="1"/>
          </p:cNvSpPr>
          <p:nvPr>
            <p:ph type="ctrTitle"/>
          </p:nvPr>
        </p:nvSpPr>
        <p:spPr>
          <a:xfrm>
            <a:off x="755576" y="666111"/>
            <a:ext cx="7772400" cy="1470025"/>
          </a:xfrm>
          <a:prstGeom prst="rect">
            <a:avLst/>
          </a:prstGeom>
          <a:noFill/>
          <a:ln>
            <a:noFill/>
          </a:ln>
        </p:spPr>
        <p:txBody>
          <a:bodyPr spcFirstLastPara="1" wrap="square" lIns="91425" tIns="45700" rIns="91425" bIns="45700" anchor="t" anchorCtr="0">
            <a:normAutofit fontScale="90000"/>
          </a:bodyPr>
          <a:lstStyle/>
          <a:p>
            <a:pPr marL="0" lvl="0" indent="0" algn="ctr" rtl="0">
              <a:lnSpc>
                <a:spcPct val="90000"/>
              </a:lnSpc>
              <a:spcBef>
                <a:spcPts val="0"/>
              </a:spcBef>
              <a:spcAft>
                <a:spcPts val="0"/>
              </a:spcAft>
              <a:buClr>
                <a:srgbClr val="C00000"/>
              </a:buClr>
              <a:buSzPct val="100000"/>
              <a:buFont typeface="Marcellus"/>
              <a:buNone/>
            </a:pPr>
            <a:r>
              <a:rPr lang="en-US" sz="5400" dirty="0" smtClean="0">
                <a:solidFill>
                  <a:srgbClr val="C00000"/>
                </a:solidFill>
                <a:latin typeface="Marcellus"/>
                <a:ea typeface="Marcellus"/>
                <a:cs typeface="Marcellus"/>
                <a:sym typeface="Marcellus"/>
              </a:rPr>
              <a:t>Applied </a:t>
            </a:r>
            <a:r>
              <a:rPr lang="en-US" sz="5400" dirty="0">
                <a:solidFill>
                  <a:srgbClr val="C00000"/>
                </a:solidFill>
                <a:latin typeface="Marcellus"/>
                <a:ea typeface="Marcellus"/>
                <a:cs typeface="Marcellus"/>
                <a:sym typeface="Marcellus"/>
              </a:rPr>
              <a:t>Cryptography</a:t>
            </a:r>
            <a:br>
              <a:rPr lang="en-US" sz="5400" dirty="0">
                <a:solidFill>
                  <a:srgbClr val="C00000"/>
                </a:solidFill>
                <a:latin typeface="Marcellus"/>
                <a:ea typeface="Marcellus"/>
                <a:cs typeface="Marcellus"/>
                <a:sym typeface="Marcellus"/>
              </a:rPr>
            </a:br>
            <a:endParaRPr sz="5400" dirty="0">
              <a:solidFill>
                <a:srgbClr val="C00000"/>
              </a:solidFill>
              <a:latin typeface="Marcellus"/>
              <a:ea typeface="Marcellus"/>
              <a:cs typeface="Marcellus"/>
              <a:sym typeface="Marcellus"/>
            </a:endParaRPr>
          </a:p>
        </p:txBody>
      </p:sp>
      <p:sp>
        <p:nvSpPr>
          <p:cNvPr id="107" name="Google Shape;107;p1"/>
          <p:cNvSpPr txBox="1">
            <a:spLocks noGrp="1"/>
          </p:cNvSpPr>
          <p:nvPr>
            <p:ph type="subTitle" idx="1"/>
          </p:nvPr>
        </p:nvSpPr>
        <p:spPr>
          <a:xfrm>
            <a:off x="1115616" y="3676315"/>
            <a:ext cx="7734334" cy="17526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rgbClr val="262626"/>
              </a:buClr>
              <a:buSzPts val="2000"/>
              <a:buNone/>
            </a:pPr>
            <a:r>
              <a:rPr lang="en-US" sz="2000">
                <a:solidFill>
                  <a:srgbClr val="262626"/>
                </a:solidFill>
                <a:latin typeface="Marcellus"/>
                <a:ea typeface="Marcellus"/>
                <a:cs typeface="Marcellus"/>
                <a:sym typeface="Marcellus"/>
              </a:rPr>
              <a:t>Ms. Swati Mali</a:t>
            </a:r>
            <a:endParaRPr/>
          </a:p>
          <a:p>
            <a:pPr marL="0" lvl="0" indent="0" algn="ctr" rtl="0">
              <a:lnSpc>
                <a:spcPct val="100000"/>
              </a:lnSpc>
              <a:spcBef>
                <a:spcPts val="0"/>
              </a:spcBef>
              <a:spcAft>
                <a:spcPts val="0"/>
              </a:spcAft>
              <a:buClr>
                <a:srgbClr val="262626"/>
              </a:buClr>
              <a:buSzPts val="2000"/>
              <a:buNone/>
            </a:pPr>
            <a:r>
              <a:rPr lang="en-US" sz="2000">
                <a:solidFill>
                  <a:srgbClr val="262626"/>
                </a:solidFill>
                <a:latin typeface="Marcellus"/>
                <a:ea typeface="Marcellus"/>
                <a:cs typeface="Marcellus"/>
                <a:sym typeface="Marcellus"/>
              </a:rPr>
              <a:t>B-215</a:t>
            </a:r>
            <a:endParaRPr/>
          </a:p>
          <a:p>
            <a:pPr marL="0" lvl="0" indent="0" algn="ctr" rtl="0">
              <a:lnSpc>
                <a:spcPct val="100000"/>
              </a:lnSpc>
              <a:spcBef>
                <a:spcPts val="0"/>
              </a:spcBef>
              <a:spcAft>
                <a:spcPts val="0"/>
              </a:spcAft>
              <a:buClr>
                <a:schemeClr val="dk1"/>
              </a:buClr>
              <a:buSzPts val="2000"/>
              <a:buNone/>
            </a:pPr>
            <a:r>
              <a:rPr lang="en-US" sz="2000"/>
              <a:t>swatimali@gmail.com</a:t>
            </a:r>
            <a:endParaRPr sz="2000"/>
          </a:p>
          <a:p>
            <a:pPr marL="0" lvl="0" indent="0" algn="ctr" rtl="0">
              <a:lnSpc>
                <a:spcPct val="100000"/>
              </a:lnSpc>
              <a:spcBef>
                <a:spcPts val="0"/>
              </a:spcBef>
              <a:spcAft>
                <a:spcPts val="0"/>
              </a:spcAft>
              <a:buClr>
                <a:srgbClr val="262626"/>
              </a:buClr>
              <a:buSzPts val="2000"/>
              <a:buNone/>
            </a:pPr>
            <a:r>
              <a:rPr lang="en-US" sz="2000">
                <a:solidFill>
                  <a:srgbClr val="262626"/>
                </a:solidFill>
                <a:latin typeface="Marcellus"/>
                <a:ea typeface="Marcellus"/>
                <a:cs typeface="Marcellus"/>
                <a:sym typeface="Marcellus"/>
              </a:rPr>
              <a:t>Assistant Professor,  Department of Computer Engineering </a:t>
            </a:r>
            <a:endParaRPr/>
          </a:p>
          <a:p>
            <a:pPr marL="0" lvl="0" indent="0" algn="ctr" rtl="0">
              <a:lnSpc>
                <a:spcPct val="100000"/>
              </a:lnSpc>
              <a:spcBef>
                <a:spcPts val="0"/>
              </a:spcBef>
              <a:spcAft>
                <a:spcPts val="0"/>
              </a:spcAft>
              <a:buClr>
                <a:srgbClr val="262626"/>
              </a:buClr>
              <a:buSzPts val="2000"/>
              <a:buNone/>
            </a:pPr>
            <a:r>
              <a:rPr lang="en-US" sz="2000">
                <a:solidFill>
                  <a:srgbClr val="262626"/>
                </a:solidFill>
                <a:latin typeface="Marcellus"/>
                <a:ea typeface="Marcellus"/>
                <a:cs typeface="Marcellus"/>
                <a:sym typeface="Marcellus"/>
              </a:rPr>
              <a:t>K. J. Somaiya College of Engineering</a:t>
            </a:r>
            <a:endParaRPr/>
          </a:p>
          <a:p>
            <a:pPr marL="0" lvl="0" indent="0" algn="ctr" rtl="0">
              <a:lnSpc>
                <a:spcPct val="100000"/>
              </a:lnSpc>
              <a:spcBef>
                <a:spcPts val="0"/>
              </a:spcBef>
              <a:spcAft>
                <a:spcPts val="0"/>
              </a:spcAft>
              <a:buClr>
                <a:srgbClr val="262626"/>
              </a:buClr>
              <a:buSzPts val="2000"/>
              <a:buNone/>
            </a:pPr>
            <a:r>
              <a:rPr lang="en-US" sz="2000">
                <a:solidFill>
                  <a:srgbClr val="262626"/>
                </a:solidFill>
                <a:latin typeface="Marcellus"/>
                <a:ea typeface="Marcellus"/>
                <a:cs typeface="Marcellus"/>
                <a:sym typeface="Marcellus"/>
              </a:rPr>
              <a:t>Somaiya Vidyavihar University</a:t>
            </a:r>
            <a:endParaRPr/>
          </a:p>
        </p:txBody>
      </p:sp>
      <p:pic>
        <p:nvPicPr>
          <p:cNvPr id="108" name="Google Shape;108;p1"/>
          <p:cNvPicPr preferRelativeResize="0"/>
          <p:nvPr/>
        </p:nvPicPr>
        <p:blipFill rotWithShape="1">
          <a:blip r:embed="rId3">
            <a:alphaModFix/>
          </a:blip>
          <a:srcRect/>
          <a:stretch/>
        </p:blipFill>
        <p:spPr>
          <a:xfrm>
            <a:off x="454" y="2220"/>
            <a:ext cx="425219" cy="6855781"/>
          </a:xfrm>
          <a:prstGeom prst="rect">
            <a:avLst/>
          </a:prstGeom>
          <a:noFill/>
          <a:ln>
            <a:noFill/>
          </a:ln>
        </p:spPr>
      </p:pic>
      <p:pic>
        <p:nvPicPr>
          <p:cNvPr id="109" name="Google Shape;109;p1"/>
          <p:cNvPicPr preferRelativeResize="0"/>
          <p:nvPr/>
        </p:nvPicPr>
        <p:blipFill rotWithShape="1">
          <a:blip r:embed="rId4">
            <a:alphaModFix/>
          </a:blip>
          <a:srcRect/>
          <a:stretch/>
        </p:blipFill>
        <p:spPr>
          <a:xfrm>
            <a:off x="425673" y="0"/>
            <a:ext cx="157258" cy="5440680"/>
          </a:xfrm>
          <a:prstGeom prst="rect">
            <a:avLst/>
          </a:prstGeom>
          <a:noFill/>
          <a:ln>
            <a:noFill/>
          </a:ln>
        </p:spPr>
      </p:pic>
      <p:pic>
        <p:nvPicPr>
          <p:cNvPr id="110" name="Google Shape;110;p1" descr="A picture containing drawing&#10;&#10;Description automatically generated"/>
          <p:cNvPicPr preferRelativeResize="0"/>
          <p:nvPr/>
        </p:nvPicPr>
        <p:blipFill rotWithShape="1">
          <a:blip r:embed="rId5">
            <a:alphaModFix/>
          </a:blip>
          <a:srcRect/>
          <a:stretch/>
        </p:blipFill>
        <p:spPr>
          <a:xfrm>
            <a:off x="582930" y="2219"/>
            <a:ext cx="1991676" cy="66389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
          <p:cNvSpPr txBox="1">
            <a:spLocks noGrp="1"/>
          </p:cNvSpPr>
          <p:nvPr>
            <p:ph type="title"/>
          </p:nvPr>
        </p:nvSpPr>
        <p:spPr>
          <a:xfrm>
            <a:off x="817323" y="214817"/>
            <a:ext cx="7402883" cy="874951"/>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rgbClr val="930B0B"/>
              </a:buClr>
              <a:buSzPts val="3600"/>
              <a:buFont typeface="Times New Roman"/>
              <a:buNone/>
            </a:pPr>
            <a:endParaRPr>
              <a:latin typeface="Marcellus"/>
              <a:ea typeface="Marcellus"/>
              <a:cs typeface="Marcellus"/>
              <a:sym typeface="Marcellus"/>
            </a:endParaRPr>
          </a:p>
        </p:txBody>
      </p:sp>
      <p:sp>
        <p:nvSpPr>
          <p:cNvPr id="116" name="Google Shape;116;p2"/>
          <p:cNvSpPr txBox="1">
            <a:spLocks noGrp="1"/>
          </p:cNvSpPr>
          <p:nvPr>
            <p:ph type="body" idx="1"/>
          </p:nvPr>
        </p:nvSpPr>
        <p:spPr>
          <a:xfrm>
            <a:off x="700004" y="1324629"/>
            <a:ext cx="8229600" cy="4525963"/>
          </a:xfrm>
          <a:prstGeom prst="rect">
            <a:avLst/>
          </a:prstGeom>
          <a:noFill/>
          <a:ln>
            <a:noFill/>
          </a:ln>
        </p:spPr>
        <p:txBody>
          <a:bodyPr spcFirstLastPara="1" wrap="square" lIns="91425" tIns="45700" rIns="91425" bIns="45700" anchor="t" anchorCtr="0">
            <a:normAutofit/>
          </a:bodyPr>
          <a:lstStyle/>
          <a:p>
            <a:pPr marL="285750" lvl="0" indent="-107950" algn="l" rtl="0">
              <a:lnSpc>
                <a:spcPct val="90000"/>
              </a:lnSpc>
              <a:spcBef>
                <a:spcPts val="0"/>
              </a:spcBef>
              <a:spcAft>
                <a:spcPts val="0"/>
              </a:spcAft>
              <a:buClr>
                <a:schemeClr val="dk1"/>
              </a:buClr>
              <a:buSzPts val="2800"/>
              <a:buFont typeface="Arial"/>
              <a:buNone/>
            </a:pPr>
            <a:endParaRPr>
              <a:latin typeface="Fira Sans"/>
              <a:ea typeface="Fira Sans"/>
              <a:cs typeface="Fira Sans"/>
              <a:sym typeface="Fira Sans"/>
            </a:endParaRPr>
          </a:p>
        </p:txBody>
      </p:sp>
      <p:pic>
        <p:nvPicPr>
          <p:cNvPr id="117" name="Google Shape;117;p2"/>
          <p:cNvPicPr preferRelativeResize="0"/>
          <p:nvPr/>
        </p:nvPicPr>
        <p:blipFill rotWithShape="1">
          <a:blip r:embed="rId3">
            <a:alphaModFix/>
          </a:blip>
          <a:srcRect/>
          <a:stretch/>
        </p:blipFill>
        <p:spPr>
          <a:xfrm>
            <a:off x="683568" y="188640"/>
            <a:ext cx="8465192" cy="5688632"/>
          </a:xfrm>
          <a:prstGeom prst="rect">
            <a:avLst/>
          </a:prstGeom>
          <a:noFill/>
          <a:ln>
            <a:noFill/>
          </a:ln>
        </p:spPr>
      </p:pic>
      <p:sp>
        <p:nvSpPr>
          <p:cNvPr id="118" name="Google Shape;118;p2"/>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en-US"/>
              <a:t>Ms. Swati Mali</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3"/>
          <p:cNvSpPr txBox="1">
            <a:spLocks noGrp="1"/>
          </p:cNvSpPr>
          <p:nvPr>
            <p:ph type="title"/>
          </p:nvPr>
        </p:nvSpPr>
        <p:spPr>
          <a:xfrm>
            <a:off x="817323" y="214817"/>
            <a:ext cx="7402883" cy="874951"/>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rgbClr val="930B0B"/>
              </a:buClr>
              <a:buSzPts val="3600"/>
              <a:buFont typeface="Marcellus"/>
              <a:buNone/>
            </a:pPr>
            <a:r>
              <a:rPr lang="en-US">
                <a:latin typeface="Marcellus"/>
                <a:ea typeface="Marcellus"/>
                <a:cs typeface="Marcellus"/>
                <a:sym typeface="Marcellus"/>
              </a:rPr>
              <a:t>What is this course about?</a:t>
            </a:r>
            <a:endParaRPr/>
          </a:p>
        </p:txBody>
      </p:sp>
      <p:sp>
        <p:nvSpPr>
          <p:cNvPr id="124" name="Google Shape;124;p3"/>
          <p:cNvSpPr txBox="1">
            <a:spLocks noGrp="1"/>
          </p:cNvSpPr>
          <p:nvPr>
            <p:ph type="body" idx="1"/>
          </p:nvPr>
        </p:nvSpPr>
        <p:spPr>
          <a:xfrm>
            <a:off x="700004" y="1324629"/>
            <a:ext cx="8229600" cy="4525963"/>
          </a:xfrm>
          <a:prstGeom prst="rect">
            <a:avLst/>
          </a:prstGeom>
          <a:noFill/>
          <a:ln>
            <a:noFill/>
          </a:ln>
        </p:spPr>
        <p:txBody>
          <a:bodyPr spcFirstLastPara="1" wrap="square" lIns="91425" tIns="45700" rIns="91425" bIns="45700" anchor="t" anchorCtr="0">
            <a:normAutofit/>
          </a:bodyPr>
          <a:lstStyle/>
          <a:p>
            <a:pPr marL="285750" lvl="0" indent="-285750" algn="l" rtl="0">
              <a:lnSpc>
                <a:spcPct val="90000"/>
              </a:lnSpc>
              <a:spcBef>
                <a:spcPts val="0"/>
              </a:spcBef>
              <a:spcAft>
                <a:spcPts val="0"/>
              </a:spcAft>
              <a:buClr>
                <a:schemeClr val="dk1"/>
              </a:buClr>
              <a:buSzPts val="2800"/>
              <a:buFont typeface="Arial"/>
              <a:buChar char="•"/>
            </a:pPr>
            <a:r>
              <a:rPr lang="en-US">
                <a:latin typeface="Fira Sans"/>
                <a:ea typeface="Fira Sans"/>
                <a:cs typeface="Fira Sans"/>
                <a:sym typeface="Fira Sans"/>
              </a:rPr>
              <a:t>Objectives</a:t>
            </a:r>
            <a:endParaRPr/>
          </a:p>
          <a:p>
            <a:pPr marL="742950" lvl="1" indent="-285750" algn="l" rtl="0">
              <a:lnSpc>
                <a:spcPct val="90000"/>
              </a:lnSpc>
              <a:spcBef>
                <a:spcPts val="500"/>
              </a:spcBef>
              <a:spcAft>
                <a:spcPts val="0"/>
              </a:spcAft>
              <a:buClr>
                <a:schemeClr val="dk1"/>
              </a:buClr>
              <a:buSzPts val="2400"/>
              <a:buChar char="o"/>
            </a:pPr>
            <a:r>
              <a:rPr lang="en-US">
                <a:latin typeface="Fira Sans"/>
                <a:ea typeface="Fira Sans"/>
                <a:cs typeface="Fira Sans"/>
                <a:sym typeface="Fira Sans"/>
              </a:rPr>
              <a:t>Security needs / threats</a:t>
            </a:r>
            <a:endParaRPr/>
          </a:p>
          <a:p>
            <a:pPr marL="742950" lvl="1" indent="-285750" algn="l" rtl="0">
              <a:lnSpc>
                <a:spcPct val="90000"/>
              </a:lnSpc>
              <a:spcBef>
                <a:spcPts val="500"/>
              </a:spcBef>
              <a:spcAft>
                <a:spcPts val="0"/>
              </a:spcAft>
              <a:buClr>
                <a:schemeClr val="dk1"/>
              </a:buClr>
              <a:buSzPts val="2400"/>
              <a:buChar char="o"/>
            </a:pPr>
            <a:r>
              <a:rPr lang="en-US">
                <a:latin typeface="Fira Sans"/>
                <a:ea typeface="Fira Sans"/>
                <a:cs typeface="Fira Sans"/>
                <a:sym typeface="Fira Sans"/>
              </a:rPr>
              <a:t>Security Goals</a:t>
            </a:r>
            <a:endParaRPr/>
          </a:p>
          <a:p>
            <a:pPr marL="742950" lvl="1" indent="-285750" algn="l" rtl="0">
              <a:lnSpc>
                <a:spcPct val="90000"/>
              </a:lnSpc>
              <a:spcBef>
                <a:spcPts val="500"/>
              </a:spcBef>
              <a:spcAft>
                <a:spcPts val="0"/>
              </a:spcAft>
              <a:buClr>
                <a:schemeClr val="dk1"/>
              </a:buClr>
              <a:buSzPts val="2400"/>
              <a:buChar char="o"/>
            </a:pPr>
            <a:r>
              <a:rPr lang="en-US">
                <a:latin typeface="Fira Sans"/>
                <a:ea typeface="Fira Sans"/>
                <a:cs typeface="Fira Sans"/>
                <a:sym typeface="Fira Sans"/>
              </a:rPr>
              <a:t>Cryptography</a:t>
            </a:r>
            <a:endParaRPr/>
          </a:p>
        </p:txBody>
      </p:sp>
      <p:sp>
        <p:nvSpPr>
          <p:cNvPr id="125" name="Google Shape;125;p3"/>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en-US"/>
              <a:t>Ms. Swati Mali</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7"/>
          <p:cNvSpPr txBox="1">
            <a:spLocks noGrp="1"/>
          </p:cNvSpPr>
          <p:nvPr>
            <p:ph type="title"/>
          </p:nvPr>
        </p:nvSpPr>
        <p:spPr>
          <a:xfrm>
            <a:off x="817323" y="214817"/>
            <a:ext cx="7402883" cy="874951"/>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rgbClr val="930B0B"/>
              </a:buClr>
              <a:buSzPts val="3600"/>
              <a:buFont typeface="Times New Roman"/>
              <a:buNone/>
            </a:pPr>
            <a:r>
              <a:rPr lang="en-US"/>
              <a:t>Attacks, Services and Mechanisms</a:t>
            </a:r>
            <a:endParaRPr/>
          </a:p>
        </p:txBody>
      </p:sp>
      <p:sp>
        <p:nvSpPr>
          <p:cNvPr id="131" name="Google Shape;131;p7"/>
          <p:cNvSpPr txBox="1">
            <a:spLocks noGrp="1"/>
          </p:cNvSpPr>
          <p:nvPr>
            <p:ph type="body" idx="1"/>
          </p:nvPr>
        </p:nvSpPr>
        <p:spPr>
          <a:xfrm>
            <a:off x="700004" y="1324629"/>
            <a:ext cx="8229600" cy="4525963"/>
          </a:xfrm>
          <a:prstGeom prst="rect">
            <a:avLst/>
          </a:prstGeom>
          <a:noFill/>
          <a:ln>
            <a:noFill/>
          </a:ln>
        </p:spPr>
        <p:txBody>
          <a:bodyPr spcFirstLastPara="1" wrap="square" lIns="91425" tIns="45700" rIns="91425" bIns="45700" anchor="t" anchorCtr="0">
            <a:normAutofit/>
          </a:bodyPr>
          <a:lstStyle/>
          <a:p>
            <a:pPr marL="285750" lvl="0" indent="-285750" algn="l" rtl="0">
              <a:lnSpc>
                <a:spcPct val="90000"/>
              </a:lnSpc>
              <a:spcBef>
                <a:spcPts val="0"/>
              </a:spcBef>
              <a:spcAft>
                <a:spcPts val="0"/>
              </a:spcAft>
              <a:buClr>
                <a:schemeClr val="dk1"/>
              </a:buClr>
              <a:buSzPts val="2800"/>
              <a:buFont typeface="Arial"/>
              <a:buChar char="•"/>
            </a:pPr>
            <a:r>
              <a:rPr lang="en-US"/>
              <a:t>Security Attack: Any action that compromises the security of information.</a:t>
            </a:r>
            <a:endParaRPr/>
          </a:p>
          <a:p>
            <a:pPr marL="285750" lvl="0" indent="-285750" algn="l" rtl="0">
              <a:lnSpc>
                <a:spcPct val="90000"/>
              </a:lnSpc>
              <a:spcBef>
                <a:spcPts val="1000"/>
              </a:spcBef>
              <a:spcAft>
                <a:spcPts val="0"/>
              </a:spcAft>
              <a:buClr>
                <a:schemeClr val="dk1"/>
              </a:buClr>
              <a:buSzPts val="2800"/>
              <a:buFont typeface="Arial"/>
              <a:buChar char="•"/>
            </a:pPr>
            <a:r>
              <a:rPr lang="en-US"/>
              <a:t>Security Mechanism: A mechanism that is designed to detect, prevent, or recover from a security attack.</a:t>
            </a:r>
            <a:endParaRPr/>
          </a:p>
          <a:p>
            <a:pPr marL="285750" lvl="0" indent="-285750" algn="l" rtl="0">
              <a:lnSpc>
                <a:spcPct val="90000"/>
              </a:lnSpc>
              <a:spcBef>
                <a:spcPts val="1000"/>
              </a:spcBef>
              <a:spcAft>
                <a:spcPts val="0"/>
              </a:spcAft>
              <a:buClr>
                <a:schemeClr val="dk1"/>
              </a:buClr>
              <a:buSzPts val="2800"/>
              <a:buFont typeface="Arial"/>
              <a:buChar char="•"/>
            </a:pPr>
            <a:r>
              <a:rPr lang="en-US"/>
              <a:t>Security Service: A service that enhances the security of data processing systems and information transfers. A security service makes use of one or more security mechanisms.</a:t>
            </a:r>
            <a:endParaRPr/>
          </a:p>
        </p:txBody>
      </p:sp>
      <p:sp>
        <p:nvSpPr>
          <p:cNvPr id="132" name="Google Shape;132;p7"/>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en-US"/>
              <a:t>Ms. Swati Mali</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8"/>
          <p:cNvSpPr txBox="1">
            <a:spLocks noGrp="1"/>
          </p:cNvSpPr>
          <p:nvPr>
            <p:ph type="title"/>
          </p:nvPr>
        </p:nvSpPr>
        <p:spPr>
          <a:xfrm>
            <a:off x="817323" y="214817"/>
            <a:ext cx="7402883" cy="874951"/>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rgbClr val="930B0B"/>
              </a:buClr>
              <a:buSzPts val="3600"/>
              <a:buFont typeface="Times New Roman"/>
              <a:buNone/>
            </a:pPr>
            <a:r>
              <a:rPr lang="en-US"/>
              <a:t>Books</a:t>
            </a:r>
            <a:endParaRPr/>
          </a:p>
        </p:txBody>
      </p:sp>
      <p:sp>
        <p:nvSpPr>
          <p:cNvPr id="138" name="Google Shape;138;p8"/>
          <p:cNvSpPr txBox="1">
            <a:spLocks noGrp="1"/>
          </p:cNvSpPr>
          <p:nvPr>
            <p:ph type="body" idx="1"/>
          </p:nvPr>
        </p:nvSpPr>
        <p:spPr>
          <a:xfrm>
            <a:off x="700004" y="1324629"/>
            <a:ext cx="8229600" cy="4525963"/>
          </a:xfrm>
          <a:prstGeom prst="rect">
            <a:avLst/>
          </a:prstGeom>
          <a:noFill/>
          <a:ln>
            <a:noFill/>
          </a:ln>
        </p:spPr>
        <p:txBody>
          <a:bodyPr spcFirstLastPara="1" wrap="square" lIns="91425" tIns="45700" rIns="91425" bIns="45700" anchor="t" anchorCtr="0">
            <a:normAutofit/>
          </a:bodyPr>
          <a:lstStyle/>
          <a:p>
            <a:pPr marL="285750" lvl="0" indent="-107950" algn="l" rtl="0">
              <a:lnSpc>
                <a:spcPct val="90000"/>
              </a:lnSpc>
              <a:spcBef>
                <a:spcPts val="0"/>
              </a:spcBef>
              <a:spcAft>
                <a:spcPts val="0"/>
              </a:spcAft>
              <a:buClr>
                <a:schemeClr val="dk1"/>
              </a:buClr>
              <a:buSzPts val="2800"/>
              <a:buFont typeface="Arial"/>
              <a:buNone/>
            </a:pPr>
            <a:endParaRPr/>
          </a:p>
        </p:txBody>
      </p:sp>
      <p:pic>
        <p:nvPicPr>
          <p:cNvPr id="139" name="Google Shape;139;p8"/>
          <p:cNvPicPr preferRelativeResize="0"/>
          <p:nvPr/>
        </p:nvPicPr>
        <p:blipFill rotWithShape="1">
          <a:blip r:embed="rId3">
            <a:alphaModFix/>
          </a:blip>
          <a:srcRect/>
          <a:stretch/>
        </p:blipFill>
        <p:spPr>
          <a:xfrm>
            <a:off x="683568" y="404663"/>
            <a:ext cx="8280920" cy="5685729"/>
          </a:xfrm>
          <a:prstGeom prst="rect">
            <a:avLst/>
          </a:prstGeom>
          <a:noFill/>
          <a:ln>
            <a:noFill/>
          </a:ln>
        </p:spPr>
      </p:pic>
      <p:sp>
        <p:nvSpPr>
          <p:cNvPr id="140" name="Google Shape;140;p8"/>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en-US"/>
              <a:t>Ms. Swati Mali</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52"/>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en-US"/>
              <a:t>Ms. Swati Mali</a:t>
            </a:r>
            <a:endParaRPr/>
          </a:p>
        </p:txBody>
      </p:sp>
      <p:sp>
        <p:nvSpPr>
          <p:cNvPr id="146" name="Google Shape;146;p52"/>
          <p:cNvSpPr txBox="1">
            <a:spLocks noGrp="1"/>
          </p:cNvSpPr>
          <p:nvPr>
            <p:ph type="title"/>
          </p:nvPr>
        </p:nvSpPr>
        <p:spPr>
          <a:xfrm>
            <a:off x="817323" y="214817"/>
            <a:ext cx="7402883" cy="874951"/>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930B0B"/>
              </a:buClr>
              <a:buSzPts val="3600"/>
              <a:buFont typeface="Times New Roman"/>
              <a:buNone/>
            </a:pPr>
            <a:r>
              <a:rPr lang="en-US"/>
              <a:t>Other A’s</a:t>
            </a:r>
            <a:endParaRPr/>
          </a:p>
        </p:txBody>
      </p:sp>
      <p:sp>
        <p:nvSpPr>
          <p:cNvPr id="147" name="Google Shape;147;p52"/>
          <p:cNvSpPr txBox="1">
            <a:spLocks noGrp="1"/>
          </p:cNvSpPr>
          <p:nvPr>
            <p:ph type="body" idx="1"/>
          </p:nvPr>
        </p:nvSpPr>
        <p:spPr>
          <a:xfrm>
            <a:off x="700004" y="1324629"/>
            <a:ext cx="8229600" cy="4525963"/>
          </a:xfrm>
          <a:prstGeom prst="rect">
            <a:avLst/>
          </a:prstGeom>
          <a:noFill/>
          <a:ln>
            <a:noFill/>
          </a:ln>
        </p:spPr>
        <p:txBody>
          <a:bodyPr spcFirstLastPara="1" wrap="square" lIns="91425" tIns="45700" rIns="91425" bIns="45700" anchor="t" anchorCtr="0">
            <a:normAutofit/>
          </a:bodyPr>
          <a:lstStyle/>
          <a:p>
            <a:pPr marL="457200" marR="0" lvl="0" indent="-406400" algn="l" rtl="0">
              <a:lnSpc>
                <a:spcPct val="90000"/>
              </a:lnSpc>
              <a:spcBef>
                <a:spcPts val="1000"/>
              </a:spcBef>
              <a:spcAft>
                <a:spcPts val="0"/>
              </a:spcAft>
              <a:buClr>
                <a:schemeClr val="dk1"/>
              </a:buClr>
              <a:buSzPts val="2800"/>
              <a:buFont typeface="Arial"/>
              <a:buChar char="•"/>
            </a:pPr>
            <a:r>
              <a:rPr lang="en-US"/>
              <a:t>Authentication</a:t>
            </a:r>
            <a:endParaRPr/>
          </a:p>
          <a:p>
            <a:pPr marL="457200" marR="0" lvl="0" indent="-406400" algn="l" rtl="0">
              <a:lnSpc>
                <a:spcPct val="90000"/>
              </a:lnSpc>
              <a:spcBef>
                <a:spcPts val="1000"/>
              </a:spcBef>
              <a:spcAft>
                <a:spcPts val="0"/>
              </a:spcAft>
              <a:buClr>
                <a:schemeClr val="dk1"/>
              </a:buClr>
              <a:buSzPts val="2800"/>
              <a:buFont typeface="Arial"/>
              <a:buChar char="•"/>
            </a:pPr>
            <a:r>
              <a:rPr lang="en-US"/>
              <a:t>Authorization</a:t>
            </a:r>
            <a:endParaRPr/>
          </a:p>
          <a:p>
            <a:pPr marL="457200" marR="0" lvl="0" indent="-406400" algn="l" rtl="0">
              <a:lnSpc>
                <a:spcPct val="90000"/>
              </a:lnSpc>
              <a:spcBef>
                <a:spcPts val="1000"/>
              </a:spcBef>
              <a:spcAft>
                <a:spcPts val="0"/>
              </a:spcAft>
              <a:buClr>
                <a:schemeClr val="dk1"/>
              </a:buClr>
              <a:buSzPts val="2800"/>
              <a:buFont typeface="Arial"/>
              <a:buChar char="•"/>
            </a:pPr>
            <a:r>
              <a:rPr lang="en-US"/>
              <a:t>Access control</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14"/>
          <p:cNvSpPr txBox="1">
            <a:spLocks noGrp="1"/>
          </p:cNvSpPr>
          <p:nvPr>
            <p:ph type="title"/>
          </p:nvPr>
        </p:nvSpPr>
        <p:spPr>
          <a:xfrm>
            <a:off x="817323" y="214817"/>
            <a:ext cx="7402883" cy="874951"/>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rgbClr val="930B0B"/>
              </a:buClr>
              <a:buSzPts val="3600"/>
              <a:buFont typeface="Times New Roman"/>
              <a:buNone/>
            </a:pPr>
            <a:endParaRPr/>
          </a:p>
        </p:txBody>
      </p:sp>
      <p:pic>
        <p:nvPicPr>
          <p:cNvPr id="153" name="Google Shape;153;p14"/>
          <p:cNvPicPr preferRelativeResize="0">
            <a:picLocks noGrp="1"/>
          </p:cNvPicPr>
          <p:nvPr>
            <p:ph type="body" idx="1"/>
          </p:nvPr>
        </p:nvPicPr>
        <p:blipFill rotWithShape="1">
          <a:blip r:embed="rId3">
            <a:alphaModFix/>
          </a:blip>
          <a:srcRect/>
          <a:stretch/>
        </p:blipFill>
        <p:spPr>
          <a:xfrm>
            <a:off x="819283" y="1323975"/>
            <a:ext cx="7991210" cy="4525963"/>
          </a:xfrm>
          <a:prstGeom prst="rect">
            <a:avLst/>
          </a:prstGeom>
          <a:noFill/>
          <a:ln>
            <a:noFill/>
          </a:ln>
        </p:spPr>
      </p:pic>
      <p:sp>
        <p:nvSpPr>
          <p:cNvPr id="154" name="Google Shape;154;p14"/>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en-US"/>
              <a:t>Ms. Swati Mali</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15"/>
          <p:cNvSpPr txBox="1">
            <a:spLocks noGrp="1"/>
          </p:cNvSpPr>
          <p:nvPr>
            <p:ph type="title"/>
          </p:nvPr>
        </p:nvSpPr>
        <p:spPr>
          <a:xfrm>
            <a:off x="817323" y="214817"/>
            <a:ext cx="7402883" cy="874951"/>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rgbClr val="930B0B"/>
              </a:buClr>
              <a:buSzPts val="3600"/>
              <a:buFont typeface="Times New Roman"/>
              <a:buNone/>
            </a:pPr>
            <a:r>
              <a:rPr lang="en-US" b="1"/>
              <a:t>Security Attacks </a:t>
            </a:r>
            <a:endParaRPr/>
          </a:p>
        </p:txBody>
      </p:sp>
      <p:sp>
        <p:nvSpPr>
          <p:cNvPr id="160" name="Google Shape;160;p15"/>
          <p:cNvSpPr txBox="1">
            <a:spLocks noGrp="1"/>
          </p:cNvSpPr>
          <p:nvPr>
            <p:ph type="body" idx="1"/>
          </p:nvPr>
        </p:nvSpPr>
        <p:spPr>
          <a:xfrm>
            <a:off x="700004" y="1324629"/>
            <a:ext cx="8229600" cy="4525963"/>
          </a:xfrm>
          <a:prstGeom prst="rect">
            <a:avLst/>
          </a:prstGeom>
          <a:noFill/>
          <a:ln>
            <a:noFill/>
          </a:ln>
        </p:spPr>
        <p:txBody>
          <a:bodyPr spcFirstLastPara="1" wrap="square" lIns="91425" tIns="45700" rIns="91425" bIns="45700" anchor="t" anchorCtr="0">
            <a:normAutofit/>
          </a:bodyPr>
          <a:lstStyle/>
          <a:p>
            <a:pPr marL="285750" lvl="0" indent="-285750" algn="l" rtl="0">
              <a:lnSpc>
                <a:spcPct val="90000"/>
              </a:lnSpc>
              <a:spcBef>
                <a:spcPts val="0"/>
              </a:spcBef>
              <a:spcAft>
                <a:spcPts val="0"/>
              </a:spcAft>
              <a:buClr>
                <a:schemeClr val="dk1"/>
              </a:buClr>
              <a:buSzPts val="2800"/>
              <a:buFont typeface="Arial"/>
              <a:buChar char="•"/>
            </a:pPr>
            <a:r>
              <a:rPr lang="en-US" b="1"/>
              <a:t>Interruption: </a:t>
            </a:r>
            <a:r>
              <a:rPr lang="en-US"/>
              <a:t>This is an attack on availability, confidentiality  </a:t>
            </a:r>
            <a:endParaRPr/>
          </a:p>
          <a:p>
            <a:pPr marL="285750" lvl="0" indent="-285750" algn="l" rtl="0">
              <a:lnSpc>
                <a:spcPct val="90000"/>
              </a:lnSpc>
              <a:spcBef>
                <a:spcPts val="1000"/>
              </a:spcBef>
              <a:spcAft>
                <a:spcPts val="0"/>
              </a:spcAft>
              <a:buClr>
                <a:schemeClr val="dk1"/>
              </a:buClr>
              <a:buSzPts val="2800"/>
              <a:buFont typeface="Arial"/>
              <a:buChar char="•"/>
            </a:pPr>
            <a:r>
              <a:rPr lang="en-US" b="1"/>
              <a:t>Interception: </a:t>
            </a:r>
            <a:r>
              <a:rPr lang="en-US"/>
              <a:t>This is an attack on confidentiality </a:t>
            </a:r>
            <a:endParaRPr/>
          </a:p>
          <a:p>
            <a:pPr marL="285750" lvl="0" indent="-285750" algn="l" rtl="0">
              <a:lnSpc>
                <a:spcPct val="90000"/>
              </a:lnSpc>
              <a:spcBef>
                <a:spcPts val="1000"/>
              </a:spcBef>
              <a:spcAft>
                <a:spcPts val="0"/>
              </a:spcAft>
              <a:buClr>
                <a:schemeClr val="dk1"/>
              </a:buClr>
              <a:buSzPts val="2800"/>
              <a:buFont typeface="Arial"/>
              <a:buChar char="•"/>
            </a:pPr>
            <a:r>
              <a:rPr lang="en-US" b="1"/>
              <a:t>Modification: </a:t>
            </a:r>
            <a:r>
              <a:rPr lang="en-US"/>
              <a:t>This is an attack on integrity </a:t>
            </a:r>
            <a:endParaRPr/>
          </a:p>
          <a:p>
            <a:pPr marL="285750" lvl="0" indent="-285750" algn="l" rtl="0">
              <a:lnSpc>
                <a:spcPct val="90000"/>
              </a:lnSpc>
              <a:spcBef>
                <a:spcPts val="1000"/>
              </a:spcBef>
              <a:spcAft>
                <a:spcPts val="0"/>
              </a:spcAft>
              <a:buClr>
                <a:schemeClr val="dk1"/>
              </a:buClr>
              <a:buSzPts val="2800"/>
              <a:buFont typeface="Arial"/>
              <a:buChar char="•"/>
            </a:pPr>
            <a:r>
              <a:rPr lang="en-US" b="1"/>
              <a:t>Fabrication</a:t>
            </a:r>
            <a:r>
              <a:rPr lang="en-US"/>
              <a:t>: This is an attack on authenticity </a:t>
            </a:r>
            <a:endParaRPr/>
          </a:p>
          <a:p>
            <a:pPr marL="285750" lvl="0" indent="-107950" algn="l" rtl="0">
              <a:lnSpc>
                <a:spcPct val="90000"/>
              </a:lnSpc>
              <a:spcBef>
                <a:spcPts val="1000"/>
              </a:spcBef>
              <a:spcAft>
                <a:spcPts val="0"/>
              </a:spcAft>
              <a:buClr>
                <a:schemeClr val="dk1"/>
              </a:buClr>
              <a:buSzPts val="2800"/>
              <a:buFont typeface="Arial"/>
              <a:buNone/>
            </a:pPr>
            <a:endParaRPr/>
          </a:p>
        </p:txBody>
      </p:sp>
      <p:sp>
        <p:nvSpPr>
          <p:cNvPr id="161" name="Google Shape;161;p15"/>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en-US"/>
              <a:t>Ms. Swati Mali</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53"/>
          <p:cNvSpPr txBox="1">
            <a:spLocks noGrp="1"/>
          </p:cNvSpPr>
          <p:nvPr>
            <p:ph type="title"/>
          </p:nvPr>
        </p:nvSpPr>
        <p:spPr>
          <a:xfrm>
            <a:off x="817323" y="214817"/>
            <a:ext cx="7402883" cy="874951"/>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930B0B"/>
              </a:buClr>
              <a:buSzPts val="3600"/>
              <a:buFont typeface="Times New Roman"/>
              <a:buNone/>
            </a:pPr>
            <a:r>
              <a:rPr lang="en-US"/>
              <a:t>Classical – common attacks</a:t>
            </a:r>
            <a:endParaRPr/>
          </a:p>
        </p:txBody>
      </p:sp>
      <p:sp>
        <p:nvSpPr>
          <p:cNvPr id="167" name="Google Shape;167;p53"/>
          <p:cNvSpPr txBox="1">
            <a:spLocks noGrp="1"/>
          </p:cNvSpPr>
          <p:nvPr>
            <p:ph type="body" idx="1"/>
          </p:nvPr>
        </p:nvSpPr>
        <p:spPr>
          <a:xfrm>
            <a:off x="700004" y="1324629"/>
            <a:ext cx="8229600" cy="4525963"/>
          </a:xfrm>
          <a:prstGeom prst="rect">
            <a:avLst/>
          </a:prstGeom>
          <a:noFill/>
          <a:ln>
            <a:noFill/>
          </a:ln>
        </p:spPr>
        <p:txBody>
          <a:bodyPr spcFirstLastPara="1" wrap="square" lIns="91425" tIns="45700" rIns="91425" bIns="45700" anchor="t" anchorCtr="0">
            <a:normAutofit fontScale="92500" lnSpcReduction="20000"/>
          </a:bodyPr>
          <a:lstStyle/>
          <a:p>
            <a:pPr marL="457200" marR="0" lvl="0" indent="-406400" algn="l" rtl="0">
              <a:lnSpc>
                <a:spcPct val="90000"/>
              </a:lnSpc>
              <a:spcBef>
                <a:spcPts val="1000"/>
              </a:spcBef>
              <a:spcAft>
                <a:spcPts val="0"/>
              </a:spcAft>
              <a:buClr>
                <a:schemeClr val="dk1"/>
              </a:buClr>
              <a:buSzPct val="108108"/>
              <a:buFont typeface="Arial"/>
              <a:buChar char="•"/>
            </a:pPr>
            <a:r>
              <a:rPr lang="en-US"/>
              <a:t>Classical attacks on security: </a:t>
            </a:r>
            <a:endParaRPr/>
          </a:p>
          <a:p>
            <a:pPr marL="914400" lvl="1" indent="-381000" algn="l" rtl="0">
              <a:lnSpc>
                <a:spcPct val="90000"/>
              </a:lnSpc>
              <a:spcBef>
                <a:spcPts val="500"/>
              </a:spcBef>
              <a:spcAft>
                <a:spcPts val="0"/>
              </a:spcAft>
              <a:buSzPct val="108108"/>
              <a:buChar char="o"/>
            </a:pPr>
            <a:r>
              <a:rPr lang="en-US"/>
              <a:t>Eavesdropping </a:t>
            </a:r>
            <a:endParaRPr/>
          </a:p>
          <a:p>
            <a:pPr marL="914400" lvl="1" indent="-381000" algn="l" rtl="0">
              <a:lnSpc>
                <a:spcPct val="90000"/>
              </a:lnSpc>
              <a:spcBef>
                <a:spcPts val="500"/>
              </a:spcBef>
              <a:spcAft>
                <a:spcPts val="0"/>
              </a:spcAft>
              <a:buSzPct val="108108"/>
              <a:buChar char="o"/>
            </a:pPr>
            <a:r>
              <a:rPr lang="en-US"/>
              <a:t>Traffic Analysis attack </a:t>
            </a:r>
            <a:endParaRPr/>
          </a:p>
          <a:p>
            <a:pPr marL="914400" lvl="1" indent="-381000" algn="l" rtl="0">
              <a:lnSpc>
                <a:spcPct val="90000"/>
              </a:lnSpc>
              <a:spcBef>
                <a:spcPts val="500"/>
              </a:spcBef>
              <a:spcAft>
                <a:spcPts val="0"/>
              </a:spcAft>
              <a:buSzPct val="108108"/>
              <a:buChar char="o"/>
            </a:pPr>
            <a:r>
              <a:rPr lang="en-US"/>
              <a:t>Replay attack</a:t>
            </a:r>
            <a:endParaRPr/>
          </a:p>
          <a:p>
            <a:pPr marL="914400" lvl="1" indent="-381000" algn="l" rtl="0">
              <a:lnSpc>
                <a:spcPct val="90000"/>
              </a:lnSpc>
              <a:spcBef>
                <a:spcPts val="500"/>
              </a:spcBef>
              <a:spcAft>
                <a:spcPts val="0"/>
              </a:spcAft>
              <a:buSzPct val="108108"/>
              <a:buChar char="o"/>
            </a:pPr>
            <a:r>
              <a:rPr lang="en-US"/>
              <a:t>non-repudiation attack  </a:t>
            </a:r>
            <a:endParaRPr/>
          </a:p>
          <a:p>
            <a:pPr marL="914400" lvl="1" indent="-381000" algn="l" rtl="0">
              <a:lnSpc>
                <a:spcPct val="90000"/>
              </a:lnSpc>
              <a:spcBef>
                <a:spcPts val="500"/>
              </a:spcBef>
              <a:spcAft>
                <a:spcPts val="0"/>
              </a:spcAft>
              <a:buSzPct val="108108"/>
              <a:buChar char="o"/>
            </a:pPr>
            <a:r>
              <a:rPr lang="en-US"/>
              <a:t>Man-in-the-Middle attack</a:t>
            </a:r>
            <a:endParaRPr/>
          </a:p>
          <a:p>
            <a:pPr marL="914400" lvl="1" indent="-381000" algn="l" rtl="0">
              <a:lnSpc>
                <a:spcPct val="90000"/>
              </a:lnSpc>
              <a:spcBef>
                <a:spcPts val="500"/>
              </a:spcBef>
              <a:spcAft>
                <a:spcPts val="0"/>
              </a:spcAft>
              <a:buSzPct val="108108"/>
              <a:buChar char="o"/>
            </a:pPr>
            <a:r>
              <a:rPr lang="en-US"/>
              <a:t>Data Tampering </a:t>
            </a:r>
            <a:endParaRPr/>
          </a:p>
          <a:p>
            <a:pPr marL="914400" lvl="1" indent="-381000" algn="l" rtl="0">
              <a:lnSpc>
                <a:spcPct val="90000"/>
              </a:lnSpc>
              <a:spcBef>
                <a:spcPts val="500"/>
              </a:spcBef>
              <a:spcAft>
                <a:spcPts val="0"/>
              </a:spcAft>
              <a:buSzPct val="108108"/>
              <a:buChar char="o"/>
            </a:pPr>
            <a:r>
              <a:rPr lang="en-US"/>
              <a:t>Denial of Service (DoS) attack </a:t>
            </a:r>
            <a:endParaRPr/>
          </a:p>
          <a:p>
            <a:pPr marL="914400" lvl="1" indent="-381000" algn="l" rtl="0">
              <a:lnSpc>
                <a:spcPct val="90000"/>
              </a:lnSpc>
              <a:spcBef>
                <a:spcPts val="500"/>
              </a:spcBef>
              <a:spcAft>
                <a:spcPts val="0"/>
              </a:spcAft>
              <a:buSzPct val="108108"/>
              <a:buChar char="o"/>
            </a:pPr>
            <a:r>
              <a:rPr lang="en-US"/>
              <a:t>Brute Force Attack</a:t>
            </a:r>
            <a:endParaRPr/>
          </a:p>
          <a:p>
            <a:pPr marL="914400" lvl="1" indent="-381000" algn="l" rtl="0">
              <a:lnSpc>
                <a:spcPct val="90000"/>
              </a:lnSpc>
              <a:spcBef>
                <a:spcPts val="500"/>
              </a:spcBef>
              <a:spcAft>
                <a:spcPts val="0"/>
              </a:spcAft>
              <a:buSzPct val="108108"/>
              <a:buChar char="o"/>
            </a:pPr>
            <a:r>
              <a:rPr lang="en-US"/>
              <a:t>zero day exploit attack,</a:t>
            </a:r>
            <a:endParaRPr/>
          </a:p>
          <a:p>
            <a:pPr marL="914400" lvl="1" indent="-381000" algn="l" rtl="0">
              <a:lnSpc>
                <a:spcPct val="90000"/>
              </a:lnSpc>
              <a:spcBef>
                <a:spcPts val="500"/>
              </a:spcBef>
              <a:spcAft>
                <a:spcPts val="0"/>
              </a:spcAft>
              <a:buSzPct val="108108"/>
              <a:buChar char="o"/>
            </a:pPr>
            <a:r>
              <a:rPr lang="en-US"/>
              <a:t>Phishing and social engineering </a:t>
            </a:r>
            <a:endParaRPr/>
          </a:p>
          <a:p>
            <a:pPr marL="914400" lvl="1" indent="-381000" algn="l" rtl="0">
              <a:lnSpc>
                <a:spcPct val="90000"/>
              </a:lnSpc>
              <a:spcBef>
                <a:spcPts val="500"/>
              </a:spcBef>
              <a:spcAft>
                <a:spcPts val="0"/>
              </a:spcAft>
              <a:buSzPct val="108108"/>
              <a:buChar char="o"/>
            </a:pPr>
            <a:r>
              <a:rPr lang="en-US"/>
              <a:t>Spoofing </a:t>
            </a:r>
            <a:endParaRPr/>
          </a:p>
          <a:p>
            <a:pPr marL="914400" lvl="1" indent="-381000" algn="l" rtl="0">
              <a:lnSpc>
                <a:spcPct val="90000"/>
              </a:lnSpc>
              <a:spcBef>
                <a:spcPts val="500"/>
              </a:spcBef>
              <a:spcAft>
                <a:spcPts val="0"/>
              </a:spcAft>
              <a:buSzPct val="108108"/>
              <a:buChar char="o"/>
            </a:pPr>
            <a:r>
              <a:rPr lang="en-US"/>
              <a:t>Malware </a:t>
            </a:r>
            <a:endParaRPr/>
          </a:p>
          <a:p>
            <a:pPr marL="914400" lvl="1" indent="-381000" algn="l" rtl="0">
              <a:lnSpc>
                <a:spcPct val="90000"/>
              </a:lnSpc>
              <a:spcBef>
                <a:spcPts val="500"/>
              </a:spcBef>
              <a:spcAft>
                <a:spcPts val="0"/>
              </a:spcAft>
              <a:buSzPct val="108108"/>
              <a:buChar char="o"/>
            </a:pPr>
            <a:r>
              <a:rPr lang="en-US"/>
              <a:t>session hijacking attack</a:t>
            </a:r>
            <a:endParaRPr/>
          </a:p>
        </p:txBody>
      </p:sp>
      <p:sp>
        <p:nvSpPr>
          <p:cNvPr id="168" name="Google Shape;168;p53"/>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en-US"/>
              <a:t>Ms. Swati Mali</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19"/>
          <p:cNvSpPr txBox="1">
            <a:spLocks noGrp="1"/>
          </p:cNvSpPr>
          <p:nvPr>
            <p:ph type="title"/>
          </p:nvPr>
        </p:nvSpPr>
        <p:spPr>
          <a:xfrm>
            <a:off x="817323" y="214817"/>
            <a:ext cx="7402883" cy="874951"/>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rgbClr val="930B0B"/>
              </a:buClr>
              <a:buSzPts val="3600"/>
              <a:buFont typeface="Times New Roman"/>
              <a:buNone/>
            </a:pPr>
            <a:endParaRPr/>
          </a:p>
        </p:txBody>
      </p:sp>
      <p:sp>
        <p:nvSpPr>
          <p:cNvPr id="174" name="Google Shape;174;p19"/>
          <p:cNvSpPr txBox="1">
            <a:spLocks noGrp="1"/>
          </p:cNvSpPr>
          <p:nvPr>
            <p:ph type="body" idx="1"/>
          </p:nvPr>
        </p:nvSpPr>
        <p:spPr>
          <a:xfrm>
            <a:off x="700004" y="1324629"/>
            <a:ext cx="8229600" cy="4525963"/>
          </a:xfrm>
          <a:prstGeom prst="rect">
            <a:avLst/>
          </a:prstGeom>
          <a:noFill/>
          <a:ln>
            <a:noFill/>
          </a:ln>
        </p:spPr>
        <p:txBody>
          <a:bodyPr spcFirstLastPara="1" wrap="square" lIns="91425" tIns="45700" rIns="91425" bIns="45700" anchor="t" anchorCtr="0">
            <a:normAutofit/>
          </a:bodyPr>
          <a:lstStyle/>
          <a:p>
            <a:pPr marL="285750" lvl="0" indent="-107950" algn="l" rtl="0">
              <a:lnSpc>
                <a:spcPct val="90000"/>
              </a:lnSpc>
              <a:spcBef>
                <a:spcPts val="0"/>
              </a:spcBef>
              <a:spcAft>
                <a:spcPts val="0"/>
              </a:spcAft>
              <a:buClr>
                <a:schemeClr val="dk1"/>
              </a:buClr>
              <a:buSzPts val="2800"/>
              <a:buFont typeface="Arial"/>
              <a:buNone/>
            </a:pPr>
            <a:endParaRPr/>
          </a:p>
        </p:txBody>
      </p:sp>
      <p:pic>
        <p:nvPicPr>
          <p:cNvPr id="175" name="Google Shape;175;p19"/>
          <p:cNvPicPr preferRelativeResize="0"/>
          <p:nvPr/>
        </p:nvPicPr>
        <p:blipFill rotWithShape="1">
          <a:blip r:embed="rId3">
            <a:alphaModFix/>
          </a:blip>
          <a:srcRect/>
          <a:stretch/>
        </p:blipFill>
        <p:spPr>
          <a:xfrm>
            <a:off x="139607" y="0"/>
            <a:ext cx="9004393" cy="5966591"/>
          </a:xfrm>
          <a:prstGeom prst="rect">
            <a:avLst/>
          </a:prstGeom>
          <a:noFill/>
          <a:ln>
            <a:noFill/>
          </a:ln>
        </p:spPr>
      </p:pic>
      <p:sp>
        <p:nvSpPr>
          <p:cNvPr id="176" name="Google Shape;176;p19"/>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en-US"/>
              <a:t>Ms. Swati Mali</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54"/>
          <p:cNvSpPr txBox="1">
            <a:spLocks noGrp="1"/>
          </p:cNvSpPr>
          <p:nvPr>
            <p:ph type="title"/>
          </p:nvPr>
        </p:nvSpPr>
        <p:spPr>
          <a:xfrm>
            <a:off x="817323" y="214817"/>
            <a:ext cx="7402883" cy="874951"/>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rgbClr val="930B0B"/>
              </a:buClr>
              <a:buSzPts val="3600"/>
              <a:buFont typeface="Times New Roman"/>
              <a:buNone/>
            </a:pPr>
            <a:r>
              <a:rPr lang="en-US"/>
              <a:t>Attacks</a:t>
            </a:r>
            <a:endParaRPr/>
          </a:p>
        </p:txBody>
      </p:sp>
      <p:sp>
        <p:nvSpPr>
          <p:cNvPr id="182" name="Google Shape;182;p54"/>
          <p:cNvSpPr txBox="1">
            <a:spLocks noGrp="1"/>
          </p:cNvSpPr>
          <p:nvPr>
            <p:ph type="body" idx="1"/>
          </p:nvPr>
        </p:nvSpPr>
        <p:spPr>
          <a:xfrm>
            <a:off x="700004" y="1324629"/>
            <a:ext cx="8229600" cy="4525963"/>
          </a:xfrm>
          <a:prstGeom prst="rect">
            <a:avLst/>
          </a:prstGeom>
          <a:noFill/>
          <a:ln>
            <a:noFill/>
          </a:ln>
        </p:spPr>
        <p:txBody>
          <a:bodyPr spcFirstLastPara="1" wrap="square" lIns="91425" tIns="45700" rIns="91425" bIns="45700" anchor="t" anchorCtr="0">
            <a:normAutofit/>
          </a:bodyPr>
          <a:lstStyle/>
          <a:p>
            <a:pPr marL="285750" lvl="0" indent="-285750" algn="l" rtl="0">
              <a:lnSpc>
                <a:spcPct val="90000"/>
              </a:lnSpc>
              <a:spcBef>
                <a:spcPts val="0"/>
              </a:spcBef>
              <a:spcAft>
                <a:spcPts val="0"/>
              </a:spcAft>
              <a:buClr>
                <a:schemeClr val="dk1"/>
              </a:buClr>
              <a:buSzPts val="2800"/>
              <a:buFont typeface="Arial"/>
              <a:buChar char="•"/>
            </a:pPr>
            <a:r>
              <a:rPr lang="en-US"/>
              <a:t>Cryptanalytic Attacks </a:t>
            </a:r>
            <a:endParaRPr/>
          </a:p>
          <a:p>
            <a:pPr marL="742950" lvl="1" indent="-285750" algn="l" rtl="0">
              <a:lnSpc>
                <a:spcPct val="90000"/>
              </a:lnSpc>
              <a:spcBef>
                <a:spcPts val="500"/>
              </a:spcBef>
              <a:spcAft>
                <a:spcPts val="0"/>
              </a:spcAft>
              <a:buClr>
                <a:schemeClr val="dk1"/>
              </a:buClr>
              <a:buSzPts val="2400"/>
              <a:buChar char="o"/>
            </a:pPr>
            <a:r>
              <a:rPr lang="en-US"/>
              <a:t>Exploit mathematical weakness of cryptographic algorithm </a:t>
            </a:r>
            <a:endParaRPr/>
          </a:p>
          <a:p>
            <a:pPr marL="285750" lvl="0" indent="-285750" algn="l" rtl="0">
              <a:lnSpc>
                <a:spcPct val="90000"/>
              </a:lnSpc>
              <a:spcBef>
                <a:spcPts val="1000"/>
              </a:spcBef>
              <a:spcAft>
                <a:spcPts val="0"/>
              </a:spcAft>
              <a:buClr>
                <a:schemeClr val="dk1"/>
              </a:buClr>
              <a:buSzPts val="2800"/>
              <a:buFont typeface="Arial"/>
              <a:buChar char="•"/>
            </a:pPr>
            <a:r>
              <a:rPr lang="en-US"/>
              <a:t>Non-cryptanalytic Attacks </a:t>
            </a:r>
            <a:endParaRPr/>
          </a:p>
          <a:p>
            <a:pPr marL="742950" lvl="1" indent="-285750" algn="l" rtl="0">
              <a:lnSpc>
                <a:spcPct val="90000"/>
              </a:lnSpc>
              <a:spcBef>
                <a:spcPts val="500"/>
              </a:spcBef>
              <a:spcAft>
                <a:spcPts val="0"/>
              </a:spcAft>
              <a:buClr>
                <a:schemeClr val="dk1"/>
              </a:buClr>
              <a:buSzPts val="2400"/>
              <a:buChar char="o"/>
            </a:pPr>
            <a:r>
              <a:rPr lang="en-US"/>
              <a:t>Threats to goal of security </a:t>
            </a:r>
            <a:endParaRPr/>
          </a:p>
          <a:p>
            <a:pPr marL="285750" lvl="0" indent="-107950" algn="l" rtl="0">
              <a:lnSpc>
                <a:spcPct val="90000"/>
              </a:lnSpc>
              <a:spcBef>
                <a:spcPts val="1000"/>
              </a:spcBef>
              <a:spcAft>
                <a:spcPts val="0"/>
              </a:spcAft>
              <a:buClr>
                <a:schemeClr val="dk1"/>
              </a:buClr>
              <a:buSzPts val="2800"/>
              <a:buFont typeface="Arial"/>
              <a:buNone/>
            </a:pPr>
            <a:endParaRPr/>
          </a:p>
        </p:txBody>
      </p:sp>
      <p:sp>
        <p:nvSpPr>
          <p:cNvPr id="183" name="Google Shape;183;p54"/>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en-US"/>
              <a:t>Ms. Swati Mali</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55"/>
          <p:cNvSpPr txBox="1">
            <a:spLocks noGrp="1"/>
          </p:cNvSpPr>
          <p:nvPr>
            <p:ph type="title"/>
          </p:nvPr>
        </p:nvSpPr>
        <p:spPr>
          <a:xfrm>
            <a:off x="817323" y="214817"/>
            <a:ext cx="7402883" cy="874951"/>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rgbClr val="930B0B"/>
              </a:buClr>
              <a:buSzPts val="3600"/>
              <a:buFont typeface="Times New Roman"/>
              <a:buNone/>
            </a:pPr>
            <a:r>
              <a:rPr lang="en-US"/>
              <a:t>Method, Opportunity and Motive </a:t>
            </a:r>
            <a:endParaRPr/>
          </a:p>
        </p:txBody>
      </p:sp>
      <p:sp>
        <p:nvSpPr>
          <p:cNvPr id="189" name="Google Shape;189;p55"/>
          <p:cNvSpPr txBox="1">
            <a:spLocks noGrp="1"/>
          </p:cNvSpPr>
          <p:nvPr>
            <p:ph type="body" idx="1"/>
          </p:nvPr>
        </p:nvSpPr>
        <p:spPr>
          <a:xfrm>
            <a:off x="700004" y="1324629"/>
            <a:ext cx="8229600" cy="4525963"/>
          </a:xfrm>
          <a:prstGeom prst="rect">
            <a:avLst/>
          </a:prstGeom>
          <a:noFill/>
          <a:ln>
            <a:noFill/>
          </a:ln>
        </p:spPr>
        <p:txBody>
          <a:bodyPr spcFirstLastPara="1" wrap="square" lIns="91425" tIns="45700" rIns="91425" bIns="45700" anchor="t" anchorCtr="0">
            <a:normAutofit/>
          </a:bodyPr>
          <a:lstStyle/>
          <a:p>
            <a:pPr marL="285750" lvl="0" indent="-285750" algn="l" rtl="0">
              <a:lnSpc>
                <a:spcPct val="90000"/>
              </a:lnSpc>
              <a:spcBef>
                <a:spcPts val="0"/>
              </a:spcBef>
              <a:spcAft>
                <a:spcPts val="0"/>
              </a:spcAft>
              <a:buClr>
                <a:schemeClr val="dk1"/>
              </a:buClr>
              <a:buSzPts val="2800"/>
              <a:buFont typeface="Arial"/>
              <a:buChar char="•"/>
            </a:pPr>
            <a:r>
              <a:rPr lang="en-US"/>
              <a:t>Method : the skills, knowledge, tools and other things with which to be able to pull off the attack </a:t>
            </a:r>
            <a:endParaRPr/>
          </a:p>
          <a:p>
            <a:pPr marL="285750" lvl="0" indent="-285750" algn="l" rtl="0">
              <a:lnSpc>
                <a:spcPct val="90000"/>
              </a:lnSpc>
              <a:spcBef>
                <a:spcPts val="1000"/>
              </a:spcBef>
              <a:spcAft>
                <a:spcPts val="0"/>
              </a:spcAft>
              <a:buClr>
                <a:schemeClr val="dk1"/>
              </a:buClr>
              <a:buSzPts val="2800"/>
              <a:buFont typeface="Arial"/>
              <a:buChar char="•"/>
            </a:pPr>
            <a:r>
              <a:rPr lang="en-US"/>
              <a:t>Opportunity : the time and access to accomplish the attack </a:t>
            </a:r>
            <a:endParaRPr/>
          </a:p>
          <a:p>
            <a:pPr marL="285750" lvl="0" indent="-285750" algn="l" rtl="0">
              <a:lnSpc>
                <a:spcPct val="90000"/>
              </a:lnSpc>
              <a:spcBef>
                <a:spcPts val="1000"/>
              </a:spcBef>
              <a:spcAft>
                <a:spcPts val="0"/>
              </a:spcAft>
              <a:buClr>
                <a:schemeClr val="dk1"/>
              </a:buClr>
              <a:buSzPts val="2800"/>
              <a:buFont typeface="Arial"/>
              <a:buChar char="•"/>
            </a:pPr>
            <a:r>
              <a:rPr lang="en-US"/>
              <a:t>Motive : a reason to want to perform this attack against this system </a:t>
            </a:r>
            <a:endParaRPr/>
          </a:p>
          <a:p>
            <a:pPr marL="0" lvl="0" indent="0" algn="l" rtl="0">
              <a:lnSpc>
                <a:spcPct val="90000"/>
              </a:lnSpc>
              <a:spcBef>
                <a:spcPts val="1000"/>
              </a:spcBef>
              <a:spcAft>
                <a:spcPts val="0"/>
              </a:spcAft>
              <a:buClr>
                <a:srgbClr val="C00000"/>
              </a:buClr>
              <a:buSzPts val="2800"/>
              <a:buNone/>
            </a:pPr>
            <a:r>
              <a:rPr lang="en-US" u="sng">
                <a:solidFill>
                  <a:srgbClr val="C00000"/>
                </a:solidFill>
              </a:rPr>
              <a:t>DENY ANY OF THESE THREE THINGS AND </a:t>
            </a:r>
            <a:endParaRPr/>
          </a:p>
          <a:p>
            <a:pPr marL="0" lvl="0" indent="0" algn="l" rtl="0">
              <a:lnSpc>
                <a:spcPct val="90000"/>
              </a:lnSpc>
              <a:spcBef>
                <a:spcPts val="1000"/>
              </a:spcBef>
              <a:spcAft>
                <a:spcPts val="0"/>
              </a:spcAft>
              <a:buClr>
                <a:srgbClr val="C00000"/>
              </a:buClr>
              <a:buSzPts val="2800"/>
              <a:buNone/>
            </a:pPr>
            <a:r>
              <a:rPr lang="en-US" u="sng">
                <a:solidFill>
                  <a:srgbClr val="C00000"/>
                </a:solidFill>
              </a:rPr>
              <a:t>ATTACKS WILL NOT OCCUR </a:t>
            </a:r>
            <a:endParaRPr/>
          </a:p>
        </p:txBody>
      </p:sp>
      <p:sp>
        <p:nvSpPr>
          <p:cNvPr id="190" name="Google Shape;190;p55"/>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en-US"/>
              <a:t>Ms. Swati Mali</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20"/>
          <p:cNvSpPr txBox="1">
            <a:spLocks noGrp="1"/>
          </p:cNvSpPr>
          <p:nvPr>
            <p:ph type="title"/>
          </p:nvPr>
        </p:nvSpPr>
        <p:spPr>
          <a:xfrm>
            <a:off x="817323" y="214817"/>
            <a:ext cx="7402883" cy="874951"/>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rgbClr val="930B0B"/>
              </a:buClr>
              <a:buSzPts val="3600"/>
              <a:buFont typeface="Times New Roman"/>
              <a:buNone/>
            </a:pPr>
            <a:r>
              <a:rPr lang="en-US" b="1"/>
              <a:t>Security Services </a:t>
            </a:r>
            <a:endParaRPr/>
          </a:p>
        </p:txBody>
      </p:sp>
      <p:sp>
        <p:nvSpPr>
          <p:cNvPr id="196" name="Google Shape;196;p20"/>
          <p:cNvSpPr txBox="1">
            <a:spLocks noGrp="1"/>
          </p:cNvSpPr>
          <p:nvPr>
            <p:ph type="body" idx="1"/>
          </p:nvPr>
        </p:nvSpPr>
        <p:spPr>
          <a:xfrm>
            <a:off x="700004" y="1324629"/>
            <a:ext cx="8229600" cy="4525963"/>
          </a:xfrm>
          <a:prstGeom prst="rect">
            <a:avLst/>
          </a:prstGeom>
          <a:noFill/>
          <a:ln>
            <a:noFill/>
          </a:ln>
        </p:spPr>
        <p:txBody>
          <a:bodyPr spcFirstLastPara="1" wrap="square" lIns="91425" tIns="45700" rIns="91425" bIns="45700" anchor="t" anchorCtr="0">
            <a:normAutofit/>
          </a:bodyPr>
          <a:lstStyle/>
          <a:p>
            <a:pPr marL="285750" lvl="0" indent="-285750" algn="l" rtl="0">
              <a:lnSpc>
                <a:spcPct val="90000"/>
              </a:lnSpc>
              <a:spcBef>
                <a:spcPts val="0"/>
              </a:spcBef>
              <a:spcAft>
                <a:spcPts val="0"/>
              </a:spcAft>
              <a:buClr>
                <a:schemeClr val="dk1"/>
              </a:buClr>
              <a:buSzPts val="2800"/>
              <a:buFont typeface="Arial"/>
              <a:buChar char="•"/>
            </a:pPr>
            <a:r>
              <a:rPr lang="en-US"/>
              <a:t>Confidentiality (privacy) </a:t>
            </a:r>
            <a:endParaRPr/>
          </a:p>
          <a:p>
            <a:pPr marL="285750" lvl="0" indent="-285750" algn="l" rtl="0">
              <a:lnSpc>
                <a:spcPct val="90000"/>
              </a:lnSpc>
              <a:spcBef>
                <a:spcPts val="1000"/>
              </a:spcBef>
              <a:spcAft>
                <a:spcPts val="0"/>
              </a:spcAft>
              <a:buClr>
                <a:schemeClr val="dk1"/>
              </a:buClr>
              <a:buSzPts val="2800"/>
              <a:buFont typeface="Arial"/>
              <a:buChar char="•"/>
            </a:pPr>
            <a:r>
              <a:rPr lang="en-US"/>
              <a:t>Authentication (who created or sent the data) </a:t>
            </a:r>
            <a:endParaRPr/>
          </a:p>
          <a:p>
            <a:pPr marL="285750" lvl="0" indent="-285750" algn="l" rtl="0">
              <a:lnSpc>
                <a:spcPct val="90000"/>
              </a:lnSpc>
              <a:spcBef>
                <a:spcPts val="1000"/>
              </a:spcBef>
              <a:spcAft>
                <a:spcPts val="0"/>
              </a:spcAft>
              <a:buClr>
                <a:schemeClr val="dk1"/>
              </a:buClr>
              <a:buSzPts val="2800"/>
              <a:buFont typeface="Arial"/>
              <a:buChar char="•"/>
            </a:pPr>
            <a:r>
              <a:rPr lang="en-US"/>
              <a:t>Integrity (has not been altered) </a:t>
            </a:r>
            <a:endParaRPr/>
          </a:p>
          <a:p>
            <a:pPr marL="285750" lvl="0" indent="-285750" algn="l" rtl="0">
              <a:lnSpc>
                <a:spcPct val="90000"/>
              </a:lnSpc>
              <a:spcBef>
                <a:spcPts val="1000"/>
              </a:spcBef>
              <a:spcAft>
                <a:spcPts val="0"/>
              </a:spcAft>
              <a:buClr>
                <a:schemeClr val="dk1"/>
              </a:buClr>
              <a:buSzPts val="2800"/>
              <a:buFont typeface="Arial"/>
              <a:buChar char="•"/>
            </a:pPr>
            <a:r>
              <a:rPr lang="en-US"/>
              <a:t>Non-repudiation (the order is final) </a:t>
            </a:r>
            <a:endParaRPr/>
          </a:p>
          <a:p>
            <a:pPr marL="285750" lvl="0" indent="-285750" algn="l" rtl="0">
              <a:lnSpc>
                <a:spcPct val="90000"/>
              </a:lnSpc>
              <a:spcBef>
                <a:spcPts val="1000"/>
              </a:spcBef>
              <a:spcAft>
                <a:spcPts val="0"/>
              </a:spcAft>
              <a:buClr>
                <a:schemeClr val="dk1"/>
              </a:buClr>
              <a:buSzPts val="2800"/>
              <a:buFont typeface="Arial"/>
              <a:buChar char="•"/>
            </a:pPr>
            <a:r>
              <a:rPr lang="en-US"/>
              <a:t>Access control (prevent misuse of resources) </a:t>
            </a:r>
            <a:endParaRPr/>
          </a:p>
          <a:p>
            <a:pPr marL="285750" lvl="0" indent="-285750" algn="l" rtl="0">
              <a:lnSpc>
                <a:spcPct val="90000"/>
              </a:lnSpc>
              <a:spcBef>
                <a:spcPts val="1000"/>
              </a:spcBef>
              <a:spcAft>
                <a:spcPts val="0"/>
              </a:spcAft>
              <a:buClr>
                <a:schemeClr val="dk1"/>
              </a:buClr>
              <a:buSzPts val="2800"/>
              <a:buFont typeface="Arial"/>
              <a:buChar char="•"/>
            </a:pPr>
            <a:r>
              <a:rPr lang="en-US"/>
              <a:t>Availability (permanence, non-erasure) </a:t>
            </a:r>
            <a:endParaRPr/>
          </a:p>
          <a:p>
            <a:pPr marL="742950" lvl="1" indent="-285750" algn="l" rtl="0">
              <a:lnSpc>
                <a:spcPct val="90000"/>
              </a:lnSpc>
              <a:spcBef>
                <a:spcPts val="500"/>
              </a:spcBef>
              <a:spcAft>
                <a:spcPts val="0"/>
              </a:spcAft>
              <a:buClr>
                <a:schemeClr val="dk1"/>
              </a:buClr>
              <a:buSzPts val="2400"/>
              <a:buChar char="o"/>
            </a:pPr>
            <a:r>
              <a:rPr lang="en-US"/>
              <a:t> Denial of Service Attacks </a:t>
            </a:r>
            <a:endParaRPr/>
          </a:p>
          <a:p>
            <a:pPr marL="742950" lvl="1" indent="-285750" algn="l" rtl="0">
              <a:lnSpc>
                <a:spcPct val="90000"/>
              </a:lnSpc>
              <a:spcBef>
                <a:spcPts val="500"/>
              </a:spcBef>
              <a:spcAft>
                <a:spcPts val="0"/>
              </a:spcAft>
              <a:buClr>
                <a:schemeClr val="dk1"/>
              </a:buClr>
              <a:buSzPts val="2400"/>
              <a:buChar char="o"/>
            </a:pPr>
            <a:r>
              <a:rPr lang="en-US"/>
              <a:t> Virus that deletes files </a:t>
            </a:r>
            <a:endParaRPr/>
          </a:p>
          <a:p>
            <a:pPr marL="285750" lvl="0" indent="-107950" algn="l" rtl="0">
              <a:lnSpc>
                <a:spcPct val="90000"/>
              </a:lnSpc>
              <a:spcBef>
                <a:spcPts val="1000"/>
              </a:spcBef>
              <a:spcAft>
                <a:spcPts val="0"/>
              </a:spcAft>
              <a:buClr>
                <a:schemeClr val="dk1"/>
              </a:buClr>
              <a:buSzPts val="2800"/>
              <a:buFont typeface="Arial"/>
              <a:buNone/>
            </a:pPr>
            <a:endParaRPr/>
          </a:p>
        </p:txBody>
      </p:sp>
      <p:sp>
        <p:nvSpPr>
          <p:cNvPr id="197" name="Google Shape;197;p20"/>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en-US"/>
              <a:t>Ms. Swati Mali</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21"/>
          <p:cNvSpPr txBox="1">
            <a:spLocks noGrp="1"/>
          </p:cNvSpPr>
          <p:nvPr>
            <p:ph type="title"/>
          </p:nvPr>
        </p:nvSpPr>
        <p:spPr>
          <a:xfrm>
            <a:off x="817323" y="214817"/>
            <a:ext cx="7402883" cy="874951"/>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rgbClr val="930B0B"/>
              </a:buClr>
              <a:buSzPts val="3600"/>
              <a:buFont typeface="Times New Roman"/>
              <a:buNone/>
            </a:pPr>
            <a:endParaRPr/>
          </a:p>
        </p:txBody>
      </p:sp>
      <p:sp>
        <p:nvSpPr>
          <p:cNvPr id="203" name="Google Shape;203;p21"/>
          <p:cNvSpPr txBox="1">
            <a:spLocks noGrp="1"/>
          </p:cNvSpPr>
          <p:nvPr>
            <p:ph type="body" idx="1"/>
          </p:nvPr>
        </p:nvSpPr>
        <p:spPr>
          <a:xfrm>
            <a:off x="700004" y="1324629"/>
            <a:ext cx="8229600" cy="4525963"/>
          </a:xfrm>
          <a:prstGeom prst="rect">
            <a:avLst/>
          </a:prstGeom>
          <a:noFill/>
          <a:ln>
            <a:noFill/>
          </a:ln>
        </p:spPr>
        <p:txBody>
          <a:bodyPr spcFirstLastPara="1" wrap="square" lIns="91425" tIns="45700" rIns="91425" bIns="45700" anchor="t" anchorCtr="0">
            <a:normAutofit/>
          </a:bodyPr>
          <a:lstStyle/>
          <a:p>
            <a:pPr marL="285750" lvl="0" indent="-107950" algn="l" rtl="0">
              <a:lnSpc>
                <a:spcPct val="90000"/>
              </a:lnSpc>
              <a:spcBef>
                <a:spcPts val="0"/>
              </a:spcBef>
              <a:spcAft>
                <a:spcPts val="0"/>
              </a:spcAft>
              <a:buClr>
                <a:schemeClr val="dk1"/>
              </a:buClr>
              <a:buSzPts val="2800"/>
              <a:buFont typeface="Arial"/>
              <a:buNone/>
            </a:pPr>
            <a:endParaRPr/>
          </a:p>
        </p:txBody>
      </p:sp>
      <p:pic>
        <p:nvPicPr>
          <p:cNvPr id="204" name="Google Shape;204;p21"/>
          <p:cNvPicPr preferRelativeResize="0"/>
          <p:nvPr/>
        </p:nvPicPr>
        <p:blipFill rotWithShape="1">
          <a:blip r:embed="rId3">
            <a:alphaModFix/>
          </a:blip>
          <a:srcRect/>
          <a:stretch/>
        </p:blipFill>
        <p:spPr>
          <a:xfrm>
            <a:off x="0" y="260648"/>
            <a:ext cx="9144000" cy="5400599"/>
          </a:xfrm>
          <a:prstGeom prst="rect">
            <a:avLst/>
          </a:prstGeom>
          <a:noFill/>
          <a:ln>
            <a:noFill/>
          </a:ln>
        </p:spPr>
      </p:pic>
      <p:sp>
        <p:nvSpPr>
          <p:cNvPr id="205" name="Google Shape;205;p21"/>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en-US"/>
              <a:t>Ms. Swati Mali</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22"/>
          <p:cNvSpPr txBox="1">
            <a:spLocks noGrp="1"/>
          </p:cNvSpPr>
          <p:nvPr>
            <p:ph type="title"/>
          </p:nvPr>
        </p:nvSpPr>
        <p:spPr>
          <a:xfrm>
            <a:off x="817323" y="214817"/>
            <a:ext cx="7402883" cy="874951"/>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rgbClr val="930B0B"/>
              </a:buClr>
              <a:buSzPts val="3600"/>
              <a:buFont typeface="Times New Roman"/>
              <a:buNone/>
            </a:pPr>
            <a:endParaRPr/>
          </a:p>
        </p:txBody>
      </p:sp>
      <p:sp>
        <p:nvSpPr>
          <p:cNvPr id="211" name="Google Shape;211;p22"/>
          <p:cNvSpPr txBox="1">
            <a:spLocks noGrp="1"/>
          </p:cNvSpPr>
          <p:nvPr>
            <p:ph type="body" idx="1"/>
          </p:nvPr>
        </p:nvSpPr>
        <p:spPr>
          <a:xfrm>
            <a:off x="700004" y="1324629"/>
            <a:ext cx="8229600" cy="4525963"/>
          </a:xfrm>
          <a:prstGeom prst="rect">
            <a:avLst/>
          </a:prstGeom>
          <a:noFill/>
          <a:ln>
            <a:noFill/>
          </a:ln>
        </p:spPr>
        <p:txBody>
          <a:bodyPr spcFirstLastPara="1" wrap="square" lIns="91425" tIns="45700" rIns="91425" bIns="45700" anchor="t" anchorCtr="0">
            <a:normAutofit/>
          </a:bodyPr>
          <a:lstStyle/>
          <a:p>
            <a:pPr marL="285750" lvl="0" indent="-107950" algn="l" rtl="0">
              <a:lnSpc>
                <a:spcPct val="90000"/>
              </a:lnSpc>
              <a:spcBef>
                <a:spcPts val="0"/>
              </a:spcBef>
              <a:spcAft>
                <a:spcPts val="0"/>
              </a:spcAft>
              <a:buClr>
                <a:schemeClr val="dk1"/>
              </a:buClr>
              <a:buSzPts val="2800"/>
              <a:buFont typeface="Arial"/>
              <a:buNone/>
            </a:pPr>
            <a:endParaRPr/>
          </a:p>
        </p:txBody>
      </p:sp>
      <p:pic>
        <p:nvPicPr>
          <p:cNvPr id="212" name="Google Shape;212;p22"/>
          <p:cNvPicPr preferRelativeResize="0"/>
          <p:nvPr/>
        </p:nvPicPr>
        <p:blipFill rotWithShape="1">
          <a:blip r:embed="rId3">
            <a:alphaModFix/>
          </a:blip>
          <a:srcRect/>
          <a:stretch/>
        </p:blipFill>
        <p:spPr>
          <a:xfrm>
            <a:off x="1331640" y="1"/>
            <a:ext cx="6476776" cy="6165303"/>
          </a:xfrm>
          <a:prstGeom prst="rect">
            <a:avLst/>
          </a:prstGeom>
          <a:noFill/>
          <a:ln>
            <a:noFill/>
          </a:ln>
        </p:spPr>
      </p:pic>
      <p:sp>
        <p:nvSpPr>
          <p:cNvPr id="213" name="Google Shape;213;p22"/>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en-US"/>
              <a:t>Ms. Swati Mali</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23"/>
          <p:cNvSpPr txBox="1">
            <a:spLocks noGrp="1"/>
          </p:cNvSpPr>
          <p:nvPr>
            <p:ph type="title"/>
          </p:nvPr>
        </p:nvSpPr>
        <p:spPr>
          <a:xfrm>
            <a:off x="817323" y="214817"/>
            <a:ext cx="7402883" cy="874951"/>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rgbClr val="930B0B"/>
              </a:buClr>
              <a:buSzPts val="3600"/>
              <a:buFont typeface="Times New Roman"/>
              <a:buNone/>
            </a:pPr>
            <a:r>
              <a:rPr lang="en-US"/>
              <a:t>Vulnerabilities</a:t>
            </a:r>
            <a:endParaRPr/>
          </a:p>
        </p:txBody>
      </p:sp>
      <p:sp>
        <p:nvSpPr>
          <p:cNvPr id="219" name="Google Shape;219;p23"/>
          <p:cNvSpPr txBox="1">
            <a:spLocks noGrp="1"/>
          </p:cNvSpPr>
          <p:nvPr>
            <p:ph type="body" idx="1"/>
          </p:nvPr>
        </p:nvSpPr>
        <p:spPr>
          <a:xfrm>
            <a:off x="700004" y="1324629"/>
            <a:ext cx="8229600" cy="4525963"/>
          </a:xfrm>
          <a:prstGeom prst="rect">
            <a:avLst/>
          </a:prstGeom>
          <a:noFill/>
          <a:ln>
            <a:noFill/>
          </a:ln>
        </p:spPr>
        <p:txBody>
          <a:bodyPr spcFirstLastPara="1" wrap="square" lIns="91425" tIns="45700" rIns="91425" bIns="45700" anchor="t" anchorCtr="0">
            <a:normAutofit/>
          </a:bodyPr>
          <a:lstStyle/>
          <a:p>
            <a:pPr marL="285750" lvl="0" indent="-285750" algn="l" rtl="0">
              <a:lnSpc>
                <a:spcPct val="90000"/>
              </a:lnSpc>
              <a:spcBef>
                <a:spcPts val="0"/>
              </a:spcBef>
              <a:spcAft>
                <a:spcPts val="0"/>
              </a:spcAft>
              <a:buClr>
                <a:schemeClr val="dk1"/>
              </a:buClr>
              <a:buSzPts val="2800"/>
              <a:buFont typeface="Arial"/>
              <a:buChar char="•"/>
            </a:pPr>
            <a:r>
              <a:rPr lang="en-US"/>
              <a:t>Hardware vulnerabilities </a:t>
            </a:r>
            <a:endParaRPr/>
          </a:p>
          <a:p>
            <a:pPr marL="285750" lvl="0" indent="-285750" algn="l" rtl="0">
              <a:lnSpc>
                <a:spcPct val="90000"/>
              </a:lnSpc>
              <a:spcBef>
                <a:spcPts val="1000"/>
              </a:spcBef>
              <a:spcAft>
                <a:spcPts val="0"/>
              </a:spcAft>
              <a:buClr>
                <a:schemeClr val="dk1"/>
              </a:buClr>
              <a:buSzPts val="2800"/>
              <a:buFont typeface="Arial"/>
              <a:buChar char="•"/>
            </a:pPr>
            <a:r>
              <a:rPr lang="en-US"/>
              <a:t>Software vulnerabilities </a:t>
            </a:r>
            <a:endParaRPr/>
          </a:p>
          <a:p>
            <a:pPr marL="742950" lvl="1" indent="-285750" algn="l" rtl="0">
              <a:lnSpc>
                <a:spcPct val="90000"/>
              </a:lnSpc>
              <a:spcBef>
                <a:spcPts val="500"/>
              </a:spcBef>
              <a:spcAft>
                <a:spcPts val="0"/>
              </a:spcAft>
              <a:buClr>
                <a:schemeClr val="dk1"/>
              </a:buClr>
              <a:buSzPts val="2400"/>
              <a:buChar char="o"/>
            </a:pPr>
            <a:r>
              <a:rPr lang="en-US"/>
              <a:t>Software deletion </a:t>
            </a:r>
            <a:endParaRPr/>
          </a:p>
          <a:p>
            <a:pPr marL="742950" lvl="1" indent="-285750" algn="l" rtl="0">
              <a:lnSpc>
                <a:spcPct val="90000"/>
              </a:lnSpc>
              <a:spcBef>
                <a:spcPts val="500"/>
              </a:spcBef>
              <a:spcAft>
                <a:spcPts val="0"/>
              </a:spcAft>
              <a:buClr>
                <a:schemeClr val="dk1"/>
              </a:buClr>
              <a:buSzPts val="2400"/>
              <a:buChar char="o"/>
            </a:pPr>
            <a:r>
              <a:rPr lang="en-US"/>
              <a:t>Software modification </a:t>
            </a:r>
            <a:endParaRPr/>
          </a:p>
          <a:p>
            <a:pPr marL="1200150" lvl="2" indent="-137160" algn="l" rtl="0">
              <a:lnSpc>
                <a:spcPct val="90000"/>
              </a:lnSpc>
              <a:spcBef>
                <a:spcPts val="500"/>
              </a:spcBef>
              <a:spcAft>
                <a:spcPts val="0"/>
              </a:spcAft>
              <a:buClr>
                <a:schemeClr val="dk1"/>
              </a:buClr>
              <a:buSzPts val="2000"/>
              <a:buChar char="−"/>
            </a:pPr>
            <a:r>
              <a:rPr lang="en-US"/>
              <a:t>Viruses etc. </a:t>
            </a:r>
            <a:endParaRPr/>
          </a:p>
          <a:p>
            <a:pPr marL="742950" lvl="1" indent="-285750" algn="l" rtl="0">
              <a:lnSpc>
                <a:spcPct val="90000"/>
              </a:lnSpc>
              <a:spcBef>
                <a:spcPts val="500"/>
              </a:spcBef>
              <a:spcAft>
                <a:spcPts val="0"/>
              </a:spcAft>
              <a:buClr>
                <a:schemeClr val="dk1"/>
              </a:buClr>
              <a:buSzPts val="2400"/>
              <a:buChar char="o"/>
            </a:pPr>
            <a:r>
              <a:rPr lang="en-US"/>
              <a:t>Software theft </a:t>
            </a:r>
            <a:endParaRPr/>
          </a:p>
          <a:p>
            <a:pPr marL="285750" lvl="0" indent="-285750" algn="l" rtl="0">
              <a:lnSpc>
                <a:spcPct val="90000"/>
              </a:lnSpc>
              <a:spcBef>
                <a:spcPts val="1000"/>
              </a:spcBef>
              <a:spcAft>
                <a:spcPts val="0"/>
              </a:spcAft>
              <a:buClr>
                <a:schemeClr val="dk1"/>
              </a:buClr>
              <a:buSzPts val="2800"/>
              <a:buFont typeface="Arial"/>
              <a:buChar char="•"/>
            </a:pPr>
            <a:r>
              <a:rPr lang="en-US"/>
              <a:t>Unauthorized copying etc. </a:t>
            </a:r>
            <a:endParaRPr/>
          </a:p>
          <a:p>
            <a:pPr marL="285750" lvl="0" indent="-285750" algn="l" rtl="0">
              <a:lnSpc>
                <a:spcPct val="90000"/>
              </a:lnSpc>
              <a:spcBef>
                <a:spcPts val="1000"/>
              </a:spcBef>
              <a:spcAft>
                <a:spcPts val="0"/>
              </a:spcAft>
              <a:buClr>
                <a:schemeClr val="dk1"/>
              </a:buClr>
              <a:buSzPts val="2800"/>
              <a:buFont typeface="Arial"/>
              <a:buChar char="•"/>
            </a:pPr>
            <a:r>
              <a:rPr lang="en-US"/>
              <a:t>Data vulnerabilities </a:t>
            </a:r>
            <a:endParaRPr/>
          </a:p>
          <a:p>
            <a:pPr marL="285750" lvl="0" indent="-107950" algn="l" rtl="0">
              <a:lnSpc>
                <a:spcPct val="90000"/>
              </a:lnSpc>
              <a:spcBef>
                <a:spcPts val="1000"/>
              </a:spcBef>
              <a:spcAft>
                <a:spcPts val="0"/>
              </a:spcAft>
              <a:buClr>
                <a:schemeClr val="dk1"/>
              </a:buClr>
              <a:buSzPts val="2800"/>
              <a:buFont typeface="Arial"/>
              <a:buNone/>
            </a:pPr>
            <a:endParaRPr/>
          </a:p>
        </p:txBody>
      </p:sp>
      <p:sp>
        <p:nvSpPr>
          <p:cNvPr id="220" name="Google Shape;220;p23"/>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en-US"/>
              <a:t>Ms. Swati Mali</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26"/>
          <p:cNvSpPr txBox="1">
            <a:spLocks noGrp="1"/>
          </p:cNvSpPr>
          <p:nvPr>
            <p:ph type="title"/>
          </p:nvPr>
        </p:nvSpPr>
        <p:spPr>
          <a:xfrm>
            <a:off x="817323" y="214817"/>
            <a:ext cx="7402883" cy="874951"/>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rgbClr val="930B0B"/>
              </a:buClr>
              <a:buSzPts val="3600"/>
              <a:buFont typeface="Times New Roman"/>
              <a:buNone/>
            </a:pPr>
            <a:r>
              <a:rPr lang="en-US"/>
              <a:t>Computer Criminals </a:t>
            </a:r>
            <a:endParaRPr/>
          </a:p>
        </p:txBody>
      </p:sp>
      <p:sp>
        <p:nvSpPr>
          <p:cNvPr id="226" name="Google Shape;226;p26"/>
          <p:cNvSpPr txBox="1">
            <a:spLocks noGrp="1"/>
          </p:cNvSpPr>
          <p:nvPr>
            <p:ph type="body" idx="1"/>
          </p:nvPr>
        </p:nvSpPr>
        <p:spPr>
          <a:xfrm>
            <a:off x="700004" y="1324629"/>
            <a:ext cx="8229600" cy="4525963"/>
          </a:xfrm>
          <a:prstGeom prst="rect">
            <a:avLst/>
          </a:prstGeom>
          <a:noFill/>
          <a:ln>
            <a:noFill/>
          </a:ln>
        </p:spPr>
        <p:txBody>
          <a:bodyPr spcFirstLastPara="1" wrap="square" lIns="91425" tIns="45700" rIns="91425" bIns="45700" anchor="t" anchorCtr="0">
            <a:normAutofit/>
          </a:bodyPr>
          <a:lstStyle/>
          <a:p>
            <a:pPr marL="285750" lvl="0" indent="-285750" algn="l" rtl="0">
              <a:lnSpc>
                <a:spcPct val="90000"/>
              </a:lnSpc>
              <a:spcBef>
                <a:spcPts val="0"/>
              </a:spcBef>
              <a:spcAft>
                <a:spcPts val="0"/>
              </a:spcAft>
              <a:buClr>
                <a:schemeClr val="dk1"/>
              </a:buClr>
              <a:buSzPts val="2800"/>
              <a:buFont typeface="Arial"/>
              <a:buChar char="•"/>
            </a:pPr>
            <a:r>
              <a:rPr lang="en-US"/>
              <a:t>Amateurs </a:t>
            </a:r>
            <a:endParaRPr/>
          </a:p>
          <a:p>
            <a:pPr marL="742950" lvl="1" indent="-285750" algn="l" rtl="0">
              <a:lnSpc>
                <a:spcPct val="90000"/>
              </a:lnSpc>
              <a:spcBef>
                <a:spcPts val="500"/>
              </a:spcBef>
              <a:spcAft>
                <a:spcPts val="0"/>
              </a:spcAft>
              <a:buClr>
                <a:schemeClr val="dk1"/>
              </a:buClr>
              <a:buSzPts val="2400"/>
              <a:buChar char="o"/>
            </a:pPr>
            <a:r>
              <a:rPr lang="en-US"/>
              <a:t>Personal works </a:t>
            </a:r>
            <a:endParaRPr/>
          </a:p>
          <a:p>
            <a:pPr marL="285750" lvl="0" indent="-285750" algn="l" rtl="0">
              <a:lnSpc>
                <a:spcPct val="90000"/>
              </a:lnSpc>
              <a:spcBef>
                <a:spcPts val="1000"/>
              </a:spcBef>
              <a:spcAft>
                <a:spcPts val="0"/>
              </a:spcAft>
              <a:buClr>
                <a:schemeClr val="dk1"/>
              </a:buClr>
              <a:buSzPts val="2800"/>
              <a:buFont typeface="Arial"/>
              <a:buChar char="•"/>
            </a:pPr>
            <a:r>
              <a:rPr lang="en-US"/>
              <a:t>Crackers </a:t>
            </a:r>
            <a:endParaRPr/>
          </a:p>
          <a:p>
            <a:pPr marL="742950" lvl="1" indent="-285750" algn="l" rtl="0">
              <a:lnSpc>
                <a:spcPct val="90000"/>
              </a:lnSpc>
              <a:spcBef>
                <a:spcPts val="500"/>
              </a:spcBef>
              <a:spcAft>
                <a:spcPts val="0"/>
              </a:spcAft>
              <a:buClr>
                <a:schemeClr val="dk1"/>
              </a:buClr>
              <a:buSzPts val="2400"/>
              <a:buChar char="o"/>
            </a:pPr>
            <a:r>
              <a:rPr lang="en-US"/>
              <a:t>Trying to access computing facilities for which they are not authorized </a:t>
            </a:r>
            <a:endParaRPr/>
          </a:p>
          <a:p>
            <a:pPr marL="742950" lvl="1" indent="-285750" algn="l" rtl="0">
              <a:lnSpc>
                <a:spcPct val="90000"/>
              </a:lnSpc>
              <a:spcBef>
                <a:spcPts val="500"/>
              </a:spcBef>
              <a:spcAft>
                <a:spcPts val="0"/>
              </a:spcAft>
              <a:buClr>
                <a:schemeClr val="dk1"/>
              </a:buClr>
              <a:buSzPts val="2400"/>
              <a:buChar char="o"/>
            </a:pPr>
            <a:r>
              <a:rPr lang="en-US"/>
              <a:t>The perception that nobody is hurt or even endangered by a little stolen machine time </a:t>
            </a:r>
            <a:endParaRPr/>
          </a:p>
          <a:p>
            <a:pPr marL="742950" lvl="1" indent="-285750" algn="l" rtl="0">
              <a:lnSpc>
                <a:spcPct val="90000"/>
              </a:lnSpc>
              <a:spcBef>
                <a:spcPts val="500"/>
              </a:spcBef>
              <a:spcAft>
                <a:spcPts val="0"/>
              </a:spcAft>
              <a:buClr>
                <a:schemeClr val="dk1"/>
              </a:buClr>
              <a:buSzPts val="2400"/>
              <a:buChar char="o"/>
            </a:pPr>
            <a:r>
              <a:rPr lang="en-US"/>
              <a:t>Others attack for curiosity, personal gain, or self-satisfaction </a:t>
            </a:r>
            <a:endParaRPr/>
          </a:p>
          <a:p>
            <a:pPr marL="285750" lvl="0" indent="-285750" algn="l" rtl="0">
              <a:lnSpc>
                <a:spcPct val="90000"/>
              </a:lnSpc>
              <a:spcBef>
                <a:spcPts val="1000"/>
              </a:spcBef>
              <a:spcAft>
                <a:spcPts val="0"/>
              </a:spcAft>
              <a:buClr>
                <a:schemeClr val="dk1"/>
              </a:buClr>
              <a:buSzPts val="2800"/>
              <a:buFont typeface="Arial"/>
              <a:buChar char="•"/>
            </a:pPr>
            <a:r>
              <a:rPr lang="en-US"/>
              <a:t>Career Criminals </a:t>
            </a:r>
            <a:endParaRPr/>
          </a:p>
        </p:txBody>
      </p:sp>
      <p:sp>
        <p:nvSpPr>
          <p:cNvPr id="227" name="Google Shape;227;p26"/>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en-US"/>
              <a:t>Ms. Swati Mali</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56"/>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en-US"/>
              <a:t>Ms. Swati Mali</a:t>
            </a:r>
            <a:endParaRPr/>
          </a:p>
        </p:txBody>
      </p:sp>
      <p:sp>
        <p:nvSpPr>
          <p:cNvPr id="233" name="Google Shape;233;p56"/>
          <p:cNvSpPr txBox="1">
            <a:spLocks noGrp="1"/>
          </p:cNvSpPr>
          <p:nvPr>
            <p:ph type="title"/>
          </p:nvPr>
        </p:nvSpPr>
        <p:spPr>
          <a:xfrm>
            <a:off x="817323" y="214817"/>
            <a:ext cx="7402883" cy="874951"/>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930B0B"/>
              </a:buClr>
              <a:buSzPts val="3600"/>
              <a:buFont typeface="Times New Roman"/>
              <a:buNone/>
            </a:pPr>
            <a:r>
              <a:rPr lang="en-US"/>
              <a:t>MOM</a:t>
            </a:r>
            <a:endParaRPr/>
          </a:p>
        </p:txBody>
      </p:sp>
      <p:sp>
        <p:nvSpPr>
          <p:cNvPr id="234" name="Google Shape;234;p56"/>
          <p:cNvSpPr txBox="1">
            <a:spLocks noGrp="1"/>
          </p:cNvSpPr>
          <p:nvPr>
            <p:ph type="body" idx="1"/>
          </p:nvPr>
        </p:nvSpPr>
        <p:spPr>
          <a:xfrm>
            <a:off x="700004" y="1324629"/>
            <a:ext cx="8229600" cy="4525963"/>
          </a:xfrm>
          <a:prstGeom prst="rect">
            <a:avLst/>
          </a:prstGeom>
          <a:noFill/>
          <a:ln>
            <a:noFill/>
          </a:ln>
        </p:spPr>
        <p:txBody>
          <a:bodyPr spcFirstLastPara="1" wrap="square" lIns="91425" tIns="45700" rIns="91425" bIns="45700" anchor="t" anchorCtr="0">
            <a:normAutofit/>
          </a:bodyPr>
          <a:lstStyle/>
          <a:p>
            <a:pPr marL="457200" marR="0" lvl="0" indent="-228600" algn="l" rtl="0">
              <a:lnSpc>
                <a:spcPct val="90000"/>
              </a:lnSpc>
              <a:spcBef>
                <a:spcPts val="1000"/>
              </a:spcBef>
              <a:spcAft>
                <a:spcPts val="0"/>
              </a:spcAft>
              <a:buClr>
                <a:schemeClr val="dk1"/>
              </a:buClr>
              <a:buSzPts val="2800"/>
              <a:buFont typeface="Arial"/>
              <a:buNone/>
            </a:pPr>
            <a:endParaRPr/>
          </a:p>
        </p:txBody>
      </p:sp>
      <p:pic>
        <p:nvPicPr>
          <p:cNvPr id="235" name="Google Shape;235;p56"/>
          <p:cNvPicPr preferRelativeResize="0"/>
          <p:nvPr/>
        </p:nvPicPr>
        <p:blipFill rotWithShape="1">
          <a:blip r:embed="rId3">
            <a:alphaModFix/>
          </a:blip>
          <a:srcRect/>
          <a:stretch/>
        </p:blipFill>
        <p:spPr>
          <a:xfrm>
            <a:off x="2501899" y="978766"/>
            <a:ext cx="4553527" cy="516113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57"/>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en-US"/>
              <a:t>Ms. Swati Mali</a:t>
            </a:r>
            <a:endParaRPr/>
          </a:p>
        </p:txBody>
      </p:sp>
      <p:sp>
        <p:nvSpPr>
          <p:cNvPr id="241" name="Google Shape;241;p57"/>
          <p:cNvSpPr txBox="1">
            <a:spLocks noGrp="1"/>
          </p:cNvSpPr>
          <p:nvPr>
            <p:ph type="title"/>
          </p:nvPr>
        </p:nvSpPr>
        <p:spPr>
          <a:xfrm>
            <a:off x="817323" y="214817"/>
            <a:ext cx="7402883" cy="874951"/>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930B0B"/>
              </a:buClr>
              <a:buSzPts val="3600"/>
              <a:buFont typeface="Times New Roman"/>
              <a:buNone/>
            </a:pPr>
            <a:r>
              <a:rPr lang="en-US"/>
              <a:t>MOM : EVM – breaking</a:t>
            </a:r>
            <a:endParaRPr/>
          </a:p>
        </p:txBody>
      </p:sp>
      <p:graphicFrame>
        <p:nvGraphicFramePr>
          <p:cNvPr id="242" name="Google Shape;242;p57"/>
          <p:cNvGraphicFramePr/>
          <p:nvPr/>
        </p:nvGraphicFramePr>
        <p:xfrm>
          <a:off x="652896" y="851838"/>
          <a:ext cx="8283275" cy="5507350"/>
        </p:xfrm>
        <a:graphic>
          <a:graphicData uri="http://schemas.openxmlformats.org/drawingml/2006/table">
            <a:tbl>
              <a:tblPr>
                <a:noFill/>
                <a:tableStyleId>{DD32086A-9558-43C3-8A22-B6B2C2D6A52E}</a:tableStyleId>
              </a:tblPr>
              <a:tblGrid>
                <a:gridCol w="1264850"/>
                <a:gridCol w="7018425"/>
              </a:tblGrid>
              <a:tr h="478900">
                <a:tc>
                  <a:txBody>
                    <a:bodyPr/>
                    <a:lstStyle/>
                    <a:p>
                      <a:pPr marL="0" marR="0" lvl="0" indent="0" algn="l" rtl="0">
                        <a:lnSpc>
                          <a:spcPct val="100000"/>
                        </a:lnSpc>
                        <a:spcBef>
                          <a:spcPts val="0"/>
                        </a:spcBef>
                        <a:spcAft>
                          <a:spcPts val="0"/>
                        </a:spcAft>
                        <a:buNone/>
                      </a:pPr>
                      <a:r>
                        <a:rPr lang="en-US" sz="1400" b="1" i="0" u="none" strike="noStrike" cap="none">
                          <a:solidFill>
                            <a:srgbClr val="000000"/>
                          </a:solidFill>
                          <a:latin typeface="Times New Roman"/>
                          <a:ea typeface="Times New Roman"/>
                          <a:cs typeface="Times New Roman"/>
                          <a:sym typeface="Times New Roman"/>
                        </a:rPr>
                        <a:t>Method</a:t>
                      </a:r>
                      <a:endParaRPr/>
                    </a:p>
                  </a:txBody>
                  <a:tcPr marL="6350" marR="6350" marT="63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Times New Roman"/>
                          <a:ea typeface="Times New Roman"/>
                          <a:cs typeface="Times New Roman"/>
                          <a:sym typeface="Times New Roman"/>
                        </a:rPr>
                        <a:t>- </a:t>
                      </a:r>
                      <a:r>
                        <a:rPr lang="en-US" sz="1400" b="1" i="0" u="none" strike="noStrike" cap="none">
                          <a:solidFill>
                            <a:srgbClr val="000000"/>
                          </a:solidFill>
                          <a:latin typeface="Times New Roman"/>
                          <a:ea typeface="Times New Roman"/>
                          <a:cs typeface="Times New Roman"/>
                          <a:sym typeface="Times New Roman"/>
                        </a:rPr>
                        <a:t>Skills and Knowledge</a:t>
                      </a:r>
                      <a:r>
                        <a:rPr lang="en-US" sz="1400" b="0" i="0" u="none" strike="noStrike" cap="none">
                          <a:solidFill>
                            <a:srgbClr val="000000"/>
                          </a:solidFill>
                          <a:latin typeface="Times New Roman"/>
                          <a:ea typeface="Times New Roman"/>
                          <a:cs typeface="Times New Roman"/>
                          <a:sym typeface="Times New Roman"/>
                        </a:rPr>
                        <a:t>: Understanding of EVM hardware and software, including operating systems, communication protocols, and cryptographic systems.</a:t>
                      </a:r>
                      <a:endParaRPr/>
                    </a:p>
                  </a:txBody>
                  <a:tcPr marL="6350" marR="6350" marT="63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478900">
                <a:tc>
                  <a:txBody>
                    <a:bodyPr/>
                    <a:lstStyle/>
                    <a:p>
                      <a:pPr marL="0" marR="0" lvl="0" indent="0" algn="l" rtl="0">
                        <a:lnSpc>
                          <a:spcPct val="100000"/>
                        </a:lnSpc>
                        <a:spcBef>
                          <a:spcPts val="0"/>
                        </a:spcBef>
                        <a:spcAft>
                          <a:spcPts val="0"/>
                        </a:spcAft>
                        <a:buNone/>
                      </a:pPr>
                      <a:endParaRPr sz="1400" b="0" i="0" u="none" strike="noStrike" cap="none">
                        <a:solidFill>
                          <a:srgbClr val="000000"/>
                        </a:solidFill>
                        <a:latin typeface="Times New Roman"/>
                        <a:ea typeface="Times New Roman"/>
                        <a:cs typeface="Times New Roman"/>
                        <a:sym typeface="Times New Roman"/>
                      </a:endParaRPr>
                    </a:p>
                  </a:txBody>
                  <a:tcPr marL="6350" marR="6350" marT="63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Times New Roman"/>
                          <a:ea typeface="Times New Roman"/>
                          <a:cs typeface="Times New Roman"/>
                          <a:sym typeface="Times New Roman"/>
                        </a:rPr>
                        <a:t>- </a:t>
                      </a:r>
                      <a:r>
                        <a:rPr lang="en-US" sz="1400" b="1" i="0" u="none" strike="noStrike" cap="none">
                          <a:solidFill>
                            <a:srgbClr val="000000"/>
                          </a:solidFill>
                          <a:latin typeface="Times New Roman"/>
                          <a:ea typeface="Times New Roman"/>
                          <a:cs typeface="Times New Roman"/>
                          <a:sym typeface="Times New Roman"/>
                        </a:rPr>
                        <a:t>Tools</a:t>
                      </a:r>
                      <a:r>
                        <a:rPr lang="en-US" sz="1400" b="0" i="0" u="none" strike="noStrike" cap="none">
                          <a:solidFill>
                            <a:srgbClr val="000000"/>
                          </a:solidFill>
                          <a:latin typeface="Times New Roman"/>
                          <a:ea typeface="Times New Roman"/>
                          <a:cs typeface="Times New Roman"/>
                          <a:sym typeface="Times New Roman"/>
                        </a:rPr>
                        <a:t>: Specialized hardware (e.g., card readers, microcontrollers, or probes), software tools to analyze or reverse-engineer firmware, and pre-designed attack scripts available online.</a:t>
                      </a:r>
                      <a:endParaRPr/>
                    </a:p>
                  </a:txBody>
                  <a:tcPr marL="6350" marR="6350" marT="63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478900">
                <a:tc>
                  <a:txBody>
                    <a:bodyPr/>
                    <a:lstStyle/>
                    <a:p>
                      <a:pPr marL="0" marR="0" lvl="0" indent="0" algn="l" rtl="0">
                        <a:lnSpc>
                          <a:spcPct val="100000"/>
                        </a:lnSpc>
                        <a:spcBef>
                          <a:spcPts val="0"/>
                        </a:spcBef>
                        <a:spcAft>
                          <a:spcPts val="0"/>
                        </a:spcAft>
                        <a:buNone/>
                      </a:pPr>
                      <a:endParaRPr sz="1400" b="0" i="0" u="none" strike="noStrike" cap="none">
                        <a:solidFill>
                          <a:srgbClr val="000000"/>
                        </a:solidFill>
                        <a:latin typeface="Times New Roman"/>
                        <a:ea typeface="Times New Roman"/>
                        <a:cs typeface="Times New Roman"/>
                        <a:sym typeface="Times New Roman"/>
                      </a:endParaRPr>
                    </a:p>
                  </a:txBody>
                  <a:tcPr marL="6350" marR="6350" marT="63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Times New Roman"/>
                          <a:ea typeface="Times New Roman"/>
                          <a:cs typeface="Times New Roman"/>
                          <a:sym typeface="Times New Roman"/>
                        </a:rPr>
                        <a:t>- </a:t>
                      </a:r>
                      <a:r>
                        <a:rPr lang="en-US" sz="1400" b="1" i="0" u="none" strike="noStrike" cap="none">
                          <a:solidFill>
                            <a:srgbClr val="000000"/>
                          </a:solidFill>
                          <a:latin typeface="Times New Roman"/>
                          <a:ea typeface="Times New Roman"/>
                          <a:cs typeface="Times New Roman"/>
                          <a:sym typeface="Times New Roman"/>
                        </a:rPr>
                        <a:t>Resources</a:t>
                      </a:r>
                      <a:r>
                        <a:rPr lang="en-US" sz="1400" b="0" i="0" u="none" strike="noStrike" cap="none">
                          <a:solidFill>
                            <a:srgbClr val="000000"/>
                          </a:solidFill>
                          <a:latin typeface="Times New Roman"/>
                          <a:ea typeface="Times New Roman"/>
                          <a:cs typeface="Times New Roman"/>
                          <a:sym typeface="Times New Roman"/>
                        </a:rPr>
                        <a:t>: Access to programming manuals, technical specifications, and publicly available security research papers on EVMs.</a:t>
                      </a:r>
                      <a:endParaRPr/>
                    </a:p>
                  </a:txBody>
                  <a:tcPr marL="6350" marR="6350" marT="63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478900">
                <a:tc>
                  <a:txBody>
                    <a:bodyPr/>
                    <a:lstStyle/>
                    <a:p>
                      <a:pPr marL="0" marR="0" lvl="0" indent="0" algn="l" rtl="0">
                        <a:lnSpc>
                          <a:spcPct val="100000"/>
                        </a:lnSpc>
                        <a:spcBef>
                          <a:spcPts val="0"/>
                        </a:spcBef>
                        <a:spcAft>
                          <a:spcPts val="0"/>
                        </a:spcAft>
                        <a:buNone/>
                      </a:pPr>
                      <a:endParaRPr sz="1400" b="0" i="0" u="none" strike="noStrike" cap="none">
                        <a:solidFill>
                          <a:srgbClr val="000000"/>
                        </a:solidFill>
                        <a:latin typeface="Times New Roman"/>
                        <a:ea typeface="Times New Roman"/>
                        <a:cs typeface="Times New Roman"/>
                        <a:sym typeface="Times New Roman"/>
                      </a:endParaRPr>
                    </a:p>
                  </a:txBody>
                  <a:tcPr marL="6350" marR="6350" marT="63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Times New Roman"/>
                          <a:ea typeface="Times New Roman"/>
                          <a:cs typeface="Times New Roman"/>
                          <a:sym typeface="Times New Roman"/>
                        </a:rPr>
                        <a:t>- </a:t>
                      </a:r>
                      <a:r>
                        <a:rPr lang="en-US" sz="1400" b="1" i="0" u="none" strike="noStrike" cap="none">
                          <a:solidFill>
                            <a:srgbClr val="000000"/>
                          </a:solidFill>
                          <a:latin typeface="Times New Roman"/>
                          <a:ea typeface="Times New Roman"/>
                          <a:cs typeface="Times New Roman"/>
                          <a:sym typeface="Times New Roman"/>
                        </a:rPr>
                        <a:t>Attack Variants</a:t>
                      </a:r>
                      <a:r>
                        <a:rPr lang="en-US" sz="1400" b="0" i="0" u="none" strike="noStrike" cap="none">
                          <a:solidFill>
                            <a:srgbClr val="000000"/>
                          </a:solidFill>
                          <a:latin typeface="Times New Roman"/>
                          <a:ea typeface="Times New Roman"/>
                          <a:cs typeface="Times New Roman"/>
                          <a:sym typeface="Times New Roman"/>
                        </a:rPr>
                        <a:t>: Techniques like malware injection, side-channel attacks, or exploiting software/firmware vulnerabilities to alter results or compromise integrity.</a:t>
                      </a:r>
                      <a:endParaRPr/>
                    </a:p>
                  </a:txBody>
                  <a:tcPr marL="6350" marR="6350" marT="63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478900">
                <a:tc>
                  <a:txBody>
                    <a:bodyPr/>
                    <a:lstStyle/>
                    <a:p>
                      <a:pPr marL="0" marR="0" lvl="0" indent="0" algn="l" rtl="0">
                        <a:lnSpc>
                          <a:spcPct val="100000"/>
                        </a:lnSpc>
                        <a:spcBef>
                          <a:spcPts val="0"/>
                        </a:spcBef>
                        <a:spcAft>
                          <a:spcPts val="0"/>
                        </a:spcAft>
                        <a:buNone/>
                      </a:pPr>
                      <a:r>
                        <a:rPr lang="en-US" sz="1400" b="1" i="0" u="none" strike="noStrike" cap="none">
                          <a:solidFill>
                            <a:srgbClr val="000000"/>
                          </a:solidFill>
                          <a:latin typeface="Times New Roman"/>
                          <a:ea typeface="Times New Roman"/>
                          <a:cs typeface="Times New Roman"/>
                          <a:sym typeface="Times New Roman"/>
                        </a:rPr>
                        <a:t>Opportunity</a:t>
                      </a:r>
                      <a:endParaRPr/>
                    </a:p>
                  </a:txBody>
                  <a:tcPr marL="6350" marR="6350" marT="63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Times New Roman"/>
                          <a:ea typeface="Times New Roman"/>
                          <a:cs typeface="Times New Roman"/>
                          <a:sym typeface="Times New Roman"/>
                        </a:rPr>
                        <a:t>- </a:t>
                      </a:r>
                      <a:r>
                        <a:rPr lang="en-US" sz="1400" b="1" i="0" u="none" strike="noStrike" cap="none">
                          <a:solidFill>
                            <a:srgbClr val="000000"/>
                          </a:solidFill>
                          <a:latin typeface="Times New Roman"/>
                          <a:ea typeface="Times New Roman"/>
                          <a:cs typeface="Times New Roman"/>
                          <a:sym typeface="Times New Roman"/>
                        </a:rPr>
                        <a:t>Access Points</a:t>
                      </a:r>
                      <a:r>
                        <a:rPr lang="en-US" sz="1400" b="0" i="0" u="none" strike="noStrike" cap="none">
                          <a:solidFill>
                            <a:srgbClr val="000000"/>
                          </a:solidFill>
                          <a:latin typeface="Times New Roman"/>
                          <a:ea typeface="Times New Roman"/>
                          <a:cs typeface="Times New Roman"/>
                          <a:sym typeface="Times New Roman"/>
                        </a:rPr>
                        <a:t>: Physical access during storage, transport, or voting; insider threats from technicians or election staff.</a:t>
                      </a:r>
                      <a:endParaRPr/>
                    </a:p>
                  </a:txBody>
                  <a:tcPr marL="6350" marR="6350" marT="63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478900">
                <a:tc>
                  <a:txBody>
                    <a:bodyPr/>
                    <a:lstStyle/>
                    <a:p>
                      <a:pPr marL="0" marR="0" lvl="0" indent="0" algn="l" rtl="0">
                        <a:lnSpc>
                          <a:spcPct val="100000"/>
                        </a:lnSpc>
                        <a:spcBef>
                          <a:spcPts val="0"/>
                        </a:spcBef>
                        <a:spcAft>
                          <a:spcPts val="0"/>
                        </a:spcAft>
                        <a:buNone/>
                      </a:pPr>
                      <a:endParaRPr sz="1400" b="0" i="0" u="none" strike="noStrike" cap="none">
                        <a:solidFill>
                          <a:srgbClr val="000000"/>
                        </a:solidFill>
                        <a:latin typeface="Times New Roman"/>
                        <a:ea typeface="Times New Roman"/>
                        <a:cs typeface="Times New Roman"/>
                        <a:sym typeface="Times New Roman"/>
                      </a:endParaRPr>
                    </a:p>
                  </a:txBody>
                  <a:tcPr marL="6350" marR="6350" marT="63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Times New Roman"/>
                          <a:ea typeface="Times New Roman"/>
                          <a:cs typeface="Times New Roman"/>
                          <a:sym typeface="Times New Roman"/>
                        </a:rPr>
                        <a:t>- </a:t>
                      </a:r>
                      <a:r>
                        <a:rPr lang="en-US" sz="1400" b="1" i="0" u="none" strike="noStrike" cap="none">
                          <a:solidFill>
                            <a:srgbClr val="000000"/>
                          </a:solidFill>
                          <a:latin typeface="Times New Roman"/>
                          <a:ea typeface="Times New Roman"/>
                          <a:cs typeface="Times New Roman"/>
                          <a:sym typeface="Times New Roman"/>
                        </a:rPr>
                        <a:t>System Weaknesses</a:t>
                      </a:r>
                      <a:r>
                        <a:rPr lang="en-US" sz="1400" b="0" i="0" u="none" strike="noStrike" cap="none">
                          <a:solidFill>
                            <a:srgbClr val="000000"/>
                          </a:solidFill>
                          <a:latin typeface="Times New Roman"/>
                          <a:ea typeface="Times New Roman"/>
                          <a:cs typeface="Times New Roman"/>
                          <a:sym typeface="Times New Roman"/>
                        </a:rPr>
                        <a:t>: Poorly implemented security protocols, use of default settings, lack of tamper-evident features, or absence of robust monitoring mechanisms during elections.</a:t>
                      </a:r>
                      <a:endParaRPr/>
                    </a:p>
                  </a:txBody>
                  <a:tcPr marL="6350" marR="6350" marT="63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478900">
                <a:tc>
                  <a:txBody>
                    <a:bodyPr/>
                    <a:lstStyle/>
                    <a:p>
                      <a:pPr marL="0" marR="0" lvl="0" indent="0" algn="l" rtl="0">
                        <a:lnSpc>
                          <a:spcPct val="100000"/>
                        </a:lnSpc>
                        <a:spcBef>
                          <a:spcPts val="0"/>
                        </a:spcBef>
                        <a:spcAft>
                          <a:spcPts val="0"/>
                        </a:spcAft>
                        <a:buNone/>
                      </a:pPr>
                      <a:endParaRPr sz="1400" b="0" i="0" u="none" strike="noStrike" cap="none">
                        <a:solidFill>
                          <a:srgbClr val="000000"/>
                        </a:solidFill>
                        <a:latin typeface="Times New Roman"/>
                        <a:ea typeface="Times New Roman"/>
                        <a:cs typeface="Times New Roman"/>
                        <a:sym typeface="Times New Roman"/>
                      </a:endParaRPr>
                    </a:p>
                  </a:txBody>
                  <a:tcPr marL="6350" marR="6350" marT="63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Times New Roman"/>
                          <a:ea typeface="Times New Roman"/>
                          <a:cs typeface="Times New Roman"/>
                          <a:sym typeface="Times New Roman"/>
                        </a:rPr>
                        <a:t>- </a:t>
                      </a:r>
                      <a:r>
                        <a:rPr lang="en-US" sz="1400" b="1" i="0" u="none" strike="noStrike" cap="none">
                          <a:solidFill>
                            <a:srgbClr val="000000"/>
                          </a:solidFill>
                          <a:latin typeface="Times New Roman"/>
                          <a:ea typeface="Times New Roman"/>
                          <a:cs typeface="Times New Roman"/>
                          <a:sym typeface="Times New Roman"/>
                        </a:rPr>
                        <a:t>Operational Gaps</a:t>
                      </a:r>
                      <a:r>
                        <a:rPr lang="en-US" sz="1400" b="0" i="0" u="none" strike="noStrike" cap="none">
                          <a:solidFill>
                            <a:srgbClr val="000000"/>
                          </a:solidFill>
                          <a:latin typeface="Times New Roman"/>
                          <a:ea typeface="Times New Roman"/>
                          <a:cs typeface="Times New Roman"/>
                          <a:sym typeface="Times New Roman"/>
                        </a:rPr>
                        <a:t>: Temporary loss of custody during transit, inadequate auditing of results, or lack of rigorous testing for vulnerabilities.</a:t>
                      </a:r>
                      <a:endParaRPr/>
                    </a:p>
                  </a:txBody>
                  <a:tcPr marL="6350" marR="6350" marT="63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478900">
                <a:tc>
                  <a:txBody>
                    <a:bodyPr/>
                    <a:lstStyle/>
                    <a:p>
                      <a:pPr marL="0" marR="0" lvl="0" indent="0" algn="l" rtl="0">
                        <a:lnSpc>
                          <a:spcPct val="100000"/>
                        </a:lnSpc>
                        <a:spcBef>
                          <a:spcPts val="0"/>
                        </a:spcBef>
                        <a:spcAft>
                          <a:spcPts val="0"/>
                        </a:spcAft>
                        <a:buNone/>
                      </a:pPr>
                      <a:endParaRPr sz="1400" b="0" i="0" u="none" strike="noStrike" cap="none">
                        <a:solidFill>
                          <a:srgbClr val="000000"/>
                        </a:solidFill>
                        <a:latin typeface="Times New Roman"/>
                        <a:ea typeface="Times New Roman"/>
                        <a:cs typeface="Times New Roman"/>
                        <a:sym typeface="Times New Roman"/>
                      </a:endParaRPr>
                    </a:p>
                  </a:txBody>
                  <a:tcPr marL="6350" marR="6350" marT="63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Times New Roman"/>
                          <a:ea typeface="Times New Roman"/>
                          <a:cs typeface="Times New Roman"/>
                          <a:sym typeface="Times New Roman"/>
                        </a:rPr>
                        <a:t>- </a:t>
                      </a:r>
                      <a:r>
                        <a:rPr lang="en-US" sz="1400" b="1" i="0" u="none" strike="noStrike" cap="none">
                          <a:solidFill>
                            <a:srgbClr val="000000"/>
                          </a:solidFill>
                          <a:latin typeface="Times New Roman"/>
                          <a:ea typeface="Times New Roman"/>
                          <a:cs typeface="Times New Roman"/>
                          <a:sym typeface="Times New Roman"/>
                        </a:rPr>
                        <a:t>Public Accessibility</a:t>
                      </a:r>
                      <a:r>
                        <a:rPr lang="en-US" sz="1400" b="0" i="0" u="none" strike="noStrike" cap="none">
                          <a:solidFill>
                            <a:srgbClr val="000000"/>
                          </a:solidFill>
                          <a:latin typeface="Times New Roman"/>
                          <a:ea typeface="Times New Roman"/>
                          <a:cs typeface="Times New Roman"/>
                          <a:sym typeface="Times New Roman"/>
                        </a:rPr>
                        <a:t>: In some cases, older or widely used EVM models are studied extensively, making their weaknesses well-known.</a:t>
                      </a:r>
                      <a:endParaRPr/>
                    </a:p>
                  </a:txBody>
                  <a:tcPr marL="6350" marR="6350" marT="63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239450">
                <a:tc>
                  <a:txBody>
                    <a:bodyPr/>
                    <a:lstStyle/>
                    <a:p>
                      <a:pPr marL="0" marR="0" lvl="0" indent="0" algn="l" rtl="0">
                        <a:lnSpc>
                          <a:spcPct val="100000"/>
                        </a:lnSpc>
                        <a:spcBef>
                          <a:spcPts val="0"/>
                        </a:spcBef>
                        <a:spcAft>
                          <a:spcPts val="0"/>
                        </a:spcAft>
                        <a:buNone/>
                      </a:pPr>
                      <a:r>
                        <a:rPr lang="en-US" sz="1400" b="1" i="0" u="none" strike="noStrike" cap="none">
                          <a:solidFill>
                            <a:srgbClr val="000000"/>
                          </a:solidFill>
                          <a:latin typeface="Times New Roman"/>
                          <a:ea typeface="Times New Roman"/>
                          <a:cs typeface="Times New Roman"/>
                          <a:sym typeface="Times New Roman"/>
                        </a:rPr>
                        <a:t>Motive</a:t>
                      </a:r>
                      <a:endParaRPr/>
                    </a:p>
                  </a:txBody>
                  <a:tcPr marL="6350" marR="6350" marT="63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Times New Roman"/>
                          <a:ea typeface="Times New Roman"/>
                          <a:cs typeface="Times New Roman"/>
                          <a:sym typeface="Times New Roman"/>
                        </a:rPr>
                        <a:t>- </a:t>
                      </a:r>
                      <a:r>
                        <a:rPr lang="en-US" sz="1400" b="1" i="0" u="none" strike="noStrike" cap="none">
                          <a:solidFill>
                            <a:srgbClr val="000000"/>
                          </a:solidFill>
                          <a:latin typeface="Times New Roman"/>
                          <a:ea typeface="Times New Roman"/>
                          <a:cs typeface="Times New Roman"/>
                          <a:sym typeface="Times New Roman"/>
                        </a:rPr>
                        <a:t>Political</a:t>
                      </a:r>
                      <a:r>
                        <a:rPr lang="en-US" sz="1400" b="0" i="0" u="none" strike="noStrike" cap="none">
                          <a:solidFill>
                            <a:srgbClr val="000000"/>
                          </a:solidFill>
                          <a:latin typeface="Times New Roman"/>
                          <a:ea typeface="Times New Roman"/>
                          <a:cs typeface="Times New Roman"/>
                          <a:sym typeface="Times New Roman"/>
                        </a:rPr>
                        <a:t>: Altering election outcomes to favor specific candidates or parties.</a:t>
                      </a:r>
                      <a:endParaRPr/>
                    </a:p>
                  </a:txBody>
                  <a:tcPr marL="6350" marR="6350" marT="63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239450">
                <a:tc>
                  <a:txBody>
                    <a:bodyPr/>
                    <a:lstStyle/>
                    <a:p>
                      <a:pPr marL="0" marR="0" lvl="0" indent="0" algn="l" rtl="0">
                        <a:lnSpc>
                          <a:spcPct val="100000"/>
                        </a:lnSpc>
                        <a:spcBef>
                          <a:spcPts val="0"/>
                        </a:spcBef>
                        <a:spcAft>
                          <a:spcPts val="0"/>
                        </a:spcAft>
                        <a:buNone/>
                      </a:pPr>
                      <a:endParaRPr sz="1400" b="0" i="0" u="none" strike="noStrike" cap="none">
                        <a:solidFill>
                          <a:srgbClr val="000000"/>
                        </a:solidFill>
                        <a:latin typeface="Times New Roman"/>
                        <a:ea typeface="Times New Roman"/>
                        <a:cs typeface="Times New Roman"/>
                        <a:sym typeface="Times New Roman"/>
                      </a:endParaRPr>
                    </a:p>
                  </a:txBody>
                  <a:tcPr marL="6350" marR="6350" marT="63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Times New Roman"/>
                          <a:ea typeface="Times New Roman"/>
                          <a:cs typeface="Times New Roman"/>
                          <a:sym typeface="Times New Roman"/>
                        </a:rPr>
                        <a:t>- </a:t>
                      </a:r>
                      <a:r>
                        <a:rPr lang="en-US" sz="1400" b="1" i="0" u="none" strike="noStrike" cap="none">
                          <a:solidFill>
                            <a:srgbClr val="000000"/>
                          </a:solidFill>
                          <a:latin typeface="Times New Roman"/>
                          <a:ea typeface="Times New Roman"/>
                          <a:cs typeface="Times New Roman"/>
                          <a:sym typeface="Times New Roman"/>
                        </a:rPr>
                        <a:t>Financial</a:t>
                      </a:r>
                      <a:r>
                        <a:rPr lang="en-US" sz="1400" b="0" i="0" u="none" strike="noStrike" cap="none">
                          <a:solidFill>
                            <a:srgbClr val="000000"/>
                          </a:solidFill>
                          <a:latin typeface="Times New Roman"/>
                          <a:ea typeface="Times New Roman"/>
                          <a:cs typeface="Times New Roman"/>
                          <a:sym typeface="Times New Roman"/>
                        </a:rPr>
                        <a:t>: Bribes or monetary gains in exchange for compromising election integrity.</a:t>
                      </a:r>
                      <a:endParaRPr/>
                    </a:p>
                  </a:txBody>
                  <a:tcPr marL="6350" marR="6350" marT="63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478900">
                <a:tc>
                  <a:txBody>
                    <a:bodyPr/>
                    <a:lstStyle/>
                    <a:p>
                      <a:pPr marL="0" marR="0" lvl="0" indent="0" algn="l" rtl="0">
                        <a:lnSpc>
                          <a:spcPct val="100000"/>
                        </a:lnSpc>
                        <a:spcBef>
                          <a:spcPts val="0"/>
                        </a:spcBef>
                        <a:spcAft>
                          <a:spcPts val="0"/>
                        </a:spcAft>
                        <a:buNone/>
                      </a:pPr>
                      <a:endParaRPr sz="1400" b="0" i="0" u="none" strike="noStrike" cap="none">
                        <a:solidFill>
                          <a:srgbClr val="000000"/>
                        </a:solidFill>
                        <a:latin typeface="Times New Roman"/>
                        <a:ea typeface="Times New Roman"/>
                        <a:cs typeface="Times New Roman"/>
                        <a:sym typeface="Times New Roman"/>
                      </a:endParaRPr>
                    </a:p>
                  </a:txBody>
                  <a:tcPr marL="6350" marR="6350" marT="63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Times New Roman"/>
                          <a:ea typeface="Times New Roman"/>
                          <a:cs typeface="Times New Roman"/>
                          <a:sym typeface="Times New Roman"/>
                        </a:rPr>
                        <a:t>- </a:t>
                      </a:r>
                      <a:r>
                        <a:rPr lang="en-US" sz="1400" b="1" i="0" u="none" strike="noStrike" cap="none">
                          <a:solidFill>
                            <a:srgbClr val="000000"/>
                          </a:solidFill>
                          <a:latin typeface="Times New Roman"/>
                          <a:ea typeface="Times New Roman"/>
                          <a:cs typeface="Times New Roman"/>
                          <a:sym typeface="Times New Roman"/>
                        </a:rPr>
                        <a:t>Ideological</a:t>
                      </a:r>
                      <a:r>
                        <a:rPr lang="en-US" sz="1400" b="0" i="0" u="none" strike="noStrike" cap="none">
                          <a:solidFill>
                            <a:srgbClr val="000000"/>
                          </a:solidFill>
                          <a:latin typeface="Times New Roman"/>
                          <a:ea typeface="Times New Roman"/>
                          <a:cs typeface="Times New Roman"/>
                          <a:sym typeface="Times New Roman"/>
                        </a:rPr>
                        <a:t>: Disrupting democratic processes to undermine trust in governance or to promote political agendas.</a:t>
                      </a:r>
                      <a:endParaRPr/>
                    </a:p>
                  </a:txBody>
                  <a:tcPr marL="6350" marR="6350" marT="63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239450">
                <a:tc>
                  <a:txBody>
                    <a:bodyPr/>
                    <a:lstStyle/>
                    <a:p>
                      <a:pPr marL="0" marR="0" lvl="0" indent="0" algn="l" rtl="0">
                        <a:lnSpc>
                          <a:spcPct val="100000"/>
                        </a:lnSpc>
                        <a:spcBef>
                          <a:spcPts val="0"/>
                        </a:spcBef>
                        <a:spcAft>
                          <a:spcPts val="0"/>
                        </a:spcAft>
                        <a:buNone/>
                      </a:pPr>
                      <a:endParaRPr sz="1400" b="0" i="0" u="none" strike="noStrike" cap="none">
                        <a:solidFill>
                          <a:srgbClr val="000000"/>
                        </a:solidFill>
                        <a:latin typeface="Times New Roman"/>
                        <a:ea typeface="Times New Roman"/>
                        <a:cs typeface="Times New Roman"/>
                        <a:sym typeface="Times New Roman"/>
                      </a:endParaRPr>
                    </a:p>
                  </a:txBody>
                  <a:tcPr marL="6350" marR="6350" marT="63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Times New Roman"/>
                          <a:ea typeface="Times New Roman"/>
                          <a:cs typeface="Times New Roman"/>
                          <a:sym typeface="Times New Roman"/>
                        </a:rPr>
                        <a:t>- </a:t>
                      </a:r>
                      <a:r>
                        <a:rPr lang="en-US" sz="1400" b="1" i="0" u="none" strike="noStrike" cap="none">
                          <a:solidFill>
                            <a:srgbClr val="000000"/>
                          </a:solidFill>
                          <a:latin typeface="Times New Roman"/>
                          <a:ea typeface="Times New Roman"/>
                          <a:cs typeface="Times New Roman"/>
                          <a:sym typeface="Times New Roman"/>
                        </a:rPr>
                        <a:t>Reputation</a:t>
                      </a:r>
                      <a:r>
                        <a:rPr lang="en-US" sz="1400" b="0" i="0" u="none" strike="noStrike" cap="none">
                          <a:solidFill>
                            <a:srgbClr val="000000"/>
                          </a:solidFill>
                          <a:latin typeface="Times New Roman"/>
                          <a:ea typeface="Times New Roman"/>
                          <a:cs typeface="Times New Roman"/>
                          <a:sym typeface="Times New Roman"/>
                        </a:rPr>
                        <a:t>: Demonstrating technical prowess by hacking high-profile systems like EVMs.</a:t>
                      </a:r>
                      <a:endParaRPr/>
                    </a:p>
                  </a:txBody>
                  <a:tcPr marL="6350" marR="6350" marT="63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478900">
                <a:tc>
                  <a:txBody>
                    <a:bodyPr/>
                    <a:lstStyle/>
                    <a:p>
                      <a:pPr marL="0" marR="0" lvl="0" indent="0" algn="l" rtl="0">
                        <a:lnSpc>
                          <a:spcPct val="100000"/>
                        </a:lnSpc>
                        <a:spcBef>
                          <a:spcPts val="0"/>
                        </a:spcBef>
                        <a:spcAft>
                          <a:spcPts val="0"/>
                        </a:spcAft>
                        <a:buNone/>
                      </a:pPr>
                      <a:endParaRPr sz="1400" b="0" i="0" u="none" strike="noStrike" cap="none">
                        <a:solidFill>
                          <a:srgbClr val="000000"/>
                        </a:solidFill>
                        <a:latin typeface="Times New Roman"/>
                        <a:ea typeface="Times New Roman"/>
                        <a:cs typeface="Times New Roman"/>
                        <a:sym typeface="Times New Roman"/>
                      </a:endParaRPr>
                    </a:p>
                  </a:txBody>
                  <a:tcPr marL="6350" marR="6350" marT="63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Times New Roman"/>
                          <a:ea typeface="Times New Roman"/>
                          <a:cs typeface="Times New Roman"/>
                          <a:sym typeface="Times New Roman"/>
                        </a:rPr>
                        <a:t>- </a:t>
                      </a:r>
                      <a:r>
                        <a:rPr lang="en-US" sz="1400" b="1" i="0" u="none" strike="noStrike" cap="none">
                          <a:solidFill>
                            <a:srgbClr val="000000"/>
                          </a:solidFill>
                          <a:latin typeface="Times New Roman"/>
                          <a:ea typeface="Times New Roman"/>
                          <a:cs typeface="Times New Roman"/>
                          <a:sym typeface="Times New Roman"/>
                        </a:rPr>
                        <a:t>Sabotage</a:t>
                      </a:r>
                      <a:r>
                        <a:rPr lang="en-US" sz="1400" b="0" i="0" u="none" strike="noStrike" cap="none">
                          <a:solidFill>
                            <a:srgbClr val="000000"/>
                          </a:solidFill>
                          <a:latin typeface="Times New Roman"/>
                          <a:ea typeface="Times New Roman"/>
                          <a:cs typeface="Times New Roman"/>
                          <a:sym typeface="Times New Roman"/>
                        </a:rPr>
                        <a:t>: Creating confusion, delaying results, or delegitimizing election outcomes by spreading misinformation about the security of EVMs.</a:t>
                      </a:r>
                      <a:endParaRPr/>
                    </a:p>
                  </a:txBody>
                  <a:tcPr marL="6350" marR="6350" marT="63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27"/>
          <p:cNvSpPr txBox="1">
            <a:spLocks noGrp="1"/>
          </p:cNvSpPr>
          <p:nvPr>
            <p:ph type="title"/>
          </p:nvPr>
        </p:nvSpPr>
        <p:spPr>
          <a:xfrm>
            <a:off x="817323" y="214817"/>
            <a:ext cx="7402883" cy="874951"/>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rgbClr val="930B0B"/>
              </a:buClr>
              <a:buSzPts val="3600"/>
              <a:buFont typeface="Times New Roman"/>
              <a:buNone/>
            </a:pPr>
            <a:r>
              <a:rPr lang="en-US"/>
              <a:t>Methods of Defense </a:t>
            </a:r>
            <a:endParaRPr/>
          </a:p>
        </p:txBody>
      </p:sp>
      <p:sp>
        <p:nvSpPr>
          <p:cNvPr id="248" name="Google Shape;248;p27"/>
          <p:cNvSpPr txBox="1">
            <a:spLocks noGrp="1"/>
          </p:cNvSpPr>
          <p:nvPr>
            <p:ph type="body" idx="1"/>
          </p:nvPr>
        </p:nvSpPr>
        <p:spPr>
          <a:xfrm>
            <a:off x="700004" y="1324629"/>
            <a:ext cx="8229600" cy="4525963"/>
          </a:xfrm>
          <a:prstGeom prst="rect">
            <a:avLst/>
          </a:prstGeom>
          <a:noFill/>
          <a:ln>
            <a:noFill/>
          </a:ln>
        </p:spPr>
        <p:txBody>
          <a:bodyPr spcFirstLastPara="1" wrap="square" lIns="91425" tIns="45700" rIns="91425" bIns="45700" anchor="t" anchorCtr="0">
            <a:normAutofit/>
          </a:bodyPr>
          <a:lstStyle/>
          <a:p>
            <a:pPr marL="285750" lvl="0" indent="-285750" algn="l" rtl="0">
              <a:lnSpc>
                <a:spcPct val="90000"/>
              </a:lnSpc>
              <a:spcBef>
                <a:spcPts val="0"/>
              </a:spcBef>
              <a:spcAft>
                <a:spcPts val="0"/>
              </a:spcAft>
              <a:buClr>
                <a:schemeClr val="dk1"/>
              </a:buClr>
              <a:buSzPts val="2800"/>
              <a:buFont typeface="Arial"/>
              <a:buChar char="•"/>
            </a:pPr>
            <a:r>
              <a:rPr lang="en-US" i="1"/>
              <a:t>Prevent it</a:t>
            </a:r>
            <a:r>
              <a:rPr lang="en-US"/>
              <a:t>, by blocking the attack or closing the vulnerability </a:t>
            </a:r>
            <a:endParaRPr/>
          </a:p>
          <a:p>
            <a:pPr marL="285750" lvl="0" indent="-285750" algn="l" rtl="0">
              <a:lnSpc>
                <a:spcPct val="90000"/>
              </a:lnSpc>
              <a:spcBef>
                <a:spcPts val="1000"/>
              </a:spcBef>
              <a:spcAft>
                <a:spcPts val="0"/>
              </a:spcAft>
              <a:buClr>
                <a:schemeClr val="dk1"/>
              </a:buClr>
              <a:buSzPts val="2800"/>
              <a:buFont typeface="Arial"/>
              <a:buChar char="•"/>
            </a:pPr>
            <a:r>
              <a:rPr lang="en-US" i="1"/>
              <a:t>Deter it</a:t>
            </a:r>
            <a:r>
              <a:rPr lang="en-US"/>
              <a:t>, by making attack harder if not impossible </a:t>
            </a:r>
            <a:endParaRPr/>
          </a:p>
          <a:p>
            <a:pPr marL="285750" lvl="0" indent="-285750" algn="l" rtl="0">
              <a:lnSpc>
                <a:spcPct val="90000"/>
              </a:lnSpc>
              <a:spcBef>
                <a:spcPts val="1000"/>
              </a:spcBef>
              <a:spcAft>
                <a:spcPts val="0"/>
              </a:spcAft>
              <a:buClr>
                <a:schemeClr val="dk1"/>
              </a:buClr>
              <a:buSzPts val="2800"/>
              <a:buFont typeface="Arial"/>
              <a:buChar char="•"/>
            </a:pPr>
            <a:r>
              <a:rPr lang="en-US" i="1"/>
              <a:t>Deflect it</a:t>
            </a:r>
            <a:r>
              <a:rPr lang="en-US"/>
              <a:t>, by making another target more attractive </a:t>
            </a:r>
            <a:endParaRPr/>
          </a:p>
          <a:p>
            <a:pPr marL="285750" lvl="0" indent="-285750" algn="l" rtl="0">
              <a:lnSpc>
                <a:spcPct val="90000"/>
              </a:lnSpc>
              <a:spcBef>
                <a:spcPts val="1000"/>
              </a:spcBef>
              <a:spcAft>
                <a:spcPts val="0"/>
              </a:spcAft>
              <a:buClr>
                <a:schemeClr val="dk1"/>
              </a:buClr>
              <a:buSzPts val="2800"/>
              <a:buFont typeface="Arial"/>
              <a:buChar char="•"/>
            </a:pPr>
            <a:r>
              <a:rPr lang="en-US" i="1"/>
              <a:t>Mitigate it, </a:t>
            </a:r>
            <a:r>
              <a:rPr lang="en-US"/>
              <a:t>by making its impact less severe </a:t>
            </a:r>
            <a:endParaRPr/>
          </a:p>
          <a:p>
            <a:pPr marL="285750" lvl="0" indent="-285750" algn="l" rtl="0">
              <a:lnSpc>
                <a:spcPct val="90000"/>
              </a:lnSpc>
              <a:spcBef>
                <a:spcPts val="1000"/>
              </a:spcBef>
              <a:spcAft>
                <a:spcPts val="0"/>
              </a:spcAft>
              <a:buClr>
                <a:schemeClr val="dk1"/>
              </a:buClr>
              <a:buSzPts val="2800"/>
              <a:buFont typeface="Arial"/>
              <a:buChar char="•"/>
            </a:pPr>
            <a:r>
              <a:rPr lang="en-US" i="1"/>
              <a:t>Detect it</a:t>
            </a:r>
            <a:r>
              <a:rPr lang="en-US"/>
              <a:t>, either as it happens or some time after the fact </a:t>
            </a:r>
            <a:endParaRPr/>
          </a:p>
          <a:p>
            <a:pPr marL="285750" lvl="0" indent="-285750" algn="l" rtl="0">
              <a:lnSpc>
                <a:spcPct val="90000"/>
              </a:lnSpc>
              <a:spcBef>
                <a:spcPts val="1000"/>
              </a:spcBef>
              <a:spcAft>
                <a:spcPts val="0"/>
              </a:spcAft>
              <a:buClr>
                <a:schemeClr val="dk1"/>
              </a:buClr>
              <a:buSzPts val="2800"/>
              <a:buFont typeface="Arial"/>
              <a:buChar char="•"/>
            </a:pPr>
            <a:r>
              <a:rPr lang="en-US"/>
              <a:t>Recover from its effects </a:t>
            </a:r>
            <a:endParaRPr/>
          </a:p>
          <a:p>
            <a:pPr marL="285750" lvl="0" indent="-107950" algn="l" rtl="0">
              <a:lnSpc>
                <a:spcPct val="90000"/>
              </a:lnSpc>
              <a:spcBef>
                <a:spcPts val="1000"/>
              </a:spcBef>
              <a:spcAft>
                <a:spcPts val="0"/>
              </a:spcAft>
              <a:buClr>
                <a:schemeClr val="dk1"/>
              </a:buClr>
              <a:buSzPts val="2800"/>
              <a:buFont typeface="Arial"/>
              <a:buNone/>
            </a:pPr>
            <a:endParaRPr/>
          </a:p>
        </p:txBody>
      </p:sp>
      <p:sp>
        <p:nvSpPr>
          <p:cNvPr id="249" name="Google Shape;249;p27"/>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en-US"/>
              <a:t>Ms. Swati Mali</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28"/>
          <p:cNvSpPr txBox="1">
            <a:spLocks noGrp="1"/>
          </p:cNvSpPr>
          <p:nvPr>
            <p:ph type="title"/>
          </p:nvPr>
        </p:nvSpPr>
        <p:spPr>
          <a:xfrm>
            <a:off x="817323" y="214817"/>
            <a:ext cx="7402883" cy="874951"/>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rgbClr val="930B0B"/>
              </a:buClr>
              <a:buSzPts val="3600"/>
              <a:buFont typeface="Times New Roman"/>
              <a:buNone/>
            </a:pPr>
            <a:endParaRPr/>
          </a:p>
        </p:txBody>
      </p:sp>
      <p:sp>
        <p:nvSpPr>
          <p:cNvPr id="263" name="Google Shape;263;p28"/>
          <p:cNvSpPr txBox="1">
            <a:spLocks noGrp="1"/>
          </p:cNvSpPr>
          <p:nvPr>
            <p:ph type="body" idx="1"/>
          </p:nvPr>
        </p:nvSpPr>
        <p:spPr>
          <a:xfrm>
            <a:off x="700004" y="1324629"/>
            <a:ext cx="8229600" cy="4525963"/>
          </a:xfrm>
          <a:prstGeom prst="rect">
            <a:avLst/>
          </a:prstGeom>
          <a:noFill/>
          <a:ln>
            <a:noFill/>
          </a:ln>
        </p:spPr>
        <p:txBody>
          <a:bodyPr spcFirstLastPara="1" wrap="square" lIns="91425" tIns="45700" rIns="91425" bIns="45700" anchor="t" anchorCtr="0">
            <a:normAutofit/>
          </a:bodyPr>
          <a:lstStyle/>
          <a:p>
            <a:pPr marL="285750" lvl="0" indent="-107950" algn="l" rtl="0">
              <a:lnSpc>
                <a:spcPct val="90000"/>
              </a:lnSpc>
              <a:spcBef>
                <a:spcPts val="0"/>
              </a:spcBef>
              <a:spcAft>
                <a:spcPts val="0"/>
              </a:spcAft>
              <a:buClr>
                <a:schemeClr val="dk1"/>
              </a:buClr>
              <a:buSzPts val="2800"/>
              <a:buFont typeface="Arial"/>
              <a:buNone/>
            </a:pPr>
            <a:endParaRPr/>
          </a:p>
        </p:txBody>
      </p:sp>
      <p:pic>
        <p:nvPicPr>
          <p:cNvPr id="264" name="Google Shape;264;p28"/>
          <p:cNvPicPr preferRelativeResize="0"/>
          <p:nvPr/>
        </p:nvPicPr>
        <p:blipFill rotWithShape="1">
          <a:blip r:embed="rId3">
            <a:alphaModFix/>
          </a:blip>
          <a:srcRect/>
          <a:stretch/>
        </p:blipFill>
        <p:spPr>
          <a:xfrm>
            <a:off x="28679" y="1318777"/>
            <a:ext cx="9115321" cy="4818720"/>
          </a:xfrm>
          <a:prstGeom prst="rect">
            <a:avLst/>
          </a:prstGeom>
          <a:noFill/>
          <a:ln>
            <a:noFill/>
          </a:ln>
        </p:spPr>
      </p:pic>
      <p:sp>
        <p:nvSpPr>
          <p:cNvPr id="265" name="Google Shape;265;p28"/>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en-US"/>
              <a:t>Ms. Swati Mali</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29"/>
          <p:cNvSpPr txBox="1">
            <a:spLocks noGrp="1"/>
          </p:cNvSpPr>
          <p:nvPr>
            <p:ph type="title"/>
          </p:nvPr>
        </p:nvSpPr>
        <p:spPr>
          <a:xfrm>
            <a:off x="817323" y="214817"/>
            <a:ext cx="7402883" cy="874951"/>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rgbClr val="930B0B"/>
              </a:buClr>
              <a:buSzPts val="3600"/>
              <a:buFont typeface="Times New Roman"/>
              <a:buNone/>
            </a:pPr>
            <a:r>
              <a:rPr lang="en-US"/>
              <a:t>Methods of Defense </a:t>
            </a:r>
            <a:endParaRPr/>
          </a:p>
        </p:txBody>
      </p:sp>
      <p:sp>
        <p:nvSpPr>
          <p:cNvPr id="271" name="Google Shape;271;p29"/>
          <p:cNvSpPr txBox="1">
            <a:spLocks noGrp="1"/>
          </p:cNvSpPr>
          <p:nvPr>
            <p:ph type="body" idx="1"/>
          </p:nvPr>
        </p:nvSpPr>
        <p:spPr>
          <a:xfrm>
            <a:off x="700000" y="885174"/>
            <a:ext cx="8229600" cy="5837743"/>
          </a:xfrm>
          <a:prstGeom prst="rect">
            <a:avLst/>
          </a:prstGeom>
          <a:noFill/>
          <a:ln>
            <a:noFill/>
          </a:ln>
        </p:spPr>
        <p:txBody>
          <a:bodyPr spcFirstLastPara="1" wrap="square" lIns="91425" tIns="45700" rIns="91425" bIns="45700" anchor="t" anchorCtr="0">
            <a:normAutofit fontScale="85000" lnSpcReduction="20000"/>
          </a:bodyPr>
          <a:lstStyle/>
          <a:p>
            <a:pPr marL="285750" lvl="0" indent="-272415" algn="l" rtl="0">
              <a:lnSpc>
                <a:spcPct val="90000"/>
              </a:lnSpc>
              <a:spcBef>
                <a:spcPts val="0"/>
              </a:spcBef>
              <a:spcAft>
                <a:spcPts val="0"/>
              </a:spcAft>
              <a:buClr>
                <a:schemeClr val="dk1"/>
              </a:buClr>
              <a:buSzPct val="100000"/>
              <a:buFont typeface="Arial"/>
              <a:buChar char="•"/>
            </a:pPr>
            <a:r>
              <a:rPr lang="en-US"/>
              <a:t>Controls </a:t>
            </a:r>
            <a:endParaRPr/>
          </a:p>
          <a:p>
            <a:pPr marL="742950" lvl="1" indent="-274319" algn="l" rtl="0">
              <a:lnSpc>
                <a:spcPct val="90000"/>
              </a:lnSpc>
              <a:spcBef>
                <a:spcPts val="500"/>
              </a:spcBef>
              <a:spcAft>
                <a:spcPts val="0"/>
              </a:spcAft>
              <a:buClr>
                <a:schemeClr val="dk1"/>
              </a:buClr>
              <a:buSzPct val="100000"/>
              <a:buChar char="o"/>
            </a:pPr>
            <a:r>
              <a:rPr lang="en-US"/>
              <a:t>Encryption </a:t>
            </a:r>
            <a:endParaRPr/>
          </a:p>
          <a:p>
            <a:pPr marL="742950" lvl="1" indent="-274319" algn="l" rtl="0">
              <a:lnSpc>
                <a:spcPct val="90000"/>
              </a:lnSpc>
              <a:spcBef>
                <a:spcPts val="500"/>
              </a:spcBef>
              <a:spcAft>
                <a:spcPts val="0"/>
              </a:spcAft>
              <a:buClr>
                <a:schemeClr val="dk1"/>
              </a:buClr>
              <a:buSzPct val="100000"/>
              <a:buChar char="o"/>
            </a:pPr>
            <a:r>
              <a:rPr lang="en-US"/>
              <a:t>Hardware Controls </a:t>
            </a:r>
            <a:endParaRPr/>
          </a:p>
          <a:p>
            <a:pPr marL="1200150" lvl="2" indent="-127635" algn="l" rtl="0">
              <a:lnSpc>
                <a:spcPct val="90000"/>
              </a:lnSpc>
              <a:spcBef>
                <a:spcPts val="500"/>
              </a:spcBef>
              <a:spcAft>
                <a:spcPts val="0"/>
              </a:spcAft>
              <a:buClr>
                <a:schemeClr val="dk1"/>
              </a:buClr>
              <a:buSzPct val="100000"/>
              <a:buChar char="−"/>
            </a:pPr>
            <a:r>
              <a:rPr lang="en-US"/>
              <a:t>Hardware/smart card implementations of encryption </a:t>
            </a:r>
            <a:endParaRPr/>
          </a:p>
          <a:p>
            <a:pPr marL="1200150" lvl="2" indent="-127635" algn="l" rtl="0">
              <a:lnSpc>
                <a:spcPct val="90000"/>
              </a:lnSpc>
              <a:spcBef>
                <a:spcPts val="500"/>
              </a:spcBef>
              <a:spcAft>
                <a:spcPts val="0"/>
              </a:spcAft>
              <a:buClr>
                <a:schemeClr val="dk1"/>
              </a:buClr>
              <a:buSzPct val="100000"/>
              <a:buChar char="−"/>
            </a:pPr>
            <a:r>
              <a:rPr lang="en-US"/>
              <a:t>Locks or cables limiting access </a:t>
            </a:r>
            <a:endParaRPr/>
          </a:p>
          <a:p>
            <a:pPr marL="1200150" lvl="2" indent="-127635" algn="l" rtl="0">
              <a:lnSpc>
                <a:spcPct val="90000"/>
              </a:lnSpc>
              <a:spcBef>
                <a:spcPts val="500"/>
              </a:spcBef>
              <a:spcAft>
                <a:spcPts val="0"/>
              </a:spcAft>
              <a:buClr>
                <a:schemeClr val="dk1"/>
              </a:buClr>
              <a:buSzPct val="100000"/>
              <a:buChar char="−"/>
            </a:pPr>
            <a:r>
              <a:rPr lang="en-US"/>
              <a:t>Devices to verify users’ identity </a:t>
            </a:r>
            <a:endParaRPr/>
          </a:p>
          <a:p>
            <a:pPr marL="1200150" lvl="2" indent="-127635" algn="l" rtl="0">
              <a:lnSpc>
                <a:spcPct val="90000"/>
              </a:lnSpc>
              <a:spcBef>
                <a:spcPts val="500"/>
              </a:spcBef>
              <a:spcAft>
                <a:spcPts val="0"/>
              </a:spcAft>
              <a:buClr>
                <a:schemeClr val="dk1"/>
              </a:buClr>
              <a:buSzPct val="100000"/>
              <a:buChar char="−"/>
            </a:pPr>
            <a:r>
              <a:rPr lang="en-US"/>
              <a:t>Firewalls </a:t>
            </a:r>
            <a:endParaRPr/>
          </a:p>
          <a:p>
            <a:pPr marL="1200150" lvl="2" indent="-127635" algn="l" rtl="0">
              <a:lnSpc>
                <a:spcPct val="90000"/>
              </a:lnSpc>
              <a:spcBef>
                <a:spcPts val="500"/>
              </a:spcBef>
              <a:spcAft>
                <a:spcPts val="0"/>
              </a:spcAft>
              <a:buClr>
                <a:schemeClr val="dk1"/>
              </a:buClr>
              <a:buSzPct val="100000"/>
              <a:buChar char="−"/>
            </a:pPr>
            <a:r>
              <a:rPr lang="en-US"/>
              <a:t>Intrusion detection systems </a:t>
            </a:r>
            <a:endParaRPr/>
          </a:p>
          <a:p>
            <a:pPr marL="742950" lvl="1" indent="-274319" algn="l" rtl="0">
              <a:lnSpc>
                <a:spcPct val="90000"/>
              </a:lnSpc>
              <a:spcBef>
                <a:spcPts val="500"/>
              </a:spcBef>
              <a:spcAft>
                <a:spcPts val="0"/>
              </a:spcAft>
              <a:buClr>
                <a:schemeClr val="dk1"/>
              </a:buClr>
              <a:buSzPct val="100000"/>
              <a:buChar char="o"/>
            </a:pPr>
            <a:r>
              <a:rPr lang="en-US"/>
              <a:t>Software Controls </a:t>
            </a:r>
            <a:endParaRPr/>
          </a:p>
          <a:p>
            <a:pPr marL="1200150" lvl="2" indent="-127635" algn="l" rtl="0">
              <a:lnSpc>
                <a:spcPct val="90000"/>
              </a:lnSpc>
              <a:spcBef>
                <a:spcPts val="500"/>
              </a:spcBef>
              <a:spcAft>
                <a:spcPts val="0"/>
              </a:spcAft>
              <a:buClr>
                <a:schemeClr val="dk1"/>
              </a:buClr>
              <a:buSzPct val="100000"/>
              <a:buChar char="−"/>
            </a:pPr>
            <a:r>
              <a:rPr lang="en-US"/>
              <a:t>Internal program controls, </a:t>
            </a:r>
            <a:endParaRPr/>
          </a:p>
          <a:p>
            <a:pPr marL="1200150" lvl="2" indent="-127635" algn="l" rtl="0">
              <a:lnSpc>
                <a:spcPct val="90000"/>
              </a:lnSpc>
              <a:spcBef>
                <a:spcPts val="500"/>
              </a:spcBef>
              <a:spcAft>
                <a:spcPts val="0"/>
              </a:spcAft>
              <a:buClr>
                <a:schemeClr val="dk1"/>
              </a:buClr>
              <a:buSzPct val="100000"/>
              <a:buChar char="−"/>
            </a:pPr>
            <a:r>
              <a:rPr lang="en-US"/>
              <a:t>OS and Network system controls </a:t>
            </a:r>
            <a:endParaRPr/>
          </a:p>
          <a:p>
            <a:pPr marL="1200150" lvl="2" indent="-127635" algn="l" rtl="0">
              <a:lnSpc>
                <a:spcPct val="90000"/>
              </a:lnSpc>
              <a:spcBef>
                <a:spcPts val="500"/>
              </a:spcBef>
              <a:spcAft>
                <a:spcPts val="0"/>
              </a:spcAft>
              <a:buClr>
                <a:schemeClr val="dk1"/>
              </a:buClr>
              <a:buSzPct val="100000"/>
              <a:buChar char="−"/>
            </a:pPr>
            <a:r>
              <a:rPr lang="en-US"/>
              <a:t>Independent control program (anti virus, passwords etc.) </a:t>
            </a:r>
            <a:endParaRPr/>
          </a:p>
          <a:p>
            <a:pPr marL="1200150" lvl="2" indent="-127635" algn="l" rtl="0">
              <a:lnSpc>
                <a:spcPct val="90000"/>
              </a:lnSpc>
              <a:spcBef>
                <a:spcPts val="500"/>
              </a:spcBef>
              <a:spcAft>
                <a:spcPts val="0"/>
              </a:spcAft>
              <a:buClr>
                <a:schemeClr val="dk1"/>
              </a:buClr>
              <a:buSzPct val="100000"/>
              <a:buChar char="−"/>
            </a:pPr>
            <a:r>
              <a:rPr lang="en-US"/>
              <a:t>Development control </a:t>
            </a:r>
            <a:endParaRPr/>
          </a:p>
          <a:p>
            <a:pPr marL="742950" lvl="1" indent="-274319" algn="l" rtl="0">
              <a:lnSpc>
                <a:spcPct val="90000"/>
              </a:lnSpc>
              <a:spcBef>
                <a:spcPts val="500"/>
              </a:spcBef>
              <a:spcAft>
                <a:spcPts val="0"/>
              </a:spcAft>
              <a:buClr>
                <a:schemeClr val="dk1"/>
              </a:buClr>
              <a:buSzPct val="100000"/>
              <a:buChar char="o"/>
            </a:pPr>
            <a:r>
              <a:rPr lang="en-US"/>
              <a:t>Policies and Procedures </a:t>
            </a:r>
            <a:endParaRPr/>
          </a:p>
          <a:p>
            <a:pPr marL="1200150" lvl="2" indent="-274319" algn="l" rtl="0">
              <a:lnSpc>
                <a:spcPct val="90000"/>
              </a:lnSpc>
              <a:spcBef>
                <a:spcPts val="500"/>
              </a:spcBef>
              <a:spcAft>
                <a:spcPts val="0"/>
              </a:spcAft>
              <a:buSzPct val="100000"/>
              <a:buChar char="o"/>
            </a:pPr>
            <a:r>
              <a:rPr lang="en-US"/>
              <a:t>Time restrictions</a:t>
            </a:r>
            <a:endParaRPr/>
          </a:p>
          <a:p>
            <a:pPr marL="1200150" lvl="2" indent="-274319" algn="l" rtl="0">
              <a:lnSpc>
                <a:spcPct val="90000"/>
              </a:lnSpc>
              <a:spcBef>
                <a:spcPts val="500"/>
              </a:spcBef>
              <a:spcAft>
                <a:spcPts val="0"/>
              </a:spcAft>
              <a:buSzPct val="100000"/>
              <a:buChar char="o"/>
            </a:pPr>
            <a:r>
              <a:rPr lang="en-US"/>
              <a:t>Geofencing</a:t>
            </a:r>
            <a:endParaRPr/>
          </a:p>
          <a:p>
            <a:pPr marL="1200150" lvl="2" indent="-274319" algn="l" rtl="0">
              <a:lnSpc>
                <a:spcPct val="90000"/>
              </a:lnSpc>
              <a:spcBef>
                <a:spcPts val="500"/>
              </a:spcBef>
              <a:spcAft>
                <a:spcPts val="0"/>
              </a:spcAft>
              <a:buSzPct val="100000"/>
              <a:buChar char="o"/>
            </a:pPr>
            <a:r>
              <a:rPr lang="en-US"/>
              <a:t>Standard development Environment</a:t>
            </a:r>
            <a:endParaRPr/>
          </a:p>
          <a:p>
            <a:pPr marL="1200150" lvl="2" indent="-274319" algn="l" rtl="0">
              <a:lnSpc>
                <a:spcPct val="90000"/>
              </a:lnSpc>
              <a:spcBef>
                <a:spcPts val="500"/>
              </a:spcBef>
              <a:spcAft>
                <a:spcPts val="0"/>
              </a:spcAft>
              <a:buSzPct val="100000"/>
              <a:buChar char="o"/>
            </a:pPr>
            <a:r>
              <a:rPr lang="en-US"/>
              <a:t>Non Disclosure Agreement</a:t>
            </a:r>
            <a:endParaRPr/>
          </a:p>
          <a:p>
            <a:pPr marL="742950" lvl="1" indent="-274319" algn="l" rtl="0">
              <a:lnSpc>
                <a:spcPct val="90000"/>
              </a:lnSpc>
              <a:spcBef>
                <a:spcPts val="500"/>
              </a:spcBef>
              <a:spcAft>
                <a:spcPts val="0"/>
              </a:spcAft>
              <a:buClr>
                <a:schemeClr val="dk1"/>
              </a:buClr>
              <a:buSzPct val="100000"/>
              <a:buChar char="o"/>
            </a:pPr>
            <a:r>
              <a:rPr lang="en-US"/>
              <a:t>Physical Controls </a:t>
            </a:r>
            <a:endParaRPr/>
          </a:p>
          <a:p>
            <a:pPr marL="1200150" lvl="2" indent="-118110" algn="l" rtl="0">
              <a:lnSpc>
                <a:spcPct val="90000"/>
              </a:lnSpc>
              <a:spcBef>
                <a:spcPts val="500"/>
              </a:spcBef>
              <a:spcAft>
                <a:spcPts val="0"/>
              </a:spcAft>
              <a:buSzPct val="100000"/>
              <a:buChar char="−"/>
            </a:pPr>
            <a:r>
              <a:rPr lang="en-US"/>
              <a:t>locks</a:t>
            </a:r>
            <a:endParaRPr/>
          </a:p>
          <a:p>
            <a:pPr marL="1200150" lvl="2" indent="-118110" algn="l" rtl="0">
              <a:lnSpc>
                <a:spcPct val="90000"/>
              </a:lnSpc>
              <a:spcBef>
                <a:spcPts val="500"/>
              </a:spcBef>
              <a:spcAft>
                <a:spcPts val="0"/>
              </a:spcAft>
              <a:buSzPct val="100000"/>
              <a:buChar char="−"/>
            </a:pPr>
            <a:r>
              <a:rPr lang="en-US"/>
              <a:t>biometrics</a:t>
            </a:r>
            <a:endParaRPr/>
          </a:p>
          <a:p>
            <a:pPr marL="1200150" lvl="2" indent="-118110" algn="l" rtl="0">
              <a:lnSpc>
                <a:spcPct val="90000"/>
              </a:lnSpc>
              <a:spcBef>
                <a:spcPts val="500"/>
              </a:spcBef>
              <a:spcAft>
                <a:spcPts val="0"/>
              </a:spcAft>
              <a:buSzPct val="100000"/>
              <a:buChar char="−"/>
            </a:pPr>
            <a:r>
              <a:rPr lang="en-US"/>
              <a:t>guards</a:t>
            </a:r>
            <a:endParaRPr/>
          </a:p>
          <a:p>
            <a:pPr marL="285750" lvl="0" indent="-121285" algn="l" rtl="0">
              <a:lnSpc>
                <a:spcPct val="90000"/>
              </a:lnSpc>
              <a:spcBef>
                <a:spcPts val="1000"/>
              </a:spcBef>
              <a:spcAft>
                <a:spcPts val="0"/>
              </a:spcAft>
              <a:buClr>
                <a:schemeClr val="dk1"/>
              </a:buClr>
              <a:buSzPct val="100000"/>
              <a:buFont typeface="Arial"/>
              <a:buNone/>
            </a:pPr>
            <a:endParaRPr/>
          </a:p>
        </p:txBody>
      </p:sp>
      <p:sp>
        <p:nvSpPr>
          <p:cNvPr id="272" name="Google Shape;272;p29"/>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en-US"/>
              <a:t>Ms. Swati Mali</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31"/>
          <p:cNvSpPr txBox="1">
            <a:spLocks noGrp="1"/>
          </p:cNvSpPr>
          <p:nvPr>
            <p:ph type="title"/>
          </p:nvPr>
        </p:nvSpPr>
        <p:spPr>
          <a:xfrm>
            <a:off x="817323" y="214817"/>
            <a:ext cx="7402883" cy="874951"/>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rgbClr val="930B0B"/>
              </a:buClr>
              <a:buSzPts val="3600"/>
              <a:buFont typeface="Times New Roman"/>
              <a:buNone/>
            </a:pPr>
            <a:r>
              <a:rPr lang="en-US"/>
              <a:t>Others Exposed Assets </a:t>
            </a:r>
            <a:endParaRPr/>
          </a:p>
        </p:txBody>
      </p:sp>
      <p:sp>
        <p:nvSpPr>
          <p:cNvPr id="278" name="Google Shape;278;p31"/>
          <p:cNvSpPr txBox="1">
            <a:spLocks noGrp="1"/>
          </p:cNvSpPr>
          <p:nvPr>
            <p:ph type="body" idx="1"/>
          </p:nvPr>
        </p:nvSpPr>
        <p:spPr>
          <a:xfrm>
            <a:off x="700004" y="1324629"/>
            <a:ext cx="8229600" cy="4525963"/>
          </a:xfrm>
          <a:prstGeom prst="rect">
            <a:avLst/>
          </a:prstGeom>
          <a:noFill/>
          <a:ln>
            <a:noFill/>
          </a:ln>
        </p:spPr>
        <p:txBody>
          <a:bodyPr spcFirstLastPara="1" wrap="square" lIns="91425" tIns="45700" rIns="91425" bIns="45700" anchor="t" anchorCtr="0">
            <a:normAutofit/>
          </a:bodyPr>
          <a:lstStyle/>
          <a:p>
            <a:pPr marL="285750" lvl="0" indent="-285750" algn="l" rtl="0">
              <a:lnSpc>
                <a:spcPct val="90000"/>
              </a:lnSpc>
              <a:spcBef>
                <a:spcPts val="0"/>
              </a:spcBef>
              <a:spcAft>
                <a:spcPts val="0"/>
              </a:spcAft>
              <a:buClr>
                <a:schemeClr val="dk1"/>
              </a:buClr>
              <a:buSzPts val="2800"/>
              <a:buFont typeface="Arial"/>
              <a:buChar char="•"/>
            </a:pPr>
            <a:r>
              <a:rPr lang="en-US"/>
              <a:t>Networks </a:t>
            </a:r>
            <a:endParaRPr/>
          </a:p>
          <a:p>
            <a:pPr marL="742950" lvl="1" indent="-285750" algn="l" rtl="0">
              <a:lnSpc>
                <a:spcPct val="90000"/>
              </a:lnSpc>
              <a:spcBef>
                <a:spcPts val="500"/>
              </a:spcBef>
              <a:spcAft>
                <a:spcPts val="0"/>
              </a:spcAft>
              <a:buClr>
                <a:schemeClr val="dk1"/>
              </a:buClr>
              <a:buSzPts val="2400"/>
              <a:buChar char="o"/>
            </a:pPr>
            <a:r>
              <a:rPr lang="en-US"/>
              <a:t>Network’s lack of physical proximity </a:t>
            </a:r>
            <a:endParaRPr/>
          </a:p>
          <a:p>
            <a:pPr marL="742950" lvl="1" indent="-285750" algn="l" rtl="0">
              <a:lnSpc>
                <a:spcPct val="90000"/>
              </a:lnSpc>
              <a:spcBef>
                <a:spcPts val="500"/>
              </a:spcBef>
              <a:spcAft>
                <a:spcPts val="0"/>
              </a:spcAft>
              <a:buClr>
                <a:schemeClr val="dk1"/>
              </a:buClr>
              <a:buSzPts val="2400"/>
              <a:buChar char="o"/>
            </a:pPr>
            <a:r>
              <a:rPr lang="en-US"/>
              <a:t>Use of insecure, shared media </a:t>
            </a:r>
            <a:endParaRPr/>
          </a:p>
          <a:p>
            <a:pPr marL="742950" lvl="1" indent="-285750" algn="l" rtl="0">
              <a:lnSpc>
                <a:spcPct val="90000"/>
              </a:lnSpc>
              <a:spcBef>
                <a:spcPts val="500"/>
              </a:spcBef>
              <a:spcAft>
                <a:spcPts val="0"/>
              </a:spcAft>
              <a:buClr>
                <a:schemeClr val="dk1"/>
              </a:buClr>
              <a:buSzPts val="2400"/>
              <a:buChar char="o"/>
            </a:pPr>
            <a:r>
              <a:rPr lang="en-US"/>
              <a:t>Inability to identify remote users positively </a:t>
            </a:r>
            <a:endParaRPr/>
          </a:p>
          <a:p>
            <a:pPr marL="285750" lvl="0" indent="-285750" algn="l" rtl="0">
              <a:lnSpc>
                <a:spcPct val="90000"/>
              </a:lnSpc>
              <a:spcBef>
                <a:spcPts val="1000"/>
              </a:spcBef>
              <a:spcAft>
                <a:spcPts val="0"/>
              </a:spcAft>
              <a:buClr>
                <a:schemeClr val="dk1"/>
              </a:buClr>
              <a:buSzPts val="2800"/>
              <a:buFont typeface="Arial"/>
              <a:buChar char="•"/>
            </a:pPr>
            <a:r>
              <a:rPr lang="en-US"/>
              <a:t>Access </a:t>
            </a:r>
            <a:endParaRPr/>
          </a:p>
          <a:p>
            <a:pPr marL="742950" lvl="1" indent="-285750" algn="l" rtl="0">
              <a:lnSpc>
                <a:spcPct val="90000"/>
              </a:lnSpc>
              <a:spcBef>
                <a:spcPts val="500"/>
              </a:spcBef>
              <a:spcAft>
                <a:spcPts val="0"/>
              </a:spcAft>
              <a:buClr>
                <a:schemeClr val="dk1"/>
              </a:buClr>
              <a:buSzPts val="2400"/>
              <a:buChar char="o"/>
            </a:pPr>
            <a:r>
              <a:rPr lang="en-US"/>
              <a:t>Computer time </a:t>
            </a:r>
            <a:endParaRPr/>
          </a:p>
          <a:p>
            <a:pPr marL="742950" lvl="1" indent="-285750" algn="l" rtl="0">
              <a:lnSpc>
                <a:spcPct val="90000"/>
              </a:lnSpc>
              <a:spcBef>
                <a:spcPts val="500"/>
              </a:spcBef>
              <a:spcAft>
                <a:spcPts val="0"/>
              </a:spcAft>
              <a:buClr>
                <a:schemeClr val="dk1"/>
              </a:buClr>
              <a:buSzPts val="2400"/>
              <a:buChar char="o"/>
            </a:pPr>
            <a:r>
              <a:rPr lang="en-US"/>
              <a:t>Malicious access </a:t>
            </a:r>
            <a:endParaRPr/>
          </a:p>
          <a:p>
            <a:pPr marL="742950" lvl="1" indent="-285750" algn="l" rtl="0">
              <a:lnSpc>
                <a:spcPct val="90000"/>
              </a:lnSpc>
              <a:spcBef>
                <a:spcPts val="500"/>
              </a:spcBef>
              <a:spcAft>
                <a:spcPts val="0"/>
              </a:spcAft>
              <a:buClr>
                <a:schemeClr val="dk1"/>
              </a:buClr>
              <a:buSzPts val="2400"/>
              <a:buChar char="o"/>
            </a:pPr>
            <a:r>
              <a:rPr lang="en-US"/>
              <a:t>Denial of service to legitimate user </a:t>
            </a:r>
            <a:endParaRPr/>
          </a:p>
          <a:p>
            <a:pPr marL="285750" lvl="0" indent="-285750" algn="l" rtl="0">
              <a:lnSpc>
                <a:spcPct val="90000"/>
              </a:lnSpc>
              <a:spcBef>
                <a:spcPts val="1000"/>
              </a:spcBef>
              <a:spcAft>
                <a:spcPts val="0"/>
              </a:spcAft>
              <a:buClr>
                <a:schemeClr val="dk1"/>
              </a:buClr>
              <a:buSzPts val="2800"/>
              <a:buFont typeface="Arial"/>
              <a:buChar char="•"/>
            </a:pPr>
            <a:r>
              <a:rPr lang="en-US"/>
              <a:t>Key People </a:t>
            </a:r>
            <a:endParaRPr/>
          </a:p>
        </p:txBody>
      </p:sp>
      <p:sp>
        <p:nvSpPr>
          <p:cNvPr id="279" name="Google Shape;279;p31"/>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en-US"/>
              <a:t>Ms. Swati Mali</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59"/>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en-US"/>
              <a:t>Ms. Swati Mali</a:t>
            </a:r>
            <a:endParaRPr/>
          </a:p>
        </p:txBody>
      </p:sp>
      <p:sp>
        <p:nvSpPr>
          <p:cNvPr id="285" name="Google Shape;285;p59"/>
          <p:cNvSpPr txBox="1">
            <a:spLocks noGrp="1"/>
          </p:cNvSpPr>
          <p:nvPr>
            <p:ph type="title"/>
          </p:nvPr>
        </p:nvSpPr>
        <p:spPr>
          <a:xfrm>
            <a:off x="817323" y="214817"/>
            <a:ext cx="7402883" cy="874951"/>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930B0B"/>
              </a:buClr>
              <a:buSzPts val="3600"/>
              <a:buFont typeface="Times New Roman"/>
              <a:buNone/>
            </a:pPr>
            <a:r>
              <a:rPr lang="en-US" dirty="0" smtClean="0"/>
              <a:t>Lab CA </a:t>
            </a:r>
            <a:r>
              <a:rPr lang="en-US" dirty="0"/>
              <a:t>: Designing security Protocol</a:t>
            </a:r>
            <a:endParaRPr dirty="0"/>
          </a:p>
        </p:txBody>
      </p:sp>
      <p:sp>
        <p:nvSpPr>
          <p:cNvPr id="286" name="Google Shape;286;p59"/>
          <p:cNvSpPr txBox="1">
            <a:spLocks noGrp="1"/>
          </p:cNvSpPr>
          <p:nvPr>
            <p:ph type="body" idx="1"/>
          </p:nvPr>
        </p:nvSpPr>
        <p:spPr>
          <a:xfrm>
            <a:off x="700004" y="1324629"/>
            <a:ext cx="8229600" cy="4525963"/>
          </a:xfrm>
          <a:prstGeom prst="rect">
            <a:avLst/>
          </a:prstGeom>
          <a:noFill/>
          <a:ln>
            <a:noFill/>
          </a:ln>
        </p:spPr>
        <p:txBody>
          <a:bodyPr spcFirstLastPara="1" wrap="square" lIns="91425" tIns="45700" rIns="91425" bIns="45700" anchor="t" anchorCtr="0">
            <a:normAutofit/>
          </a:bodyPr>
          <a:lstStyle/>
          <a:p>
            <a:pPr marL="457200" marR="0" lvl="0" indent="-406400" algn="l" rtl="0">
              <a:lnSpc>
                <a:spcPct val="90000"/>
              </a:lnSpc>
              <a:spcBef>
                <a:spcPts val="1000"/>
              </a:spcBef>
              <a:spcAft>
                <a:spcPts val="0"/>
              </a:spcAft>
              <a:buClr>
                <a:schemeClr val="dk1"/>
              </a:buClr>
              <a:buSzPts val="2800"/>
              <a:buFont typeface="Arial"/>
              <a:buChar char="•"/>
            </a:pPr>
            <a:r>
              <a:rPr lang="en-US" dirty="0"/>
              <a:t>Group assignment with </a:t>
            </a:r>
            <a:r>
              <a:rPr lang="en-US" dirty="0" smtClean="0"/>
              <a:t>4-5</a:t>
            </a:r>
            <a:r>
              <a:rPr lang="en-US" dirty="0" smtClean="0"/>
              <a:t> </a:t>
            </a:r>
            <a:r>
              <a:rPr lang="en-US" dirty="0"/>
              <a:t>max students in a group.</a:t>
            </a:r>
            <a:endParaRPr dirty="0"/>
          </a:p>
          <a:p>
            <a:pPr marL="457200" lvl="0" indent="-406400" algn="l" rtl="0">
              <a:lnSpc>
                <a:spcPct val="90000"/>
              </a:lnSpc>
              <a:spcBef>
                <a:spcPts val="1000"/>
              </a:spcBef>
              <a:spcAft>
                <a:spcPts val="0"/>
              </a:spcAft>
              <a:buSzPts val="2800"/>
              <a:buChar char="•"/>
            </a:pPr>
            <a:r>
              <a:rPr lang="en-US" dirty="0"/>
              <a:t>Open book test, Students can use college computers with internet disconnected</a:t>
            </a:r>
            <a:endParaRPr dirty="0"/>
          </a:p>
          <a:p>
            <a:pPr marL="457200" lvl="0" indent="-406400" algn="l" rtl="0">
              <a:lnSpc>
                <a:spcPct val="90000"/>
              </a:lnSpc>
              <a:spcBef>
                <a:spcPts val="1000"/>
              </a:spcBef>
              <a:spcAft>
                <a:spcPts val="0"/>
              </a:spcAft>
              <a:buSzPts val="2800"/>
              <a:buChar char="•"/>
            </a:pPr>
            <a:r>
              <a:rPr lang="en-US" dirty="0"/>
              <a:t>No personal gadgets will be permitted. </a:t>
            </a:r>
            <a:endParaRPr dirty="0"/>
          </a:p>
          <a:p>
            <a:pPr marL="457200" marR="0" lvl="0" indent="-228600" algn="l" rtl="0">
              <a:lnSpc>
                <a:spcPct val="90000"/>
              </a:lnSpc>
              <a:spcBef>
                <a:spcPts val="1000"/>
              </a:spcBef>
              <a:spcAft>
                <a:spcPts val="0"/>
              </a:spcAft>
              <a:buClr>
                <a:schemeClr val="dk1"/>
              </a:buClr>
              <a:buSzPts val="2800"/>
              <a:buFont typeface="Arial"/>
              <a:buNone/>
            </a:pPr>
            <a:endParaRPr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60"/>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en-US"/>
              <a:t>Ms. Swati Mali</a:t>
            </a:r>
            <a:endParaRPr/>
          </a:p>
        </p:txBody>
      </p:sp>
      <p:sp>
        <p:nvSpPr>
          <p:cNvPr id="292" name="Google Shape;292;p60"/>
          <p:cNvSpPr txBox="1">
            <a:spLocks noGrp="1"/>
          </p:cNvSpPr>
          <p:nvPr>
            <p:ph type="title"/>
          </p:nvPr>
        </p:nvSpPr>
        <p:spPr>
          <a:xfrm>
            <a:off x="817323" y="214817"/>
            <a:ext cx="8222768" cy="874951"/>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930B0B"/>
              </a:buClr>
              <a:buSzPts val="3600"/>
              <a:buFont typeface="Times New Roman"/>
              <a:buNone/>
            </a:pPr>
            <a:r>
              <a:rPr lang="en-US" sz="3200"/>
              <a:t>The Mysterious Death of Gerald Cotten and the Frozen Cryptocurrency Wallets</a:t>
            </a:r>
            <a:endParaRPr sz="3200"/>
          </a:p>
        </p:txBody>
      </p:sp>
      <p:sp>
        <p:nvSpPr>
          <p:cNvPr id="293" name="Google Shape;293;p60"/>
          <p:cNvSpPr txBox="1">
            <a:spLocks noGrp="1"/>
          </p:cNvSpPr>
          <p:nvPr>
            <p:ph type="body" idx="1"/>
          </p:nvPr>
        </p:nvSpPr>
        <p:spPr>
          <a:xfrm>
            <a:off x="700004" y="1324629"/>
            <a:ext cx="8229600" cy="4525963"/>
          </a:xfrm>
          <a:prstGeom prst="rect">
            <a:avLst/>
          </a:prstGeom>
          <a:noFill/>
          <a:ln>
            <a:noFill/>
          </a:ln>
        </p:spPr>
        <p:txBody>
          <a:bodyPr spcFirstLastPara="1" wrap="square" lIns="91425" tIns="45700" rIns="91425" bIns="45700" anchor="t" anchorCtr="0">
            <a:normAutofit fontScale="92500" lnSpcReduction="20000"/>
          </a:bodyPr>
          <a:lstStyle/>
          <a:p>
            <a:pPr marL="457200" marR="0" lvl="0" indent="-406400" algn="l" rtl="0">
              <a:lnSpc>
                <a:spcPct val="90000"/>
              </a:lnSpc>
              <a:spcBef>
                <a:spcPts val="1000"/>
              </a:spcBef>
              <a:spcAft>
                <a:spcPts val="0"/>
              </a:spcAft>
              <a:buClr>
                <a:schemeClr val="dk1"/>
              </a:buClr>
              <a:buSzPct val="108108"/>
              <a:buFont typeface="Arial"/>
              <a:buChar char="•"/>
            </a:pPr>
            <a:r>
              <a:rPr lang="en-US"/>
              <a:t>Gerald Cotten, the CEO of QuadrigaCX, a major cryptocurrency exchange, was responsible for managing the company’s funds. He held the private keys to multiple cryptocurrency wallets storing over</a:t>
            </a:r>
            <a:r>
              <a:rPr lang="en-US" b="1"/>
              <a:t> $190 </a:t>
            </a:r>
            <a:r>
              <a:rPr lang="en-US"/>
              <a:t>million worth of Bitcoin, Ethereum, and other assets. Cotten managed these wallets using a cold storage system—an offline mechanism designed to protect funds from hacking.</a:t>
            </a:r>
            <a:endParaRPr/>
          </a:p>
          <a:p>
            <a:pPr marL="457200" marR="0" lvl="0" indent="-406400" algn="l" rtl="0">
              <a:lnSpc>
                <a:spcPct val="90000"/>
              </a:lnSpc>
              <a:spcBef>
                <a:spcPts val="1000"/>
              </a:spcBef>
              <a:spcAft>
                <a:spcPts val="0"/>
              </a:spcAft>
              <a:buClr>
                <a:schemeClr val="dk1"/>
              </a:buClr>
              <a:buSzPct val="108108"/>
              <a:buFont typeface="Arial"/>
              <a:buChar char="•"/>
            </a:pPr>
            <a:r>
              <a:rPr lang="en-US"/>
              <a:t>In December 2018, Cotten reportedly died while on a trip to India due to medical complications. His death left QuadrigaCX in a crisis because he was the only person who had access to the private keys. Without these keys, the cryptocurrency stored in the cold wallets became inaccessible, effectively locking users out of their funds.</a:t>
            </a:r>
            <a:endParaRPr/>
          </a:p>
          <a:p>
            <a:pPr marL="457200" marR="0" lvl="0" indent="-228600" algn="l" rtl="0">
              <a:lnSpc>
                <a:spcPct val="90000"/>
              </a:lnSpc>
              <a:spcBef>
                <a:spcPts val="1000"/>
              </a:spcBef>
              <a:spcAft>
                <a:spcPts val="0"/>
              </a:spcAft>
              <a:buClr>
                <a:schemeClr val="dk1"/>
              </a:buClr>
              <a:buSzPct val="108108"/>
              <a:buFont typeface="Arial"/>
              <a:buNone/>
            </a:pP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61"/>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en-US"/>
              <a:t>Ms. Swati Mali</a:t>
            </a:r>
            <a:endParaRPr/>
          </a:p>
        </p:txBody>
      </p:sp>
      <p:sp>
        <p:nvSpPr>
          <p:cNvPr id="299" name="Google Shape;299;p61"/>
          <p:cNvSpPr txBox="1">
            <a:spLocks noGrp="1"/>
          </p:cNvSpPr>
          <p:nvPr>
            <p:ph type="title"/>
          </p:nvPr>
        </p:nvSpPr>
        <p:spPr>
          <a:xfrm>
            <a:off x="817323" y="214817"/>
            <a:ext cx="7402883" cy="874951"/>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930B0B"/>
              </a:buClr>
              <a:buSzPts val="3600"/>
              <a:buFont typeface="Times New Roman"/>
              <a:buNone/>
            </a:pPr>
            <a:r>
              <a:rPr lang="en-US"/>
              <a:t>Analysis</a:t>
            </a:r>
            <a:endParaRPr/>
          </a:p>
        </p:txBody>
      </p:sp>
      <p:graphicFrame>
        <p:nvGraphicFramePr>
          <p:cNvPr id="300" name="Google Shape;300;p61"/>
          <p:cNvGraphicFramePr/>
          <p:nvPr/>
        </p:nvGraphicFramePr>
        <p:xfrm>
          <a:off x="633846" y="1285009"/>
          <a:ext cx="8188025" cy="4855975"/>
        </p:xfrm>
        <a:graphic>
          <a:graphicData uri="http://schemas.openxmlformats.org/drawingml/2006/table">
            <a:tbl>
              <a:tblPr>
                <a:noFill/>
                <a:tableStyleId>{708E9160-7032-41F5-802E-B7FD925B90A3}</a:tableStyleId>
              </a:tblPr>
              <a:tblGrid>
                <a:gridCol w="1589800"/>
                <a:gridCol w="966350"/>
                <a:gridCol w="5631875"/>
              </a:tblGrid>
              <a:tr h="809325">
                <a:tc>
                  <a:txBody>
                    <a:bodyPr/>
                    <a:lstStyle/>
                    <a:p>
                      <a:pPr marL="0" marR="0" lvl="0" indent="0" algn="ctr"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Security Goal</a:t>
                      </a:r>
                      <a:endParaRPr sz="1800" b="1" i="0" u="none" strike="noStrike" cap="none">
                        <a:solidFill>
                          <a:srgbClr val="000000"/>
                        </a:solidFill>
                        <a:latin typeface="Times New Roman"/>
                        <a:ea typeface="Times New Roman"/>
                        <a:cs typeface="Times New Roman"/>
                        <a:sym typeface="Times New Roman"/>
                      </a:endParaRPr>
                    </a:p>
                  </a:txBody>
                  <a:tcPr marL="6350" marR="6350" marT="6350" marB="0" anchor="ctr"/>
                </a:tc>
                <a:tc>
                  <a:txBody>
                    <a:bodyPr/>
                    <a:lstStyle/>
                    <a:p>
                      <a:pPr marL="0" marR="0" lvl="0" indent="0" algn="ctr"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Achieved?</a:t>
                      </a:r>
                      <a:endParaRPr sz="1800" b="1" i="0" u="none" strike="noStrike" cap="none">
                        <a:solidFill>
                          <a:srgbClr val="000000"/>
                        </a:solidFill>
                        <a:latin typeface="Times New Roman"/>
                        <a:ea typeface="Times New Roman"/>
                        <a:cs typeface="Times New Roman"/>
                        <a:sym typeface="Times New Roman"/>
                      </a:endParaRPr>
                    </a:p>
                  </a:txBody>
                  <a:tcPr marL="6350" marR="6350" marT="6350" marB="0" anchor="ctr"/>
                </a:tc>
                <a:tc>
                  <a:txBody>
                    <a:bodyPr/>
                    <a:lstStyle/>
                    <a:p>
                      <a:pPr marL="0" marR="0" lvl="0" indent="0" algn="ctr"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Explanation</a:t>
                      </a:r>
                      <a:endParaRPr sz="1800" b="1" i="0" u="none" strike="noStrike" cap="none">
                        <a:solidFill>
                          <a:srgbClr val="000000"/>
                        </a:solidFill>
                        <a:latin typeface="Times New Roman"/>
                        <a:ea typeface="Times New Roman"/>
                        <a:cs typeface="Times New Roman"/>
                        <a:sym typeface="Times New Roman"/>
                      </a:endParaRPr>
                    </a:p>
                  </a:txBody>
                  <a:tcPr marL="6350" marR="6350" marT="6350" marB="0" anchor="ctr"/>
                </a:tc>
              </a:tr>
              <a:tr h="809325">
                <a:tc>
                  <a:txBody>
                    <a:bodyPr/>
                    <a:lstStyle/>
                    <a:p>
                      <a:pPr marL="0" marR="0" lvl="0" indent="0" algn="l"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Confidentiality</a:t>
                      </a:r>
                      <a:endParaRPr sz="1800" b="1" i="0" u="none" strike="noStrike" cap="none">
                        <a:solidFill>
                          <a:srgbClr val="000000"/>
                        </a:solidFill>
                        <a:latin typeface="Times New Roman"/>
                        <a:ea typeface="Times New Roman"/>
                        <a:cs typeface="Times New Roman"/>
                        <a:sym typeface="Times New Roman"/>
                      </a:endParaRPr>
                    </a:p>
                  </a:txBody>
                  <a:tcPr marL="6350" marR="6350" marT="6350" marB="0" anchor="ctr"/>
                </a:tc>
                <a:tc>
                  <a:txBody>
                    <a:bodyPr/>
                    <a:lstStyle/>
                    <a:p>
                      <a:pPr marL="0" marR="0" lvl="0" indent="0" algn="l"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 Yes</a:t>
                      </a:r>
                      <a:endParaRPr sz="1800" b="0" i="0" u="none" strike="noStrike" cap="none">
                        <a:solidFill>
                          <a:srgbClr val="000000"/>
                        </a:solidFill>
                        <a:latin typeface="Times New Roman"/>
                        <a:ea typeface="Times New Roman"/>
                        <a:cs typeface="Times New Roman"/>
                        <a:sym typeface="Times New Roman"/>
                      </a:endParaRPr>
                    </a:p>
                  </a:txBody>
                  <a:tcPr marL="6350" marR="6350" marT="6350" marB="0" anchor="ctr"/>
                </a:tc>
                <a:tc>
                  <a:txBody>
                    <a:bodyPr/>
                    <a:lstStyle/>
                    <a:p>
                      <a:pPr marL="0" marR="0" lvl="0" indent="0" algn="l"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The funds remained secure and could not be accessed by unauthorized users.</a:t>
                      </a:r>
                      <a:endParaRPr sz="1800" b="0" i="0" u="none" strike="noStrike" cap="none">
                        <a:solidFill>
                          <a:srgbClr val="000000"/>
                        </a:solidFill>
                        <a:latin typeface="Times New Roman"/>
                        <a:ea typeface="Times New Roman"/>
                        <a:cs typeface="Times New Roman"/>
                        <a:sym typeface="Times New Roman"/>
                      </a:endParaRPr>
                    </a:p>
                  </a:txBody>
                  <a:tcPr marL="6350" marR="6350" marT="6350" marB="0" anchor="ctr"/>
                </a:tc>
              </a:tr>
              <a:tr h="404675">
                <a:tc>
                  <a:txBody>
                    <a:bodyPr/>
                    <a:lstStyle/>
                    <a:p>
                      <a:pPr marL="0" marR="0" lvl="0" indent="0" algn="l"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Integrity</a:t>
                      </a:r>
                      <a:endParaRPr sz="1800" b="1" i="0" u="none" strike="noStrike" cap="none">
                        <a:solidFill>
                          <a:srgbClr val="000000"/>
                        </a:solidFill>
                        <a:latin typeface="Times New Roman"/>
                        <a:ea typeface="Times New Roman"/>
                        <a:cs typeface="Times New Roman"/>
                        <a:sym typeface="Times New Roman"/>
                      </a:endParaRPr>
                    </a:p>
                  </a:txBody>
                  <a:tcPr marL="6350" marR="6350" marT="6350" marB="0" anchor="ctr"/>
                </a:tc>
                <a:tc>
                  <a:txBody>
                    <a:bodyPr/>
                    <a:lstStyle/>
                    <a:p>
                      <a:pPr marL="0" marR="0" lvl="0" indent="0" algn="l"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 Yes</a:t>
                      </a:r>
                      <a:endParaRPr sz="1800" b="0" i="0" u="none" strike="noStrike" cap="none">
                        <a:solidFill>
                          <a:srgbClr val="000000"/>
                        </a:solidFill>
                        <a:latin typeface="Times New Roman"/>
                        <a:ea typeface="Times New Roman"/>
                        <a:cs typeface="Times New Roman"/>
                        <a:sym typeface="Times New Roman"/>
                      </a:endParaRPr>
                    </a:p>
                  </a:txBody>
                  <a:tcPr marL="6350" marR="6350" marT="6350" marB="0" anchor="ctr"/>
                </a:tc>
                <a:tc>
                  <a:txBody>
                    <a:bodyPr/>
                    <a:lstStyle/>
                    <a:p>
                      <a:pPr marL="0" marR="0" lvl="0" indent="0" algn="l"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No unauthorized modifications were made to the funds.</a:t>
                      </a:r>
                      <a:endParaRPr sz="1800" b="0" i="0" u="none" strike="noStrike" cap="none">
                        <a:solidFill>
                          <a:srgbClr val="000000"/>
                        </a:solidFill>
                        <a:latin typeface="Times New Roman"/>
                        <a:ea typeface="Times New Roman"/>
                        <a:cs typeface="Times New Roman"/>
                        <a:sym typeface="Times New Roman"/>
                      </a:endParaRPr>
                    </a:p>
                  </a:txBody>
                  <a:tcPr marL="6350" marR="6350" marT="6350" marB="0" anchor="ctr"/>
                </a:tc>
              </a:tr>
              <a:tr h="809325">
                <a:tc>
                  <a:txBody>
                    <a:bodyPr/>
                    <a:lstStyle/>
                    <a:p>
                      <a:pPr marL="0" marR="0" lvl="0" indent="0" algn="l"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Availability</a:t>
                      </a:r>
                      <a:endParaRPr sz="1800" b="1" i="0" u="none" strike="noStrike" cap="none">
                        <a:solidFill>
                          <a:srgbClr val="000000"/>
                        </a:solidFill>
                        <a:latin typeface="Times New Roman"/>
                        <a:ea typeface="Times New Roman"/>
                        <a:cs typeface="Times New Roman"/>
                        <a:sym typeface="Times New Roman"/>
                      </a:endParaRPr>
                    </a:p>
                  </a:txBody>
                  <a:tcPr marL="6350" marR="6350" marT="6350" marB="0" anchor="ctr"/>
                </a:tc>
                <a:tc>
                  <a:txBody>
                    <a:bodyPr/>
                    <a:lstStyle/>
                    <a:p>
                      <a:pPr marL="0" marR="0" lvl="0" indent="0" algn="l"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 No</a:t>
                      </a:r>
                      <a:endParaRPr sz="1800" b="0" i="0" u="none" strike="noStrike" cap="none">
                        <a:solidFill>
                          <a:srgbClr val="000000"/>
                        </a:solidFill>
                        <a:latin typeface="Times New Roman"/>
                        <a:ea typeface="Times New Roman"/>
                        <a:cs typeface="Times New Roman"/>
                        <a:sym typeface="Times New Roman"/>
                      </a:endParaRPr>
                    </a:p>
                  </a:txBody>
                  <a:tcPr marL="6350" marR="6350" marT="6350" marB="0" anchor="ctr"/>
                </a:tc>
                <a:tc>
                  <a:txBody>
                    <a:bodyPr/>
                    <a:lstStyle/>
                    <a:p>
                      <a:pPr marL="0" marR="0" lvl="0" indent="0" algn="l"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The funds were permanently inaccessible due to the loss of private keys.</a:t>
                      </a:r>
                      <a:endParaRPr sz="1800" b="0" i="0" u="none" strike="noStrike" cap="none">
                        <a:solidFill>
                          <a:srgbClr val="000000"/>
                        </a:solidFill>
                        <a:latin typeface="Times New Roman"/>
                        <a:ea typeface="Times New Roman"/>
                        <a:cs typeface="Times New Roman"/>
                        <a:sym typeface="Times New Roman"/>
                      </a:endParaRPr>
                    </a:p>
                  </a:txBody>
                  <a:tcPr marL="6350" marR="6350" marT="6350" marB="0" anchor="ctr"/>
                </a:tc>
              </a:tr>
              <a:tr h="809325">
                <a:tc>
                  <a:txBody>
                    <a:bodyPr/>
                    <a:lstStyle/>
                    <a:p>
                      <a:pPr marL="0" marR="0" lvl="0" indent="0" algn="l"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Authentication</a:t>
                      </a:r>
                      <a:endParaRPr sz="1800" b="1" i="0" u="none" strike="noStrike" cap="none">
                        <a:solidFill>
                          <a:srgbClr val="000000"/>
                        </a:solidFill>
                        <a:latin typeface="Times New Roman"/>
                        <a:ea typeface="Times New Roman"/>
                        <a:cs typeface="Times New Roman"/>
                        <a:sym typeface="Times New Roman"/>
                      </a:endParaRPr>
                    </a:p>
                  </a:txBody>
                  <a:tcPr marL="6350" marR="6350" marT="6350" marB="0" anchor="ctr"/>
                </a:tc>
                <a:tc>
                  <a:txBody>
                    <a:bodyPr/>
                    <a:lstStyle/>
                    <a:p>
                      <a:pPr marL="0" marR="0" lvl="0" indent="0" algn="l"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 Yes</a:t>
                      </a:r>
                      <a:endParaRPr sz="1800" b="0" i="0" u="none" strike="noStrike" cap="none">
                        <a:solidFill>
                          <a:srgbClr val="000000"/>
                        </a:solidFill>
                        <a:latin typeface="Times New Roman"/>
                        <a:ea typeface="Times New Roman"/>
                        <a:cs typeface="Times New Roman"/>
                        <a:sym typeface="Times New Roman"/>
                      </a:endParaRPr>
                    </a:p>
                  </a:txBody>
                  <a:tcPr marL="6350" marR="6350" marT="6350" marB="0" anchor="ctr"/>
                </a:tc>
                <a:tc>
                  <a:txBody>
                    <a:bodyPr/>
                    <a:lstStyle/>
                    <a:p>
                      <a:pPr marL="0" marR="0" lvl="0" indent="0" algn="l"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Only Cotten had access, preventing unauthorized access.</a:t>
                      </a:r>
                      <a:endParaRPr sz="1800" b="0" i="0" u="none" strike="noStrike" cap="none">
                        <a:solidFill>
                          <a:srgbClr val="000000"/>
                        </a:solidFill>
                        <a:latin typeface="Times New Roman"/>
                        <a:ea typeface="Times New Roman"/>
                        <a:cs typeface="Times New Roman"/>
                        <a:sym typeface="Times New Roman"/>
                      </a:endParaRPr>
                    </a:p>
                  </a:txBody>
                  <a:tcPr marL="6350" marR="6350" marT="6350" marB="0" anchor="ctr"/>
                </a:tc>
              </a:tr>
              <a:tr h="1214000">
                <a:tc>
                  <a:txBody>
                    <a:bodyPr/>
                    <a:lstStyle/>
                    <a:p>
                      <a:pPr marL="0" marR="0" lvl="0" indent="0" algn="l"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Non-Repudiation</a:t>
                      </a:r>
                      <a:endParaRPr sz="1800" b="1" i="0" u="none" strike="noStrike" cap="none">
                        <a:solidFill>
                          <a:srgbClr val="000000"/>
                        </a:solidFill>
                        <a:latin typeface="Times New Roman"/>
                        <a:ea typeface="Times New Roman"/>
                        <a:cs typeface="Times New Roman"/>
                        <a:sym typeface="Times New Roman"/>
                      </a:endParaRPr>
                    </a:p>
                  </a:txBody>
                  <a:tcPr marL="6350" marR="6350" marT="6350" marB="0" anchor="ctr"/>
                </a:tc>
                <a:tc>
                  <a:txBody>
                    <a:bodyPr/>
                    <a:lstStyle/>
                    <a:p>
                      <a:pPr marL="0" marR="0" lvl="0" indent="0" algn="l"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 No</a:t>
                      </a:r>
                      <a:endParaRPr sz="1800" b="0" i="0" u="none" strike="noStrike" cap="none">
                        <a:solidFill>
                          <a:srgbClr val="000000"/>
                        </a:solidFill>
                        <a:latin typeface="Times New Roman"/>
                        <a:ea typeface="Times New Roman"/>
                        <a:cs typeface="Times New Roman"/>
                        <a:sym typeface="Times New Roman"/>
                      </a:endParaRPr>
                    </a:p>
                  </a:txBody>
                  <a:tcPr marL="6350" marR="6350" marT="6350" marB="0" anchor="ctr"/>
                </a:tc>
                <a:tc>
                  <a:txBody>
                    <a:bodyPr/>
                    <a:lstStyle/>
                    <a:p>
                      <a:pPr marL="0" marR="0" lvl="0" indent="0" algn="l"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No formal recovery mechanism existed to prove ownership or retrieve the funds.</a:t>
                      </a:r>
                      <a:endParaRPr sz="1800" b="0" i="0" u="none" strike="noStrike" cap="none">
                        <a:solidFill>
                          <a:srgbClr val="000000"/>
                        </a:solidFill>
                        <a:latin typeface="Times New Roman"/>
                        <a:ea typeface="Times New Roman"/>
                        <a:cs typeface="Times New Roman"/>
                        <a:sym typeface="Times New Roman"/>
                      </a:endParaRPr>
                    </a:p>
                  </a:txBody>
                  <a:tcPr marL="6350" marR="6350" marT="6350" marB="0" anchor="ct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62"/>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en-US"/>
              <a:t>Ms. Swati Mali</a:t>
            </a:r>
            <a:endParaRPr/>
          </a:p>
        </p:txBody>
      </p:sp>
      <p:sp>
        <p:nvSpPr>
          <p:cNvPr id="306" name="Google Shape;306;p62"/>
          <p:cNvSpPr txBox="1">
            <a:spLocks noGrp="1"/>
          </p:cNvSpPr>
          <p:nvPr>
            <p:ph type="title"/>
          </p:nvPr>
        </p:nvSpPr>
        <p:spPr>
          <a:xfrm>
            <a:off x="817323" y="214817"/>
            <a:ext cx="7402883" cy="874951"/>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930B0B"/>
              </a:buClr>
              <a:buSzPts val="3600"/>
              <a:buFont typeface="Times New Roman"/>
              <a:buNone/>
            </a:pPr>
            <a:endParaRPr/>
          </a:p>
        </p:txBody>
      </p:sp>
      <p:graphicFrame>
        <p:nvGraphicFramePr>
          <p:cNvPr id="307" name="Google Shape;307;p62"/>
          <p:cNvGraphicFramePr/>
          <p:nvPr/>
        </p:nvGraphicFramePr>
        <p:xfrm>
          <a:off x="623455" y="1250084"/>
          <a:ext cx="8167250" cy="4787075"/>
        </p:xfrm>
        <a:graphic>
          <a:graphicData uri="http://schemas.openxmlformats.org/drawingml/2006/table">
            <a:tbl>
              <a:tblPr>
                <a:noFill/>
                <a:tableStyleId>{708E9160-7032-41F5-802E-B7FD925B90A3}</a:tableStyleId>
              </a:tblPr>
              <a:tblGrid>
                <a:gridCol w="1589800"/>
                <a:gridCol w="1298875"/>
                <a:gridCol w="5278575"/>
              </a:tblGrid>
              <a:tr h="597825">
                <a:tc>
                  <a:txBody>
                    <a:bodyPr/>
                    <a:lstStyle/>
                    <a:p>
                      <a:pPr marL="0" marR="0" lvl="0" indent="0" algn="ctr"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Attack</a:t>
                      </a:r>
                      <a:endParaRPr sz="1800" b="1" i="0" u="none" strike="noStrike" cap="none">
                        <a:solidFill>
                          <a:srgbClr val="000000"/>
                        </a:solidFill>
                        <a:latin typeface="Times New Roman"/>
                        <a:ea typeface="Times New Roman"/>
                        <a:cs typeface="Times New Roman"/>
                        <a:sym typeface="Times New Roman"/>
                      </a:endParaRPr>
                    </a:p>
                  </a:txBody>
                  <a:tcPr marL="6350" marR="6350" marT="6350" marB="0" anchor="ctr"/>
                </a:tc>
                <a:tc>
                  <a:txBody>
                    <a:bodyPr/>
                    <a:lstStyle/>
                    <a:p>
                      <a:pPr marL="0" marR="0" lvl="0" indent="0" algn="ctr"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Possible?</a:t>
                      </a:r>
                      <a:endParaRPr sz="1800" b="1" i="0" u="none" strike="noStrike" cap="none">
                        <a:solidFill>
                          <a:srgbClr val="000000"/>
                        </a:solidFill>
                        <a:latin typeface="Times New Roman"/>
                        <a:ea typeface="Times New Roman"/>
                        <a:cs typeface="Times New Roman"/>
                        <a:sym typeface="Times New Roman"/>
                      </a:endParaRPr>
                    </a:p>
                  </a:txBody>
                  <a:tcPr marL="6350" marR="6350" marT="6350" marB="0" anchor="ctr"/>
                </a:tc>
                <a:tc>
                  <a:txBody>
                    <a:bodyPr/>
                    <a:lstStyle/>
                    <a:p>
                      <a:pPr marL="0" marR="0" lvl="0" indent="0" algn="ctr"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Explanation</a:t>
                      </a:r>
                      <a:endParaRPr sz="1800" b="1" i="0" u="none" strike="noStrike" cap="none">
                        <a:solidFill>
                          <a:srgbClr val="000000"/>
                        </a:solidFill>
                        <a:latin typeface="Times New Roman"/>
                        <a:ea typeface="Times New Roman"/>
                        <a:cs typeface="Times New Roman"/>
                        <a:sym typeface="Times New Roman"/>
                      </a:endParaRPr>
                    </a:p>
                  </a:txBody>
                  <a:tcPr marL="6350" marR="6350" marT="6350" marB="0" anchor="ctr"/>
                </a:tc>
              </a:tr>
              <a:tr h="644500">
                <a:tc>
                  <a:txBody>
                    <a:bodyPr/>
                    <a:lstStyle/>
                    <a:p>
                      <a:pPr marL="0" marR="0" lvl="0" indent="0" algn="l"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Single Point of Failure</a:t>
                      </a:r>
                      <a:endParaRPr sz="1800" b="1" i="0" u="none" strike="noStrike" cap="none">
                        <a:solidFill>
                          <a:srgbClr val="000000"/>
                        </a:solidFill>
                        <a:latin typeface="Times New Roman"/>
                        <a:ea typeface="Times New Roman"/>
                        <a:cs typeface="Times New Roman"/>
                        <a:sym typeface="Times New Roman"/>
                      </a:endParaRPr>
                    </a:p>
                  </a:txBody>
                  <a:tcPr marL="6350" marR="6350" marT="6350" marB="0" anchor="ctr"/>
                </a:tc>
                <a:tc>
                  <a:txBody>
                    <a:bodyPr/>
                    <a:lstStyle/>
                    <a:p>
                      <a:pPr marL="0" marR="0" lvl="0" indent="0" algn="l"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 Yes</a:t>
                      </a:r>
                      <a:endParaRPr sz="1800" b="0" i="0" u="none" strike="noStrike" cap="none">
                        <a:solidFill>
                          <a:srgbClr val="000000"/>
                        </a:solidFill>
                        <a:latin typeface="Times New Roman"/>
                        <a:ea typeface="Times New Roman"/>
                        <a:cs typeface="Times New Roman"/>
                        <a:sym typeface="Times New Roman"/>
                      </a:endParaRPr>
                    </a:p>
                  </a:txBody>
                  <a:tcPr marL="6350" marR="6350" marT="6350" marB="0" anchor="ctr"/>
                </a:tc>
                <a:tc>
                  <a:txBody>
                    <a:bodyPr/>
                    <a:lstStyle/>
                    <a:p>
                      <a:pPr marL="0" marR="0" lvl="0" indent="0" algn="l"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Cotten was the only key holder, creating a centralized risk in a decentralized system.</a:t>
                      </a:r>
                      <a:endParaRPr sz="1800" b="0" i="0" u="none" strike="noStrike" cap="none">
                        <a:solidFill>
                          <a:srgbClr val="000000"/>
                        </a:solidFill>
                        <a:latin typeface="Times New Roman"/>
                        <a:ea typeface="Times New Roman"/>
                        <a:cs typeface="Times New Roman"/>
                        <a:sym typeface="Times New Roman"/>
                      </a:endParaRPr>
                    </a:p>
                  </a:txBody>
                  <a:tcPr marL="6350" marR="6350" marT="6350" marB="0" anchor="ctr"/>
                </a:tc>
              </a:tr>
              <a:tr h="644500">
                <a:tc>
                  <a:txBody>
                    <a:bodyPr/>
                    <a:lstStyle/>
                    <a:p>
                      <a:pPr marL="0" marR="0" lvl="0" indent="0" algn="l"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Social Engineering</a:t>
                      </a:r>
                      <a:endParaRPr sz="1800" b="1" i="0" u="none" strike="noStrike" cap="none">
                        <a:solidFill>
                          <a:srgbClr val="000000"/>
                        </a:solidFill>
                        <a:latin typeface="Times New Roman"/>
                        <a:ea typeface="Times New Roman"/>
                        <a:cs typeface="Times New Roman"/>
                        <a:sym typeface="Times New Roman"/>
                      </a:endParaRPr>
                    </a:p>
                  </a:txBody>
                  <a:tcPr marL="6350" marR="6350" marT="6350" marB="0" anchor="ctr"/>
                </a:tc>
                <a:tc>
                  <a:txBody>
                    <a:bodyPr/>
                    <a:lstStyle/>
                    <a:p>
                      <a:pPr marL="0" marR="0" lvl="0" indent="0" algn="l"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 Possible</a:t>
                      </a:r>
                      <a:endParaRPr sz="1800" b="0" i="0" u="none" strike="noStrike" cap="none">
                        <a:solidFill>
                          <a:srgbClr val="000000"/>
                        </a:solidFill>
                        <a:latin typeface="Times New Roman"/>
                        <a:ea typeface="Times New Roman"/>
                        <a:cs typeface="Times New Roman"/>
                        <a:sym typeface="Times New Roman"/>
                      </a:endParaRPr>
                    </a:p>
                  </a:txBody>
                  <a:tcPr marL="6350" marR="6350" marT="6350" marB="0" anchor="ctr"/>
                </a:tc>
                <a:tc>
                  <a:txBody>
                    <a:bodyPr/>
                    <a:lstStyle/>
                    <a:p>
                      <a:pPr marL="0" marR="0" lvl="0" indent="0" algn="l"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If Cotten shared keys with someone, they could steal the funds.</a:t>
                      </a:r>
                      <a:endParaRPr sz="1800" b="0" i="0" u="none" strike="noStrike" cap="none">
                        <a:solidFill>
                          <a:srgbClr val="000000"/>
                        </a:solidFill>
                        <a:latin typeface="Times New Roman"/>
                        <a:ea typeface="Times New Roman"/>
                        <a:cs typeface="Times New Roman"/>
                        <a:sym typeface="Times New Roman"/>
                      </a:endParaRPr>
                    </a:p>
                  </a:txBody>
                  <a:tcPr marL="6350" marR="6350" marT="6350" marB="0" anchor="ctr"/>
                </a:tc>
              </a:tr>
              <a:tr h="966750">
                <a:tc>
                  <a:txBody>
                    <a:bodyPr/>
                    <a:lstStyle/>
                    <a:p>
                      <a:pPr marL="0" marR="0" lvl="0" indent="0" algn="l"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Key Management Failure</a:t>
                      </a:r>
                      <a:endParaRPr sz="1800" b="1" i="0" u="none" strike="noStrike" cap="none">
                        <a:solidFill>
                          <a:srgbClr val="000000"/>
                        </a:solidFill>
                        <a:latin typeface="Times New Roman"/>
                        <a:ea typeface="Times New Roman"/>
                        <a:cs typeface="Times New Roman"/>
                        <a:sym typeface="Times New Roman"/>
                      </a:endParaRPr>
                    </a:p>
                  </a:txBody>
                  <a:tcPr marL="6350" marR="6350" marT="6350" marB="0" anchor="ctr"/>
                </a:tc>
                <a:tc>
                  <a:txBody>
                    <a:bodyPr/>
                    <a:lstStyle/>
                    <a:p>
                      <a:pPr marL="0" marR="0" lvl="0" indent="0" algn="l"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 Yes</a:t>
                      </a:r>
                      <a:endParaRPr sz="1800" b="0" i="0" u="none" strike="noStrike" cap="none">
                        <a:solidFill>
                          <a:srgbClr val="000000"/>
                        </a:solidFill>
                        <a:latin typeface="Times New Roman"/>
                        <a:ea typeface="Times New Roman"/>
                        <a:cs typeface="Times New Roman"/>
                        <a:sym typeface="Times New Roman"/>
                      </a:endParaRPr>
                    </a:p>
                  </a:txBody>
                  <a:tcPr marL="6350" marR="6350" marT="6350" marB="0" anchor="ctr"/>
                </a:tc>
                <a:tc>
                  <a:txBody>
                    <a:bodyPr/>
                    <a:lstStyle/>
                    <a:p>
                      <a:pPr marL="0" marR="0" lvl="0" indent="0" algn="l"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No key escrow or backup system was in place.</a:t>
                      </a:r>
                      <a:endParaRPr sz="1800" b="0" i="0" u="none" strike="noStrike" cap="none">
                        <a:solidFill>
                          <a:srgbClr val="000000"/>
                        </a:solidFill>
                        <a:latin typeface="Times New Roman"/>
                        <a:ea typeface="Times New Roman"/>
                        <a:cs typeface="Times New Roman"/>
                        <a:sym typeface="Times New Roman"/>
                      </a:endParaRPr>
                    </a:p>
                  </a:txBody>
                  <a:tcPr marL="6350" marR="6350" marT="6350" marB="0" anchor="ctr"/>
                </a:tc>
              </a:tr>
              <a:tr h="644500">
                <a:tc>
                  <a:txBody>
                    <a:bodyPr/>
                    <a:lstStyle/>
                    <a:p>
                      <a:pPr marL="0" marR="0" lvl="0" indent="0" algn="l"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Phishing Attack</a:t>
                      </a:r>
                      <a:endParaRPr sz="1800" b="1" i="0" u="none" strike="noStrike" cap="none">
                        <a:solidFill>
                          <a:srgbClr val="000000"/>
                        </a:solidFill>
                        <a:latin typeface="Times New Roman"/>
                        <a:ea typeface="Times New Roman"/>
                        <a:cs typeface="Times New Roman"/>
                        <a:sym typeface="Times New Roman"/>
                      </a:endParaRPr>
                    </a:p>
                  </a:txBody>
                  <a:tcPr marL="6350" marR="6350" marT="6350" marB="0" anchor="ctr"/>
                </a:tc>
                <a:tc>
                  <a:txBody>
                    <a:bodyPr/>
                    <a:lstStyle/>
                    <a:p>
                      <a:pPr marL="0" marR="0" lvl="0" indent="0" algn="l"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 No</a:t>
                      </a:r>
                      <a:endParaRPr sz="1800" b="0" i="0" u="none" strike="noStrike" cap="none">
                        <a:solidFill>
                          <a:srgbClr val="000000"/>
                        </a:solidFill>
                        <a:latin typeface="Times New Roman"/>
                        <a:ea typeface="Times New Roman"/>
                        <a:cs typeface="Times New Roman"/>
                        <a:sym typeface="Times New Roman"/>
                      </a:endParaRPr>
                    </a:p>
                  </a:txBody>
                  <a:tcPr marL="6350" marR="6350" marT="6350" marB="0" anchor="ctr"/>
                </a:tc>
                <a:tc>
                  <a:txBody>
                    <a:bodyPr/>
                    <a:lstStyle/>
                    <a:p>
                      <a:pPr marL="0" marR="0" lvl="0" indent="0" algn="l"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Since Cotten stored keys offline, online phishing was unlikely.</a:t>
                      </a:r>
                      <a:endParaRPr sz="1800" b="0" i="0" u="none" strike="noStrike" cap="none">
                        <a:solidFill>
                          <a:srgbClr val="000000"/>
                        </a:solidFill>
                        <a:latin typeface="Times New Roman"/>
                        <a:ea typeface="Times New Roman"/>
                        <a:cs typeface="Times New Roman"/>
                        <a:sym typeface="Times New Roman"/>
                      </a:endParaRPr>
                    </a:p>
                  </a:txBody>
                  <a:tcPr marL="6350" marR="6350" marT="6350" marB="0" anchor="ctr"/>
                </a:tc>
              </a:tr>
              <a:tr h="644500">
                <a:tc>
                  <a:txBody>
                    <a:bodyPr/>
                    <a:lstStyle/>
                    <a:p>
                      <a:pPr marL="0" marR="0" lvl="0" indent="0" algn="l"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Brute Force Attack</a:t>
                      </a:r>
                      <a:endParaRPr sz="1800" b="1" i="0" u="none" strike="noStrike" cap="none">
                        <a:solidFill>
                          <a:srgbClr val="000000"/>
                        </a:solidFill>
                        <a:latin typeface="Times New Roman"/>
                        <a:ea typeface="Times New Roman"/>
                        <a:cs typeface="Times New Roman"/>
                        <a:sym typeface="Times New Roman"/>
                      </a:endParaRPr>
                    </a:p>
                  </a:txBody>
                  <a:tcPr marL="6350" marR="6350" marT="6350" marB="0" anchor="ctr"/>
                </a:tc>
                <a:tc>
                  <a:txBody>
                    <a:bodyPr/>
                    <a:lstStyle/>
                    <a:p>
                      <a:pPr marL="0" marR="0" lvl="0" indent="0" algn="l"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 No</a:t>
                      </a:r>
                      <a:endParaRPr sz="1800" b="0" i="0" u="none" strike="noStrike" cap="none">
                        <a:solidFill>
                          <a:srgbClr val="000000"/>
                        </a:solidFill>
                        <a:latin typeface="Times New Roman"/>
                        <a:ea typeface="Times New Roman"/>
                        <a:cs typeface="Times New Roman"/>
                        <a:sym typeface="Times New Roman"/>
                      </a:endParaRPr>
                    </a:p>
                  </a:txBody>
                  <a:tcPr marL="6350" marR="6350" marT="6350" marB="0" anchor="ctr"/>
                </a:tc>
                <a:tc>
                  <a:txBody>
                    <a:bodyPr/>
                    <a:lstStyle/>
                    <a:p>
                      <a:pPr marL="0" marR="0" lvl="0" indent="0" algn="l"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Strong cryptographic security made brute-force attempts impractical.</a:t>
                      </a:r>
                      <a:endParaRPr sz="1800" b="0" i="0" u="none" strike="noStrike" cap="none">
                        <a:solidFill>
                          <a:srgbClr val="000000"/>
                        </a:solidFill>
                        <a:latin typeface="Times New Roman"/>
                        <a:ea typeface="Times New Roman"/>
                        <a:cs typeface="Times New Roman"/>
                        <a:sym typeface="Times New Roman"/>
                      </a:endParaRPr>
                    </a:p>
                  </a:txBody>
                  <a:tcPr marL="6350" marR="6350" marT="6350" marB="0" anchor="ctr"/>
                </a:tc>
              </a:tr>
              <a:tr h="644500">
                <a:tc>
                  <a:txBody>
                    <a:bodyPr/>
                    <a:lstStyle/>
                    <a:p>
                      <a:pPr marL="0" marR="0" lvl="0" indent="0" algn="l"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Insider Attack</a:t>
                      </a:r>
                      <a:endParaRPr sz="1800" b="1" i="0" u="none" strike="noStrike" cap="none">
                        <a:solidFill>
                          <a:srgbClr val="000000"/>
                        </a:solidFill>
                        <a:latin typeface="Times New Roman"/>
                        <a:ea typeface="Times New Roman"/>
                        <a:cs typeface="Times New Roman"/>
                        <a:sym typeface="Times New Roman"/>
                      </a:endParaRPr>
                    </a:p>
                  </a:txBody>
                  <a:tcPr marL="6350" marR="6350" marT="6350" marB="0" anchor="ctr"/>
                </a:tc>
                <a:tc>
                  <a:txBody>
                    <a:bodyPr/>
                    <a:lstStyle/>
                    <a:p>
                      <a:pPr marL="0" marR="0" lvl="0" indent="0" algn="l"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 Possible</a:t>
                      </a:r>
                      <a:endParaRPr sz="1800" b="0" i="0" u="none" strike="noStrike" cap="none">
                        <a:solidFill>
                          <a:srgbClr val="000000"/>
                        </a:solidFill>
                        <a:latin typeface="Times New Roman"/>
                        <a:ea typeface="Times New Roman"/>
                        <a:cs typeface="Times New Roman"/>
                        <a:sym typeface="Times New Roman"/>
                      </a:endParaRPr>
                    </a:p>
                  </a:txBody>
                  <a:tcPr marL="6350" marR="6350" marT="6350" marB="0" anchor="ctr"/>
                </a:tc>
                <a:tc>
                  <a:txBody>
                    <a:bodyPr/>
                    <a:lstStyle/>
                    <a:p>
                      <a:pPr marL="0" marR="0" lvl="0" indent="0" algn="l"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If someone had access to Cotten’s encrypted backups, they could attempt to recover the funds.</a:t>
                      </a:r>
                      <a:endParaRPr sz="1800" b="0" i="0" u="none" strike="noStrike" cap="none">
                        <a:solidFill>
                          <a:srgbClr val="000000"/>
                        </a:solidFill>
                        <a:latin typeface="Times New Roman"/>
                        <a:ea typeface="Times New Roman"/>
                        <a:cs typeface="Times New Roman"/>
                        <a:sym typeface="Times New Roman"/>
                      </a:endParaRPr>
                    </a:p>
                  </a:txBody>
                  <a:tcPr marL="6350" marR="6350" marT="6350" marB="0" anchor="ct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p6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4400"/>
              <a:buFont typeface="Calibri"/>
              <a:buNone/>
            </a:pPr>
            <a:r>
              <a:rPr lang="en-US">
                <a:solidFill>
                  <a:srgbClr val="C00000"/>
                </a:solidFill>
              </a:rPr>
              <a:t>Real life cases of security violation and how they could have been prevented…</a:t>
            </a:r>
            <a:endParaRPr>
              <a:solidFill>
                <a:srgbClr val="C00000"/>
              </a:solidFill>
            </a:endParaRPr>
          </a:p>
        </p:txBody>
      </p:sp>
      <p:sp>
        <p:nvSpPr>
          <p:cNvPr id="313" name="Google Shape;313;p63"/>
          <p:cNvSpPr txBox="1">
            <a:spLocks noGrp="1"/>
          </p:cNvSpPr>
          <p:nvPr>
            <p:ph type="subTitle" idx="1"/>
          </p:nvPr>
        </p:nvSpPr>
        <p:spPr>
          <a:xfrm>
            <a:off x="685800" y="3886200"/>
            <a:ext cx="7086600" cy="17526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1000"/>
              </a:spcBef>
              <a:spcAft>
                <a:spcPts val="0"/>
              </a:spcAft>
              <a:buClr>
                <a:schemeClr val="dk1"/>
              </a:buClr>
              <a:buSzPts val="2800"/>
              <a:buFont typeface="Noto Sans Symbols"/>
              <a:buNone/>
            </a:pPr>
            <a:endParaRPr/>
          </a:p>
        </p:txBody>
      </p:sp>
      <p:sp>
        <p:nvSpPr>
          <p:cNvPr id="314" name="Google Shape;314;p63"/>
          <p:cNvSpPr txBox="1">
            <a:spLocks noGrp="1"/>
          </p:cNvSpPr>
          <p:nvPr>
            <p:ph type="ftr" idx="11"/>
          </p:nvPr>
        </p:nvSpPr>
        <p:spPr>
          <a:xfrm>
            <a:off x="0" y="6356350"/>
            <a:ext cx="3086100" cy="3651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Ms. Swati Mali</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64"/>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en-US"/>
              <a:t>Ms. Swati Mali</a:t>
            </a:r>
            <a:endParaRPr/>
          </a:p>
        </p:txBody>
      </p:sp>
      <p:sp>
        <p:nvSpPr>
          <p:cNvPr id="320" name="Google Shape;320;p64"/>
          <p:cNvSpPr txBox="1">
            <a:spLocks noGrp="1"/>
          </p:cNvSpPr>
          <p:nvPr>
            <p:ph type="title"/>
          </p:nvPr>
        </p:nvSpPr>
        <p:spPr>
          <a:xfrm>
            <a:off x="817323" y="214817"/>
            <a:ext cx="7402883" cy="874951"/>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930B0B"/>
              </a:buClr>
              <a:buSzPts val="3600"/>
              <a:buFont typeface="Times New Roman"/>
              <a:buNone/>
            </a:pPr>
            <a:r>
              <a:rPr lang="en-US" b="1"/>
              <a:t>The Uber vs. Waymo Case (2017)</a:t>
            </a:r>
            <a:endParaRPr/>
          </a:p>
        </p:txBody>
      </p:sp>
      <p:sp>
        <p:nvSpPr>
          <p:cNvPr id="321" name="Google Shape;321;p64"/>
          <p:cNvSpPr txBox="1">
            <a:spLocks noGrp="1"/>
          </p:cNvSpPr>
          <p:nvPr>
            <p:ph type="body" idx="1"/>
          </p:nvPr>
        </p:nvSpPr>
        <p:spPr>
          <a:xfrm>
            <a:off x="700004" y="1324629"/>
            <a:ext cx="8229600" cy="4525963"/>
          </a:xfrm>
          <a:prstGeom prst="rect">
            <a:avLst/>
          </a:prstGeom>
          <a:noFill/>
          <a:ln>
            <a:noFill/>
          </a:ln>
        </p:spPr>
        <p:txBody>
          <a:bodyPr spcFirstLastPara="1" wrap="square" lIns="91425" tIns="45700" rIns="91425" bIns="45700" anchor="t" anchorCtr="0">
            <a:normAutofit lnSpcReduction="10000"/>
          </a:bodyPr>
          <a:lstStyle/>
          <a:p>
            <a:pPr marL="457200" marR="0" lvl="0" indent="-406400" algn="l" rtl="0">
              <a:lnSpc>
                <a:spcPct val="90000"/>
              </a:lnSpc>
              <a:spcBef>
                <a:spcPts val="1000"/>
              </a:spcBef>
              <a:spcAft>
                <a:spcPts val="0"/>
              </a:spcAft>
              <a:buClr>
                <a:schemeClr val="dk1"/>
              </a:buClr>
              <a:buSzPts val="2800"/>
              <a:buFont typeface="Arial"/>
              <a:buChar char="•"/>
            </a:pPr>
            <a:r>
              <a:rPr lang="en-US"/>
              <a:t>Anthony Levandowski, a former engineer at Google’s self-driving car division (Waymo), downloaded 14,000 confidential files before leaving the company.</a:t>
            </a:r>
            <a:endParaRPr/>
          </a:p>
          <a:p>
            <a:pPr marL="457200" marR="0" lvl="0" indent="-406400" algn="l" rtl="0">
              <a:lnSpc>
                <a:spcPct val="90000"/>
              </a:lnSpc>
              <a:spcBef>
                <a:spcPts val="1000"/>
              </a:spcBef>
              <a:spcAft>
                <a:spcPts val="0"/>
              </a:spcAft>
              <a:buClr>
                <a:schemeClr val="dk1"/>
              </a:buClr>
              <a:buSzPts val="2800"/>
              <a:buFont typeface="Arial"/>
              <a:buChar char="•"/>
            </a:pPr>
            <a:r>
              <a:rPr lang="en-US"/>
              <a:t>He started his own self-driving truck company, Otto, which was later acquired by Uber.</a:t>
            </a:r>
            <a:endParaRPr/>
          </a:p>
          <a:p>
            <a:pPr marL="457200" marR="0" lvl="0" indent="-406400" algn="l" rtl="0">
              <a:lnSpc>
                <a:spcPct val="90000"/>
              </a:lnSpc>
              <a:spcBef>
                <a:spcPts val="1000"/>
              </a:spcBef>
              <a:spcAft>
                <a:spcPts val="0"/>
              </a:spcAft>
              <a:buClr>
                <a:schemeClr val="dk1"/>
              </a:buClr>
              <a:buSzPts val="2800"/>
              <a:buFont typeface="Arial"/>
              <a:buChar char="•"/>
            </a:pPr>
            <a:r>
              <a:rPr lang="en-US"/>
              <a:t>Waymo sued Uber for stealing trade secrets related to LiDAR technology (a key self-driving component).</a:t>
            </a:r>
            <a:endParaRPr/>
          </a:p>
          <a:p>
            <a:pPr marL="457200" marR="0" lvl="0" indent="-406400" algn="l" rtl="0">
              <a:lnSpc>
                <a:spcPct val="90000"/>
              </a:lnSpc>
              <a:spcBef>
                <a:spcPts val="1000"/>
              </a:spcBef>
              <a:spcAft>
                <a:spcPts val="0"/>
              </a:spcAft>
              <a:buClr>
                <a:schemeClr val="dk1"/>
              </a:buClr>
              <a:buSzPts val="2800"/>
              <a:buFont typeface="Arial"/>
              <a:buChar char="•"/>
            </a:pPr>
            <a:r>
              <a:rPr lang="en-US" b="1"/>
              <a:t>Uber settled for $245 million in stocks after a legal battle.</a:t>
            </a:r>
            <a:endParaRPr/>
          </a:p>
          <a:p>
            <a:pPr marL="457200" marR="0" lvl="0" indent="-228600" algn="l" rtl="0">
              <a:lnSpc>
                <a:spcPct val="90000"/>
              </a:lnSpc>
              <a:spcBef>
                <a:spcPts val="1000"/>
              </a:spcBef>
              <a:spcAft>
                <a:spcPts val="0"/>
              </a:spcAft>
              <a:buClr>
                <a:schemeClr val="dk1"/>
              </a:buClr>
              <a:buSzPts val="2800"/>
              <a:buFont typeface="Arial"/>
              <a:buNone/>
            </a:pP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65"/>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en-US"/>
              <a:t>Ms. Swati Mali</a:t>
            </a:r>
            <a:endParaRPr/>
          </a:p>
        </p:txBody>
      </p:sp>
      <p:sp>
        <p:nvSpPr>
          <p:cNvPr id="327" name="Google Shape;327;p65"/>
          <p:cNvSpPr txBox="1">
            <a:spLocks noGrp="1"/>
          </p:cNvSpPr>
          <p:nvPr>
            <p:ph type="title"/>
          </p:nvPr>
        </p:nvSpPr>
        <p:spPr>
          <a:xfrm>
            <a:off x="817323" y="214817"/>
            <a:ext cx="7402883" cy="874951"/>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930B0B"/>
              </a:buClr>
              <a:buSzPts val="3600"/>
              <a:buFont typeface="Times New Roman"/>
              <a:buNone/>
            </a:pPr>
            <a:r>
              <a:rPr lang="en-US"/>
              <a:t>Probable solutions</a:t>
            </a:r>
            <a:endParaRPr/>
          </a:p>
        </p:txBody>
      </p:sp>
      <p:graphicFrame>
        <p:nvGraphicFramePr>
          <p:cNvPr id="328" name="Google Shape;328;p65"/>
          <p:cNvGraphicFramePr/>
          <p:nvPr/>
        </p:nvGraphicFramePr>
        <p:xfrm>
          <a:off x="798369" y="1473488"/>
          <a:ext cx="8033925" cy="4511650"/>
        </p:xfrm>
        <a:graphic>
          <a:graphicData uri="http://schemas.openxmlformats.org/drawingml/2006/table">
            <a:tbl>
              <a:tblPr>
                <a:noFill/>
                <a:tableStyleId>{708E9160-7032-41F5-802E-B7FD925B90A3}</a:tableStyleId>
              </a:tblPr>
              <a:tblGrid>
                <a:gridCol w="1622725"/>
                <a:gridCol w="6411200"/>
              </a:tblGrid>
              <a:tr h="694100">
                <a:tc>
                  <a:txBody>
                    <a:bodyPr/>
                    <a:lstStyle/>
                    <a:p>
                      <a:pPr marL="0" marR="0" lvl="0" indent="0" algn="ctr" rtl="0">
                        <a:lnSpc>
                          <a:spcPct val="100000"/>
                        </a:lnSpc>
                        <a:spcBef>
                          <a:spcPts val="0"/>
                        </a:spcBef>
                        <a:spcAft>
                          <a:spcPts val="0"/>
                        </a:spcAft>
                        <a:buNone/>
                      </a:pPr>
                      <a:r>
                        <a:rPr lang="en-US" sz="1800" b="1" u="none" strike="noStrike" cap="none">
                          <a:latin typeface="Times New Roman"/>
                          <a:ea typeface="Times New Roman"/>
                          <a:cs typeface="Times New Roman"/>
                          <a:sym typeface="Times New Roman"/>
                        </a:rPr>
                        <a:t>Security Goal</a:t>
                      </a:r>
                      <a:endParaRPr sz="1800" b="1" i="0" u="none" strike="noStrike" cap="none">
                        <a:solidFill>
                          <a:srgbClr val="000000"/>
                        </a:solidFill>
                        <a:latin typeface="Times New Roman"/>
                        <a:ea typeface="Times New Roman"/>
                        <a:cs typeface="Times New Roman"/>
                        <a:sym typeface="Times New Roman"/>
                      </a:endParaRPr>
                    </a:p>
                  </a:txBody>
                  <a:tcPr marL="6350" marR="6350" marT="6350" marB="0" anchor="ctr"/>
                </a:tc>
                <a:tc>
                  <a:txBody>
                    <a:bodyPr/>
                    <a:lstStyle/>
                    <a:p>
                      <a:pPr marL="0" marR="0" lvl="0" indent="0" algn="ctr" rtl="0">
                        <a:lnSpc>
                          <a:spcPct val="100000"/>
                        </a:lnSpc>
                        <a:spcBef>
                          <a:spcPts val="0"/>
                        </a:spcBef>
                        <a:spcAft>
                          <a:spcPts val="0"/>
                        </a:spcAft>
                        <a:buNone/>
                      </a:pPr>
                      <a:r>
                        <a:rPr lang="en-US" sz="1800" b="1" u="none" strike="noStrike" cap="none">
                          <a:latin typeface="Times New Roman"/>
                          <a:ea typeface="Times New Roman"/>
                          <a:cs typeface="Times New Roman"/>
                          <a:sym typeface="Times New Roman"/>
                        </a:rPr>
                        <a:t>How it Could Have Prevented the Espionage?</a:t>
                      </a:r>
                      <a:endParaRPr sz="1800" b="1" i="0" u="none" strike="noStrike" cap="none">
                        <a:solidFill>
                          <a:srgbClr val="000000"/>
                        </a:solidFill>
                        <a:latin typeface="Times New Roman"/>
                        <a:ea typeface="Times New Roman"/>
                        <a:cs typeface="Times New Roman"/>
                        <a:sym typeface="Times New Roman"/>
                      </a:endParaRPr>
                    </a:p>
                  </a:txBody>
                  <a:tcPr marL="6350" marR="6350" marT="6350" marB="0" anchor="ctr"/>
                </a:tc>
              </a:tr>
              <a:tr h="694100">
                <a:tc>
                  <a:txBody>
                    <a:bodyPr/>
                    <a:lstStyle/>
                    <a:p>
                      <a:pPr marL="0" marR="0" lvl="0" indent="0" algn="l"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Confidentiality</a:t>
                      </a:r>
                      <a:endParaRPr sz="1800" b="1" i="0" u="none" strike="noStrike" cap="none">
                        <a:solidFill>
                          <a:srgbClr val="000000"/>
                        </a:solidFill>
                        <a:latin typeface="Times New Roman"/>
                        <a:ea typeface="Times New Roman"/>
                        <a:cs typeface="Times New Roman"/>
                        <a:sym typeface="Times New Roman"/>
                      </a:endParaRPr>
                    </a:p>
                  </a:txBody>
                  <a:tcPr marL="6350" marR="6350" marT="6350" marB="0" anchor="ctr"/>
                </a:tc>
                <a:tc>
                  <a:txBody>
                    <a:bodyPr/>
                    <a:lstStyle/>
                    <a:p>
                      <a:pPr marL="0" marR="0" lvl="0" indent="0" algn="l"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Strong access controls and data encryption could have prevented Levandowski from stealing the files.</a:t>
                      </a:r>
                      <a:endParaRPr sz="1800" b="0" i="0" u="none" strike="noStrike" cap="none">
                        <a:solidFill>
                          <a:srgbClr val="000000"/>
                        </a:solidFill>
                        <a:latin typeface="Times New Roman"/>
                        <a:ea typeface="Times New Roman"/>
                        <a:cs typeface="Times New Roman"/>
                        <a:sym typeface="Times New Roman"/>
                      </a:endParaRPr>
                    </a:p>
                  </a:txBody>
                  <a:tcPr marL="6350" marR="6350" marT="6350" marB="0" anchor="ctr"/>
                </a:tc>
              </a:tr>
              <a:tr h="694100">
                <a:tc>
                  <a:txBody>
                    <a:bodyPr/>
                    <a:lstStyle/>
                    <a:p>
                      <a:pPr marL="0" marR="0" lvl="0" indent="0" algn="l"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Integrity</a:t>
                      </a:r>
                      <a:endParaRPr sz="1800" b="1" i="0" u="none" strike="noStrike" cap="none">
                        <a:solidFill>
                          <a:srgbClr val="000000"/>
                        </a:solidFill>
                        <a:latin typeface="Times New Roman"/>
                        <a:ea typeface="Times New Roman"/>
                        <a:cs typeface="Times New Roman"/>
                        <a:sym typeface="Times New Roman"/>
                      </a:endParaRPr>
                    </a:p>
                  </a:txBody>
                  <a:tcPr marL="6350" marR="6350" marT="6350" marB="0" anchor="ctr"/>
                </a:tc>
                <a:tc>
                  <a:txBody>
                    <a:bodyPr/>
                    <a:lstStyle/>
                    <a:p>
                      <a:pPr marL="0" marR="0" lvl="0" indent="0" algn="l"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File tracking and change monitoring systems could have detected unusual data transfers.</a:t>
                      </a:r>
                      <a:endParaRPr sz="1800" b="0" i="0" u="none" strike="noStrike" cap="none">
                        <a:solidFill>
                          <a:srgbClr val="000000"/>
                        </a:solidFill>
                        <a:latin typeface="Times New Roman"/>
                        <a:ea typeface="Times New Roman"/>
                        <a:cs typeface="Times New Roman"/>
                        <a:sym typeface="Times New Roman"/>
                      </a:endParaRPr>
                    </a:p>
                  </a:txBody>
                  <a:tcPr marL="6350" marR="6350" marT="6350" marB="0" anchor="ctr"/>
                </a:tc>
              </a:tr>
              <a:tr h="694100">
                <a:tc>
                  <a:txBody>
                    <a:bodyPr/>
                    <a:lstStyle/>
                    <a:p>
                      <a:pPr marL="0" marR="0" lvl="0" indent="0" algn="l"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Authentication</a:t>
                      </a:r>
                      <a:endParaRPr sz="1800" b="1" i="0" u="none" strike="noStrike" cap="none">
                        <a:solidFill>
                          <a:srgbClr val="000000"/>
                        </a:solidFill>
                        <a:latin typeface="Times New Roman"/>
                        <a:ea typeface="Times New Roman"/>
                        <a:cs typeface="Times New Roman"/>
                        <a:sym typeface="Times New Roman"/>
                      </a:endParaRPr>
                    </a:p>
                  </a:txBody>
                  <a:tcPr marL="6350" marR="6350" marT="6350" marB="0" anchor="ctr"/>
                </a:tc>
                <a:tc>
                  <a:txBody>
                    <a:bodyPr/>
                    <a:lstStyle/>
                    <a:p>
                      <a:pPr marL="0" marR="0" lvl="0" indent="0" algn="l"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Multi-factor authentication (MFA) could have restricted unauthorized access to sensitive files.</a:t>
                      </a:r>
                      <a:endParaRPr sz="1800" b="1" i="0" u="none" strike="noStrike" cap="none">
                        <a:solidFill>
                          <a:srgbClr val="000000"/>
                        </a:solidFill>
                        <a:latin typeface="Times New Roman"/>
                        <a:ea typeface="Times New Roman"/>
                        <a:cs typeface="Times New Roman"/>
                        <a:sym typeface="Times New Roman"/>
                      </a:endParaRPr>
                    </a:p>
                  </a:txBody>
                  <a:tcPr marL="6350" marR="6350" marT="6350" marB="0" anchor="ctr"/>
                </a:tc>
              </a:tr>
              <a:tr h="1041150">
                <a:tc>
                  <a:txBody>
                    <a:bodyPr/>
                    <a:lstStyle/>
                    <a:p>
                      <a:pPr marL="0" marR="0" lvl="0" indent="0" algn="l"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Non-Repudiation</a:t>
                      </a:r>
                      <a:endParaRPr sz="1800" b="1" i="0" u="none" strike="noStrike" cap="none">
                        <a:solidFill>
                          <a:srgbClr val="000000"/>
                        </a:solidFill>
                        <a:latin typeface="Times New Roman"/>
                        <a:ea typeface="Times New Roman"/>
                        <a:cs typeface="Times New Roman"/>
                        <a:sym typeface="Times New Roman"/>
                      </a:endParaRPr>
                    </a:p>
                  </a:txBody>
                  <a:tcPr marL="6350" marR="6350" marT="6350" marB="0" anchor="ctr"/>
                </a:tc>
                <a:tc>
                  <a:txBody>
                    <a:bodyPr/>
                    <a:lstStyle/>
                    <a:p>
                      <a:pPr marL="0" marR="0" lvl="0" indent="0" algn="l"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Audit logs could have provided undeniable proof of who accessed the files and when.</a:t>
                      </a:r>
                      <a:endParaRPr sz="1800" b="1" i="0" u="none" strike="noStrike" cap="none">
                        <a:solidFill>
                          <a:srgbClr val="000000"/>
                        </a:solidFill>
                        <a:latin typeface="Times New Roman"/>
                        <a:ea typeface="Times New Roman"/>
                        <a:cs typeface="Times New Roman"/>
                        <a:sym typeface="Times New Roman"/>
                      </a:endParaRPr>
                    </a:p>
                  </a:txBody>
                  <a:tcPr marL="6350" marR="6350" marT="6350" marB="0" anchor="ctr"/>
                </a:tc>
              </a:tr>
              <a:tr h="694100">
                <a:tc>
                  <a:txBody>
                    <a:bodyPr/>
                    <a:lstStyle/>
                    <a:p>
                      <a:pPr marL="0" marR="0" lvl="0" indent="0" algn="l"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Availability</a:t>
                      </a:r>
                      <a:endParaRPr sz="1800" b="1" i="0" u="none" strike="noStrike" cap="none">
                        <a:solidFill>
                          <a:srgbClr val="000000"/>
                        </a:solidFill>
                        <a:latin typeface="Times New Roman"/>
                        <a:ea typeface="Times New Roman"/>
                        <a:cs typeface="Times New Roman"/>
                        <a:sym typeface="Times New Roman"/>
                      </a:endParaRPr>
                    </a:p>
                  </a:txBody>
                  <a:tcPr marL="6350" marR="6350" marT="6350" marB="0" anchor="ctr"/>
                </a:tc>
                <a:tc>
                  <a:txBody>
                    <a:bodyPr/>
                    <a:lstStyle/>
                    <a:p>
                      <a:pPr marL="0" marR="0" lvl="0" indent="0" algn="l"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Not directly relevant in this case.</a:t>
                      </a:r>
                      <a:endParaRPr sz="1800" b="0" i="0" u="none" strike="noStrike" cap="none">
                        <a:solidFill>
                          <a:srgbClr val="000000"/>
                        </a:solidFill>
                        <a:latin typeface="Times New Roman"/>
                        <a:ea typeface="Times New Roman"/>
                        <a:cs typeface="Times New Roman"/>
                        <a:sym typeface="Times New Roman"/>
                      </a:endParaRPr>
                    </a:p>
                  </a:txBody>
                  <a:tcPr marL="6350" marR="6350" marT="6350" marB="0" anchor="ct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66"/>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en-US"/>
              <a:t>Ms. Swati Mali</a:t>
            </a:r>
            <a:endParaRPr/>
          </a:p>
        </p:txBody>
      </p:sp>
      <p:sp>
        <p:nvSpPr>
          <p:cNvPr id="334" name="Google Shape;334;p66"/>
          <p:cNvSpPr txBox="1">
            <a:spLocks noGrp="1"/>
          </p:cNvSpPr>
          <p:nvPr>
            <p:ph type="title"/>
          </p:nvPr>
        </p:nvSpPr>
        <p:spPr>
          <a:xfrm>
            <a:off x="817323" y="214817"/>
            <a:ext cx="7402883" cy="874951"/>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930B0B"/>
              </a:buClr>
              <a:buSzPts val="3600"/>
              <a:buFont typeface="Times New Roman"/>
              <a:buNone/>
            </a:pPr>
            <a:r>
              <a:rPr lang="en-US" b="1"/>
              <a:t>Edward Snowden NSA Leak (2013) </a:t>
            </a:r>
            <a:endParaRPr/>
          </a:p>
        </p:txBody>
      </p:sp>
      <p:sp>
        <p:nvSpPr>
          <p:cNvPr id="335" name="Google Shape;335;p66"/>
          <p:cNvSpPr txBox="1">
            <a:spLocks noGrp="1"/>
          </p:cNvSpPr>
          <p:nvPr>
            <p:ph type="body" idx="1"/>
          </p:nvPr>
        </p:nvSpPr>
        <p:spPr>
          <a:xfrm>
            <a:off x="700004" y="1324629"/>
            <a:ext cx="8229600" cy="4525963"/>
          </a:xfrm>
          <a:prstGeom prst="rect">
            <a:avLst/>
          </a:prstGeom>
          <a:noFill/>
          <a:ln>
            <a:noFill/>
          </a:ln>
        </p:spPr>
        <p:txBody>
          <a:bodyPr spcFirstLastPara="1" wrap="square" lIns="91425" tIns="45700" rIns="91425" bIns="45700" anchor="t" anchorCtr="0">
            <a:normAutofit lnSpcReduction="10000"/>
          </a:bodyPr>
          <a:lstStyle/>
          <a:p>
            <a:pPr marL="457200" marR="0" lvl="0" indent="-406400" algn="l" rtl="0">
              <a:lnSpc>
                <a:spcPct val="90000"/>
              </a:lnSpc>
              <a:spcBef>
                <a:spcPts val="1000"/>
              </a:spcBef>
              <a:spcAft>
                <a:spcPts val="0"/>
              </a:spcAft>
              <a:buClr>
                <a:schemeClr val="dk1"/>
              </a:buClr>
              <a:buSzPts val="2800"/>
              <a:buFont typeface="Arial"/>
              <a:buChar char="•"/>
            </a:pPr>
            <a:r>
              <a:rPr lang="en-US"/>
              <a:t>Edward Snowden was a contractor for the National Security Agency (NSA). He had access to highly classified surveillance programs that tracked global digital communications.</a:t>
            </a:r>
            <a:endParaRPr/>
          </a:p>
          <a:p>
            <a:pPr marL="457200" marR="0" lvl="0" indent="-406400" algn="l" rtl="0">
              <a:lnSpc>
                <a:spcPct val="90000"/>
              </a:lnSpc>
              <a:spcBef>
                <a:spcPts val="1000"/>
              </a:spcBef>
              <a:spcAft>
                <a:spcPts val="0"/>
              </a:spcAft>
              <a:buClr>
                <a:schemeClr val="dk1"/>
              </a:buClr>
              <a:buSzPts val="2800"/>
              <a:buFont typeface="Arial"/>
              <a:buChar char="•"/>
            </a:pPr>
            <a:r>
              <a:rPr lang="en-US" b="1"/>
              <a:t>What Happened?</a:t>
            </a:r>
            <a:endParaRPr/>
          </a:p>
          <a:p>
            <a:pPr marL="914400" lvl="1" indent="-381000" algn="l" rtl="0">
              <a:lnSpc>
                <a:spcPct val="90000"/>
              </a:lnSpc>
              <a:spcBef>
                <a:spcPts val="500"/>
              </a:spcBef>
              <a:spcAft>
                <a:spcPts val="0"/>
              </a:spcAft>
              <a:buSzPts val="2400"/>
              <a:buChar char="o"/>
            </a:pPr>
            <a:r>
              <a:rPr lang="en-US"/>
              <a:t>Snowden </a:t>
            </a:r>
            <a:r>
              <a:rPr lang="en-US" b="1"/>
              <a:t>downloaded thousands of classified NSA files</a:t>
            </a:r>
            <a:r>
              <a:rPr lang="en-US"/>
              <a:t> without being detected.</a:t>
            </a:r>
            <a:endParaRPr/>
          </a:p>
          <a:p>
            <a:pPr marL="914400" lvl="1" indent="-381000" algn="l" rtl="0">
              <a:lnSpc>
                <a:spcPct val="90000"/>
              </a:lnSpc>
              <a:spcBef>
                <a:spcPts val="500"/>
              </a:spcBef>
              <a:spcAft>
                <a:spcPts val="0"/>
              </a:spcAft>
              <a:buSzPts val="2400"/>
              <a:buChar char="o"/>
            </a:pPr>
            <a:r>
              <a:rPr lang="en-US"/>
              <a:t>He leaked details of global surveillance programs like </a:t>
            </a:r>
            <a:r>
              <a:rPr lang="en-US" b="1"/>
              <a:t>PRISM</a:t>
            </a:r>
            <a:r>
              <a:rPr lang="en-US"/>
              <a:t>, which collected data from Google, Facebook, and Apple.</a:t>
            </a:r>
            <a:endParaRPr/>
          </a:p>
          <a:p>
            <a:pPr marL="914400" lvl="1" indent="-381000" algn="l" rtl="0">
              <a:lnSpc>
                <a:spcPct val="90000"/>
              </a:lnSpc>
              <a:spcBef>
                <a:spcPts val="500"/>
              </a:spcBef>
              <a:spcAft>
                <a:spcPts val="0"/>
              </a:spcAft>
              <a:buSzPts val="2400"/>
              <a:buChar char="o"/>
            </a:pPr>
            <a:r>
              <a:rPr lang="en-US"/>
              <a:t>The leaks sparked global debates on </a:t>
            </a:r>
            <a:r>
              <a:rPr lang="en-US" b="1"/>
              <a:t>privacy vs. national security</a:t>
            </a:r>
            <a:r>
              <a:rPr lang="en-US"/>
              <a:t>.</a:t>
            </a:r>
            <a:endParaRPr/>
          </a:p>
          <a:p>
            <a:pPr marL="457200" marR="0" lvl="0" indent="-228600" algn="l" rtl="0">
              <a:lnSpc>
                <a:spcPct val="90000"/>
              </a:lnSpc>
              <a:spcBef>
                <a:spcPts val="1000"/>
              </a:spcBef>
              <a:spcAft>
                <a:spcPts val="0"/>
              </a:spcAft>
              <a:buClr>
                <a:schemeClr val="dk1"/>
              </a:buClr>
              <a:buSzPts val="2800"/>
              <a:buFont typeface="Arial"/>
              <a:buNone/>
            </a:pP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67"/>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en-US"/>
              <a:t>Ms. Swati Mali</a:t>
            </a:r>
            <a:endParaRPr/>
          </a:p>
        </p:txBody>
      </p:sp>
      <p:sp>
        <p:nvSpPr>
          <p:cNvPr id="341" name="Google Shape;341;p67"/>
          <p:cNvSpPr txBox="1">
            <a:spLocks noGrp="1"/>
          </p:cNvSpPr>
          <p:nvPr>
            <p:ph type="title"/>
          </p:nvPr>
        </p:nvSpPr>
        <p:spPr>
          <a:xfrm>
            <a:off x="817323" y="214817"/>
            <a:ext cx="7402883" cy="874951"/>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930B0B"/>
              </a:buClr>
              <a:buSzPts val="3600"/>
              <a:buFont typeface="Times New Roman"/>
              <a:buNone/>
            </a:pPr>
            <a:r>
              <a:rPr lang="en-US" b="1"/>
              <a:t>Security Goals Analysis</a:t>
            </a:r>
            <a:endParaRPr/>
          </a:p>
        </p:txBody>
      </p:sp>
      <p:sp>
        <p:nvSpPr>
          <p:cNvPr id="342" name="Google Shape;342;p67"/>
          <p:cNvSpPr txBox="1">
            <a:spLocks noGrp="1"/>
          </p:cNvSpPr>
          <p:nvPr>
            <p:ph type="body" idx="1"/>
          </p:nvPr>
        </p:nvSpPr>
        <p:spPr>
          <a:xfrm>
            <a:off x="700004" y="1324629"/>
            <a:ext cx="8229600" cy="4525963"/>
          </a:xfrm>
          <a:prstGeom prst="rect">
            <a:avLst/>
          </a:prstGeom>
          <a:noFill/>
          <a:ln>
            <a:noFill/>
          </a:ln>
        </p:spPr>
        <p:txBody>
          <a:bodyPr spcFirstLastPara="1" wrap="square" lIns="91425" tIns="45700" rIns="91425" bIns="45700" anchor="t" anchorCtr="0">
            <a:normAutofit/>
          </a:bodyPr>
          <a:lstStyle/>
          <a:p>
            <a:pPr marL="457200" marR="0" lvl="0" indent="-228600" algn="l" rtl="0">
              <a:lnSpc>
                <a:spcPct val="90000"/>
              </a:lnSpc>
              <a:spcBef>
                <a:spcPts val="1000"/>
              </a:spcBef>
              <a:spcAft>
                <a:spcPts val="0"/>
              </a:spcAft>
              <a:buClr>
                <a:schemeClr val="dk1"/>
              </a:buClr>
              <a:buSzPts val="2800"/>
              <a:buFont typeface="Arial"/>
              <a:buNone/>
            </a:pPr>
            <a:endParaRPr/>
          </a:p>
        </p:txBody>
      </p:sp>
      <p:graphicFrame>
        <p:nvGraphicFramePr>
          <p:cNvPr id="343" name="Google Shape;343;p67"/>
          <p:cNvGraphicFramePr/>
          <p:nvPr/>
        </p:nvGraphicFramePr>
        <p:xfrm>
          <a:off x="623455" y="1437320"/>
          <a:ext cx="8385450" cy="4485525"/>
        </p:xfrm>
        <a:graphic>
          <a:graphicData uri="http://schemas.openxmlformats.org/drawingml/2006/table">
            <a:tbl>
              <a:tblPr firstRow="1" firstCol="1" bandRow="1">
                <a:noFill/>
                <a:tableStyleId>{708E9160-7032-41F5-802E-B7FD925B90A3}</a:tableStyleId>
              </a:tblPr>
              <a:tblGrid>
                <a:gridCol w="2244425"/>
                <a:gridCol w="2026225"/>
                <a:gridCol w="4114800"/>
              </a:tblGrid>
              <a:tr h="502675">
                <a:tc>
                  <a:txBody>
                    <a:bodyPr/>
                    <a:lstStyle/>
                    <a:p>
                      <a:pPr marL="0" marR="0" lvl="0" indent="0" algn="ctr" rtl="0">
                        <a:lnSpc>
                          <a:spcPct val="115000"/>
                        </a:lnSpc>
                        <a:spcBef>
                          <a:spcPts val="0"/>
                        </a:spcBef>
                        <a:spcAft>
                          <a:spcPts val="0"/>
                        </a:spcAft>
                        <a:buNone/>
                      </a:pPr>
                      <a:r>
                        <a:rPr lang="en-US" sz="1800" u="none" strike="noStrike" cap="none"/>
                        <a:t>Goal</a:t>
                      </a:r>
                      <a:endParaRPr sz="1600" u="none" strike="noStrike" cap="none">
                        <a:latin typeface="Calibri"/>
                        <a:ea typeface="Calibri"/>
                        <a:cs typeface="Calibri"/>
                        <a:sym typeface="Calibri"/>
                      </a:endParaRPr>
                    </a:p>
                  </a:txBody>
                  <a:tcPr marL="9525" marR="9525" marT="9525" marB="9525" anchor="ctr"/>
                </a:tc>
                <a:tc>
                  <a:txBody>
                    <a:bodyPr/>
                    <a:lstStyle/>
                    <a:p>
                      <a:pPr marL="0" marR="0" lvl="0" indent="0" algn="ctr" rtl="0">
                        <a:lnSpc>
                          <a:spcPct val="115000"/>
                        </a:lnSpc>
                        <a:spcBef>
                          <a:spcPts val="0"/>
                        </a:spcBef>
                        <a:spcAft>
                          <a:spcPts val="0"/>
                        </a:spcAft>
                        <a:buNone/>
                      </a:pPr>
                      <a:r>
                        <a:rPr lang="en-US" sz="1800" u="none" strike="noStrike" cap="none"/>
                        <a:t>Achieved?</a:t>
                      </a:r>
                      <a:endParaRPr sz="1600" u="none" strike="noStrike" cap="none">
                        <a:latin typeface="Calibri"/>
                        <a:ea typeface="Calibri"/>
                        <a:cs typeface="Calibri"/>
                        <a:sym typeface="Calibri"/>
                      </a:endParaRPr>
                    </a:p>
                  </a:txBody>
                  <a:tcPr marL="9525" marR="9525" marT="9525" marB="9525" anchor="ctr"/>
                </a:tc>
                <a:tc>
                  <a:txBody>
                    <a:bodyPr/>
                    <a:lstStyle/>
                    <a:p>
                      <a:pPr marL="0" marR="0" lvl="0" indent="0" algn="ctr" rtl="0">
                        <a:lnSpc>
                          <a:spcPct val="115000"/>
                        </a:lnSpc>
                        <a:spcBef>
                          <a:spcPts val="0"/>
                        </a:spcBef>
                        <a:spcAft>
                          <a:spcPts val="0"/>
                        </a:spcAft>
                        <a:buNone/>
                      </a:pPr>
                      <a:r>
                        <a:rPr lang="en-US" sz="1800" u="none" strike="noStrike" cap="none"/>
                        <a:t>Explanation</a:t>
                      </a:r>
                      <a:endParaRPr sz="1600" u="none" strike="noStrike" cap="none">
                        <a:latin typeface="Calibri"/>
                        <a:ea typeface="Calibri"/>
                        <a:cs typeface="Calibri"/>
                        <a:sym typeface="Calibri"/>
                      </a:endParaRPr>
                    </a:p>
                  </a:txBody>
                  <a:tcPr marL="9525" marR="9525" marT="9525" marB="9525" anchor="ctr"/>
                </a:tc>
              </a:tr>
              <a:tr h="992500">
                <a:tc>
                  <a:txBody>
                    <a:bodyPr/>
                    <a:lstStyle/>
                    <a:p>
                      <a:pPr marL="0" marR="0" lvl="0" indent="0" algn="l" rtl="0">
                        <a:lnSpc>
                          <a:spcPct val="115000"/>
                        </a:lnSpc>
                        <a:spcBef>
                          <a:spcPts val="0"/>
                        </a:spcBef>
                        <a:spcAft>
                          <a:spcPts val="0"/>
                        </a:spcAft>
                        <a:buNone/>
                      </a:pPr>
                      <a:r>
                        <a:rPr lang="en-US" sz="1800" u="none" strike="noStrike" cap="none"/>
                        <a:t>Confidentiality</a:t>
                      </a:r>
                      <a:endParaRPr sz="1600" u="none" strike="noStrike" cap="none">
                        <a:latin typeface="Calibri"/>
                        <a:ea typeface="Calibri"/>
                        <a:cs typeface="Calibri"/>
                        <a:sym typeface="Calibri"/>
                      </a:endParaRPr>
                    </a:p>
                  </a:txBody>
                  <a:tcPr marL="9525" marR="9525" marT="9525" marB="9525" anchor="ctr"/>
                </a:tc>
                <a:tc>
                  <a:txBody>
                    <a:bodyPr/>
                    <a:lstStyle/>
                    <a:p>
                      <a:pPr marL="0" marR="0" lvl="0" indent="0" algn="l" rtl="0">
                        <a:lnSpc>
                          <a:spcPct val="115000"/>
                        </a:lnSpc>
                        <a:spcBef>
                          <a:spcPts val="0"/>
                        </a:spcBef>
                        <a:spcAft>
                          <a:spcPts val="0"/>
                        </a:spcAft>
                        <a:buNone/>
                      </a:pPr>
                      <a:r>
                        <a:rPr lang="en-US" sz="1800" u="none" strike="noStrike" cap="none"/>
                        <a:t>❌ No</a:t>
                      </a:r>
                      <a:endParaRPr sz="1600" u="none" strike="noStrike" cap="none">
                        <a:latin typeface="Calibri"/>
                        <a:ea typeface="Calibri"/>
                        <a:cs typeface="Calibri"/>
                        <a:sym typeface="Calibri"/>
                      </a:endParaRPr>
                    </a:p>
                  </a:txBody>
                  <a:tcPr marL="9525" marR="9525" marT="9525" marB="9525" anchor="ctr"/>
                </a:tc>
                <a:tc>
                  <a:txBody>
                    <a:bodyPr/>
                    <a:lstStyle/>
                    <a:p>
                      <a:pPr marL="0" marR="0" lvl="0" indent="0" algn="l" rtl="0">
                        <a:lnSpc>
                          <a:spcPct val="115000"/>
                        </a:lnSpc>
                        <a:spcBef>
                          <a:spcPts val="0"/>
                        </a:spcBef>
                        <a:spcAft>
                          <a:spcPts val="0"/>
                        </a:spcAft>
                        <a:buNone/>
                      </a:pPr>
                      <a:r>
                        <a:rPr lang="en-US" sz="1800" u="none" strike="noStrike" cap="none"/>
                        <a:t>Sensitive NSA files were exposed to the public.</a:t>
                      </a:r>
                      <a:endParaRPr sz="1600" u="none" strike="noStrike" cap="none">
                        <a:latin typeface="Calibri"/>
                        <a:ea typeface="Calibri"/>
                        <a:cs typeface="Calibri"/>
                        <a:sym typeface="Calibri"/>
                      </a:endParaRPr>
                    </a:p>
                  </a:txBody>
                  <a:tcPr marL="9525" marR="9525" marT="9525" marB="9525" anchor="ctr"/>
                </a:tc>
              </a:tr>
              <a:tr h="502675">
                <a:tc>
                  <a:txBody>
                    <a:bodyPr/>
                    <a:lstStyle/>
                    <a:p>
                      <a:pPr marL="0" marR="0" lvl="0" indent="0" algn="l" rtl="0">
                        <a:lnSpc>
                          <a:spcPct val="115000"/>
                        </a:lnSpc>
                        <a:spcBef>
                          <a:spcPts val="0"/>
                        </a:spcBef>
                        <a:spcAft>
                          <a:spcPts val="0"/>
                        </a:spcAft>
                        <a:buNone/>
                      </a:pPr>
                      <a:r>
                        <a:rPr lang="en-US" sz="1800" u="none" strike="noStrike" cap="none"/>
                        <a:t>Integrity</a:t>
                      </a:r>
                      <a:endParaRPr sz="1600" u="none" strike="noStrike" cap="none">
                        <a:latin typeface="Calibri"/>
                        <a:ea typeface="Calibri"/>
                        <a:cs typeface="Calibri"/>
                        <a:sym typeface="Calibri"/>
                      </a:endParaRPr>
                    </a:p>
                  </a:txBody>
                  <a:tcPr marL="9525" marR="9525" marT="9525" marB="9525" anchor="ctr"/>
                </a:tc>
                <a:tc>
                  <a:txBody>
                    <a:bodyPr/>
                    <a:lstStyle/>
                    <a:p>
                      <a:pPr marL="0" marR="0" lvl="0" indent="0" algn="l" rtl="0">
                        <a:lnSpc>
                          <a:spcPct val="115000"/>
                        </a:lnSpc>
                        <a:spcBef>
                          <a:spcPts val="0"/>
                        </a:spcBef>
                        <a:spcAft>
                          <a:spcPts val="0"/>
                        </a:spcAft>
                        <a:buNone/>
                      </a:pPr>
                      <a:r>
                        <a:rPr lang="en-US" sz="1800" u="none" strike="noStrike" cap="none"/>
                        <a:t>✅ Yes</a:t>
                      </a:r>
                      <a:endParaRPr sz="1600" u="none" strike="noStrike" cap="none">
                        <a:latin typeface="Calibri"/>
                        <a:ea typeface="Calibri"/>
                        <a:cs typeface="Calibri"/>
                        <a:sym typeface="Calibri"/>
                      </a:endParaRPr>
                    </a:p>
                  </a:txBody>
                  <a:tcPr marL="9525" marR="9525" marT="9525" marB="9525" anchor="ctr"/>
                </a:tc>
                <a:tc>
                  <a:txBody>
                    <a:bodyPr/>
                    <a:lstStyle/>
                    <a:p>
                      <a:pPr marL="0" marR="0" lvl="0" indent="0" algn="l" rtl="0">
                        <a:lnSpc>
                          <a:spcPct val="115000"/>
                        </a:lnSpc>
                        <a:spcBef>
                          <a:spcPts val="0"/>
                        </a:spcBef>
                        <a:spcAft>
                          <a:spcPts val="0"/>
                        </a:spcAft>
                        <a:buNone/>
                      </a:pPr>
                      <a:r>
                        <a:rPr lang="en-US" sz="1800" u="none" strike="noStrike" cap="none"/>
                        <a:t>The data was not modified, only leaked.</a:t>
                      </a:r>
                      <a:endParaRPr sz="1600" u="none" strike="noStrike" cap="none">
                        <a:latin typeface="Calibri"/>
                        <a:ea typeface="Calibri"/>
                        <a:cs typeface="Calibri"/>
                        <a:sym typeface="Calibri"/>
                      </a:endParaRPr>
                    </a:p>
                  </a:txBody>
                  <a:tcPr marL="9525" marR="9525" marT="9525" marB="9525" anchor="ctr"/>
                </a:tc>
              </a:tr>
              <a:tr h="502675">
                <a:tc>
                  <a:txBody>
                    <a:bodyPr/>
                    <a:lstStyle/>
                    <a:p>
                      <a:pPr marL="0" marR="0" lvl="0" indent="0" algn="l" rtl="0">
                        <a:lnSpc>
                          <a:spcPct val="115000"/>
                        </a:lnSpc>
                        <a:spcBef>
                          <a:spcPts val="0"/>
                        </a:spcBef>
                        <a:spcAft>
                          <a:spcPts val="0"/>
                        </a:spcAft>
                        <a:buNone/>
                      </a:pPr>
                      <a:r>
                        <a:rPr lang="en-US" sz="1800" u="none" strike="noStrike" cap="none"/>
                        <a:t>Availability</a:t>
                      </a:r>
                      <a:endParaRPr sz="1600" u="none" strike="noStrike" cap="none">
                        <a:latin typeface="Calibri"/>
                        <a:ea typeface="Calibri"/>
                        <a:cs typeface="Calibri"/>
                        <a:sym typeface="Calibri"/>
                      </a:endParaRPr>
                    </a:p>
                  </a:txBody>
                  <a:tcPr marL="9525" marR="9525" marT="9525" marB="9525" anchor="ctr"/>
                </a:tc>
                <a:tc>
                  <a:txBody>
                    <a:bodyPr/>
                    <a:lstStyle/>
                    <a:p>
                      <a:pPr marL="0" marR="0" lvl="0" indent="0" algn="l" rtl="0">
                        <a:lnSpc>
                          <a:spcPct val="115000"/>
                        </a:lnSpc>
                        <a:spcBef>
                          <a:spcPts val="0"/>
                        </a:spcBef>
                        <a:spcAft>
                          <a:spcPts val="0"/>
                        </a:spcAft>
                        <a:buNone/>
                      </a:pPr>
                      <a:r>
                        <a:rPr lang="en-US" sz="1800" u="none" strike="noStrike" cap="none"/>
                        <a:t>✅ Yes</a:t>
                      </a:r>
                      <a:endParaRPr sz="1600" u="none" strike="noStrike" cap="none">
                        <a:latin typeface="Calibri"/>
                        <a:ea typeface="Calibri"/>
                        <a:cs typeface="Calibri"/>
                        <a:sym typeface="Calibri"/>
                      </a:endParaRPr>
                    </a:p>
                  </a:txBody>
                  <a:tcPr marL="9525" marR="9525" marT="9525" marB="9525" anchor="ctr"/>
                </a:tc>
                <a:tc>
                  <a:txBody>
                    <a:bodyPr/>
                    <a:lstStyle/>
                    <a:p>
                      <a:pPr marL="0" marR="0" lvl="0" indent="0" algn="l" rtl="0">
                        <a:lnSpc>
                          <a:spcPct val="115000"/>
                        </a:lnSpc>
                        <a:spcBef>
                          <a:spcPts val="0"/>
                        </a:spcBef>
                        <a:spcAft>
                          <a:spcPts val="0"/>
                        </a:spcAft>
                        <a:buNone/>
                      </a:pPr>
                      <a:r>
                        <a:rPr lang="en-US" sz="1800" u="none" strike="noStrike" cap="none"/>
                        <a:t>NSA operations were not disrupted.</a:t>
                      </a:r>
                      <a:endParaRPr sz="1600" u="none" strike="noStrike" cap="none">
                        <a:latin typeface="Calibri"/>
                        <a:ea typeface="Calibri"/>
                        <a:cs typeface="Calibri"/>
                        <a:sym typeface="Calibri"/>
                      </a:endParaRPr>
                    </a:p>
                  </a:txBody>
                  <a:tcPr marL="9525" marR="9525" marT="9525" marB="9525" anchor="ctr"/>
                </a:tc>
              </a:tr>
              <a:tr h="992500">
                <a:tc>
                  <a:txBody>
                    <a:bodyPr/>
                    <a:lstStyle/>
                    <a:p>
                      <a:pPr marL="0" marR="0" lvl="0" indent="0" algn="l" rtl="0">
                        <a:lnSpc>
                          <a:spcPct val="115000"/>
                        </a:lnSpc>
                        <a:spcBef>
                          <a:spcPts val="0"/>
                        </a:spcBef>
                        <a:spcAft>
                          <a:spcPts val="0"/>
                        </a:spcAft>
                        <a:buNone/>
                      </a:pPr>
                      <a:r>
                        <a:rPr lang="en-US" sz="1800" u="none" strike="noStrike" cap="none"/>
                        <a:t>Authentication</a:t>
                      </a:r>
                      <a:endParaRPr sz="1600" u="none" strike="noStrike" cap="none">
                        <a:latin typeface="Calibri"/>
                        <a:ea typeface="Calibri"/>
                        <a:cs typeface="Calibri"/>
                        <a:sym typeface="Calibri"/>
                      </a:endParaRPr>
                    </a:p>
                  </a:txBody>
                  <a:tcPr marL="9525" marR="9525" marT="9525" marB="9525" anchor="ctr"/>
                </a:tc>
                <a:tc>
                  <a:txBody>
                    <a:bodyPr/>
                    <a:lstStyle/>
                    <a:p>
                      <a:pPr marL="0" marR="0" lvl="0" indent="0" algn="l" rtl="0">
                        <a:lnSpc>
                          <a:spcPct val="115000"/>
                        </a:lnSpc>
                        <a:spcBef>
                          <a:spcPts val="0"/>
                        </a:spcBef>
                        <a:spcAft>
                          <a:spcPts val="0"/>
                        </a:spcAft>
                        <a:buNone/>
                      </a:pPr>
                      <a:r>
                        <a:rPr lang="en-US" sz="1800" u="none" strike="noStrike" cap="none"/>
                        <a:t>✅ Yes</a:t>
                      </a:r>
                      <a:endParaRPr sz="1600" u="none" strike="noStrike" cap="none">
                        <a:latin typeface="Calibri"/>
                        <a:ea typeface="Calibri"/>
                        <a:cs typeface="Calibri"/>
                        <a:sym typeface="Calibri"/>
                      </a:endParaRPr>
                    </a:p>
                  </a:txBody>
                  <a:tcPr marL="9525" marR="9525" marT="9525" marB="9525" anchor="ctr"/>
                </a:tc>
                <a:tc>
                  <a:txBody>
                    <a:bodyPr/>
                    <a:lstStyle/>
                    <a:p>
                      <a:pPr marL="0" marR="0" lvl="0" indent="0" algn="l" rtl="0">
                        <a:lnSpc>
                          <a:spcPct val="115000"/>
                        </a:lnSpc>
                        <a:spcBef>
                          <a:spcPts val="0"/>
                        </a:spcBef>
                        <a:spcAft>
                          <a:spcPts val="0"/>
                        </a:spcAft>
                        <a:buNone/>
                      </a:pPr>
                      <a:r>
                        <a:rPr lang="en-US" sz="1800" u="none" strike="noStrike" cap="none"/>
                        <a:t>Snowden had legal access but misused it.</a:t>
                      </a:r>
                      <a:endParaRPr sz="1600" u="none" strike="noStrike" cap="none">
                        <a:latin typeface="Calibri"/>
                        <a:ea typeface="Calibri"/>
                        <a:cs typeface="Calibri"/>
                        <a:sym typeface="Calibri"/>
                      </a:endParaRPr>
                    </a:p>
                  </a:txBody>
                  <a:tcPr marL="9525" marR="9525" marT="9525" marB="9525" anchor="ctr"/>
                </a:tc>
              </a:tr>
              <a:tr h="992500">
                <a:tc>
                  <a:txBody>
                    <a:bodyPr/>
                    <a:lstStyle/>
                    <a:p>
                      <a:pPr marL="0" marR="0" lvl="0" indent="0" algn="l" rtl="0">
                        <a:lnSpc>
                          <a:spcPct val="115000"/>
                        </a:lnSpc>
                        <a:spcBef>
                          <a:spcPts val="0"/>
                        </a:spcBef>
                        <a:spcAft>
                          <a:spcPts val="0"/>
                        </a:spcAft>
                        <a:buNone/>
                      </a:pPr>
                      <a:r>
                        <a:rPr lang="en-US" sz="1800" u="none" strike="noStrike" cap="none"/>
                        <a:t>Non-Repudiation</a:t>
                      </a:r>
                      <a:endParaRPr sz="1600" u="none" strike="noStrike" cap="none">
                        <a:latin typeface="Calibri"/>
                        <a:ea typeface="Calibri"/>
                        <a:cs typeface="Calibri"/>
                        <a:sym typeface="Calibri"/>
                      </a:endParaRPr>
                    </a:p>
                  </a:txBody>
                  <a:tcPr marL="9525" marR="9525" marT="9525" marB="9525" anchor="ctr"/>
                </a:tc>
                <a:tc>
                  <a:txBody>
                    <a:bodyPr/>
                    <a:lstStyle/>
                    <a:p>
                      <a:pPr marL="0" marR="0" lvl="0" indent="0" algn="l" rtl="0">
                        <a:lnSpc>
                          <a:spcPct val="115000"/>
                        </a:lnSpc>
                        <a:spcBef>
                          <a:spcPts val="0"/>
                        </a:spcBef>
                        <a:spcAft>
                          <a:spcPts val="0"/>
                        </a:spcAft>
                        <a:buNone/>
                      </a:pPr>
                      <a:r>
                        <a:rPr lang="en-US" sz="1800" u="none" strike="noStrike" cap="none"/>
                        <a:t>❌ No</a:t>
                      </a:r>
                      <a:endParaRPr sz="1600" u="none" strike="noStrike" cap="none">
                        <a:latin typeface="Calibri"/>
                        <a:ea typeface="Calibri"/>
                        <a:cs typeface="Calibri"/>
                        <a:sym typeface="Calibri"/>
                      </a:endParaRPr>
                    </a:p>
                  </a:txBody>
                  <a:tcPr marL="9525" marR="9525" marT="9525" marB="9525" anchor="ctr"/>
                </a:tc>
                <a:tc>
                  <a:txBody>
                    <a:bodyPr/>
                    <a:lstStyle/>
                    <a:p>
                      <a:pPr marL="0" marR="0" lvl="0" indent="0" algn="l" rtl="0">
                        <a:lnSpc>
                          <a:spcPct val="115000"/>
                        </a:lnSpc>
                        <a:spcBef>
                          <a:spcPts val="0"/>
                        </a:spcBef>
                        <a:spcAft>
                          <a:spcPts val="0"/>
                        </a:spcAft>
                        <a:buNone/>
                      </a:pPr>
                      <a:r>
                        <a:rPr lang="en-US" sz="1800" u="none" strike="noStrike" cap="none"/>
                        <a:t>Weak tracking allowed Snowden to exfiltrate data undetected.</a:t>
                      </a:r>
                      <a:endParaRPr sz="1600" u="none" strike="noStrike" cap="none">
                        <a:latin typeface="Calibri"/>
                        <a:ea typeface="Calibri"/>
                        <a:cs typeface="Calibri"/>
                        <a:sym typeface="Calibri"/>
                      </a:endParaRPr>
                    </a:p>
                  </a:txBody>
                  <a:tcPr marL="9525" marR="9525" marT="9525" marB="9525" anchor="ct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68"/>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en-US"/>
              <a:t>Ms. Swati Mali</a:t>
            </a:r>
            <a:endParaRPr/>
          </a:p>
        </p:txBody>
      </p:sp>
      <p:sp>
        <p:nvSpPr>
          <p:cNvPr id="349" name="Google Shape;349;p68"/>
          <p:cNvSpPr txBox="1">
            <a:spLocks noGrp="1"/>
          </p:cNvSpPr>
          <p:nvPr>
            <p:ph type="title"/>
          </p:nvPr>
        </p:nvSpPr>
        <p:spPr>
          <a:xfrm>
            <a:off x="817323" y="214817"/>
            <a:ext cx="7402883" cy="874951"/>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SzPts val="3600"/>
              <a:buNone/>
            </a:pPr>
            <a:r>
              <a:rPr lang="en-US" b="1">
                <a:solidFill>
                  <a:srgbClr val="C00000"/>
                </a:solidFill>
                <a:latin typeface="Marcellus"/>
                <a:ea typeface="Marcellus"/>
                <a:cs typeface="Marcellus"/>
                <a:sym typeface="Marcellus"/>
              </a:rPr>
              <a:t>Classical Attack Analysis</a:t>
            </a:r>
            <a:endParaRPr>
              <a:solidFill>
                <a:srgbClr val="C00000"/>
              </a:solidFill>
              <a:latin typeface="Marcellus"/>
              <a:ea typeface="Marcellus"/>
              <a:cs typeface="Marcellus"/>
              <a:sym typeface="Marcellus"/>
            </a:endParaRPr>
          </a:p>
        </p:txBody>
      </p:sp>
      <p:graphicFrame>
        <p:nvGraphicFramePr>
          <p:cNvPr id="350" name="Google Shape;350;p68"/>
          <p:cNvGraphicFramePr/>
          <p:nvPr/>
        </p:nvGraphicFramePr>
        <p:xfrm>
          <a:off x="1496291" y="1189081"/>
          <a:ext cx="6317675" cy="3008850"/>
        </p:xfrm>
        <a:graphic>
          <a:graphicData uri="http://schemas.openxmlformats.org/drawingml/2006/table">
            <a:tbl>
              <a:tblPr firstRow="1" firstCol="1" bandRow="1">
                <a:noFill/>
                <a:tableStyleId>{708E9160-7032-41F5-802E-B7FD925B90A3}</a:tableStyleId>
              </a:tblPr>
              <a:tblGrid>
                <a:gridCol w="1776850"/>
                <a:gridCol w="2015825"/>
                <a:gridCol w="2525000"/>
              </a:tblGrid>
              <a:tr h="608000">
                <a:tc>
                  <a:txBody>
                    <a:bodyPr/>
                    <a:lstStyle/>
                    <a:p>
                      <a:pPr marL="0" marR="0" lvl="0" indent="0" algn="ctr" rtl="0">
                        <a:lnSpc>
                          <a:spcPct val="115000"/>
                        </a:lnSpc>
                        <a:spcBef>
                          <a:spcPts val="0"/>
                        </a:spcBef>
                        <a:spcAft>
                          <a:spcPts val="0"/>
                        </a:spcAft>
                        <a:buNone/>
                      </a:pPr>
                      <a:r>
                        <a:rPr lang="en-US" sz="1600" u="none" strike="noStrike" cap="none"/>
                        <a:t>Attack Type</a:t>
                      </a:r>
                      <a:endParaRPr sz="1400" u="none" strike="noStrike" cap="none">
                        <a:latin typeface="Calibri"/>
                        <a:ea typeface="Calibri"/>
                        <a:cs typeface="Calibri"/>
                        <a:sym typeface="Calibri"/>
                      </a:endParaRPr>
                    </a:p>
                  </a:txBody>
                  <a:tcPr marL="9525" marR="9525" marT="9525" marB="9525" anchor="ctr"/>
                </a:tc>
                <a:tc>
                  <a:txBody>
                    <a:bodyPr/>
                    <a:lstStyle/>
                    <a:p>
                      <a:pPr marL="0" marR="0" lvl="0" indent="0" algn="ctr" rtl="0">
                        <a:lnSpc>
                          <a:spcPct val="115000"/>
                        </a:lnSpc>
                        <a:spcBef>
                          <a:spcPts val="0"/>
                        </a:spcBef>
                        <a:spcAft>
                          <a:spcPts val="0"/>
                        </a:spcAft>
                        <a:buNone/>
                      </a:pPr>
                      <a:r>
                        <a:rPr lang="en-US" sz="1600" u="none" strike="noStrike" cap="none"/>
                        <a:t>Possible?</a:t>
                      </a:r>
                      <a:endParaRPr sz="1400" u="none" strike="noStrike" cap="none">
                        <a:latin typeface="Calibri"/>
                        <a:ea typeface="Calibri"/>
                        <a:cs typeface="Calibri"/>
                        <a:sym typeface="Calibri"/>
                      </a:endParaRPr>
                    </a:p>
                  </a:txBody>
                  <a:tcPr marL="9525" marR="9525" marT="9525" marB="9525" anchor="ctr"/>
                </a:tc>
                <a:tc>
                  <a:txBody>
                    <a:bodyPr/>
                    <a:lstStyle/>
                    <a:p>
                      <a:pPr marL="0" marR="0" lvl="0" indent="0" algn="ctr" rtl="0">
                        <a:lnSpc>
                          <a:spcPct val="115000"/>
                        </a:lnSpc>
                        <a:spcBef>
                          <a:spcPts val="0"/>
                        </a:spcBef>
                        <a:spcAft>
                          <a:spcPts val="0"/>
                        </a:spcAft>
                        <a:buNone/>
                      </a:pPr>
                      <a:r>
                        <a:rPr lang="en-US" sz="1600" u="none" strike="noStrike" cap="none"/>
                        <a:t>Explanation</a:t>
                      </a:r>
                      <a:endParaRPr sz="1400" u="none" strike="noStrike" cap="none">
                        <a:latin typeface="Calibri"/>
                        <a:ea typeface="Calibri"/>
                        <a:cs typeface="Calibri"/>
                        <a:sym typeface="Calibri"/>
                      </a:endParaRPr>
                    </a:p>
                  </a:txBody>
                  <a:tcPr marL="9525" marR="9525" marT="9525" marB="9525" anchor="ctr"/>
                </a:tc>
              </a:tr>
              <a:tr h="1200425">
                <a:tc>
                  <a:txBody>
                    <a:bodyPr/>
                    <a:lstStyle/>
                    <a:p>
                      <a:pPr marL="0" marR="0" lvl="0" indent="0" algn="ctr" rtl="0">
                        <a:lnSpc>
                          <a:spcPct val="115000"/>
                        </a:lnSpc>
                        <a:spcBef>
                          <a:spcPts val="0"/>
                        </a:spcBef>
                        <a:spcAft>
                          <a:spcPts val="0"/>
                        </a:spcAft>
                        <a:buNone/>
                      </a:pPr>
                      <a:r>
                        <a:rPr lang="en-US" sz="1600" u="none" strike="noStrike" cap="none"/>
                        <a:t>Insider Attack</a:t>
                      </a:r>
                      <a:endParaRPr sz="1400" u="none" strike="noStrike" cap="none">
                        <a:latin typeface="Calibri"/>
                        <a:ea typeface="Calibri"/>
                        <a:cs typeface="Calibri"/>
                        <a:sym typeface="Calibri"/>
                      </a:endParaRPr>
                    </a:p>
                  </a:txBody>
                  <a:tcPr marL="9525" marR="9525" marT="9525" marB="9525" anchor="ctr"/>
                </a:tc>
                <a:tc>
                  <a:txBody>
                    <a:bodyPr/>
                    <a:lstStyle/>
                    <a:p>
                      <a:pPr marL="0" marR="0" lvl="0" indent="0" algn="ctr" rtl="0">
                        <a:lnSpc>
                          <a:spcPct val="115000"/>
                        </a:lnSpc>
                        <a:spcBef>
                          <a:spcPts val="0"/>
                        </a:spcBef>
                        <a:spcAft>
                          <a:spcPts val="0"/>
                        </a:spcAft>
                        <a:buNone/>
                      </a:pPr>
                      <a:r>
                        <a:rPr lang="en-US" sz="1600" u="none" strike="noStrike" cap="none"/>
                        <a:t>✅ Yes</a:t>
                      </a:r>
                      <a:endParaRPr sz="1400" u="none" strike="noStrike" cap="none">
                        <a:latin typeface="Calibri"/>
                        <a:ea typeface="Calibri"/>
                        <a:cs typeface="Calibri"/>
                        <a:sym typeface="Calibri"/>
                      </a:endParaRPr>
                    </a:p>
                  </a:txBody>
                  <a:tcPr marL="9525" marR="9525" marT="9525" marB="9525" anchor="ctr"/>
                </a:tc>
                <a:tc>
                  <a:txBody>
                    <a:bodyPr/>
                    <a:lstStyle/>
                    <a:p>
                      <a:pPr marL="0" marR="0" lvl="0" indent="0" algn="ctr" rtl="0">
                        <a:lnSpc>
                          <a:spcPct val="115000"/>
                        </a:lnSpc>
                        <a:spcBef>
                          <a:spcPts val="0"/>
                        </a:spcBef>
                        <a:spcAft>
                          <a:spcPts val="0"/>
                        </a:spcAft>
                        <a:buNone/>
                      </a:pPr>
                      <a:r>
                        <a:rPr lang="en-US" sz="1600" u="none" strike="noStrike" cap="none"/>
                        <a:t>Snowden was an authorized user who misused his access.</a:t>
                      </a:r>
                      <a:endParaRPr sz="1400" u="none" strike="noStrike" cap="none">
                        <a:latin typeface="Calibri"/>
                        <a:ea typeface="Calibri"/>
                        <a:cs typeface="Calibri"/>
                        <a:sym typeface="Calibri"/>
                      </a:endParaRPr>
                    </a:p>
                  </a:txBody>
                  <a:tcPr marL="9525" marR="9525" marT="9525" marB="9525" anchor="ctr"/>
                </a:tc>
              </a:tr>
              <a:tr h="1200425">
                <a:tc>
                  <a:txBody>
                    <a:bodyPr/>
                    <a:lstStyle/>
                    <a:p>
                      <a:pPr marL="0" marR="0" lvl="0" indent="0" algn="ctr" rtl="0">
                        <a:lnSpc>
                          <a:spcPct val="115000"/>
                        </a:lnSpc>
                        <a:spcBef>
                          <a:spcPts val="0"/>
                        </a:spcBef>
                        <a:spcAft>
                          <a:spcPts val="0"/>
                        </a:spcAft>
                        <a:buNone/>
                      </a:pPr>
                      <a:r>
                        <a:rPr lang="en-US" sz="1600" u="none" strike="noStrike" cap="none"/>
                        <a:t>Privilege Abuse</a:t>
                      </a:r>
                      <a:endParaRPr sz="1400" u="none" strike="noStrike" cap="none">
                        <a:latin typeface="Calibri"/>
                        <a:ea typeface="Calibri"/>
                        <a:cs typeface="Calibri"/>
                        <a:sym typeface="Calibri"/>
                      </a:endParaRPr>
                    </a:p>
                  </a:txBody>
                  <a:tcPr marL="9525" marR="9525" marT="9525" marB="9525" anchor="ctr"/>
                </a:tc>
                <a:tc>
                  <a:txBody>
                    <a:bodyPr/>
                    <a:lstStyle/>
                    <a:p>
                      <a:pPr marL="0" marR="0" lvl="0" indent="0" algn="ctr" rtl="0">
                        <a:lnSpc>
                          <a:spcPct val="115000"/>
                        </a:lnSpc>
                        <a:spcBef>
                          <a:spcPts val="0"/>
                        </a:spcBef>
                        <a:spcAft>
                          <a:spcPts val="0"/>
                        </a:spcAft>
                        <a:buNone/>
                      </a:pPr>
                      <a:r>
                        <a:rPr lang="en-US" sz="1600" u="none" strike="noStrike" cap="none"/>
                        <a:t>✅ Yes</a:t>
                      </a:r>
                      <a:endParaRPr sz="1400" u="none" strike="noStrike" cap="none">
                        <a:latin typeface="Calibri"/>
                        <a:ea typeface="Calibri"/>
                        <a:cs typeface="Calibri"/>
                        <a:sym typeface="Calibri"/>
                      </a:endParaRPr>
                    </a:p>
                  </a:txBody>
                  <a:tcPr marL="9525" marR="9525" marT="9525" marB="9525" anchor="ctr"/>
                </a:tc>
                <a:tc>
                  <a:txBody>
                    <a:bodyPr/>
                    <a:lstStyle/>
                    <a:p>
                      <a:pPr marL="0" marR="0" lvl="0" indent="0" algn="ctr" rtl="0">
                        <a:lnSpc>
                          <a:spcPct val="115000"/>
                        </a:lnSpc>
                        <a:spcBef>
                          <a:spcPts val="0"/>
                        </a:spcBef>
                        <a:spcAft>
                          <a:spcPts val="0"/>
                        </a:spcAft>
                        <a:buNone/>
                      </a:pPr>
                      <a:r>
                        <a:rPr lang="en-US" sz="1600" u="none" strike="noStrike" cap="none"/>
                        <a:t>He accessed far more classified documents than needed.</a:t>
                      </a:r>
                      <a:endParaRPr sz="1400" u="none" strike="noStrike" cap="none">
                        <a:latin typeface="Calibri"/>
                        <a:ea typeface="Calibri"/>
                        <a:cs typeface="Calibri"/>
                        <a:sym typeface="Calibri"/>
                      </a:endParaRPr>
                    </a:p>
                  </a:txBody>
                  <a:tcPr marL="9525" marR="9525" marT="9525" marB="9525" anchor="ctr"/>
                </a:tc>
              </a:tr>
            </a:tbl>
          </a:graphicData>
        </a:graphic>
      </p:graphicFrame>
      <p:sp>
        <p:nvSpPr>
          <p:cNvPr id="351" name="Google Shape;351;p68"/>
          <p:cNvSpPr txBox="1">
            <a:spLocks noGrp="1"/>
          </p:cNvSpPr>
          <p:nvPr>
            <p:ph type="body" idx="1"/>
          </p:nvPr>
        </p:nvSpPr>
        <p:spPr>
          <a:xfrm>
            <a:off x="762349" y="4490069"/>
            <a:ext cx="7446469" cy="1600438"/>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chemeClr val="dk1"/>
              </a:buClr>
              <a:buSzPts val="1800"/>
              <a:buFont typeface="Calibri"/>
              <a:buNone/>
            </a:pPr>
            <a:r>
              <a:rPr lang="en-US" sz="1800" b="1" i="0" u="none" strike="noStrike" cap="none">
                <a:solidFill>
                  <a:schemeClr val="dk1"/>
                </a:solidFill>
                <a:latin typeface="Calibri"/>
                <a:ea typeface="Calibri"/>
                <a:cs typeface="Calibri"/>
                <a:sym typeface="Calibri"/>
              </a:rPr>
              <a:t>Prevention Measures</a:t>
            </a:r>
            <a:endParaRPr sz="16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600"/>
              <a:buFont typeface="Arial"/>
              <a:buNone/>
            </a:pPr>
            <a:r>
              <a:rPr lang="en-US" sz="1600" b="0" i="0" u="none" strike="noStrike" cap="none">
                <a:solidFill>
                  <a:schemeClr val="dk1"/>
                </a:solidFill>
                <a:latin typeface="Arial"/>
                <a:ea typeface="Arial"/>
                <a:cs typeface="Arial"/>
                <a:sym typeface="Arial"/>
              </a:rPr>
              <a:t>✅ </a:t>
            </a:r>
            <a:r>
              <a:rPr lang="en-US" sz="1600" b="1" i="0" u="none" strike="noStrike" cap="none">
                <a:solidFill>
                  <a:schemeClr val="dk1"/>
                </a:solidFill>
                <a:latin typeface="Arial"/>
                <a:ea typeface="Arial"/>
                <a:cs typeface="Arial"/>
                <a:sym typeface="Arial"/>
              </a:rPr>
              <a:t>Zero Trust Security</a:t>
            </a:r>
            <a:r>
              <a:rPr lang="en-US" sz="1600" b="0" i="0" u="none" strike="noStrike" cap="none">
                <a:solidFill>
                  <a:schemeClr val="dk1"/>
                </a:solidFill>
                <a:latin typeface="Arial"/>
                <a:ea typeface="Arial"/>
                <a:cs typeface="Arial"/>
                <a:sym typeface="Arial"/>
              </a:rPr>
              <a:t> – Constant verification of access requests.</a:t>
            </a:r>
            <a:br>
              <a:rPr lang="en-US" sz="1600" b="0" i="0" u="none" strike="noStrike" cap="none">
                <a:solidFill>
                  <a:schemeClr val="dk1"/>
                </a:solidFill>
                <a:latin typeface="Arial"/>
                <a:ea typeface="Arial"/>
                <a:cs typeface="Arial"/>
                <a:sym typeface="Arial"/>
              </a:rPr>
            </a:br>
            <a:r>
              <a:rPr lang="en-US" sz="1600" b="0" i="0" u="none" strike="noStrike" cap="none">
                <a:solidFill>
                  <a:schemeClr val="dk1"/>
                </a:solidFill>
                <a:latin typeface="Arial"/>
                <a:ea typeface="Arial"/>
                <a:cs typeface="Arial"/>
                <a:sym typeface="Arial"/>
              </a:rPr>
              <a:t>✅ </a:t>
            </a:r>
            <a:r>
              <a:rPr lang="en-US" sz="1600" b="1" i="0" u="none" strike="noStrike" cap="none">
                <a:solidFill>
                  <a:schemeClr val="dk1"/>
                </a:solidFill>
                <a:latin typeface="Arial"/>
                <a:ea typeface="Arial"/>
                <a:cs typeface="Arial"/>
                <a:sym typeface="Arial"/>
              </a:rPr>
              <a:t>Role-Based Access Control (RBAC)</a:t>
            </a:r>
            <a:r>
              <a:rPr lang="en-US" sz="1600" b="0" i="0" u="none" strike="noStrike" cap="none">
                <a:solidFill>
                  <a:schemeClr val="dk1"/>
                </a:solidFill>
                <a:latin typeface="Arial"/>
                <a:ea typeface="Arial"/>
                <a:cs typeface="Arial"/>
                <a:sym typeface="Arial"/>
              </a:rPr>
              <a:t> – Restrict employees to only necessary information.</a:t>
            </a:r>
            <a:br>
              <a:rPr lang="en-US" sz="1600" b="0" i="0" u="none" strike="noStrike" cap="none">
                <a:solidFill>
                  <a:schemeClr val="dk1"/>
                </a:solidFill>
                <a:latin typeface="Arial"/>
                <a:ea typeface="Arial"/>
                <a:cs typeface="Arial"/>
                <a:sym typeface="Arial"/>
              </a:rPr>
            </a:br>
            <a:r>
              <a:rPr lang="en-US" sz="1600" b="0" i="0" u="none" strike="noStrike" cap="none">
                <a:solidFill>
                  <a:schemeClr val="dk1"/>
                </a:solidFill>
                <a:latin typeface="Arial"/>
                <a:ea typeface="Arial"/>
                <a:cs typeface="Arial"/>
                <a:sym typeface="Arial"/>
              </a:rPr>
              <a:t>✅ </a:t>
            </a:r>
            <a:r>
              <a:rPr lang="en-US" sz="1600" b="1" i="0" u="none" strike="noStrike" cap="none">
                <a:solidFill>
                  <a:schemeClr val="dk1"/>
                </a:solidFill>
                <a:latin typeface="Arial"/>
                <a:ea typeface="Arial"/>
                <a:cs typeface="Arial"/>
                <a:sym typeface="Arial"/>
              </a:rPr>
              <a:t>Digital Watermarking</a:t>
            </a:r>
            <a:r>
              <a:rPr lang="en-US" sz="1600" b="0" i="0" u="none" strike="noStrike" cap="none">
                <a:solidFill>
                  <a:schemeClr val="dk1"/>
                </a:solidFill>
                <a:latin typeface="Arial"/>
                <a:ea typeface="Arial"/>
                <a:cs typeface="Arial"/>
                <a:sym typeface="Arial"/>
              </a:rPr>
              <a:t> – Trace leaks by embedding invisible tracking in documents.</a:t>
            </a:r>
            <a:r>
              <a:rPr lang="en-US" sz="800" b="0" i="0" u="none" strike="noStrike" cap="none">
                <a:solidFill>
                  <a:schemeClr val="dk1"/>
                </a:solidFill>
                <a:latin typeface="Arial"/>
                <a:ea typeface="Arial"/>
                <a:cs typeface="Arial"/>
                <a:sym typeface="Arial"/>
              </a:rPr>
              <a:t> </a:t>
            </a:r>
            <a:endParaRPr sz="2400" b="0" i="0" u="none" strike="noStrike" cap="none">
              <a:solidFill>
                <a:schemeClr val="dk1"/>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69"/>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en-US"/>
              <a:t>Ms. Swati Mali</a:t>
            </a:r>
            <a:endParaRPr/>
          </a:p>
        </p:txBody>
      </p:sp>
      <p:sp>
        <p:nvSpPr>
          <p:cNvPr id="357" name="Google Shape;357;p69"/>
          <p:cNvSpPr txBox="1">
            <a:spLocks noGrp="1"/>
          </p:cNvSpPr>
          <p:nvPr>
            <p:ph type="title"/>
          </p:nvPr>
        </p:nvSpPr>
        <p:spPr>
          <a:xfrm>
            <a:off x="817323" y="214817"/>
            <a:ext cx="7402883" cy="874951"/>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930B0B"/>
              </a:buClr>
              <a:buSzPts val="3600"/>
              <a:buFont typeface="Times New Roman"/>
              <a:buNone/>
            </a:pPr>
            <a:r>
              <a:rPr lang="en-US" b="1"/>
              <a:t> Netflix's "Orange Is the New Black" Ransom Leak (2017)</a:t>
            </a:r>
            <a:endParaRPr/>
          </a:p>
        </p:txBody>
      </p:sp>
      <p:sp>
        <p:nvSpPr>
          <p:cNvPr id="358" name="Google Shape;358;p69"/>
          <p:cNvSpPr txBox="1">
            <a:spLocks noGrp="1"/>
          </p:cNvSpPr>
          <p:nvPr>
            <p:ph type="body" idx="1"/>
          </p:nvPr>
        </p:nvSpPr>
        <p:spPr>
          <a:xfrm>
            <a:off x="700004" y="1324629"/>
            <a:ext cx="8229600" cy="4525963"/>
          </a:xfrm>
          <a:prstGeom prst="rect">
            <a:avLst/>
          </a:prstGeom>
          <a:noFill/>
          <a:ln>
            <a:noFill/>
          </a:ln>
        </p:spPr>
        <p:txBody>
          <a:bodyPr spcFirstLastPara="1" wrap="square" lIns="91425" tIns="45700" rIns="91425" bIns="45700" anchor="t" anchorCtr="0">
            <a:normAutofit fontScale="85000" lnSpcReduction="20000"/>
          </a:bodyPr>
          <a:lstStyle/>
          <a:p>
            <a:pPr marL="457200" marR="0" lvl="0" indent="-406400" algn="l" rtl="0">
              <a:lnSpc>
                <a:spcPct val="90000"/>
              </a:lnSpc>
              <a:spcBef>
                <a:spcPts val="1000"/>
              </a:spcBef>
              <a:spcAft>
                <a:spcPts val="0"/>
              </a:spcAft>
              <a:buClr>
                <a:schemeClr val="dk1"/>
              </a:buClr>
              <a:buSzPct val="117647"/>
              <a:buFont typeface="Arial"/>
              <a:buChar char="•"/>
            </a:pPr>
            <a:r>
              <a:rPr lang="en-US"/>
              <a:t>In 2017, a hacker group known as </a:t>
            </a:r>
            <a:r>
              <a:rPr lang="en-US" b="1"/>
              <a:t>The Dark Overlord (TDO)</a:t>
            </a:r>
            <a:r>
              <a:rPr lang="en-US"/>
              <a:t> infiltrated the systems of </a:t>
            </a:r>
            <a:r>
              <a:rPr lang="en-US" b="1"/>
              <a:t>Larson Studios</a:t>
            </a:r>
            <a:r>
              <a:rPr lang="en-US"/>
              <a:t>, an audio post-production company collaborating with major studios, including Netflix. TDO exfiltrated unreleased episodes of the fifth season of </a:t>
            </a:r>
            <a:r>
              <a:rPr lang="en-US" b="1"/>
              <a:t>"Orange Is the New Black"</a:t>
            </a:r>
            <a:r>
              <a:rPr lang="en-US"/>
              <a:t> and demanded a ransom for withholding their release.</a:t>
            </a:r>
            <a:endParaRPr/>
          </a:p>
          <a:p>
            <a:pPr marL="457200" marR="0" lvl="0" indent="-406400" algn="l" rtl="0">
              <a:lnSpc>
                <a:spcPct val="90000"/>
              </a:lnSpc>
              <a:spcBef>
                <a:spcPts val="1000"/>
              </a:spcBef>
              <a:spcAft>
                <a:spcPts val="0"/>
              </a:spcAft>
              <a:buClr>
                <a:schemeClr val="dk1"/>
              </a:buClr>
              <a:buSzPct val="117647"/>
              <a:buFont typeface="Arial"/>
              <a:buChar char="•"/>
            </a:pPr>
            <a:r>
              <a:rPr lang="en-US" b="1"/>
              <a:t>Sequence of Events</a:t>
            </a:r>
            <a:endParaRPr/>
          </a:p>
          <a:p>
            <a:pPr marL="914400" lvl="1" indent="-381000" algn="l" rtl="0">
              <a:lnSpc>
                <a:spcPct val="90000"/>
              </a:lnSpc>
              <a:spcBef>
                <a:spcPts val="500"/>
              </a:spcBef>
              <a:spcAft>
                <a:spcPts val="0"/>
              </a:spcAft>
              <a:buSzPct val="117647"/>
              <a:buChar char="o"/>
            </a:pPr>
            <a:r>
              <a:rPr lang="en-US" b="1"/>
              <a:t>Initial Breach</a:t>
            </a:r>
            <a:r>
              <a:rPr lang="en-US"/>
              <a:t>: TDO accessed Larson Studios' servers, obtaining numerous unreleased TV episodes and movies.</a:t>
            </a:r>
            <a:endParaRPr/>
          </a:p>
          <a:p>
            <a:pPr marL="914400" lvl="1" indent="-381000" algn="l" rtl="0">
              <a:lnSpc>
                <a:spcPct val="90000"/>
              </a:lnSpc>
              <a:spcBef>
                <a:spcPts val="500"/>
              </a:spcBef>
              <a:spcAft>
                <a:spcPts val="0"/>
              </a:spcAft>
              <a:buSzPct val="117647"/>
              <a:buChar char="o"/>
            </a:pPr>
            <a:r>
              <a:rPr lang="en-US" b="1"/>
              <a:t>Ransom Demand</a:t>
            </a:r>
            <a:r>
              <a:rPr lang="en-US"/>
              <a:t>: The group demanded </a:t>
            </a:r>
            <a:r>
              <a:rPr lang="en-US" b="1"/>
              <a:t>50 Bitcoin (approximately $67,000 at the time)</a:t>
            </a:r>
            <a:r>
              <a:rPr lang="en-US"/>
              <a:t> from Larson Studios, threatening to release the content if unpaid.</a:t>
            </a:r>
            <a:endParaRPr/>
          </a:p>
          <a:p>
            <a:pPr marL="914400" lvl="1" indent="-381000" algn="l" rtl="0">
              <a:lnSpc>
                <a:spcPct val="90000"/>
              </a:lnSpc>
              <a:spcBef>
                <a:spcPts val="500"/>
              </a:spcBef>
              <a:spcAft>
                <a:spcPts val="0"/>
              </a:spcAft>
              <a:buSzPct val="117647"/>
              <a:buChar char="o"/>
            </a:pPr>
            <a:r>
              <a:rPr lang="en-US" b="1"/>
              <a:t>Negotiation Breakdown</a:t>
            </a:r>
            <a:r>
              <a:rPr lang="en-US"/>
              <a:t>: Despite initial agreements, Larson Studios did not fulfill the payment. TDO then approached Netflix with a similar ransom demand.</a:t>
            </a:r>
            <a:endParaRPr/>
          </a:p>
          <a:p>
            <a:pPr marL="914400" lvl="1" indent="-381000" algn="l" rtl="0">
              <a:lnSpc>
                <a:spcPct val="90000"/>
              </a:lnSpc>
              <a:spcBef>
                <a:spcPts val="500"/>
              </a:spcBef>
              <a:spcAft>
                <a:spcPts val="0"/>
              </a:spcAft>
              <a:buSzPct val="117647"/>
              <a:buChar char="o"/>
            </a:pPr>
            <a:r>
              <a:rPr lang="en-US" b="1"/>
              <a:t>Public Leak</a:t>
            </a:r>
            <a:r>
              <a:rPr lang="en-US"/>
              <a:t>: After Netflix refused to comply, TDO released the first ten episodes of the season online ahead of the official release date.</a:t>
            </a:r>
            <a:endParaRPr/>
          </a:p>
          <a:p>
            <a:pPr marL="533400" lvl="1" indent="0" algn="l" rtl="0">
              <a:lnSpc>
                <a:spcPct val="90000"/>
              </a:lnSpc>
              <a:spcBef>
                <a:spcPts val="500"/>
              </a:spcBef>
              <a:spcAft>
                <a:spcPts val="0"/>
              </a:spcAft>
              <a:buSzPct val="117647"/>
              <a:buNone/>
            </a:pP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70"/>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en-US"/>
              <a:t>Ms. Swati Mali</a:t>
            </a:r>
            <a:endParaRPr/>
          </a:p>
        </p:txBody>
      </p:sp>
      <p:sp>
        <p:nvSpPr>
          <p:cNvPr id="364" name="Google Shape;364;p70"/>
          <p:cNvSpPr txBox="1">
            <a:spLocks noGrp="1"/>
          </p:cNvSpPr>
          <p:nvPr>
            <p:ph type="title"/>
          </p:nvPr>
        </p:nvSpPr>
        <p:spPr>
          <a:xfrm>
            <a:off x="817323" y="214817"/>
            <a:ext cx="7402883" cy="874951"/>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930B0B"/>
              </a:buClr>
              <a:buSzPts val="3600"/>
              <a:buFont typeface="Times New Roman"/>
              <a:buNone/>
            </a:pPr>
            <a:r>
              <a:rPr lang="en-US" b="1"/>
              <a:t>Security Goals Analysis</a:t>
            </a:r>
            <a:endParaRPr/>
          </a:p>
        </p:txBody>
      </p:sp>
      <p:graphicFrame>
        <p:nvGraphicFramePr>
          <p:cNvPr id="365" name="Google Shape;365;p70"/>
          <p:cNvGraphicFramePr/>
          <p:nvPr/>
        </p:nvGraphicFramePr>
        <p:xfrm>
          <a:off x="477982" y="1410302"/>
          <a:ext cx="8229600" cy="4720300"/>
        </p:xfrm>
        <a:graphic>
          <a:graphicData uri="http://schemas.openxmlformats.org/drawingml/2006/table">
            <a:tbl>
              <a:tblPr firstRow="1" firstCol="1" bandRow="1">
                <a:noFill/>
                <a:tableStyleId>{708E9160-7032-41F5-802E-B7FD925B90A3}</a:tableStyleId>
              </a:tblPr>
              <a:tblGrid>
                <a:gridCol w="2171700"/>
                <a:gridCol w="2078175"/>
                <a:gridCol w="3979725"/>
              </a:tblGrid>
              <a:tr h="368175">
                <a:tc>
                  <a:txBody>
                    <a:bodyPr/>
                    <a:lstStyle/>
                    <a:p>
                      <a:pPr marL="0" marR="0" lvl="0" indent="0" algn="ctr" rtl="0">
                        <a:lnSpc>
                          <a:spcPct val="115000"/>
                        </a:lnSpc>
                        <a:spcBef>
                          <a:spcPts val="0"/>
                        </a:spcBef>
                        <a:spcAft>
                          <a:spcPts val="0"/>
                        </a:spcAft>
                        <a:buNone/>
                      </a:pPr>
                      <a:r>
                        <a:rPr lang="en-US" sz="1800" u="none" strike="noStrike" cap="none"/>
                        <a:t>Security Goal</a:t>
                      </a:r>
                      <a:endParaRPr sz="1600" u="none" strike="noStrike" cap="none">
                        <a:latin typeface="Calibri"/>
                        <a:ea typeface="Calibri"/>
                        <a:cs typeface="Calibri"/>
                        <a:sym typeface="Calibri"/>
                      </a:endParaRPr>
                    </a:p>
                  </a:txBody>
                  <a:tcPr marL="9525" marR="9525" marT="9525" marB="9525" anchor="ctr"/>
                </a:tc>
                <a:tc>
                  <a:txBody>
                    <a:bodyPr/>
                    <a:lstStyle/>
                    <a:p>
                      <a:pPr marL="0" marR="0" lvl="0" indent="0" algn="ctr" rtl="0">
                        <a:lnSpc>
                          <a:spcPct val="115000"/>
                        </a:lnSpc>
                        <a:spcBef>
                          <a:spcPts val="0"/>
                        </a:spcBef>
                        <a:spcAft>
                          <a:spcPts val="0"/>
                        </a:spcAft>
                        <a:buNone/>
                      </a:pPr>
                      <a:r>
                        <a:rPr lang="en-US" sz="1800" u="none" strike="noStrike" cap="none"/>
                        <a:t>Status</a:t>
                      </a:r>
                      <a:endParaRPr sz="1600" u="none" strike="noStrike" cap="none">
                        <a:latin typeface="Calibri"/>
                        <a:ea typeface="Calibri"/>
                        <a:cs typeface="Calibri"/>
                        <a:sym typeface="Calibri"/>
                      </a:endParaRPr>
                    </a:p>
                  </a:txBody>
                  <a:tcPr marL="9525" marR="9525" marT="9525" marB="9525" anchor="ctr"/>
                </a:tc>
                <a:tc>
                  <a:txBody>
                    <a:bodyPr/>
                    <a:lstStyle/>
                    <a:p>
                      <a:pPr marL="0" marR="0" lvl="0" indent="0" algn="ctr" rtl="0">
                        <a:lnSpc>
                          <a:spcPct val="115000"/>
                        </a:lnSpc>
                        <a:spcBef>
                          <a:spcPts val="0"/>
                        </a:spcBef>
                        <a:spcAft>
                          <a:spcPts val="0"/>
                        </a:spcAft>
                        <a:buNone/>
                      </a:pPr>
                      <a:r>
                        <a:rPr lang="en-US" sz="1800" u="none" strike="noStrike" cap="none"/>
                        <a:t>Explanation</a:t>
                      </a:r>
                      <a:endParaRPr sz="1600" u="none" strike="noStrike" cap="none">
                        <a:latin typeface="Calibri"/>
                        <a:ea typeface="Calibri"/>
                        <a:cs typeface="Calibri"/>
                        <a:sym typeface="Calibri"/>
                      </a:endParaRPr>
                    </a:p>
                  </a:txBody>
                  <a:tcPr marL="9525" marR="9525" marT="9525" marB="9525" anchor="ctr"/>
                </a:tc>
              </a:tr>
              <a:tr h="726925">
                <a:tc>
                  <a:txBody>
                    <a:bodyPr/>
                    <a:lstStyle/>
                    <a:p>
                      <a:pPr marL="0" marR="0" lvl="0" indent="0" algn="l" rtl="0">
                        <a:lnSpc>
                          <a:spcPct val="115000"/>
                        </a:lnSpc>
                        <a:spcBef>
                          <a:spcPts val="0"/>
                        </a:spcBef>
                        <a:spcAft>
                          <a:spcPts val="0"/>
                        </a:spcAft>
                        <a:buNone/>
                      </a:pPr>
                      <a:r>
                        <a:rPr lang="en-US" sz="1800" u="none" strike="noStrike" cap="none"/>
                        <a:t>Confidentiality</a:t>
                      </a:r>
                      <a:endParaRPr sz="1600" u="none" strike="noStrike" cap="none">
                        <a:latin typeface="Calibri"/>
                        <a:ea typeface="Calibri"/>
                        <a:cs typeface="Calibri"/>
                        <a:sym typeface="Calibri"/>
                      </a:endParaRPr>
                    </a:p>
                  </a:txBody>
                  <a:tcPr marL="9525" marR="9525" marT="9525" marB="9525" anchor="ctr"/>
                </a:tc>
                <a:tc>
                  <a:txBody>
                    <a:bodyPr/>
                    <a:lstStyle/>
                    <a:p>
                      <a:pPr marL="0" marR="0" lvl="0" indent="0" algn="l" rtl="0">
                        <a:lnSpc>
                          <a:spcPct val="115000"/>
                        </a:lnSpc>
                        <a:spcBef>
                          <a:spcPts val="0"/>
                        </a:spcBef>
                        <a:spcAft>
                          <a:spcPts val="0"/>
                        </a:spcAft>
                        <a:buNone/>
                      </a:pPr>
                      <a:r>
                        <a:rPr lang="en-US" sz="1800" u="none" strike="noStrike" cap="none"/>
                        <a:t>❌ Compromised</a:t>
                      </a:r>
                      <a:endParaRPr sz="1600" u="none" strike="noStrike" cap="none">
                        <a:latin typeface="Calibri"/>
                        <a:ea typeface="Calibri"/>
                        <a:cs typeface="Calibri"/>
                        <a:sym typeface="Calibri"/>
                      </a:endParaRPr>
                    </a:p>
                  </a:txBody>
                  <a:tcPr marL="9525" marR="9525" marT="9525" marB="9525" anchor="ctr"/>
                </a:tc>
                <a:tc>
                  <a:txBody>
                    <a:bodyPr/>
                    <a:lstStyle/>
                    <a:p>
                      <a:pPr marL="0" marR="0" lvl="0" indent="0" algn="l" rtl="0">
                        <a:lnSpc>
                          <a:spcPct val="115000"/>
                        </a:lnSpc>
                        <a:spcBef>
                          <a:spcPts val="0"/>
                        </a:spcBef>
                        <a:spcAft>
                          <a:spcPts val="0"/>
                        </a:spcAft>
                        <a:buNone/>
                      </a:pPr>
                      <a:r>
                        <a:rPr lang="en-US" sz="1800" u="none" strike="noStrike" cap="none"/>
                        <a:t>Unauthorized access and release of unreleased episodes.</a:t>
                      </a:r>
                      <a:endParaRPr sz="1600" u="none" strike="noStrike" cap="none">
                        <a:latin typeface="Calibri"/>
                        <a:ea typeface="Calibri"/>
                        <a:cs typeface="Calibri"/>
                        <a:sym typeface="Calibri"/>
                      </a:endParaRPr>
                    </a:p>
                  </a:txBody>
                  <a:tcPr marL="9525" marR="9525" marT="9525" marB="9525" anchor="ctr"/>
                </a:tc>
              </a:tr>
              <a:tr h="726925">
                <a:tc>
                  <a:txBody>
                    <a:bodyPr/>
                    <a:lstStyle/>
                    <a:p>
                      <a:pPr marL="0" marR="0" lvl="0" indent="0" algn="l" rtl="0">
                        <a:lnSpc>
                          <a:spcPct val="115000"/>
                        </a:lnSpc>
                        <a:spcBef>
                          <a:spcPts val="0"/>
                        </a:spcBef>
                        <a:spcAft>
                          <a:spcPts val="0"/>
                        </a:spcAft>
                        <a:buNone/>
                      </a:pPr>
                      <a:r>
                        <a:rPr lang="en-US" sz="1800" u="none" strike="noStrike" cap="none"/>
                        <a:t>Integrity</a:t>
                      </a:r>
                      <a:endParaRPr sz="1600" u="none" strike="noStrike" cap="none">
                        <a:latin typeface="Calibri"/>
                        <a:ea typeface="Calibri"/>
                        <a:cs typeface="Calibri"/>
                        <a:sym typeface="Calibri"/>
                      </a:endParaRPr>
                    </a:p>
                  </a:txBody>
                  <a:tcPr marL="9525" marR="9525" marT="9525" marB="9525" anchor="ctr"/>
                </a:tc>
                <a:tc>
                  <a:txBody>
                    <a:bodyPr/>
                    <a:lstStyle/>
                    <a:p>
                      <a:pPr marL="0" marR="0" lvl="0" indent="0" algn="l" rtl="0">
                        <a:lnSpc>
                          <a:spcPct val="115000"/>
                        </a:lnSpc>
                        <a:spcBef>
                          <a:spcPts val="0"/>
                        </a:spcBef>
                        <a:spcAft>
                          <a:spcPts val="0"/>
                        </a:spcAft>
                        <a:buNone/>
                      </a:pPr>
                      <a:r>
                        <a:rPr lang="en-US" sz="1800" u="none" strike="noStrike" cap="none"/>
                        <a:t>✅ Maintained</a:t>
                      </a:r>
                      <a:endParaRPr sz="1600" u="none" strike="noStrike" cap="none">
                        <a:latin typeface="Calibri"/>
                        <a:ea typeface="Calibri"/>
                        <a:cs typeface="Calibri"/>
                        <a:sym typeface="Calibri"/>
                      </a:endParaRPr>
                    </a:p>
                  </a:txBody>
                  <a:tcPr marL="9525" marR="9525" marT="9525" marB="9525" anchor="ctr"/>
                </a:tc>
                <a:tc>
                  <a:txBody>
                    <a:bodyPr/>
                    <a:lstStyle/>
                    <a:p>
                      <a:pPr marL="0" marR="0" lvl="0" indent="0" algn="l" rtl="0">
                        <a:lnSpc>
                          <a:spcPct val="115000"/>
                        </a:lnSpc>
                        <a:spcBef>
                          <a:spcPts val="0"/>
                        </a:spcBef>
                        <a:spcAft>
                          <a:spcPts val="0"/>
                        </a:spcAft>
                        <a:buNone/>
                      </a:pPr>
                      <a:r>
                        <a:rPr lang="en-US" sz="1800" u="none" strike="noStrike" cap="none"/>
                        <a:t>The content was released without alterations.</a:t>
                      </a:r>
                      <a:endParaRPr sz="1600" u="none" strike="noStrike" cap="none">
                        <a:latin typeface="Calibri"/>
                        <a:ea typeface="Calibri"/>
                        <a:cs typeface="Calibri"/>
                        <a:sym typeface="Calibri"/>
                      </a:endParaRPr>
                    </a:p>
                  </a:txBody>
                  <a:tcPr marL="9525" marR="9525" marT="9525" marB="9525" anchor="ctr"/>
                </a:tc>
              </a:tr>
              <a:tr h="1085675">
                <a:tc>
                  <a:txBody>
                    <a:bodyPr/>
                    <a:lstStyle/>
                    <a:p>
                      <a:pPr marL="0" marR="0" lvl="0" indent="0" algn="l" rtl="0">
                        <a:lnSpc>
                          <a:spcPct val="115000"/>
                        </a:lnSpc>
                        <a:spcBef>
                          <a:spcPts val="0"/>
                        </a:spcBef>
                        <a:spcAft>
                          <a:spcPts val="0"/>
                        </a:spcAft>
                        <a:buNone/>
                      </a:pPr>
                      <a:r>
                        <a:rPr lang="en-US" sz="1800" u="none" strike="noStrike" cap="none"/>
                        <a:t>Availability</a:t>
                      </a:r>
                      <a:endParaRPr sz="1600" u="none" strike="noStrike" cap="none">
                        <a:latin typeface="Calibri"/>
                        <a:ea typeface="Calibri"/>
                        <a:cs typeface="Calibri"/>
                        <a:sym typeface="Calibri"/>
                      </a:endParaRPr>
                    </a:p>
                  </a:txBody>
                  <a:tcPr marL="9525" marR="9525" marT="9525" marB="9525" anchor="ctr"/>
                </a:tc>
                <a:tc>
                  <a:txBody>
                    <a:bodyPr/>
                    <a:lstStyle/>
                    <a:p>
                      <a:pPr marL="0" marR="0" lvl="0" indent="0" algn="l" rtl="0">
                        <a:lnSpc>
                          <a:spcPct val="115000"/>
                        </a:lnSpc>
                        <a:spcBef>
                          <a:spcPts val="0"/>
                        </a:spcBef>
                        <a:spcAft>
                          <a:spcPts val="0"/>
                        </a:spcAft>
                        <a:buNone/>
                      </a:pPr>
                      <a:r>
                        <a:rPr lang="en-US" sz="1800" u="none" strike="noStrike" cap="none"/>
                        <a:t>✅ Maintained</a:t>
                      </a:r>
                      <a:endParaRPr sz="1600" u="none" strike="noStrike" cap="none">
                        <a:latin typeface="Calibri"/>
                        <a:ea typeface="Calibri"/>
                        <a:cs typeface="Calibri"/>
                        <a:sym typeface="Calibri"/>
                      </a:endParaRPr>
                    </a:p>
                  </a:txBody>
                  <a:tcPr marL="9525" marR="9525" marT="9525" marB="9525" anchor="ctr"/>
                </a:tc>
                <a:tc>
                  <a:txBody>
                    <a:bodyPr/>
                    <a:lstStyle/>
                    <a:p>
                      <a:pPr marL="0" marR="0" lvl="0" indent="0" algn="l" rtl="0">
                        <a:lnSpc>
                          <a:spcPct val="115000"/>
                        </a:lnSpc>
                        <a:spcBef>
                          <a:spcPts val="0"/>
                        </a:spcBef>
                        <a:spcAft>
                          <a:spcPts val="0"/>
                        </a:spcAft>
                        <a:buNone/>
                      </a:pPr>
                      <a:r>
                        <a:rPr lang="en-US" sz="1800" u="none" strike="noStrike" cap="none"/>
                        <a:t>Netflix's services remained operational; only the confidentiality of specific content was affected.</a:t>
                      </a:r>
                      <a:endParaRPr sz="1600" u="none" strike="noStrike" cap="none">
                        <a:latin typeface="Calibri"/>
                        <a:ea typeface="Calibri"/>
                        <a:cs typeface="Calibri"/>
                        <a:sym typeface="Calibri"/>
                      </a:endParaRPr>
                    </a:p>
                  </a:txBody>
                  <a:tcPr marL="9525" marR="9525" marT="9525" marB="9525" anchor="ctr"/>
                </a:tc>
              </a:tr>
              <a:tr h="1085675">
                <a:tc>
                  <a:txBody>
                    <a:bodyPr/>
                    <a:lstStyle/>
                    <a:p>
                      <a:pPr marL="0" marR="0" lvl="0" indent="0" algn="l" rtl="0">
                        <a:lnSpc>
                          <a:spcPct val="115000"/>
                        </a:lnSpc>
                        <a:spcBef>
                          <a:spcPts val="0"/>
                        </a:spcBef>
                        <a:spcAft>
                          <a:spcPts val="0"/>
                        </a:spcAft>
                        <a:buNone/>
                      </a:pPr>
                      <a:r>
                        <a:rPr lang="en-US" sz="1800" u="none" strike="noStrike" cap="none"/>
                        <a:t>Authentication</a:t>
                      </a:r>
                      <a:endParaRPr sz="1600" u="none" strike="noStrike" cap="none">
                        <a:latin typeface="Calibri"/>
                        <a:ea typeface="Calibri"/>
                        <a:cs typeface="Calibri"/>
                        <a:sym typeface="Calibri"/>
                      </a:endParaRPr>
                    </a:p>
                  </a:txBody>
                  <a:tcPr marL="9525" marR="9525" marT="9525" marB="9525" anchor="ctr"/>
                </a:tc>
                <a:tc>
                  <a:txBody>
                    <a:bodyPr/>
                    <a:lstStyle/>
                    <a:p>
                      <a:pPr marL="0" marR="0" lvl="0" indent="0" algn="l" rtl="0">
                        <a:lnSpc>
                          <a:spcPct val="115000"/>
                        </a:lnSpc>
                        <a:spcBef>
                          <a:spcPts val="0"/>
                        </a:spcBef>
                        <a:spcAft>
                          <a:spcPts val="0"/>
                        </a:spcAft>
                        <a:buNone/>
                      </a:pPr>
                      <a:r>
                        <a:rPr lang="en-US" sz="1800" u="none" strike="noStrike" cap="none"/>
                        <a:t>❌ Compromised</a:t>
                      </a:r>
                      <a:endParaRPr sz="1600" u="none" strike="noStrike" cap="none">
                        <a:latin typeface="Calibri"/>
                        <a:ea typeface="Calibri"/>
                        <a:cs typeface="Calibri"/>
                        <a:sym typeface="Calibri"/>
                      </a:endParaRPr>
                    </a:p>
                  </a:txBody>
                  <a:tcPr marL="9525" marR="9525" marT="9525" marB="9525" anchor="ctr"/>
                </a:tc>
                <a:tc>
                  <a:txBody>
                    <a:bodyPr/>
                    <a:lstStyle/>
                    <a:p>
                      <a:pPr marL="0" marR="0" lvl="0" indent="0" algn="l" rtl="0">
                        <a:lnSpc>
                          <a:spcPct val="115000"/>
                        </a:lnSpc>
                        <a:spcBef>
                          <a:spcPts val="0"/>
                        </a:spcBef>
                        <a:spcAft>
                          <a:spcPts val="0"/>
                        </a:spcAft>
                        <a:buNone/>
                      </a:pPr>
                      <a:r>
                        <a:rPr lang="en-US" sz="1800" u="none" strike="noStrike" cap="none"/>
                        <a:t>Inadequate access controls allowed unauthorized entry into Larson Studios' systems.</a:t>
                      </a:r>
                      <a:endParaRPr sz="1600" u="none" strike="noStrike" cap="none">
                        <a:latin typeface="Calibri"/>
                        <a:ea typeface="Calibri"/>
                        <a:cs typeface="Calibri"/>
                        <a:sym typeface="Calibri"/>
                      </a:endParaRPr>
                    </a:p>
                  </a:txBody>
                  <a:tcPr marL="9525" marR="9525" marT="9525" marB="9525" anchor="ctr"/>
                </a:tc>
              </a:tr>
              <a:tr h="726925">
                <a:tc>
                  <a:txBody>
                    <a:bodyPr/>
                    <a:lstStyle/>
                    <a:p>
                      <a:pPr marL="0" marR="0" lvl="0" indent="0" algn="l" rtl="0">
                        <a:lnSpc>
                          <a:spcPct val="115000"/>
                        </a:lnSpc>
                        <a:spcBef>
                          <a:spcPts val="0"/>
                        </a:spcBef>
                        <a:spcAft>
                          <a:spcPts val="0"/>
                        </a:spcAft>
                        <a:buNone/>
                      </a:pPr>
                      <a:r>
                        <a:rPr lang="en-US" sz="1800" u="none" strike="noStrike" cap="none"/>
                        <a:t>Non-Repudiation</a:t>
                      </a:r>
                      <a:endParaRPr sz="1600" u="none" strike="noStrike" cap="none">
                        <a:latin typeface="Calibri"/>
                        <a:ea typeface="Calibri"/>
                        <a:cs typeface="Calibri"/>
                        <a:sym typeface="Calibri"/>
                      </a:endParaRPr>
                    </a:p>
                  </a:txBody>
                  <a:tcPr marL="9525" marR="9525" marT="9525" marB="9525" anchor="ctr"/>
                </a:tc>
                <a:tc>
                  <a:txBody>
                    <a:bodyPr/>
                    <a:lstStyle/>
                    <a:p>
                      <a:pPr marL="0" marR="0" lvl="0" indent="0" algn="l" rtl="0">
                        <a:lnSpc>
                          <a:spcPct val="115000"/>
                        </a:lnSpc>
                        <a:spcBef>
                          <a:spcPts val="0"/>
                        </a:spcBef>
                        <a:spcAft>
                          <a:spcPts val="0"/>
                        </a:spcAft>
                        <a:buNone/>
                      </a:pPr>
                      <a:r>
                        <a:rPr lang="en-US" sz="1800" u="none" strike="noStrike" cap="none"/>
                        <a:t>❌ Compromised</a:t>
                      </a:r>
                      <a:endParaRPr sz="1600" u="none" strike="noStrike" cap="none">
                        <a:latin typeface="Calibri"/>
                        <a:ea typeface="Calibri"/>
                        <a:cs typeface="Calibri"/>
                        <a:sym typeface="Calibri"/>
                      </a:endParaRPr>
                    </a:p>
                  </a:txBody>
                  <a:tcPr marL="9525" marR="9525" marT="9525" marB="9525" anchor="ctr"/>
                </a:tc>
                <a:tc>
                  <a:txBody>
                    <a:bodyPr/>
                    <a:lstStyle/>
                    <a:p>
                      <a:pPr marL="0" marR="0" lvl="0" indent="0" algn="l" rtl="0">
                        <a:lnSpc>
                          <a:spcPct val="115000"/>
                        </a:lnSpc>
                        <a:spcBef>
                          <a:spcPts val="0"/>
                        </a:spcBef>
                        <a:spcAft>
                          <a:spcPts val="0"/>
                        </a:spcAft>
                        <a:buNone/>
                      </a:pPr>
                      <a:r>
                        <a:rPr lang="en-US" sz="1800" u="none" strike="noStrike" cap="none"/>
                        <a:t>Lack of robust logging made it difficult to trace the breach accurately.</a:t>
                      </a:r>
                      <a:endParaRPr sz="1600" u="none" strike="noStrike" cap="none">
                        <a:latin typeface="Calibri"/>
                        <a:ea typeface="Calibri"/>
                        <a:cs typeface="Calibri"/>
                        <a:sym typeface="Calibri"/>
                      </a:endParaRPr>
                    </a:p>
                  </a:txBody>
                  <a:tcPr marL="9525" marR="9525" marT="9525" marB="9525" anchor="ctr"/>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sp>
        <p:nvSpPr>
          <p:cNvPr id="370" name="Google Shape;370;p71"/>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en-US"/>
              <a:t>Ms. Swati Mali</a:t>
            </a:r>
            <a:endParaRPr/>
          </a:p>
        </p:txBody>
      </p:sp>
      <p:sp>
        <p:nvSpPr>
          <p:cNvPr id="371" name="Google Shape;371;p71"/>
          <p:cNvSpPr txBox="1">
            <a:spLocks noGrp="1"/>
          </p:cNvSpPr>
          <p:nvPr>
            <p:ph type="title"/>
          </p:nvPr>
        </p:nvSpPr>
        <p:spPr>
          <a:xfrm>
            <a:off x="817323" y="214817"/>
            <a:ext cx="7402883" cy="874951"/>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930B0B"/>
              </a:buClr>
              <a:buSzPts val="3600"/>
              <a:buFont typeface="Times New Roman"/>
              <a:buNone/>
            </a:pPr>
            <a:r>
              <a:rPr lang="en-US" b="1"/>
              <a:t>Attack Analysis</a:t>
            </a:r>
            <a:r>
              <a:rPr lang="en-US"/>
              <a:t/>
            </a:r>
            <a:br>
              <a:rPr lang="en-US"/>
            </a:br>
            <a:endParaRPr/>
          </a:p>
        </p:txBody>
      </p:sp>
      <p:sp>
        <p:nvSpPr>
          <p:cNvPr id="372" name="Google Shape;372;p71"/>
          <p:cNvSpPr txBox="1">
            <a:spLocks noGrp="1"/>
          </p:cNvSpPr>
          <p:nvPr>
            <p:ph type="body" idx="1"/>
          </p:nvPr>
        </p:nvSpPr>
        <p:spPr>
          <a:xfrm>
            <a:off x="700004" y="1324629"/>
            <a:ext cx="8229600" cy="4525963"/>
          </a:xfrm>
          <a:prstGeom prst="rect">
            <a:avLst/>
          </a:prstGeom>
          <a:noFill/>
          <a:ln>
            <a:noFill/>
          </a:ln>
        </p:spPr>
        <p:txBody>
          <a:bodyPr spcFirstLastPara="1" wrap="square" lIns="91425" tIns="45700" rIns="91425" bIns="45700" anchor="t" anchorCtr="0">
            <a:normAutofit fontScale="92500" lnSpcReduction="20000"/>
          </a:bodyPr>
          <a:lstStyle/>
          <a:p>
            <a:pPr marL="457200" lvl="0" indent="-406400" algn="l" rtl="0">
              <a:lnSpc>
                <a:spcPct val="90000"/>
              </a:lnSpc>
              <a:spcBef>
                <a:spcPts val="1000"/>
              </a:spcBef>
              <a:spcAft>
                <a:spcPts val="0"/>
              </a:spcAft>
              <a:buSzPct val="108108"/>
              <a:buChar char="•"/>
            </a:pPr>
            <a:r>
              <a:rPr lang="en-US" b="1"/>
              <a:t>Insider Threat</a:t>
            </a:r>
            <a:r>
              <a:rPr lang="en-US"/>
              <a:t>: Potential exploitation of internal access privileges or weak security protocols within Larson Studios.</a:t>
            </a:r>
            <a:endParaRPr/>
          </a:p>
          <a:p>
            <a:pPr marL="457200" lvl="0" indent="-406400" algn="l" rtl="0">
              <a:lnSpc>
                <a:spcPct val="90000"/>
              </a:lnSpc>
              <a:spcBef>
                <a:spcPts val="1000"/>
              </a:spcBef>
              <a:spcAft>
                <a:spcPts val="0"/>
              </a:spcAft>
              <a:buSzPct val="108108"/>
              <a:buChar char="•"/>
            </a:pPr>
            <a:r>
              <a:rPr lang="en-US" b="1"/>
              <a:t>Supply Chain Attack</a:t>
            </a:r>
            <a:r>
              <a:rPr lang="en-US"/>
              <a:t>: Targeting a third-party vendor (Larson Studios) to compromise the primary entity (Netflix).</a:t>
            </a:r>
            <a:endParaRPr/>
          </a:p>
          <a:p>
            <a:pPr marL="457200" marR="0" lvl="0" indent="-406400" algn="l" rtl="0">
              <a:lnSpc>
                <a:spcPct val="90000"/>
              </a:lnSpc>
              <a:spcBef>
                <a:spcPts val="1000"/>
              </a:spcBef>
              <a:spcAft>
                <a:spcPts val="0"/>
              </a:spcAft>
              <a:buClr>
                <a:schemeClr val="dk1"/>
              </a:buClr>
              <a:buSzPct val="108108"/>
              <a:buFont typeface="Arial"/>
              <a:buChar char="•"/>
            </a:pPr>
            <a:r>
              <a:rPr lang="en-US" b="1"/>
              <a:t>Preventive Measures</a:t>
            </a:r>
            <a:endParaRPr/>
          </a:p>
          <a:p>
            <a:pPr marL="914400" lvl="1" indent="-381000" algn="l" rtl="0">
              <a:lnSpc>
                <a:spcPct val="90000"/>
              </a:lnSpc>
              <a:spcBef>
                <a:spcPts val="500"/>
              </a:spcBef>
              <a:spcAft>
                <a:spcPts val="0"/>
              </a:spcAft>
              <a:buSzPct val="108108"/>
              <a:buChar char="o"/>
            </a:pPr>
            <a:r>
              <a:rPr lang="en-US" b="1"/>
              <a:t>Enhanced Vendor Security</a:t>
            </a:r>
            <a:r>
              <a:rPr lang="en-US"/>
              <a:t>: Implement stringent security requirements and regular audits for third-party vendors.</a:t>
            </a:r>
            <a:endParaRPr/>
          </a:p>
          <a:p>
            <a:pPr marL="914400" lvl="1" indent="-381000" algn="l" rtl="0">
              <a:lnSpc>
                <a:spcPct val="90000"/>
              </a:lnSpc>
              <a:spcBef>
                <a:spcPts val="500"/>
              </a:spcBef>
              <a:spcAft>
                <a:spcPts val="0"/>
              </a:spcAft>
              <a:buSzPct val="108108"/>
              <a:buChar char="o"/>
            </a:pPr>
            <a:r>
              <a:rPr lang="en-US" b="1"/>
              <a:t>Robust Access Controls</a:t>
            </a:r>
            <a:r>
              <a:rPr lang="en-US"/>
              <a:t>: Enforce strict authentication mechanisms and limit access based on necessity.</a:t>
            </a:r>
            <a:endParaRPr/>
          </a:p>
          <a:p>
            <a:pPr marL="914400" lvl="1" indent="-381000" algn="l" rtl="0">
              <a:lnSpc>
                <a:spcPct val="90000"/>
              </a:lnSpc>
              <a:spcBef>
                <a:spcPts val="500"/>
              </a:spcBef>
              <a:spcAft>
                <a:spcPts val="0"/>
              </a:spcAft>
              <a:buSzPct val="108108"/>
              <a:buChar char="o"/>
            </a:pPr>
            <a:r>
              <a:rPr lang="en-US" b="1"/>
              <a:t>Comprehensive Monitoring</a:t>
            </a:r>
            <a:r>
              <a:rPr lang="en-US"/>
              <a:t>: Deploy advanced intrusion detection systems to identify and respond to unauthorized activities promptly.</a:t>
            </a:r>
            <a:endParaRPr/>
          </a:p>
          <a:p>
            <a:pPr marL="457200" marR="0" lvl="0" indent="-228600" algn="l" rtl="0">
              <a:lnSpc>
                <a:spcPct val="90000"/>
              </a:lnSpc>
              <a:spcBef>
                <a:spcPts val="1000"/>
              </a:spcBef>
              <a:spcAft>
                <a:spcPts val="0"/>
              </a:spcAft>
              <a:buClr>
                <a:schemeClr val="dk1"/>
              </a:buClr>
              <a:buSzPct val="108108"/>
              <a:buFont typeface="Arial"/>
              <a:buNone/>
            </a:pP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p72"/>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4400"/>
              <a:buFont typeface="Calibri"/>
              <a:buNone/>
            </a:pPr>
            <a:r>
              <a:rPr lang="en-US" dirty="0" smtClean="0">
                <a:solidFill>
                  <a:srgbClr val="C00000"/>
                </a:solidFill>
                <a:latin typeface="Marcellus"/>
                <a:ea typeface="Marcellus"/>
                <a:cs typeface="Marcellus"/>
                <a:sym typeface="Marcellus"/>
              </a:rPr>
              <a:t>Protocol </a:t>
            </a:r>
            <a:r>
              <a:rPr lang="en-US" dirty="0">
                <a:solidFill>
                  <a:srgbClr val="C00000"/>
                </a:solidFill>
                <a:latin typeface="Marcellus"/>
                <a:ea typeface="Marcellus"/>
                <a:cs typeface="Marcellus"/>
                <a:sym typeface="Marcellus"/>
              </a:rPr>
              <a:t>Design</a:t>
            </a:r>
            <a:endParaRPr dirty="0">
              <a:solidFill>
                <a:srgbClr val="C00000"/>
              </a:solidFill>
              <a:latin typeface="Marcellus"/>
              <a:ea typeface="Marcellus"/>
              <a:cs typeface="Marcellus"/>
              <a:sym typeface="Marcellus"/>
            </a:endParaRPr>
          </a:p>
        </p:txBody>
      </p:sp>
      <p:sp>
        <p:nvSpPr>
          <p:cNvPr id="378" name="Google Shape;378;p72"/>
          <p:cNvSpPr txBox="1">
            <a:spLocks noGrp="1"/>
          </p:cNvSpPr>
          <p:nvPr>
            <p:ph type="subTitle" idx="1"/>
          </p:nvPr>
        </p:nvSpPr>
        <p:spPr>
          <a:xfrm>
            <a:off x="685800" y="3886200"/>
            <a:ext cx="7086600" cy="17526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1000"/>
              </a:spcBef>
              <a:spcAft>
                <a:spcPts val="0"/>
              </a:spcAft>
              <a:buClr>
                <a:schemeClr val="dk1"/>
              </a:buClr>
              <a:buSzPts val="2800"/>
              <a:buFont typeface="Noto Sans Symbols"/>
              <a:buNone/>
            </a:pPr>
            <a:endParaRPr/>
          </a:p>
        </p:txBody>
      </p:sp>
      <p:sp>
        <p:nvSpPr>
          <p:cNvPr id="379" name="Google Shape;379;p72"/>
          <p:cNvSpPr txBox="1">
            <a:spLocks noGrp="1"/>
          </p:cNvSpPr>
          <p:nvPr>
            <p:ph type="ftr" idx="11"/>
          </p:nvPr>
        </p:nvSpPr>
        <p:spPr>
          <a:xfrm>
            <a:off x="0" y="6356350"/>
            <a:ext cx="3086100" cy="3651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Ms. Swati Mali</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p73"/>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en-US"/>
              <a:t>Ms. Swati Mali</a:t>
            </a:r>
            <a:endParaRPr/>
          </a:p>
        </p:txBody>
      </p:sp>
      <p:sp>
        <p:nvSpPr>
          <p:cNvPr id="385" name="Google Shape;385;p73"/>
          <p:cNvSpPr txBox="1">
            <a:spLocks noGrp="1"/>
          </p:cNvSpPr>
          <p:nvPr>
            <p:ph type="title"/>
          </p:nvPr>
        </p:nvSpPr>
        <p:spPr>
          <a:xfrm>
            <a:off x="817323" y="214817"/>
            <a:ext cx="7402883" cy="874951"/>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930B0B"/>
              </a:buClr>
              <a:buSzPts val="3600"/>
              <a:buFont typeface="Times New Roman"/>
              <a:buNone/>
            </a:pPr>
            <a:r>
              <a:rPr lang="en-US" b="1"/>
              <a:t>Secure Communication Protocol for Defense Communication System</a:t>
            </a:r>
            <a:endParaRPr/>
          </a:p>
        </p:txBody>
      </p:sp>
      <p:sp>
        <p:nvSpPr>
          <p:cNvPr id="386" name="Google Shape;386;p73"/>
          <p:cNvSpPr txBox="1">
            <a:spLocks noGrp="1"/>
          </p:cNvSpPr>
          <p:nvPr>
            <p:ph type="body" idx="1"/>
          </p:nvPr>
        </p:nvSpPr>
        <p:spPr>
          <a:xfrm>
            <a:off x="700004" y="1324629"/>
            <a:ext cx="8229600" cy="4525963"/>
          </a:xfrm>
          <a:prstGeom prst="rect">
            <a:avLst/>
          </a:prstGeom>
          <a:noFill/>
          <a:ln>
            <a:noFill/>
          </a:ln>
        </p:spPr>
        <p:txBody>
          <a:bodyPr spcFirstLastPara="1" wrap="square" lIns="91425" tIns="45700" rIns="91425" bIns="45700" anchor="t" anchorCtr="0">
            <a:normAutofit/>
          </a:bodyPr>
          <a:lstStyle/>
          <a:p>
            <a:pPr marL="457200" marR="0" lvl="0" indent="-406400" algn="l" rtl="0">
              <a:lnSpc>
                <a:spcPct val="90000"/>
              </a:lnSpc>
              <a:spcBef>
                <a:spcPts val="1000"/>
              </a:spcBef>
              <a:spcAft>
                <a:spcPts val="0"/>
              </a:spcAft>
              <a:buClr>
                <a:schemeClr val="dk1"/>
              </a:buClr>
              <a:buSzPts val="2800"/>
              <a:buFont typeface="Arial"/>
              <a:buChar char="•"/>
            </a:pPr>
            <a:r>
              <a:rPr lang="en-US" b="1"/>
              <a:t>Scenario</a:t>
            </a:r>
            <a:r>
              <a:rPr lang="en-US"/>
              <a:t>: A country has four major bases near the border. Each base communicates with headquarters (HQ) for reporting findings and receiving orders. The protocol ensures </a:t>
            </a:r>
            <a:r>
              <a:rPr lang="en-US" b="1"/>
              <a:t>confidentiality, integrity, authenticity, and accountability</a:t>
            </a:r>
            <a:r>
              <a:rPr lang="en-US"/>
              <a:t> while using </a:t>
            </a:r>
            <a:r>
              <a:rPr lang="en-US" b="1"/>
              <a:t>RSA</a:t>
            </a:r>
            <a:r>
              <a:rPr lang="en-US"/>
              <a:t> for asymmetric encryption and </a:t>
            </a:r>
            <a:r>
              <a:rPr lang="en-US" b="1"/>
              <a:t>AES</a:t>
            </a:r>
            <a:r>
              <a:rPr lang="en-US"/>
              <a:t> for symmetric encryption.</a:t>
            </a:r>
            <a:endParaRPr/>
          </a:p>
          <a:p>
            <a:pPr marL="457200" marR="0" lvl="0" indent="-228600" algn="l" rtl="0">
              <a:lnSpc>
                <a:spcPct val="90000"/>
              </a:lnSpc>
              <a:spcBef>
                <a:spcPts val="1000"/>
              </a:spcBef>
              <a:spcAft>
                <a:spcPts val="0"/>
              </a:spcAft>
              <a:buClr>
                <a:schemeClr val="dk1"/>
              </a:buClr>
              <a:buSzPts val="2800"/>
              <a:buFont typeface="Arial"/>
              <a:buNone/>
            </a:pP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Google Shape;391;p74"/>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en-US"/>
              <a:t>Ms. Swati Mali</a:t>
            </a:r>
            <a:endParaRPr/>
          </a:p>
        </p:txBody>
      </p:sp>
      <p:sp>
        <p:nvSpPr>
          <p:cNvPr id="392" name="Google Shape;392;p74"/>
          <p:cNvSpPr txBox="1">
            <a:spLocks noGrp="1"/>
          </p:cNvSpPr>
          <p:nvPr>
            <p:ph type="title"/>
          </p:nvPr>
        </p:nvSpPr>
        <p:spPr>
          <a:xfrm>
            <a:off x="817323" y="214817"/>
            <a:ext cx="7402883" cy="874951"/>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930B0B"/>
              </a:buClr>
              <a:buSzPts val="3600"/>
              <a:buFont typeface="Times New Roman"/>
              <a:buNone/>
            </a:pPr>
            <a:r>
              <a:rPr lang="en-US" b="1"/>
              <a:t>1. Protocol Objectives</a:t>
            </a:r>
            <a:endParaRPr/>
          </a:p>
        </p:txBody>
      </p:sp>
      <p:sp>
        <p:nvSpPr>
          <p:cNvPr id="393" name="Google Shape;393;p74"/>
          <p:cNvSpPr txBox="1">
            <a:spLocks noGrp="1"/>
          </p:cNvSpPr>
          <p:nvPr>
            <p:ph type="body" idx="1"/>
          </p:nvPr>
        </p:nvSpPr>
        <p:spPr>
          <a:xfrm>
            <a:off x="700004" y="1324629"/>
            <a:ext cx="8229600" cy="4525963"/>
          </a:xfrm>
          <a:prstGeom prst="rect">
            <a:avLst/>
          </a:prstGeom>
          <a:noFill/>
          <a:ln>
            <a:noFill/>
          </a:ln>
        </p:spPr>
        <p:txBody>
          <a:bodyPr spcFirstLastPara="1" wrap="square" lIns="91425" tIns="45700" rIns="91425" bIns="45700" anchor="t" anchorCtr="0">
            <a:normAutofit lnSpcReduction="10000"/>
          </a:bodyPr>
          <a:lstStyle/>
          <a:p>
            <a:pPr marL="457200" marR="0" lvl="0" indent="-406400" algn="l" rtl="0">
              <a:lnSpc>
                <a:spcPct val="90000"/>
              </a:lnSpc>
              <a:spcBef>
                <a:spcPts val="1000"/>
              </a:spcBef>
              <a:spcAft>
                <a:spcPts val="0"/>
              </a:spcAft>
              <a:buClr>
                <a:schemeClr val="dk1"/>
              </a:buClr>
              <a:buSzPts val="2800"/>
              <a:buFont typeface="Arial"/>
              <a:buChar char="•"/>
            </a:pPr>
            <a:r>
              <a:rPr lang="en-US" b="1"/>
              <a:t>Confidentiality</a:t>
            </a:r>
            <a:r>
              <a:rPr lang="en-US"/>
              <a:t>: Ensure only authorized recipients can read messages.</a:t>
            </a:r>
            <a:endParaRPr/>
          </a:p>
          <a:p>
            <a:pPr marL="457200" marR="0" lvl="0" indent="-406400" algn="l" rtl="0">
              <a:lnSpc>
                <a:spcPct val="90000"/>
              </a:lnSpc>
              <a:spcBef>
                <a:spcPts val="1000"/>
              </a:spcBef>
              <a:spcAft>
                <a:spcPts val="0"/>
              </a:spcAft>
              <a:buClr>
                <a:schemeClr val="dk1"/>
              </a:buClr>
              <a:buSzPts val="2800"/>
              <a:buFont typeface="Arial"/>
              <a:buChar char="•"/>
            </a:pPr>
            <a:r>
              <a:rPr lang="en-US" b="1"/>
              <a:t>Integrity</a:t>
            </a:r>
            <a:r>
              <a:rPr lang="en-US"/>
              <a:t>: Prevent unauthorized modification of messages.</a:t>
            </a:r>
            <a:endParaRPr/>
          </a:p>
          <a:p>
            <a:pPr marL="457200" marR="0" lvl="0" indent="-406400" algn="l" rtl="0">
              <a:lnSpc>
                <a:spcPct val="90000"/>
              </a:lnSpc>
              <a:spcBef>
                <a:spcPts val="1000"/>
              </a:spcBef>
              <a:spcAft>
                <a:spcPts val="0"/>
              </a:spcAft>
              <a:buClr>
                <a:schemeClr val="dk1"/>
              </a:buClr>
              <a:buSzPts val="2800"/>
              <a:buFont typeface="Arial"/>
              <a:buChar char="•"/>
            </a:pPr>
            <a:r>
              <a:rPr lang="en-US" b="1"/>
              <a:t>Authentication</a:t>
            </a:r>
            <a:r>
              <a:rPr lang="en-US"/>
              <a:t>: Verify sender and receiver, both identities.</a:t>
            </a:r>
            <a:endParaRPr/>
          </a:p>
          <a:p>
            <a:pPr marL="457200" marR="0" lvl="0" indent="-406400" algn="l" rtl="0">
              <a:lnSpc>
                <a:spcPct val="90000"/>
              </a:lnSpc>
              <a:spcBef>
                <a:spcPts val="1000"/>
              </a:spcBef>
              <a:spcAft>
                <a:spcPts val="0"/>
              </a:spcAft>
              <a:buClr>
                <a:schemeClr val="dk1"/>
              </a:buClr>
              <a:buSzPts val="2800"/>
              <a:buFont typeface="Arial"/>
              <a:buChar char="•"/>
            </a:pPr>
            <a:r>
              <a:rPr lang="en-US" b="1"/>
              <a:t>Accountability</a:t>
            </a:r>
            <a:r>
              <a:rPr lang="en-US"/>
              <a:t>: Track all communications to prevent repudiation.</a:t>
            </a:r>
            <a:endParaRPr/>
          </a:p>
          <a:p>
            <a:pPr marL="457200" marR="0" lvl="0" indent="-406400" algn="l" rtl="0">
              <a:lnSpc>
                <a:spcPct val="90000"/>
              </a:lnSpc>
              <a:spcBef>
                <a:spcPts val="1000"/>
              </a:spcBef>
              <a:spcAft>
                <a:spcPts val="0"/>
              </a:spcAft>
              <a:buClr>
                <a:schemeClr val="dk1"/>
              </a:buClr>
              <a:buSzPts val="2800"/>
              <a:buFont typeface="Arial"/>
              <a:buChar char="•"/>
            </a:pPr>
            <a:r>
              <a:rPr lang="en-US" b="1"/>
              <a:t>Availability</a:t>
            </a:r>
            <a:r>
              <a:rPr lang="en-US"/>
              <a:t>: Ensure continuous operation despite adversarial disruptions.</a:t>
            </a:r>
            <a:endParaRPr/>
          </a:p>
          <a:p>
            <a:pPr marL="457200" marR="0" lvl="0" indent="-228600" algn="l" rtl="0">
              <a:lnSpc>
                <a:spcPct val="90000"/>
              </a:lnSpc>
              <a:spcBef>
                <a:spcPts val="1000"/>
              </a:spcBef>
              <a:spcAft>
                <a:spcPts val="0"/>
              </a:spcAft>
              <a:buClr>
                <a:schemeClr val="dk1"/>
              </a:buClr>
              <a:buSzPts val="2800"/>
              <a:buFont typeface="Arial"/>
              <a:buNone/>
            </a:pP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sp>
        <p:nvSpPr>
          <p:cNvPr id="398" name="Google Shape;398;p75"/>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en-US"/>
              <a:t>Ms. Swati Mali</a:t>
            </a:r>
            <a:endParaRPr/>
          </a:p>
        </p:txBody>
      </p:sp>
      <p:sp>
        <p:nvSpPr>
          <p:cNvPr id="399" name="Google Shape;399;p75"/>
          <p:cNvSpPr txBox="1">
            <a:spLocks noGrp="1"/>
          </p:cNvSpPr>
          <p:nvPr>
            <p:ph type="title"/>
          </p:nvPr>
        </p:nvSpPr>
        <p:spPr>
          <a:xfrm>
            <a:off x="817323" y="214817"/>
            <a:ext cx="7402883" cy="874951"/>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930B0B"/>
              </a:buClr>
              <a:buSzPts val="3600"/>
              <a:buFont typeface="Times New Roman"/>
              <a:buNone/>
            </a:pPr>
            <a:r>
              <a:rPr lang="en-US" b="1"/>
              <a:t>2. Cryptographic Components</a:t>
            </a:r>
            <a:endParaRPr/>
          </a:p>
        </p:txBody>
      </p:sp>
      <p:sp>
        <p:nvSpPr>
          <p:cNvPr id="400" name="Google Shape;400;p75"/>
          <p:cNvSpPr txBox="1">
            <a:spLocks noGrp="1"/>
          </p:cNvSpPr>
          <p:nvPr>
            <p:ph type="body" idx="1"/>
          </p:nvPr>
        </p:nvSpPr>
        <p:spPr>
          <a:xfrm>
            <a:off x="700004" y="1324629"/>
            <a:ext cx="8229600" cy="4525963"/>
          </a:xfrm>
          <a:prstGeom prst="rect">
            <a:avLst/>
          </a:prstGeom>
          <a:noFill/>
          <a:ln>
            <a:noFill/>
          </a:ln>
        </p:spPr>
        <p:txBody>
          <a:bodyPr spcFirstLastPara="1" wrap="square" lIns="91425" tIns="45700" rIns="91425" bIns="45700" anchor="t" anchorCtr="0">
            <a:normAutofit/>
          </a:bodyPr>
          <a:lstStyle/>
          <a:p>
            <a:pPr marL="457200" marR="0" lvl="0" indent="-406400" algn="l" rtl="0">
              <a:lnSpc>
                <a:spcPct val="90000"/>
              </a:lnSpc>
              <a:spcBef>
                <a:spcPts val="1000"/>
              </a:spcBef>
              <a:spcAft>
                <a:spcPts val="0"/>
              </a:spcAft>
              <a:buClr>
                <a:schemeClr val="dk1"/>
              </a:buClr>
              <a:buSzPts val="2800"/>
              <a:buFont typeface="Arial"/>
              <a:buChar char="•"/>
            </a:pPr>
            <a:r>
              <a:rPr lang="en-US" b="1"/>
              <a:t>ECDH/ KDC – </a:t>
            </a:r>
            <a:r>
              <a:rPr lang="en-US"/>
              <a:t>Used for key exchange</a:t>
            </a:r>
            <a:endParaRPr b="1"/>
          </a:p>
          <a:p>
            <a:pPr marL="457200" marR="0" lvl="0" indent="-406400" algn="l" rtl="0">
              <a:lnSpc>
                <a:spcPct val="90000"/>
              </a:lnSpc>
              <a:spcBef>
                <a:spcPts val="1000"/>
              </a:spcBef>
              <a:spcAft>
                <a:spcPts val="0"/>
              </a:spcAft>
              <a:buClr>
                <a:schemeClr val="dk1"/>
              </a:buClr>
              <a:buSzPts val="2800"/>
              <a:buFont typeface="Arial"/>
              <a:buChar char="•"/>
            </a:pPr>
            <a:r>
              <a:rPr lang="en-US" b="1"/>
              <a:t>RSA</a:t>
            </a:r>
            <a:r>
              <a:rPr lang="en-US"/>
              <a:t>: Used for key encryption, short message encryption, digital signatures and authentication.</a:t>
            </a:r>
            <a:endParaRPr/>
          </a:p>
          <a:p>
            <a:pPr marL="457200" marR="0" lvl="0" indent="-406400" algn="l" rtl="0">
              <a:lnSpc>
                <a:spcPct val="90000"/>
              </a:lnSpc>
              <a:spcBef>
                <a:spcPts val="1000"/>
              </a:spcBef>
              <a:spcAft>
                <a:spcPts val="0"/>
              </a:spcAft>
              <a:buClr>
                <a:schemeClr val="dk1"/>
              </a:buClr>
              <a:buSzPts val="2800"/>
              <a:buFont typeface="Arial"/>
              <a:buChar char="•"/>
            </a:pPr>
            <a:r>
              <a:rPr lang="en-US" b="1"/>
              <a:t>AES/DES</a:t>
            </a:r>
            <a:r>
              <a:rPr lang="en-US"/>
              <a:t>: Used for encrypting and decrypting large message content.</a:t>
            </a:r>
            <a:endParaRPr/>
          </a:p>
          <a:p>
            <a:pPr marL="457200" marR="0" lvl="0" indent="-406400" algn="l" rtl="0">
              <a:lnSpc>
                <a:spcPct val="90000"/>
              </a:lnSpc>
              <a:spcBef>
                <a:spcPts val="1000"/>
              </a:spcBef>
              <a:spcAft>
                <a:spcPts val="0"/>
              </a:spcAft>
              <a:buClr>
                <a:schemeClr val="dk1"/>
              </a:buClr>
              <a:buSzPts val="2800"/>
              <a:buFont typeface="Arial"/>
              <a:buChar char="•"/>
            </a:pPr>
            <a:r>
              <a:rPr lang="en-US" b="1"/>
              <a:t>SHA/hash algorithm</a:t>
            </a:r>
            <a:r>
              <a:rPr lang="en-US"/>
              <a:t>: Used for hashing messages to ensure integrity.</a:t>
            </a:r>
            <a:endParaRPr/>
          </a:p>
          <a:p>
            <a:pPr marL="457200" marR="0" lvl="0" indent="-406400" algn="l" rtl="0">
              <a:lnSpc>
                <a:spcPct val="90000"/>
              </a:lnSpc>
              <a:spcBef>
                <a:spcPts val="1000"/>
              </a:spcBef>
              <a:spcAft>
                <a:spcPts val="0"/>
              </a:spcAft>
              <a:buClr>
                <a:schemeClr val="dk1"/>
              </a:buClr>
              <a:buSzPts val="2800"/>
              <a:buFont typeface="Arial"/>
              <a:buChar char="•"/>
            </a:pPr>
            <a:r>
              <a:rPr lang="en-US" b="1"/>
              <a:t>Timestamps &amp; Message IDs</a:t>
            </a:r>
            <a:r>
              <a:rPr lang="en-US"/>
              <a:t>: Used to prevent replay attacks and improve traceability.</a:t>
            </a:r>
            <a:endParaRPr/>
          </a:p>
          <a:p>
            <a:pPr marL="457200" marR="0" lvl="0" indent="-228600" algn="l" rtl="0">
              <a:lnSpc>
                <a:spcPct val="90000"/>
              </a:lnSpc>
              <a:spcBef>
                <a:spcPts val="1000"/>
              </a:spcBef>
              <a:spcAft>
                <a:spcPts val="0"/>
              </a:spcAft>
              <a:buClr>
                <a:schemeClr val="dk1"/>
              </a:buClr>
              <a:buSzPts val="2800"/>
              <a:buFont typeface="Arial"/>
              <a:buNone/>
            </a:pP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Google Shape;405;p76"/>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en-US"/>
              <a:t>Ms. Swati Mali</a:t>
            </a:r>
            <a:endParaRPr/>
          </a:p>
        </p:txBody>
      </p:sp>
      <p:sp>
        <p:nvSpPr>
          <p:cNvPr id="406" name="Google Shape;406;p76"/>
          <p:cNvSpPr txBox="1">
            <a:spLocks noGrp="1"/>
          </p:cNvSpPr>
          <p:nvPr>
            <p:ph type="title"/>
          </p:nvPr>
        </p:nvSpPr>
        <p:spPr>
          <a:xfrm>
            <a:off x="817323" y="214817"/>
            <a:ext cx="7402883" cy="874951"/>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930B0B"/>
              </a:buClr>
              <a:buSzPts val="3600"/>
              <a:buFont typeface="Times New Roman"/>
              <a:buNone/>
            </a:pPr>
            <a:r>
              <a:rPr lang="en-US" b="1"/>
              <a:t>3. Entities</a:t>
            </a:r>
            <a:endParaRPr/>
          </a:p>
        </p:txBody>
      </p:sp>
      <p:sp>
        <p:nvSpPr>
          <p:cNvPr id="407" name="Google Shape;407;p76"/>
          <p:cNvSpPr txBox="1">
            <a:spLocks noGrp="1"/>
          </p:cNvSpPr>
          <p:nvPr>
            <p:ph type="body" idx="1"/>
          </p:nvPr>
        </p:nvSpPr>
        <p:spPr>
          <a:xfrm>
            <a:off x="700004" y="1324629"/>
            <a:ext cx="8229600" cy="4525963"/>
          </a:xfrm>
          <a:prstGeom prst="rect">
            <a:avLst/>
          </a:prstGeom>
          <a:noFill/>
          <a:ln>
            <a:noFill/>
          </a:ln>
        </p:spPr>
        <p:txBody>
          <a:bodyPr spcFirstLastPara="1" wrap="square" lIns="91425" tIns="45700" rIns="91425" bIns="45700" anchor="t" anchorCtr="0">
            <a:normAutofit/>
          </a:bodyPr>
          <a:lstStyle/>
          <a:p>
            <a:pPr marL="457200" marR="0" lvl="0" indent="-406400" algn="l" rtl="0">
              <a:lnSpc>
                <a:spcPct val="90000"/>
              </a:lnSpc>
              <a:spcBef>
                <a:spcPts val="1000"/>
              </a:spcBef>
              <a:spcAft>
                <a:spcPts val="0"/>
              </a:spcAft>
              <a:buClr>
                <a:schemeClr val="dk1"/>
              </a:buClr>
              <a:buSzPts val="2800"/>
              <a:buFont typeface="Arial"/>
              <a:buChar char="•"/>
            </a:pPr>
            <a:r>
              <a:rPr lang="en-US" b="1"/>
              <a:t>Headquarters (HQ)</a:t>
            </a:r>
            <a:r>
              <a:rPr lang="en-US"/>
              <a:t> – Central command that receives reports and issues orders.</a:t>
            </a:r>
            <a:endParaRPr/>
          </a:p>
          <a:p>
            <a:pPr marL="457200" marR="0" lvl="0" indent="-406400" algn="l" rtl="0">
              <a:lnSpc>
                <a:spcPct val="90000"/>
              </a:lnSpc>
              <a:spcBef>
                <a:spcPts val="1000"/>
              </a:spcBef>
              <a:spcAft>
                <a:spcPts val="0"/>
              </a:spcAft>
              <a:buClr>
                <a:schemeClr val="dk1"/>
              </a:buClr>
              <a:buSzPts val="2800"/>
              <a:buFont typeface="Arial"/>
              <a:buChar char="•"/>
            </a:pPr>
            <a:r>
              <a:rPr lang="en-US" b="1"/>
              <a:t>Base Stations (B1, B2, B3, B4)</a:t>
            </a:r>
            <a:r>
              <a:rPr lang="en-US"/>
              <a:t> – Located near the border, reporting intelligence and executing commands.</a:t>
            </a:r>
            <a:endParaRPr/>
          </a:p>
          <a:p>
            <a:pPr marL="457200" marR="0" lvl="0" indent="-406400" algn="l" rtl="0">
              <a:lnSpc>
                <a:spcPct val="90000"/>
              </a:lnSpc>
              <a:spcBef>
                <a:spcPts val="1000"/>
              </a:spcBef>
              <a:spcAft>
                <a:spcPts val="0"/>
              </a:spcAft>
              <a:buClr>
                <a:schemeClr val="dk1"/>
              </a:buClr>
              <a:buSzPts val="2800"/>
              <a:buFont typeface="Arial"/>
              <a:buChar char="•"/>
            </a:pPr>
            <a:r>
              <a:rPr lang="en-US" b="1"/>
              <a:t>Personnel (P1 to P8 in each base &amp; HQ)</a:t>
            </a:r>
            <a:r>
              <a:rPr lang="en-US"/>
              <a:t> – Military personnel authorized to send and receive messages.</a:t>
            </a:r>
            <a:endParaRPr/>
          </a:p>
          <a:p>
            <a:pPr marL="457200" marR="0" lvl="0" indent="-228600" algn="l" rtl="0">
              <a:lnSpc>
                <a:spcPct val="90000"/>
              </a:lnSpc>
              <a:spcBef>
                <a:spcPts val="1000"/>
              </a:spcBef>
              <a:spcAft>
                <a:spcPts val="0"/>
              </a:spcAft>
              <a:buClr>
                <a:schemeClr val="dk1"/>
              </a:buClr>
              <a:buSzPts val="2800"/>
              <a:buFont typeface="Arial"/>
              <a:buNone/>
            </a:pP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11"/>
        <p:cNvGrpSpPr/>
        <p:nvPr/>
      </p:nvGrpSpPr>
      <p:grpSpPr>
        <a:xfrm>
          <a:off x="0" y="0"/>
          <a:ext cx="0" cy="0"/>
          <a:chOff x="0" y="0"/>
          <a:chExt cx="0" cy="0"/>
        </a:xfrm>
      </p:grpSpPr>
      <p:sp>
        <p:nvSpPr>
          <p:cNvPr id="412" name="Google Shape;412;p77"/>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en-US"/>
              <a:t>Ms. Swati Mali</a:t>
            </a:r>
            <a:endParaRPr/>
          </a:p>
        </p:txBody>
      </p:sp>
      <p:sp>
        <p:nvSpPr>
          <p:cNvPr id="413" name="Google Shape;413;p77"/>
          <p:cNvSpPr txBox="1">
            <a:spLocks noGrp="1"/>
          </p:cNvSpPr>
          <p:nvPr>
            <p:ph type="title"/>
          </p:nvPr>
        </p:nvSpPr>
        <p:spPr>
          <a:xfrm>
            <a:off x="817323" y="214817"/>
            <a:ext cx="8326677" cy="874951"/>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930B0B"/>
              </a:buClr>
              <a:buSzPts val="3600"/>
              <a:buFont typeface="Times New Roman"/>
              <a:buNone/>
            </a:pPr>
            <a:r>
              <a:rPr lang="en-US" b="1"/>
              <a:t>Step 1: Key Generation &amp; Distribution</a:t>
            </a:r>
            <a:endParaRPr/>
          </a:p>
        </p:txBody>
      </p:sp>
      <p:sp>
        <p:nvSpPr>
          <p:cNvPr id="414" name="Google Shape;414;p77"/>
          <p:cNvSpPr txBox="1">
            <a:spLocks noGrp="1"/>
          </p:cNvSpPr>
          <p:nvPr>
            <p:ph type="body" idx="1"/>
          </p:nvPr>
        </p:nvSpPr>
        <p:spPr>
          <a:xfrm>
            <a:off x="700004" y="1324629"/>
            <a:ext cx="8229600" cy="4525963"/>
          </a:xfrm>
          <a:prstGeom prst="rect">
            <a:avLst/>
          </a:prstGeom>
          <a:noFill/>
          <a:ln>
            <a:noFill/>
          </a:ln>
        </p:spPr>
        <p:txBody>
          <a:bodyPr spcFirstLastPara="1" wrap="square" lIns="91425" tIns="45700" rIns="91425" bIns="45700" anchor="t" anchorCtr="0">
            <a:normAutofit fontScale="92500" lnSpcReduction="10000"/>
          </a:bodyPr>
          <a:lstStyle/>
          <a:p>
            <a:pPr marL="457200" marR="0" lvl="0" indent="-406400" algn="l" rtl="0">
              <a:lnSpc>
                <a:spcPct val="90000"/>
              </a:lnSpc>
              <a:spcBef>
                <a:spcPts val="1000"/>
              </a:spcBef>
              <a:spcAft>
                <a:spcPts val="0"/>
              </a:spcAft>
              <a:buClr>
                <a:schemeClr val="dk1"/>
              </a:buClr>
              <a:buSzPct val="108108"/>
              <a:buFont typeface="Arial"/>
              <a:buChar char="•"/>
            </a:pPr>
            <a:r>
              <a:rPr lang="en-US"/>
              <a:t>Each base and HQ generates:</a:t>
            </a:r>
            <a:endParaRPr/>
          </a:p>
          <a:p>
            <a:pPr marL="457200" marR="0" lvl="0" indent="-406400" algn="l" rtl="0">
              <a:lnSpc>
                <a:spcPct val="90000"/>
              </a:lnSpc>
              <a:spcBef>
                <a:spcPts val="1000"/>
              </a:spcBef>
              <a:spcAft>
                <a:spcPts val="0"/>
              </a:spcAft>
              <a:buClr>
                <a:schemeClr val="dk1"/>
              </a:buClr>
              <a:buSzPct val="108108"/>
              <a:buFont typeface="Arial"/>
              <a:buChar char="•"/>
            </a:pPr>
            <a:r>
              <a:rPr lang="en-US" b="1"/>
              <a:t>RSA Key Pair</a:t>
            </a:r>
            <a:r>
              <a:rPr lang="en-US"/>
              <a:t>:</a:t>
            </a:r>
            <a:endParaRPr/>
          </a:p>
          <a:p>
            <a:pPr marL="914400" lvl="1" indent="-381000" algn="l" rtl="0">
              <a:lnSpc>
                <a:spcPct val="90000"/>
              </a:lnSpc>
              <a:spcBef>
                <a:spcPts val="500"/>
              </a:spcBef>
              <a:spcAft>
                <a:spcPts val="0"/>
              </a:spcAft>
              <a:buSzPct val="108108"/>
              <a:buChar char="o"/>
            </a:pPr>
            <a:r>
              <a:rPr lang="en-US" b="1"/>
              <a:t>Private Key (d)</a:t>
            </a:r>
            <a:r>
              <a:rPr lang="en-US"/>
              <a:t> – Kept secret by each entity.</a:t>
            </a:r>
            <a:endParaRPr/>
          </a:p>
          <a:p>
            <a:pPr marL="914400" lvl="1" indent="-381000" algn="l" rtl="0">
              <a:lnSpc>
                <a:spcPct val="90000"/>
              </a:lnSpc>
              <a:spcBef>
                <a:spcPts val="500"/>
              </a:spcBef>
              <a:spcAft>
                <a:spcPts val="0"/>
              </a:spcAft>
              <a:buSzPct val="108108"/>
              <a:buChar char="o"/>
            </a:pPr>
            <a:r>
              <a:rPr lang="en-US" b="1"/>
              <a:t>Public Key (P)</a:t>
            </a:r>
            <a:r>
              <a:rPr lang="en-US"/>
              <a:t> – Shared with HQ and other bases via a secure channel.</a:t>
            </a:r>
            <a:endParaRPr/>
          </a:p>
          <a:p>
            <a:pPr marL="457200" marR="0" lvl="0" indent="-406400" algn="l" rtl="0">
              <a:lnSpc>
                <a:spcPct val="90000"/>
              </a:lnSpc>
              <a:spcBef>
                <a:spcPts val="1000"/>
              </a:spcBef>
              <a:spcAft>
                <a:spcPts val="0"/>
              </a:spcAft>
              <a:buClr>
                <a:schemeClr val="dk1"/>
              </a:buClr>
              <a:buSzPct val="108108"/>
              <a:buFont typeface="Arial"/>
              <a:buChar char="•"/>
            </a:pPr>
            <a:r>
              <a:rPr lang="en-US" b="1"/>
              <a:t>AES/DES Key for Each Session</a:t>
            </a:r>
            <a:r>
              <a:rPr lang="en-US"/>
              <a:t>:</a:t>
            </a:r>
            <a:endParaRPr/>
          </a:p>
          <a:p>
            <a:pPr marL="914400" lvl="1" indent="-381000" algn="l" rtl="0">
              <a:lnSpc>
                <a:spcPct val="90000"/>
              </a:lnSpc>
              <a:spcBef>
                <a:spcPts val="500"/>
              </a:spcBef>
              <a:spcAft>
                <a:spcPts val="0"/>
              </a:spcAft>
              <a:buSzPct val="108108"/>
              <a:buChar char="o"/>
            </a:pPr>
            <a:r>
              <a:rPr lang="en-US"/>
              <a:t>A new </a:t>
            </a:r>
            <a:r>
              <a:rPr lang="en-US" b="1"/>
              <a:t>random AES/DES key</a:t>
            </a:r>
            <a:r>
              <a:rPr lang="en-US"/>
              <a:t> is generated for each communication session.</a:t>
            </a:r>
            <a:endParaRPr/>
          </a:p>
          <a:p>
            <a:pPr marL="914400" lvl="1" indent="-381000" algn="l" rtl="0">
              <a:lnSpc>
                <a:spcPct val="90000"/>
              </a:lnSpc>
              <a:spcBef>
                <a:spcPts val="500"/>
              </a:spcBef>
              <a:spcAft>
                <a:spcPts val="0"/>
              </a:spcAft>
              <a:buSzPct val="108108"/>
              <a:buChar char="o"/>
            </a:pPr>
            <a:r>
              <a:rPr lang="en-US"/>
              <a:t>This </a:t>
            </a:r>
            <a:r>
              <a:rPr lang="en-US" b="1"/>
              <a:t>AES/DES key is encrypted</a:t>
            </a:r>
            <a:r>
              <a:rPr lang="en-US"/>
              <a:t> using RSA before transmission.</a:t>
            </a:r>
            <a:endParaRPr/>
          </a:p>
          <a:p>
            <a:pPr marL="457200" marR="0" lvl="0" indent="-406400" algn="l" rtl="0">
              <a:lnSpc>
                <a:spcPct val="90000"/>
              </a:lnSpc>
              <a:spcBef>
                <a:spcPts val="1000"/>
              </a:spcBef>
              <a:spcAft>
                <a:spcPts val="0"/>
              </a:spcAft>
              <a:buClr>
                <a:schemeClr val="dk1"/>
              </a:buClr>
              <a:buSzPct val="108108"/>
              <a:buFont typeface="Arial"/>
              <a:buChar char="•"/>
            </a:pPr>
            <a:r>
              <a:rPr lang="en-US"/>
              <a:t>All personnel are issued a </a:t>
            </a:r>
            <a:r>
              <a:rPr lang="en-US" b="1"/>
              <a:t>digital certificate</a:t>
            </a:r>
            <a:r>
              <a:rPr lang="en-US"/>
              <a:t> signed by HQ to authenticate messages.</a:t>
            </a:r>
            <a:endParaRPr/>
          </a:p>
          <a:p>
            <a:pPr marL="457200" marR="0" lvl="0" indent="-228600" algn="l" rtl="0">
              <a:lnSpc>
                <a:spcPct val="90000"/>
              </a:lnSpc>
              <a:spcBef>
                <a:spcPts val="1000"/>
              </a:spcBef>
              <a:spcAft>
                <a:spcPts val="0"/>
              </a:spcAft>
              <a:buClr>
                <a:schemeClr val="dk1"/>
              </a:buClr>
              <a:buSzPct val="108108"/>
              <a:buFont typeface="Arial"/>
              <a:buNone/>
            </a:pP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p78"/>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en-US"/>
              <a:t>Ms. Swati Mali</a:t>
            </a:r>
            <a:endParaRPr/>
          </a:p>
        </p:txBody>
      </p:sp>
      <p:sp>
        <p:nvSpPr>
          <p:cNvPr id="420" name="Google Shape;420;p78"/>
          <p:cNvSpPr txBox="1">
            <a:spLocks noGrp="1"/>
          </p:cNvSpPr>
          <p:nvPr>
            <p:ph type="title"/>
          </p:nvPr>
        </p:nvSpPr>
        <p:spPr>
          <a:xfrm>
            <a:off x="394855" y="214817"/>
            <a:ext cx="7825351" cy="874951"/>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930B0B"/>
              </a:buClr>
              <a:buSzPts val="3600"/>
              <a:buFont typeface="Times New Roman"/>
              <a:buNone/>
            </a:pPr>
            <a:r>
              <a:rPr lang="en-US" b="1"/>
              <a:t>Step 2: Sending a Secure Report from Base to HQ</a:t>
            </a:r>
            <a:endParaRPr/>
          </a:p>
        </p:txBody>
      </p:sp>
      <p:sp>
        <p:nvSpPr>
          <p:cNvPr id="421" name="Google Shape;421;p78"/>
          <p:cNvSpPr txBox="1">
            <a:spLocks noGrp="1"/>
          </p:cNvSpPr>
          <p:nvPr>
            <p:ph type="body" idx="1"/>
          </p:nvPr>
        </p:nvSpPr>
        <p:spPr>
          <a:xfrm>
            <a:off x="700004" y="1324629"/>
            <a:ext cx="8229600" cy="4847571"/>
          </a:xfrm>
          <a:prstGeom prst="rect">
            <a:avLst/>
          </a:prstGeom>
          <a:noFill/>
          <a:ln>
            <a:noFill/>
          </a:ln>
        </p:spPr>
        <p:txBody>
          <a:bodyPr spcFirstLastPara="1" wrap="square" lIns="91425" tIns="45700" rIns="91425" bIns="45700" anchor="t" anchorCtr="0">
            <a:normAutofit fontScale="92500" lnSpcReduction="10000"/>
          </a:bodyPr>
          <a:lstStyle/>
          <a:p>
            <a:pPr marL="50800" lvl="0" indent="0" algn="l" rtl="0">
              <a:lnSpc>
                <a:spcPct val="90000"/>
              </a:lnSpc>
              <a:spcBef>
                <a:spcPts val="1000"/>
              </a:spcBef>
              <a:spcAft>
                <a:spcPts val="0"/>
              </a:spcAft>
              <a:buSzPct val="108108"/>
              <a:buNone/>
            </a:pPr>
            <a:r>
              <a:rPr lang="en-US"/>
              <a:t>The base creates a </a:t>
            </a:r>
            <a:r>
              <a:rPr lang="en-US" b="1"/>
              <a:t>surveillance report</a:t>
            </a:r>
            <a:r>
              <a:rPr lang="en-US"/>
              <a:t> M, a </a:t>
            </a:r>
            <a:r>
              <a:rPr lang="en-US" b="1"/>
              <a:t>Report ID</a:t>
            </a:r>
            <a:r>
              <a:rPr lang="en-US"/>
              <a:t> to track messages, a </a:t>
            </a:r>
            <a:r>
              <a:rPr lang="en-US" b="1"/>
              <a:t>timestamp T</a:t>
            </a:r>
            <a:r>
              <a:rPr lang="en-US"/>
              <a:t> to prevent replay attacks</a:t>
            </a:r>
            <a:endParaRPr/>
          </a:p>
          <a:p>
            <a:pPr marL="50800" lvl="0" indent="0" algn="l" rtl="0">
              <a:lnSpc>
                <a:spcPct val="90000"/>
              </a:lnSpc>
              <a:spcBef>
                <a:spcPts val="1000"/>
              </a:spcBef>
              <a:spcAft>
                <a:spcPts val="0"/>
              </a:spcAft>
              <a:buSzPct val="108108"/>
              <a:buNone/>
            </a:pPr>
            <a:r>
              <a:rPr lang="en-US"/>
              <a:t>Prepare message for transmission – use encryption, hash, digital sign</a:t>
            </a:r>
            <a:endParaRPr/>
          </a:p>
          <a:p>
            <a:pPr marL="50800" lvl="0" indent="0" algn="l" rtl="0">
              <a:lnSpc>
                <a:spcPct val="90000"/>
              </a:lnSpc>
              <a:spcBef>
                <a:spcPts val="1000"/>
              </a:spcBef>
              <a:spcAft>
                <a:spcPts val="0"/>
              </a:spcAft>
              <a:buSzPct val="108108"/>
              <a:buNone/>
            </a:pPr>
            <a:r>
              <a:rPr lang="en-US"/>
              <a:t>e.g.</a:t>
            </a:r>
            <a:endParaRPr/>
          </a:p>
          <a:p>
            <a:pPr marL="50800" lvl="0" indent="0" algn="l" rtl="0">
              <a:lnSpc>
                <a:spcPct val="90000"/>
              </a:lnSpc>
              <a:spcBef>
                <a:spcPts val="1000"/>
              </a:spcBef>
              <a:spcAft>
                <a:spcPts val="0"/>
              </a:spcAft>
              <a:buSzPct val="108108"/>
              <a:buNone/>
            </a:pPr>
            <a:r>
              <a:rPr lang="en-US"/>
              <a:t> H=SHA(M+T+Report ID)</a:t>
            </a:r>
            <a:endParaRPr/>
          </a:p>
          <a:p>
            <a:pPr marL="50800" lvl="0" indent="0" algn="l" rtl="0">
              <a:lnSpc>
                <a:spcPct val="90000"/>
              </a:lnSpc>
              <a:spcBef>
                <a:spcPts val="1000"/>
              </a:spcBef>
              <a:spcAft>
                <a:spcPts val="0"/>
              </a:spcAft>
              <a:buSzPct val="108108"/>
              <a:buNone/>
            </a:pPr>
            <a:r>
              <a:rPr lang="en-US"/>
              <a:t> S=Sign(H,d</a:t>
            </a:r>
            <a:r>
              <a:rPr lang="en-US" baseline="-25000"/>
              <a:t>B</a:t>
            </a:r>
            <a:r>
              <a:rPr lang="en-US"/>
              <a:t>​)  where d</a:t>
            </a:r>
            <a:r>
              <a:rPr lang="en-US" baseline="-25000"/>
              <a:t>B</a:t>
            </a:r>
            <a:r>
              <a:rPr lang="en-US"/>
              <a:t> is sender’s private key</a:t>
            </a:r>
            <a:endParaRPr/>
          </a:p>
          <a:p>
            <a:pPr marL="50800" lvl="0" indent="0" algn="l" rtl="0">
              <a:lnSpc>
                <a:spcPct val="90000"/>
              </a:lnSpc>
              <a:spcBef>
                <a:spcPts val="1000"/>
              </a:spcBef>
              <a:spcAft>
                <a:spcPts val="0"/>
              </a:spcAft>
              <a:buSzPct val="108108"/>
              <a:buNone/>
            </a:pPr>
            <a:r>
              <a:rPr lang="en-US"/>
              <a:t> C=AES-Encrypt(K,M) where K is randomly generated session key</a:t>
            </a:r>
            <a:endParaRPr/>
          </a:p>
          <a:p>
            <a:pPr marL="50800" lvl="0" indent="0" algn="l" rtl="0">
              <a:lnSpc>
                <a:spcPct val="90000"/>
              </a:lnSpc>
              <a:spcBef>
                <a:spcPts val="1000"/>
              </a:spcBef>
              <a:spcAft>
                <a:spcPts val="0"/>
              </a:spcAft>
              <a:buSzPct val="108108"/>
              <a:buNone/>
            </a:pPr>
            <a:r>
              <a:rPr lang="en-US"/>
              <a:t> Kenc​=RSA-Encrypt(P</a:t>
            </a:r>
            <a:r>
              <a:rPr lang="en-US" baseline="-25000"/>
              <a:t>HQ</a:t>
            </a:r>
            <a:r>
              <a:rPr lang="en-US"/>
              <a:t>​,K) encrypt K with HQ public key</a:t>
            </a:r>
            <a:endParaRPr/>
          </a:p>
          <a:p>
            <a:pPr marL="50800" lvl="0" indent="0" algn="l" rtl="0">
              <a:lnSpc>
                <a:spcPct val="90000"/>
              </a:lnSpc>
              <a:spcBef>
                <a:spcPts val="1000"/>
              </a:spcBef>
              <a:spcAft>
                <a:spcPts val="0"/>
              </a:spcAft>
              <a:buSzPct val="108108"/>
              <a:buNone/>
            </a:pPr>
            <a:r>
              <a:rPr lang="en-US" b="1" u="sng">
                <a:solidFill>
                  <a:srgbClr val="C00000"/>
                </a:solidFill>
              </a:rPr>
              <a:t>Send {C+S+H+Kenc+T+Report ID} to HQ</a:t>
            </a:r>
            <a:endParaRPr b="1" u="sng">
              <a:solidFill>
                <a:srgbClr val="C00000"/>
              </a:solidFill>
            </a:endParaRPr>
          </a:p>
          <a:p>
            <a:pPr marL="457200" marR="0" lvl="0" indent="-228600" algn="l" rtl="0">
              <a:lnSpc>
                <a:spcPct val="90000"/>
              </a:lnSpc>
              <a:spcBef>
                <a:spcPts val="1000"/>
              </a:spcBef>
              <a:spcAft>
                <a:spcPts val="0"/>
              </a:spcAft>
              <a:buClr>
                <a:schemeClr val="dk1"/>
              </a:buClr>
              <a:buSzPct val="108108"/>
              <a:buFont typeface="Arial"/>
              <a:buNone/>
            </a:pP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6" name="Google Shape;426;p79"/>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en-US"/>
              <a:t>Ms. Swati Mali</a:t>
            </a:r>
            <a:endParaRPr/>
          </a:p>
        </p:txBody>
      </p:sp>
      <p:sp>
        <p:nvSpPr>
          <p:cNvPr id="427" name="Google Shape;427;p79"/>
          <p:cNvSpPr txBox="1">
            <a:spLocks noGrp="1"/>
          </p:cNvSpPr>
          <p:nvPr>
            <p:ph type="title"/>
          </p:nvPr>
        </p:nvSpPr>
        <p:spPr>
          <a:xfrm>
            <a:off x="817323" y="214817"/>
            <a:ext cx="7402883" cy="874951"/>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930B0B"/>
              </a:buClr>
              <a:buSzPts val="3600"/>
              <a:buFont typeface="Times New Roman"/>
              <a:buNone/>
            </a:pPr>
            <a:r>
              <a:rPr lang="en-US"/>
              <a:t>Step 3: Receiving &amp; Verifying at HQ</a:t>
            </a:r>
            <a:endParaRPr/>
          </a:p>
        </p:txBody>
      </p:sp>
      <p:sp>
        <p:nvSpPr>
          <p:cNvPr id="428" name="Google Shape;428;p79"/>
          <p:cNvSpPr txBox="1">
            <a:spLocks noGrp="1"/>
          </p:cNvSpPr>
          <p:nvPr>
            <p:ph type="body" idx="1"/>
          </p:nvPr>
        </p:nvSpPr>
        <p:spPr>
          <a:xfrm>
            <a:off x="700004" y="1324629"/>
            <a:ext cx="8229600" cy="4525963"/>
          </a:xfrm>
          <a:prstGeom prst="rect">
            <a:avLst/>
          </a:prstGeom>
          <a:noFill/>
          <a:ln>
            <a:noFill/>
          </a:ln>
        </p:spPr>
        <p:txBody>
          <a:bodyPr spcFirstLastPara="1" wrap="square" lIns="91425" tIns="45700" rIns="91425" bIns="45700" anchor="t" anchorCtr="0">
            <a:normAutofit fontScale="92500"/>
          </a:bodyPr>
          <a:lstStyle/>
          <a:p>
            <a:pPr marL="565150" lvl="0" indent="-514350" algn="l" rtl="0">
              <a:lnSpc>
                <a:spcPct val="90000"/>
              </a:lnSpc>
              <a:spcBef>
                <a:spcPts val="1000"/>
              </a:spcBef>
              <a:spcAft>
                <a:spcPts val="0"/>
              </a:spcAft>
              <a:buSzPct val="108108"/>
              <a:buFont typeface="Arial"/>
              <a:buAutoNum type="arabicPeriod"/>
            </a:pPr>
            <a:r>
              <a:rPr lang="en-US"/>
              <a:t>HQ decrypts K using its private RSA key: </a:t>
            </a:r>
            <a:endParaRPr/>
          </a:p>
          <a:p>
            <a:pPr marL="50800" lvl="0" indent="0" algn="l" rtl="0">
              <a:lnSpc>
                <a:spcPct val="90000"/>
              </a:lnSpc>
              <a:spcBef>
                <a:spcPts val="1000"/>
              </a:spcBef>
              <a:spcAft>
                <a:spcPts val="0"/>
              </a:spcAft>
              <a:buSzPct val="108108"/>
              <a:buNone/>
            </a:pPr>
            <a:r>
              <a:rPr lang="en-US"/>
              <a:t>       K=RSA-Decrypt(dHQ,Kenc)</a:t>
            </a:r>
            <a:endParaRPr/>
          </a:p>
          <a:p>
            <a:pPr marL="565150" lvl="0" indent="-514350" algn="l" rtl="0">
              <a:lnSpc>
                <a:spcPct val="90000"/>
              </a:lnSpc>
              <a:spcBef>
                <a:spcPts val="1000"/>
              </a:spcBef>
              <a:spcAft>
                <a:spcPts val="0"/>
              </a:spcAft>
              <a:buSzPct val="108108"/>
              <a:buFont typeface="Arial"/>
              <a:buAutoNum type="arabicPeriod"/>
            </a:pPr>
            <a:r>
              <a:rPr lang="en-US"/>
              <a:t>Use K to decrypt M: </a:t>
            </a:r>
            <a:endParaRPr/>
          </a:p>
          <a:p>
            <a:pPr marL="50800" lvl="0" indent="0" algn="l" rtl="0">
              <a:lnSpc>
                <a:spcPct val="90000"/>
              </a:lnSpc>
              <a:spcBef>
                <a:spcPts val="1000"/>
              </a:spcBef>
              <a:spcAft>
                <a:spcPts val="0"/>
              </a:spcAft>
              <a:buSzPct val="108108"/>
              <a:buNone/>
            </a:pPr>
            <a:r>
              <a:rPr lang="en-US"/>
              <a:t>	M=AES-Decrypt(K,C)</a:t>
            </a:r>
            <a:endParaRPr/>
          </a:p>
          <a:p>
            <a:pPr marL="50800" lvl="0" indent="0" algn="l" rtl="0">
              <a:lnSpc>
                <a:spcPct val="90000"/>
              </a:lnSpc>
              <a:spcBef>
                <a:spcPts val="1000"/>
              </a:spcBef>
              <a:spcAft>
                <a:spcPts val="0"/>
              </a:spcAft>
              <a:buSzPct val="108108"/>
              <a:buNone/>
            </a:pPr>
            <a:r>
              <a:rPr lang="en-US"/>
              <a:t>3</a:t>
            </a:r>
            <a:r>
              <a:rPr lang="en-US" b="1"/>
              <a:t>. </a:t>
            </a:r>
            <a:r>
              <a:rPr lang="en-US"/>
              <a:t>Verify Integrity &amp; Authenticity</a:t>
            </a:r>
            <a:endParaRPr/>
          </a:p>
          <a:p>
            <a:pPr marL="50800" lvl="0" indent="0" algn="l" rtl="0">
              <a:lnSpc>
                <a:spcPct val="90000"/>
              </a:lnSpc>
              <a:spcBef>
                <a:spcPts val="1000"/>
              </a:spcBef>
              <a:spcAft>
                <a:spcPts val="0"/>
              </a:spcAft>
              <a:buSzPct val="108108"/>
              <a:buNone/>
            </a:pPr>
            <a:r>
              <a:rPr lang="en-US"/>
              <a:t>	Compute hash: H′=SHA(M∥T∥Report ID)</a:t>
            </a:r>
            <a:endParaRPr/>
          </a:p>
          <a:p>
            <a:pPr marL="50800" lvl="0" indent="0" algn="l" rtl="0">
              <a:lnSpc>
                <a:spcPct val="90000"/>
              </a:lnSpc>
              <a:spcBef>
                <a:spcPts val="1000"/>
              </a:spcBef>
              <a:spcAft>
                <a:spcPts val="0"/>
              </a:spcAft>
              <a:buSzPct val="108108"/>
              <a:buNone/>
            </a:pPr>
            <a:r>
              <a:rPr lang="en-US"/>
              <a:t>	Verify signature using the base’s public key:      </a:t>
            </a:r>
            <a:endParaRPr/>
          </a:p>
          <a:p>
            <a:pPr marL="50800" lvl="0" indent="0" algn="l" rtl="0">
              <a:lnSpc>
                <a:spcPct val="90000"/>
              </a:lnSpc>
              <a:spcBef>
                <a:spcPts val="1000"/>
              </a:spcBef>
              <a:spcAft>
                <a:spcPts val="0"/>
              </a:spcAft>
              <a:buSzPct val="108108"/>
              <a:buNone/>
            </a:pPr>
            <a:r>
              <a:rPr lang="en-US"/>
              <a:t>               Verify(H′,S,PB)</a:t>
            </a:r>
            <a:endParaRPr/>
          </a:p>
          <a:p>
            <a:pPr marL="50800" lvl="0" indent="0" algn="l" rtl="0">
              <a:lnSpc>
                <a:spcPct val="90000"/>
              </a:lnSpc>
              <a:spcBef>
                <a:spcPts val="1000"/>
              </a:spcBef>
              <a:spcAft>
                <a:spcPts val="0"/>
              </a:spcAft>
              <a:buSzPct val="108108"/>
              <a:buNone/>
            </a:pPr>
            <a:r>
              <a:rPr lang="en-US"/>
              <a:t>If valid, store (M,ReportID,T,S in HQ’s </a:t>
            </a:r>
            <a:r>
              <a:rPr lang="en-US" b="1"/>
              <a:t>secure database</a:t>
            </a:r>
            <a:r>
              <a:rPr lang="en-US"/>
              <a:t>.</a:t>
            </a:r>
            <a:endParaRPr/>
          </a:p>
          <a:p>
            <a:pPr marL="50800" lvl="0" indent="0" algn="l" rtl="0">
              <a:lnSpc>
                <a:spcPct val="90000"/>
              </a:lnSpc>
              <a:spcBef>
                <a:spcPts val="1000"/>
              </a:spcBef>
              <a:spcAft>
                <a:spcPts val="0"/>
              </a:spcAft>
              <a:buSzPct val="108108"/>
              <a:buNone/>
            </a:pP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sp>
        <p:nvSpPr>
          <p:cNvPr id="433" name="Google Shape;433;p80"/>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en-US"/>
              <a:t>Ms. Swati Mali</a:t>
            </a:r>
            <a:endParaRPr/>
          </a:p>
        </p:txBody>
      </p:sp>
      <p:sp>
        <p:nvSpPr>
          <p:cNvPr id="434" name="Google Shape;434;p80"/>
          <p:cNvSpPr txBox="1">
            <a:spLocks noGrp="1"/>
          </p:cNvSpPr>
          <p:nvPr>
            <p:ph type="title"/>
          </p:nvPr>
        </p:nvSpPr>
        <p:spPr>
          <a:xfrm>
            <a:off x="817323" y="214817"/>
            <a:ext cx="8326677" cy="874951"/>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930B0B"/>
              </a:buClr>
              <a:buSzPts val="3600"/>
              <a:buFont typeface="Times New Roman"/>
              <a:buNone/>
            </a:pPr>
            <a:r>
              <a:rPr lang="en-US" b="1"/>
              <a:t>Step 4: Sending Orders from HQ to Bases</a:t>
            </a:r>
            <a:endParaRPr/>
          </a:p>
        </p:txBody>
      </p:sp>
      <p:sp>
        <p:nvSpPr>
          <p:cNvPr id="435" name="Google Shape;435;p80"/>
          <p:cNvSpPr txBox="1">
            <a:spLocks noGrp="1"/>
          </p:cNvSpPr>
          <p:nvPr>
            <p:ph type="body" idx="1"/>
          </p:nvPr>
        </p:nvSpPr>
        <p:spPr>
          <a:xfrm>
            <a:off x="700004" y="1324629"/>
            <a:ext cx="8229600" cy="4525963"/>
          </a:xfrm>
          <a:prstGeom prst="rect">
            <a:avLst/>
          </a:prstGeom>
          <a:noFill/>
          <a:ln>
            <a:noFill/>
          </a:ln>
        </p:spPr>
        <p:txBody>
          <a:bodyPr spcFirstLastPara="1" wrap="square" lIns="91425" tIns="45700" rIns="91425" bIns="45700" anchor="t" anchorCtr="0">
            <a:normAutofit lnSpcReduction="10000"/>
          </a:bodyPr>
          <a:lstStyle/>
          <a:p>
            <a:pPr marL="50800" lvl="0" indent="0" algn="l" rtl="0">
              <a:lnSpc>
                <a:spcPct val="90000"/>
              </a:lnSpc>
              <a:spcBef>
                <a:spcPts val="1000"/>
              </a:spcBef>
              <a:spcAft>
                <a:spcPts val="0"/>
              </a:spcAft>
              <a:buSzPts val="2800"/>
              <a:buNone/>
            </a:pPr>
            <a:r>
              <a:rPr lang="en-US" b="1"/>
              <a:t>1.  </a:t>
            </a:r>
            <a:r>
              <a:rPr lang="en-US"/>
              <a:t>HQ formulates an </a:t>
            </a:r>
            <a:r>
              <a:rPr lang="en-US" b="1"/>
              <a:t>encrypted command</a:t>
            </a:r>
            <a:r>
              <a:rPr lang="en-US"/>
              <a:t> - M</a:t>
            </a:r>
            <a:endParaRPr/>
          </a:p>
          <a:p>
            <a:pPr marL="50800" lvl="0" indent="0" algn="l" rtl="0">
              <a:lnSpc>
                <a:spcPct val="90000"/>
              </a:lnSpc>
              <a:spcBef>
                <a:spcPts val="1000"/>
              </a:spcBef>
              <a:spcAft>
                <a:spcPts val="0"/>
              </a:spcAft>
              <a:buSzPts val="2800"/>
              <a:buNone/>
            </a:pPr>
            <a:r>
              <a:rPr lang="en-US" b="1"/>
              <a:t>2. Encrypt &amp; Sign the command M</a:t>
            </a:r>
            <a:endParaRPr b="1"/>
          </a:p>
          <a:p>
            <a:pPr marL="457200" marR="0" lvl="0" indent="-406400" algn="l" rtl="0">
              <a:lnSpc>
                <a:spcPct val="90000"/>
              </a:lnSpc>
              <a:spcBef>
                <a:spcPts val="1000"/>
              </a:spcBef>
              <a:spcAft>
                <a:spcPts val="0"/>
              </a:spcAft>
              <a:buClr>
                <a:schemeClr val="dk1"/>
              </a:buClr>
              <a:buSzPts val="2800"/>
              <a:buFont typeface="Arial"/>
              <a:buChar char="•"/>
            </a:pPr>
            <a:r>
              <a:rPr lang="en-US"/>
              <a:t>Compute hash H of C</a:t>
            </a:r>
            <a:endParaRPr/>
          </a:p>
          <a:p>
            <a:pPr marL="457200" marR="0" lvl="0" indent="-406400" algn="l" rtl="0">
              <a:lnSpc>
                <a:spcPct val="90000"/>
              </a:lnSpc>
              <a:spcBef>
                <a:spcPts val="1000"/>
              </a:spcBef>
              <a:spcAft>
                <a:spcPts val="0"/>
              </a:spcAft>
              <a:buClr>
                <a:schemeClr val="dk1"/>
              </a:buClr>
              <a:buSzPts val="2800"/>
              <a:buFont typeface="Arial"/>
              <a:buChar char="•"/>
            </a:pPr>
            <a:r>
              <a:rPr lang="en-US"/>
              <a:t>HQ signs it using </a:t>
            </a:r>
            <a:r>
              <a:rPr lang="en-US" b="1"/>
              <a:t>its private RSA key</a:t>
            </a:r>
            <a:r>
              <a:rPr lang="en-US"/>
              <a:t>.</a:t>
            </a:r>
            <a:endParaRPr/>
          </a:p>
          <a:p>
            <a:pPr marL="457200" marR="0" lvl="0" indent="-406400" algn="l" rtl="0">
              <a:lnSpc>
                <a:spcPct val="90000"/>
              </a:lnSpc>
              <a:spcBef>
                <a:spcPts val="1000"/>
              </a:spcBef>
              <a:spcAft>
                <a:spcPts val="0"/>
              </a:spcAft>
              <a:buClr>
                <a:schemeClr val="dk1"/>
              </a:buClr>
              <a:buSzPts val="2800"/>
              <a:buFont typeface="Arial"/>
              <a:buChar char="•"/>
            </a:pPr>
            <a:r>
              <a:rPr lang="en-US"/>
              <a:t>Encrypt message M using a </a:t>
            </a:r>
            <a:r>
              <a:rPr lang="en-US" b="1"/>
              <a:t>random AES key K′</a:t>
            </a:r>
            <a:endParaRPr/>
          </a:p>
          <a:p>
            <a:pPr marL="457200" marR="0" lvl="0" indent="-406400" algn="l" rtl="0">
              <a:lnSpc>
                <a:spcPct val="90000"/>
              </a:lnSpc>
              <a:spcBef>
                <a:spcPts val="1000"/>
              </a:spcBef>
              <a:spcAft>
                <a:spcPts val="0"/>
              </a:spcAft>
              <a:buClr>
                <a:schemeClr val="dk1"/>
              </a:buClr>
              <a:buSzPts val="2800"/>
              <a:buFont typeface="Arial"/>
              <a:buChar char="•"/>
            </a:pPr>
            <a:r>
              <a:rPr lang="en-US"/>
              <a:t>Encrypt K′ using </a:t>
            </a:r>
            <a:r>
              <a:rPr lang="en-US" b="1"/>
              <a:t>base’s public RSA key</a:t>
            </a:r>
            <a:r>
              <a:rPr lang="en-US"/>
              <a:t>.</a:t>
            </a:r>
            <a:endParaRPr/>
          </a:p>
          <a:p>
            <a:pPr marL="50800" lvl="0" indent="0" algn="l" rtl="0">
              <a:lnSpc>
                <a:spcPct val="90000"/>
              </a:lnSpc>
              <a:spcBef>
                <a:spcPts val="1000"/>
              </a:spcBef>
              <a:spcAft>
                <a:spcPts val="0"/>
              </a:spcAft>
              <a:buSzPts val="2800"/>
              <a:buNone/>
            </a:pPr>
            <a:r>
              <a:rPr lang="en-US" b="1"/>
              <a:t>3. Transmitting the Order</a:t>
            </a:r>
            <a:endParaRPr/>
          </a:p>
          <a:p>
            <a:pPr marL="50800" lvl="0" indent="0" algn="l" rtl="0">
              <a:lnSpc>
                <a:spcPct val="90000"/>
              </a:lnSpc>
              <a:spcBef>
                <a:spcPts val="1000"/>
              </a:spcBef>
              <a:spcAft>
                <a:spcPts val="0"/>
              </a:spcAft>
              <a:buSzPts val="2800"/>
              <a:buNone/>
            </a:pPr>
            <a:r>
              <a:rPr lang="en-US"/>
              <a:t>{Kenc+M+S+T+OrderID}</a:t>
            </a:r>
            <a:endParaRPr/>
          </a:p>
          <a:p>
            <a:pPr marL="50800" lvl="0" indent="0" algn="l" rtl="0">
              <a:lnSpc>
                <a:spcPct val="90000"/>
              </a:lnSpc>
              <a:spcBef>
                <a:spcPts val="1000"/>
              </a:spcBef>
              <a:spcAft>
                <a:spcPts val="0"/>
              </a:spcAft>
              <a:buSzPts val="2800"/>
              <a:buNone/>
            </a:pPr>
            <a:r>
              <a:rPr lang="en-US" b="1"/>
              <a:t>4. Base Verifies &amp; Executes Order</a:t>
            </a:r>
            <a:endParaRPr/>
          </a:p>
          <a:p>
            <a:pPr marL="50800" lvl="0" indent="0" algn="l" rtl="0">
              <a:lnSpc>
                <a:spcPct val="90000"/>
              </a:lnSpc>
              <a:spcBef>
                <a:spcPts val="1000"/>
              </a:spcBef>
              <a:spcAft>
                <a:spcPts val="0"/>
              </a:spcAft>
              <a:buSzPts val="2800"/>
              <a:buNone/>
            </a:pP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39"/>
        <p:cNvGrpSpPr/>
        <p:nvPr/>
      </p:nvGrpSpPr>
      <p:grpSpPr>
        <a:xfrm>
          <a:off x="0" y="0"/>
          <a:ext cx="0" cy="0"/>
          <a:chOff x="0" y="0"/>
          <a:chExt cx="0" cy="0"/>
        </a:xfrm>
      </p:grpSpPr>
      <p:sp>
        <p:nvSpPr>
          <p:cNvPr id="440" name="Google Shape;440;p81"/>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en-US"/>
              <a:t>Ms. Swati Mali</a:t>
            </a:r>
            <a:endParaRPr/>
          </a:p>
        </p:txBody>
      </p:sp>
      <p:sp>
        <p:nvSpPr>
          <p:cNvPr id="441" name="Google Shape;441;p81"/>
          <p:cNvSpPr txBox="1">
            <a:spLocks noGrp="1"/>
          </p:cNvSpPr>
          <p:nvPr>
            <p:ph type="title"/>
          </p:nvPr>
        </p:nvSpPr>
        <p:spPr>
          <a:xfrm>
            <a:off x="817323" y="214817"/>
            <a:ext cx="7402883" cy="874951"/>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930B0B"/>
              </a:buClr>
              <a:buSzPts val="3600"/>
              <a:buFont typeface="Times New Roman"/>
              <a:buNone/>
            </a:pPr>
            <a:r>
              <a:rPr lang="en-US" b="1"/>
              <a:t>Security Policies</a:t>
            </a:r>
            <a:endParaRPr/>
          </a:p>
        </p:txBody>
      </p:sp>
      <p:sp>
        <p:nvSpPr>
          <p:cNvPr id="442" name="Google Shape;442;p81"/>
          <p:cNvSpPr txBox="1">
            <a:spLocks noGrp="1"/>
          </p:cNvSpPr>
          <p:nvPr>
            <p:ph type="body" idx="1"/>
          </p:nvPr>
        </p:nvSpPr>
        <p:spPr>
          <a:xfrm>
            <a:off x="700004" y="1324629"/>
            <a:ext cx="8229600" cy="5076171"/>
          </a:xfrm>
          <a:prstGeom prst="rect">
            <a:avLst/>
          </a:prstGeom>
          <a:noFill/>
          <a:ln>
            <a:noFill/>
          </a:ln>
        </p:spPr>
        <p:txBody>
          <a:bodyPr spcFirstLastPara="1" wrap="square" lIns="91425" tIns="45700" rIns="91425" bIns="45700" anchor="t" anchorCtr="0">
            <a:normAutofit fontScale="85000" lnSpcReduction="20000"/>
          </a:bodyPr>
          <a:lstStyle/>
          <a:p>
            <a:pPr marL="457200" marR="0" lvl="0" indent="-406400" algn="l" rtl="0">
              <a:lnSpc>
                <a:spcPct val="90000"/>
              </a:lnSpc>
              <a:spcBef>
                <a:spcPts val="1000"/>
              </a:spcBef>
              <a:spcAft>
                <a:spcPts val="0"/>
              </a:spcAft>
              <a:buClr>
                <a:schemeClr val="dk1"/>
              </a:buClr>
              <a:buSzPct val="117647"/>
              <a:buFont typeface="Arial"/>
              <a:buChar char="•"/>
            </a:pPr>
            <a:r>
              <a:rPr lang="en-US" b="1"/>
              <a:t>Key Management</a:t>
            </a:r>
            <a:r>
              <a:rPr lang="en-US"/>
              <a:t>:</a:t>
            </a:r>
            <a:endParaRPr/>
          </a:p>
          <a:p>
            <a:pPr marL="914400" lvl="1" indent="-381000" algn="l" rtl="0">
              <a:lnSpc>
                <a:spcPct val="90000"/>
              </a:lnSpc>
              <a:spcBef>
                <a:spcPts val="500"/>
              </a:spcBef>
              <a:spcAft>
                <a:spcPts val="0"/>
              </a:spcAft>
              <a:buSzPct val="117647"/>
              <a:buChar char="o"/>
            </a:pPr>
            <a:r>
              <a:rPr lang="en-US"/>
              <a:t>RSA private keys are </a:t>
            </a:r>
            <a:r>
              <a:rPr lang="en-US" b="1"/>
              <a:t>never shared</a:t>
            </a:r>
            <a:r>
              <a:rPr lang="en-US"/>
              <a:t>.</a:t>
            </a:r>
            <a:endParaRPr/>
          </a:p>
          <a:p>
            <a:pPr marL="914400" lvl="1" indent="-381000" algn="l" rtl="0">
              <a:lnSpc>
                <a:spcPct val="90000"/>
              </a:lnSpc>
              <a:spcBef>
                <a:spcPts val="500"/>
              </a:spcBef>
              <a:spcAft>
                <a:spcPts val="0"/>
              </a:spcAft>
              <a:buSzPct val="117647"/>
              <a:buChar char="o"/>
            </a:pPr>
            <a:r>
              <a:rPr lang="en-US"/>
              <a:t>AES keys are </a:t>
            </a:r>
            <a:r>
              <a:rPr lang="en-US" b="1"/>
              <a:t>session-based</a:t>
            </a:r>
            <a:r>
              <a:rPr lang="en-US"/>
              <a:t> for added security.</a:t>
            </a:r>
            <a:endParaRPr/>
          </a:p>
          <a:p>
            <a:pPr marL="457200" marR="0" lvl="0" indent="-406400" algn="l" rtl="0">
              <a:lnSpc>
                <a:spcPct val="90000"/>
              </a:lnSpc>
              <a:spcBef>
                <a:spcPts val="1000"/>
              </a:spcBef>
              <a:spcAft>
                <a:spcPts val="0"/>
              </a:spcAft>
              <a:buClr>
                <a:schemeClr val="dk1"/>
              </a:buClr>
              <a:buSzPct val="117647"/>
              <a:buFont typeface="Arial"/>
              <a:buChar char="•"/>
            </a:pPr>
            <a:r>
              <a:rPr lang="en-US" b="1"/>
              <a:t>Message Retention</a:t>
            </a:r>
            <a:r>
              <a:rPr lang="en-US"/>
              <a:t>:</a:t>
            </a:r>
            <a:endParaRPr/>
          </a:p>
          <a:p>
            <a:pPr marL="914400" lvl="1" indent="-381000" algn="l" rtl="0">
              <a:lnSpc>
                <a:spcPct val="90000"/>
              </a:lnSpc>
              <a:spcBef>
                <a:spcPts val="500"/>
              </a:spcBef>
              <a:spcAft>
                <a:spcPts val="0"/>
              </a:spcAft>
              <a:buSzPct val="117647"/>
              <a:buChar char="o"/>
            </a:pPr>
            <a:r>
              <a:rPr lang="en-US"/>
              <a:t>Reports and orders are </a:t>
            </a:r>
            <a:r>
              <a:rPr lang="en-US" b="1"/>
              <a:t>stored for 6 months</a:t>
            </a:r>
            <a:r>
              <a:rPr lang="en-US"/>
              <a:t>.</a:t>
            </a:r>
            <a:endParaRPr/>
          </a:p>
          <a:p>
            <a:pPr marL="457200" marR="0" lvl="0" indent="-406400" algn="l" rtl="0">
              <a:lnSpc>
                <a:spcPct val="90000"/>
              </a:lnSpc>
              <a:spcBef>
                <a:spcPts val="1000"/>
              </a:spcBef>
              <a:spcAft>
                <a:spcPts val="0"/>
              </a:spcAft>
              <a:buClr>
                <a:schemeClr val="dk1"/>
              </a:buClr>
              <a:buSzPct val="117647"/>
              <a:buFont typeface="Arial"/>
              <a:buChar char="•"/>
            </a:pPr>
            <a:r>
              <a:rPr lang="en-US" b="1"/>
              <a:t>Access Control</a:t>
            </a:r>
            <a:r>
              <a:rPr lang="en-US"/>
              <a:t>:</a:t>
            </a:r>
            <a:endParaRPr/>
          </a:p>
          <a:p>
            <a:pPr marL="914400" lvl="1" indent="-381000" algn="l" rtl="0">
              <a:lnSpc>
                <a:spcPct val="90000"/>
              </a:lnSpc>
              <a:spcBef>
                <a:spcPts val="500"/>
              </a:spcBef>
              <a:spcAft>
                <a:spcPts val="0"/>
              </a:spcAft>
              <a:buSzPct val="117647"/>
              <a:buChar char="o"/>
            </a:pPr>
            <a:r>
              <a:rPr lang="en-US"/>
              <a:t>Only </a:t>
            </a:r>
            <a:r>
              <a:rPr lang="en-US" b="1"/>
              <a:t>authorized personnel</a:t>
            </a:r>
            <a:r>
              <a:rPr lang="en-US"/>
              <a:t> with valid digital certificates can send messages.</a:t>
            </a:r>
            <a:endParaRPr/>
          </a:p>
          <a:p>
            <a:pPr marL="457200" marR="0" lvl="0" indent="-406400" algn="l" rtl="0">
              <a:lnSpc>
                <a:spcPct val="90000"/>
              </a:lnSpc>
              <a:spcBef>
                <a:spcPts val="1000"/>
              </a:spcBef>
              <a:spcAft>
                <a:spcPts val="0"/>
              </a:spcAft>
              <a:buClr>
                <a:schemeClr val="dk1"/>
              </a:buClr>
              <a:buSzPct val="117647"/>
              <a:buFont typeface="Arial"/>
              <a:buChar char="•"/>
            </a:pPr>
            <a:r>
              <a:rPr lang="en-US" b="1"/>
              <a:t>Emergency Override</a:t>
            </a:r>
            <a:r>
              <a:rPr lang="en-US"/>
              <a:t>:</a:t>
            </a:r>
            <a:endParaRPr/>
          </a:p>
          <a:p>
            <a:pPr marL="914400" lvl="1" indent="-381000" algn="l" rtl="0">
              <a:lnSpc>
                <a:spcPct val="90000"/>
              </a:lnSpc>
              <a:spcBef>
                <a:spcPts val="500"/>
              </a:spcBef>
              <a:spcAft>
                <a:spcPts val="0"/>
              </a:spcAft>
              <a:buSzPct val="117647"/>
              <a:buChar char="o"/>
            </a:pPr>
            <a:r>
              <a:rPr lang="en-US"/>
              <a:t>If keys are compromised, HQ </a:t>
            </a:r>
            <a:r>
              <a:rPr lang="en-US" b="1"/>
              <a:t>revokes keys</a:t>
            </a:r>
            <a:r>
              <a:rPr lang="en-US"/>
              <a:t> and issues </a:t>
            </a:r>
            <a:r>
              <a:rPr lang="en-US" b="1"/>
              <a:t>new RSA keys</a:t>
            </a:r>
            <a:r>
              <a:rPr lang="en-US"/>
              <a:t>.</a:t>
            </a:r>
            <a:endParaRPr/>
          </a:p>
          <a:p>
            <a:pPr marL="457200" marR="0" lvl="0" indent="-406400" algn="l" rtl="0">
              <a:lnSpc>
                <a:spcPct val="90000"/>
              </a:lnSpc>
              <a:spcBef>
                <a:spcPts val="1000"/>
              </a:spcBef>
              <a:spcAft>
                <a:spcPts val="0"/>
              </a:spcAft>
              <a:buClr>
                <a:schemeClr val="dk1"/>
              </a:buClr>
              <a:buSzPct val="117647"/>
              <a:buFont typeface="Arial"/>
              <a:buChar char="•"/>
            </a:pPr>
            <a:r>
              <a:rPr lang="en-US" b="1"/>
              <a:t>Tamper Detection</a:t>
            </a:r>
            <a:r>
              <a:rPr lang="en-US"/>
              <a:t>:</a:t>
            </a:r>
            <a:endParaRPr/>
          </a:p>
          <a:p>
            <a:pPr marL="914400" lvl="1" indent="-381000" algn="l" rtl="0">
              <a:lnSpc>
                <a:spcPct val="90000"/>
              </a:lnSpc>
              <a:spcBef>
                <a:spcPts val="500"/>
              </a:spcBef>
              <a:spcAft>
                <a:spcPts val="0"/>
              </a:spcAft>
              <a:buSzPct val="117647"/>
              <a:buChar char="o"/>
            </a:pPr>
            <a:r>
              <a:rPr lang="en-US" b="1"/>
              <a:t>Invalid or modified messages are rejected</a:t>
            </a:r>
            <a:r>
              <a:rPr lang="en-US"/>
              <a:t> and logged for review.</a:t>
            </a:r>
            <a:endParaRPr/>
          </a:p>
          <a:p>
            <a:pPr marL="457200" marR="0" lvl="0" indent="-406400" algn="l" rtl="0">
              <a:lnSpc>
                <a:spcPct val="90000"/>
              </a:lnSpc>
              <a:spcBef>
                <a:spcPts val="1000"/>
              </a:spcBef>
              <a:spcAft>
                <a:spcPts val="0"/>
              </a:spcAft>
              <a:buClr>
                <a:schemeClr val="dk1"/>
              </a:buClr>
              <a:buSzPct val="117647"/>
              <a:buFont typeface="Arial"/>
              <a:buChar char="•"/>
            </a:pPr>
            <a:r>
              <a:rPr lang="en-US"/>
              <a:t>Transmission</a:t>
            </a:r>
            <a:endParaRPr/>
          </a:p>
          <a:p>
            <a:pPr marL="914400" lvl="1" indent="-381000" algn="l" rtl="0">
              <a:lnSpc>
                <a:spcPct val="90000"/>
              </a:lnSpc>
              <a:spcBef>
                <a:spcPts val="500"/>
              </a:spcBef>
              <a:spcAft>
                <a:spcPts val="0"/>
              </a:spcAft>
              <a:buSzPct val="117647"/>
              <a:buChar char="o"/>
            </a:pPr>
            <a:r>
              <a:rPr lang="en-US"/>
              <a:t>Both parties are required to use Public private key pairs to avoid non-repudiation on both sides</a:t>
            </a:r>
            <a:endParaRPr/>
          </a:p>
          <a:p>
            <a:pPr marL="457200" marR="0" lvl="0" indent="-228600" algn="l" rtl="0">
              <a:lnSpc>
                <a:spcPct val="90000"/>
              </a:lnSpc>
              <a:spcBef>
                <a:spcPts val="1000"/>
              </a:spcBef>
              <a:spcAft>
                <a:spcPts val="0"/>
              </a:spcAft>
              <a:buClr>
                <a:schemeClr val="dk1"/>
              </a:buClr>
              <a:buSzPct val="117647"/>
              <a:buFont typeface="Arial"/>
              <a:buNone/>
            </a:pP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sp>
        <p:nvSpPr>
          <p:cNvPr id="447" name="Google Shape;447;p82"/>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4400"/>
              <a:buFont typeface="Calibri"/>
              <a:buNone/>
            </a:pPr>
            <a:r>
              <a:rPr lang="en-US" dirty="0" smtClean="0">
                <a:solidFill>
                  <a:srgbClr val="C00000"/>
                </a:solidFill>
                <a:latin typeface="Marcellus"/>
                <a:ea typeface="Marcellus"/>
                <a:cs typeface="Marcellus"/>
                <a:sym typeface="Marcellus"/>
              </a:rPr>
              <a:t>IA I</a:t>
            </a:r>
            <a:r>
              <a:rPr lang="en-US" dirty="0" smtClean="0">
                <a:solidFill>
                  <a:srgbClr val="C00000"/>
                </a:solidFill>
                <a:latin typeface="Marcellus"/>
                <a:ea typeface="Marcellus"/>
                <a:cs typeface="Marcellus"/>
                <a:sym typeface="Marcellus"/>
              </a:rPr>
              <a:t>II- Security </a:t>
            </a:r>
            <a:r>
              <a:rPr lang="en-US" dirty="0">
                <a:solidFill>
                  <a:srgbClr val="C00000"/>
                </a:solidFill>
                <a:latin typeface="Marcellus"/>
                <a:ea typeface="Marcellus"/>
                <a:cs typeface="Marcellus"/>
                <a:sym typeface="Marcellus"/>
              </a:rPr>
              <a:t>Analysis of scenario</a:t>
            </a:r>
            <a:endParaRPr dirty="0">
              <a:solidFill>
                <a:srgbClr val="C00000"/>
              </a:solidFill>
              <a:latin typeface="Marcellus"/>
              <a:ea typeface="Marcellus"/>
              <a:cs typeface="Marcellus"/>
              <a:sym typeface="Marcellus"/>
            </a:endParaRPr>
          </a:p>
        </p:txBody>
      </p:sp>
      <p:sp>
        <p:nvSpPr>
          <p:cNvPr id="448" name="Google Shape;448;p82"/>
          <p:cNvSpPr txBox="1">
            <a:spLocks noGrp="1"/>
          </p:cNvSpPr>
          <p:nvPr>
            <p:ph type="subTitle" idx="1"/>
          </p:nvPr>
        </p:nvSpPr>
        <p:spPr>
          <a:xfrm>
            <a:off x="685800" y="3886200"/>
            <a:ext cx="7086600" cy="17526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1000"/>
              </a:spcBef>
              <a:spcAft>
                <a:spcPts val="0"/>
              </a:spcAft>
              <a:buClr>
                <a:schemeClr val="dk1"/>
              </a:buClr>
              <a:buSzPts val="2800"/>
              <a:buFont typeface="Noto Sans Symbols"/>
              <a:buNone/>
            </a:pPr>
            <a:endParaRPr/>
          </a:p>
        </p:txBody>
      </p:sp>
      <p:sp>
        <p:nvSpPr>
          <p:cNvPr id="449" name="Google Shape;449;p82"/>
          <p:cNvSpPr txBox="1">
            <a:spLocks noGrp="1"/>
          </p:cNvSpPr>
          <p:nvPr>
            <p:ph type="ftr" idx="11"/>
          </p:nvPr>
        </p:nvSpPr>
        <p:spPr>
          <a:xfrm>
            <a:off x="0" y="6356350"/>
            <a:ext cx="3086100" cy="3651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Ms. Swati Mali</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67"/>
        <p:cNvGrpSpPr/>
        <p:nvPr/>
      </p:nvGrpSpPr>
      <p:grpSpPr>
        <a:xfrm>
          <a:off x="0" y="0"/>
          <a:ext cx="0" cy="0"/>
          <a:chOff x="0" y="0"/>
          <a:chExt cx="0" cy="0"/>
        </a:xfrm>
      </p:grpSpPr>
      <p:sp>
        <p:nvSpPr>
          <p:cNvPr id="468" name="Google Shape;468;p85"/>
          <p:cNvSpPr txBox="1">
            <a:spLocks noGrp="1"/>
          </p:cNvSpPr>
          <p:nvPr>
            <p:ph type="title"/>
          </p:nvPr>
        </p:nvSpPr>
        <p:spPr>
          <a:xfrm>
            <a:off x="817323" y="214817"/>
            <a:ext cx="7402883" cy="874951"/>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930B0B"/>
              </a:buClr>
              <a:buSzPts val="3600"/>
              <a:buFont typeface="Times New Roman"/>
              <a:buNone/>
            </a:pPr>
            <a:r>
              <a:rPr lang="en-US"/>
              <a:t>Classical – common attacks</a:t>
            </a:r>
            <a:endParaRPr/>
          </a:p>
        </p:txBody>
      </p:sp>
      <p:sp>
        <p:nvSpPr>
          <p:cNvPr id="469" name="Google Shape;469;p85"/>
          <p:cNvSpPr txBox="1">
            <a:spLocks noGrp="1"/>
          </p:cNvSpPr>
          <p:nvPr>
            <p:ph type="body" idx="1"/>
          </p:nvPr>
        </p:nvSpPr>
        <p:spPr>
          <a:xfrm>
            <a:off x="700004" y="1324629"/>
            <a:ext cx="8229600" cy="4525963"/>
          </a:xfrm>
          <a:prstGeom prst="rect">
            <a:avLst/>
          </a:prstGeom>
          <a:noFill/>
          <a:ln>
            <a:noFill/>
          </a:ln>
        </p:spPr>
        <p:txBody>
          <a:bodyPr spcFirstLastPara="1" wrap="square" lIns="91425" tIns="45700" rIns="91425" bIns="45700" anchor="t" anchorCtr="0">
            <a:normAutofit fontScale="92500" lnSpcReduction="20000"/>
          </a:bodyPr>
          <a:lstStyle/>
          <a:p>
            <a:pPr marL="457200" marR="0" lvl="0" indent="-406400" algn="l" rtl="0">
              <a:lnSpc>
                <a:spcPct val="90000"/>
              </a:lnSpc>
              <a:spcBef>
                <a:spcPts val="1000"/>
              </a:spcBef>
              <a:spcAft>
                <a:spcPts val="0"/>
              </a:spcAft>
              <a:buClr>
                <a:schemeClr val="dk1"/>
              </a:buClr>
              <a:buSzPct val="108108"/>
              <a:buFont typeface="Arial"/>
              <a:buChar char="•"/>
            </a:pPr>
            <a:r>
              <a:rPr lang="en-US"/>
              <a:t>Classical attacks on security: </a:t>
            </a:r>
            <a:endParaRPr/>
          </a:p>
          <a:p>
            <a:pPr marL="914400" lvl="1" indent="-381000" algn="l" rtl="0">
              <a:lnSpc>
                <a:spcPct val="90000"/>
              </a:lnSpc>
              <a:spcBef>
                <a:spcPts val="500"/>
              </a:spcBef>
              <a:spcAft>
                <a:spcPts val="0"/>
              </a:spcAft>
              <a:buSzPct val="108108"/>
              <a:buChar char="o"/>
            </a:pPr>
            <a:r>
              <a:rPr lang="en-US"/>
              <a:t>Eavesdropping </a:t>
            </a:r>
            <a:endParaRPr/>
          </a:p>
          <a:p>
            <a:pPr marL="914400" lvl="1" indent="-381000" algn="l" rtl="0">
              <a:lnSpc>
                <a:spcPct val="90000"/>
              </a:lnSpc>
              <a:spcBef>
                <a:spcPts val="500"/>
              </a:spcBef>
              <a:spcAft>
                <a:spcPts val="0"/>
              </a:spcAft>
              <a:buSzPct val="108108"/>
              <a:buChar char="o"/>
            </a:pPr>
            <a:r>
              <a:rPr lang="en-US"/>
              <a:t>Traffic Analysis attack </a:t>
            </a:r>
            <a:endParaRPr/>
          </a:p>
          <a:p>
            <a:pPr marL="914400" lvl="1" indent="-381000" algn="l" rtl="0">
              <a:lnSpc>
                <a:spcPct val="90000"/>
              </a:lnSpc>
              <a:spcBef>
                <a:spcPts val="500"/>
              </a:spcBef>
              <a:spcAft>
                <a:spcPts val="0"/>
              </a:spcAft>
              <a:buSzPct val="108108"/>
              <a:buChar char="o"/>
            </a:pPr>
            <a:r>
              <a:rPr lang="en-US"/>
              <a:t>Replay attack</a:t>
            </a:r>
            <a:endParaRPr/>
          </a:p>
          <a:p>
            <a:pPr marL="914400" lvl="1" indent="-381000" algn="l" rtl="0">
              <a:lnSpc>
                <a:spcPct val="90000"/>
              </a:lnSpc>
              <a:spcBef>
                <a:spcPts val="500"/>
              </a:spcBef>
              <a:spcAft>
                <a:spcPts val="0"/>
              </a:spcAft>
              <a:buSzPct val="108108"/>
              <a:buChar char="o"/>
            </a:pPr>
            <a:r>
              <a:rPr lang="en-US"/>
              <a:t>non-repudiation attack  </a:t>
            </a:r>
            <a:endParaRPr/>
          </a:p>
          <a:p>
            <a:pPr marL="914400" lvl="1" indent="-381000" algn="l" rtl="0">
              <a:lnSpc>
                <a:spcPct val="90000"/>
              </a:lnSpc>
              <a:spcBef>
                <a:spcPts val="500"/>
              </a:spcBef>
              <a:spcAft>
                <a:spcPts val="0"/>
              </a:spcAft>
              <a:buSzPct val="108108"/>
              <a:buChar char="o"/>
            </a:pPr>
            <a:r>
              <a:rPr lang="en-US"/>
              <a:t>Man-in-the-Middle attack</a:t>
            </a:r>
            <a:endParaRPr/>
          </a:p>
          <a:p>
            <a:pPr marL="914400" lvl="1" indent="-381000" algn="l" rtl="0">
              <a:lnSpc>
                <a:spcPct val="90000"/>
              </a:lnSpc>
              <a:spcBef>
                <a:spcPts val="500"/>
              </a:spcBef>
              <a:spcAft>
                <a:spcPts val="0"/>
              </a:spcAft>
              <a:buSzPct val="108108"/>
              <a:buChar char="o"/>
            </a:pPr>
            <a:r>
              <a:rPr lang="en-US"/>
              <a:t>Data Tampering </a:t>
            </a:r>
            <a:endParaRPr/>
          </a:p>
          <a:p>
            <a:pPr marL="914400" lvl="1" indent="-381000" algn="l" rtl="0">
              <a:lnSpc>
                <a:spcPct val="90000"/>
              </a:lnSpc>
              <a:spcBef>
                <a:spcPts val="500"/>
              </a:spcBef>
              <a:spcAft>
                <a:spcPts val="0"/>
              </a:spcAft>
              <a:buSzPct val="108108"/>
              <a:buChar char="o"/>
            </a:pPr>
            <a:r>
              <a:rPr lang="en-US"/>
              <a:t>Denial of Service (DoS) attack </a:t>
            </a:r>
            <a:endParaRPr/>
          </a:p>
          <a:p>
            <a:pPr marL="914400" lvl="1" indent="-381000" algn="l" rtl="0">
              <a:lnSpc>
                <a:spcPct val="90000"/>
              </a:lnSpc>
              <a:spcBef>
                <a:spcPts val="500"/>
              </a:spcBef>
              <a:spcAft>
                <a:spcPts val="0"/>
              </a:spcAft>
              <a:buSzPct val="108108"/>
              <a:buChar char="o"/>
            </a:pPr>
            <a:r>
              <a:rPr lang="en-US"/>
              <a:t>Brute Force Attack</a:t>
            </a:r>
            <a:endParaRPr/>
          </a:p>
          <a:p>
            <a:pPr marL="914400" lvl="1" indent="-381000" algn="l" rtl="0">
              <a:lnSpc>
                <a:spcPct val="90000"/>
              </a:lnSpc>
              <a:spcBef>
                <a:spcPts val="500"/>
              </a:spcBef>
              <a:spcAft>
                <a:spcPts val="0"/>
              </a:spcAft>
              <a:buSzPct val="108108"/>
              <a:buChar char="o"/>
            </a:pPr>
            <a:r>
              <a:rPr lang="en-US"/>
              <a:t>zero day exploit attack,</a:t>
            </a:r>
            <a:endParaRPr/>
          </a:p>
          <a:p>
            <a:pPr marL="914400" lvl="1" indent="-381000" algn="l" rtl="0">
              <a:lnSpc>
                <a:spcPct val="90000"/>
              </a:lnSpc>
              <a:spcBef>
                <a:spcPts val="500"/>
              </a:spcBef>
              <a:spcAft>
                <a:spcPts val="0"/>
              </a:spcAft>
              <a:buSzPct val="108108"/>
              <a:buChar char="o"/>
            </a:pPr>
            <a:r>
              <a:rPr lang="en-US"/>
              <a:t>Phishing and social engineering </a:t>
            </a:r>
            <a:endParaRPr/>
          </a:p>
          <a:p>
            <a:pPr marL="914400" lvl="1" indent="-381000" algn="l" rtl="0">
              <a:lnSpc>
                <a:spcPct val="90000"/>
              </a:lnSpc>
              <a:spcBef>
                <a:spcPts val="500"/>
              </a:spcBef>
              <a:spcAft>
                <a:spcPts val="0"/>
              </a:spcAft>
              <a:buSzPct val="108108"/>
              <a:buChar char="o"/>
            </a:pPr>
            <a:r>
              <a:rPr lang="en-US"/>
              <a:t>Spoofing </a:t>
            </a:r>
            <a:endParaRPr/>
          </a:p>
          <a:p>
            <a:pPr marL="914400" lvl="1" indent="-381000" algn="l" rtl="0">
              <a:lnSpc>
                <a:spcPct val="90000"/>
              </a:lnSpc>
              <a:spcBef>
                <a:spcPts val="500"/>
              </a:spcBef>
              <a:spcAft>
                <a:spcPts val="0"/>
              </a:spcAft>
              <a:buSzPct val="108108"/>
              <a:buChar char="o"/>
            </a:pPr>
            <a:r>
              <a:rPr lang="en-US"/>
              <a:t>Malware </a:t>
            </a:r>
            <a:endParaRPr/>
          </a:p>
          <a:p>
            <a:pPr marL="914400" lvl="1" indent="-381000" algn="l" rtl="0">
              <a:lnSpc>
                <a:spcPct val="90000"/>
              </a:lnSpc>
              <a:spcBef>
                <a:spcPts val="500"/>
              </a:spcBef>
              <a:spcAft>
                <a:spcPts val="0"/>
              </a:spcAft>
              <a:buSzPct val="108108"/>
              <a:buChar char="o"/>
            </a:pPr>
            <a:r>
              <a:rPr lang="en-US"/>
              <a:t>session hijacking attack</a:t>
            </a:r>
            <a:endParaRPr/>
          </a:p>
        </p:txBody>
      </p:sp>
      <p:sp>
        <p:nvSpPr>
          <p:cNvPr id="470" name="Google Shape;470;p85"/>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en-US"/>
              <a:t>Ms. Swati Mali</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74"/>
        <p:cNvGrpSpPr/>
        <p:nvPr/>
      </p:nvGrpSpPr>
      <p:grpSpPr>
        <a:xfrm>
          <a:off x="0" y="0"/>
          <a:ext cx="0" cy="0"/>
          <a:chOff x="0" y="0"/>
          <a:chExt cx="0" cy="0"/>
        </a:xfrm>
      </p:grpSpPr>
      <p:sp>
        <p:nvSpPr>
          <p:cNvPr id="475" name="Google Shape;475;p86"/>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en-US"/>
              <a:t>Ms. Swati Mali</a:t>
            </a:r>
            <a:endParaRPr/>
          </a:p>
        </p:txBody>
      </p:sp>
      <p:sp>
        <p:nvSpPr>
          <p:cNvPr id="476" name="Google Shape;476;p86"/>
          <p:cNvSpPr txBox="1">
            <a:spLocks noGrp="1"/>
          </p:cNvSpPr>
          <p:nvPr>
            <p:ph type="title"/>
          </p:nvPr>
        </p:nvSpPr>
        <p:spPr>
          <a:xfrm>
            <a:off x="817323" y="214817"/>
            <a:ext cx="7402883" cy="874951"/>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930B0B"/>
              </a:buClr>
              <a:buSzPts val="3600"/>
              <a:buFont typeface="Times New Roman"/>
              <a:buNone/>
            </a:pPr>
            <a:r>
              <a:rPr lang="en-US"/>
              <a:t>Which of the attacks are possible and which are not?</a:t>
            </a:r>
            <a:endParaRPr/>
          </a:p>
        </p:txBody>
      </p:sp>
      <p:sp>
        <p:nvSpPr>
          <p:cNvPr id="477" name="Google Shape;477;p86"/>
          <p:cNvSpPr txBox="1">
            <a:spLocks noGrp="1"/>
          </p:cNvSpPr>
          <p:nvPr>
            <p:ph type="body" idx="1"/>
          </p:nvPr>
        </p:nvSpPr>
        <p:spPr>
          <a:xfrm>
            <a:off x="700004" y="1324629"/>
            <a:ext cx="8229600" cy="4525963"/>
          </a:xfrm>
          <a:prstGeom prst="rect">
            <a:avLst/>
          </a:prstGeom>
          <a:noFill/>
          <a:ln>
            <a:noFill/>
          </a:ln>
        </p:spPr>
        <p:txBody>
          <a:bodyPr spcFirstLastPara="1" wrap="square" lIns="91425" tIns="45700" rIns="91425" bIns="45700" anchor="t" anchorCtr="0">
            <a:normAutofit/>
          </a:bodyPr>
          <a:lstStyle/>
          <a:p>
            <a:pPr marL="457200" marR="0" lvl="0" indent="-406400" algn="l" rtl="0">
              <a:lnSpc>
                <a:spcPct val="90000"/>
              </a:lnSpc>
              <a:spcBef>
                <a:spcPts val="1000"/>
              </a:spcBef>
              <a:spcAft>
                <a:spcPts val="0"/>
              </a:spcAft>
              <a:buClr>
                <a:schemeClr val="dk1"/>
              </a:buClr>
              <a:buSzPts val="2800"/>
              <a:buFont typeface="Arial"/>
              <a:buChar char="•"/>
            </a:pPr>
            <a:r>
              <a:rPr lang="en-US"/>
              <a:t>Dictionary-Based Encryption Weakness</a:t>
            </a:r>
            <a:endParaRPr/>
          </a:p>
          <a:p>
            <a:pPr marL="457200" marR="0" lvl="0" indent="-406400" algn="l" rtl="0">
              <a:lnSpc>
                <a:spcPct val="90000"/>
              </a:lnSpc>
              <a:spcBef>
                <a:spcPts val="1000"/>
              </a:spcBef>
              <a:spcAft>
                <a:spcPts val="0"/>
              </a:spcAft>
              <a:buClr>
                <a:schemeClr val="dk1"/>
              </a:buClr>
              <a:buSzPts val="2800"/>
              <a:buFont typeface="Arial"/>
              <a:buChar char="•"/>
            </a:pPr>
            <a:r>
              <a:rPr lang="en-US"/>
              <a:t>Plaintext Leakage for Unknown Words</a:t>
            </a:r>
            <a:endParaRPr/>
          </a:p>
          <a:p>
            <a:pPr marL="457200" marR="0" lvl="0" indent="-406400" algn="l" rtl="0">
              <a:lnSpc>
                <a:spcPct val="90000"/>
              </a:lnSpc>
              <a:spcBef>
                <a:spcPts val="1000"/>
              </a:spcBef>
              <a:spcAft>
                <a:spcPts val="0"/>
              </a:spcAft>
              <a:buClr>
                <a:schemeClr val="dk1"/>
              </a:buClr>
              <a:buSzPts val="2800"/>
              <a:buFont typeface="Arial"/>
              <a:buChar char="•"/>
            </a:pPr>
            <a:r>
              <a:rPr lang="en-US"/>
              <a:t>No Padding and Fixed Message Length- correlates to the content, also someone can infer structural patterns</a:t>
            </a:r>
            <a:endParaRPr/>
          </a:p>
          <a:p>
            <a:pPr marL="457200" marR="0" lvl="0" indent="-406400" algn="l" rtl="0">
              <a:lnSpc>
                <a:spcPct val="90000"/>
              </a:lnSpc>
              <a:spcBef>
                <a:spcPts val="1000"/>
              </a:spcBef>
              <a:spcAft>
                <a:spcPts val="0"/>
              </a:spcAft>
              <a:buClr>
                <a:schemeClr val="dk1"/>
              </a:buClr>
              <a:buSzPts val="2800"/>
              <a:buFont typeface="Arial"/>
              <a:buChar char="•"/>
            </a:pPr>
            <a:r>
              <a:rPr lang="en-US"/>
              <a:t>Predictable Transmission Timing</a:t>
            </a:r>
            <a:endParaRPr/>
          </a:p>
          <a:p>
            <a:pPr marL="457200" marR="0" lvl="0" indent="-406400" algn="l" rtl="0">
              <a:lnSpc>
                <a:spcPct val="90000"/>
              </a:lnSpc>
              <a:spcBef>
                <a:spcPts val="1000"/>
              </a:spcBef>
              <a:spcAft>
                <a:spcPts val="0"/>
              </a:spcAft>
              <a:buClr>
                <a:schemeClr val="dk1"/>
              </a:buClr>
              <a:buSzPts val="2800"/>
              <a:buFont typeface="Arial"/>
              <a:buChar char="•"/>
            </a:pPr>
            <a:r>
              <a:rPr lang="en-US"/>
              <a:t>Shared AES-128 Key (Single Key for All)</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2" name="Google Shape;482;p87"/>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en-US"/>
              <a:t>Ms. Swati Mali</a:t>
            </a:r>
            <a:endParaRPr/>
          </a:p>
        </p:txBody>
      </p:sp>
      <p:sp>
        <p:nvSpPr>
          <p:cNvPr id="483" name="Google Shape;483;p87"/>
          <p:cNvSpPr txBox="1">
            <a:spLocks noGrp="1"/>
          </p:cNvSpPr>
          <p:nvPr>
            <p:ph type="title"/>
          </p:nvPr>
        </p:nvSpPr>
        <p:spPr>
          <a:xfrm>
            <a:off x="817323" y="214817"/>
            <a:ext cx="7402883" cy="874951"/>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930B0B"/>
              </a:buClr>
              <a:buSzPts val="3600"/>
              <a:buFont typeface="Times New Roman"/>
              <a:buNone/>
            </a:pPr>
            <a:r>
              <a:rPr lang="en-US" b="1"/>
              <a:t>Potential Attacks</a:t>
            </a:r>
            <a:endParaRPr/>
          </a:p>
        </p:txBody>
      </p:sp>
      <p:sp>
        <p:nvSpPr>
          <p:cNvPr id="484" name="Google Shape;484;p87"/>
          <p:cNvSpPr txBox="1">
            <a:spLocks noGrp="1"/>
          </p:cNvSpPr>
          <p:nvPr>
            <p:ph type="body" idx="1"/>
          </p:nvPr>
        </p:nvSpPr>
        <p:spPr>
          <a:xfrm>
            <a:off x="700004" y="1324629"/>
            <a:ext cx="8229600" cy="4525963"/>
          </a:xfrm>
          <a:prstGeom prst="rect">
            <a:avLst/>
          </a:prstGeom>
          <a:noFill/>
          <a:ln>
            <a:noFill/>
          </a:ln>
        </p:spPr>
        <p:txBody>
          <a:bodyPr spcFirstLastPara="1" wrap="square" lIns="91425" tIns="45700" rIns="91425" bIns="45700" anchor="t" anchorCtr="0">
            <a:normAutofit fontScale="92500" lnSpcReduction="20000"/>
          </a:bodyPr>
          <a:lstStyle/>
          <a:p>
            <a:pPr marL="457200" marR="0" lvl="0" indent="-406400" algn="l" rtl="0">
              <a:lnSpc>
                <a:spcPct val="90000"/>
              </a:lnSpc>
              <a:spcBef>
                <a:spcPts val="1000"/>
              </a:spcBef>
              <a:spcAft>
                <a:spcPts val="0"/>
              </a:spcAft>
              <a:buClr>
                <a:schemeClr val="dk1"/>
              </a:buClr>
              <a:buSzPct val="108108"/>
              <a:buFont typeface="Arial"/>
              <a:buChar char="•"/>
            </a:pPr>
            <a:r>
              <a:rPr lang="en-US" b="1"/>
              <a:t>Frequency Analysis Attack</a:t>
            </a:r>
            <a:r>
              <a:rPr lang="en-US"/>
              <a:t> – Since dictionary words always encrypt to the same ciphertext, an attacker can gradually map encrypted words to their plaintext equivalents.</a:t>
            </a:r>
            <a:endParaRPr/>
          </a:p>
          <a:p>
            <a:pPr marL="457200" marR="0" lvl="0" indent="-406400" algn="l" rtl="0">
              <a:lnSpc>
                <a:spcPct val="90000"/>
              </a:lnSpc>
              <a:spcBef>
                <a:spcPts val="1000"/>
              </a:spcBef>
              <a:spcAft>
                <a:spcPts val="0"/>
              </a:spcAft>
              <a:buClr>
                <a:schemeClr val="dk1"/>
              </a:buClr>
              <a:buSzPct val="108108"/>
              <a:buFont typeface="Arial"/>
              <a:buChar char="•"/>
            </a:pPr>
            <a:r>
              <a:rPr lang="en-US" b="1"/>
              <a:t>Known-Plaintext Attack</a:t>
            </a:r>
            <a:r>
              <a:rPr lang="en-US"/>
              <a:t> – If an attacker has access to past reports or similar texts, they can match ciphertext patterns to known plaintext words.</a:t>
            </a:r>
            <a:endParaRPr/>
          </a:p>
          <a:p>
            <a:pPr marL="457200" marR="0" lvl="0" indent="-406400" algn="l" rtl="0">
              <a:lnSpc>
                <a:spcPct val="90000"/>
              </a:lnSpc>
              <a:spcBef>
                <a:spcPts val="1000"/>
              </a:spcBef>
              <a:spcAft>
                <a:spcPts val="0"/>
              </a:spcAft>
              <a:buClr>
                <a:schemeClr val="dk1"/>
              </a:buClr>
              <a:buSzPct val="108108"/>
              <a:buFont typeface="Arial"/>
              <a:buChar char="•"/>
            </a:pPr>
            <a:r>
              <a:rPr lang="en-US" b="1"/>
              <a:t>Ciphertext Replay Attack</a:t>
            </a:r>
            <a:r>
              <a:rPr lang="en-US"/>
              <a:t> – Since reports are sent daily and follow a structured format, an attacker could try to </a:t>
            </a:r>
            <a:r>
              <a:rPr lang="en-US" b="1"/>
              <a:t>resend</a:t>
            </a:r>
            <a:r>
              <a:rPr lang="en-US"/>
              <a:t> past encrypted reports to manipulate responses.</a:t>
            </a:r>
            <a:endParaRPr/>
          </a:p>
          <a:p>
            <a:pPr marL="457200" marR="0" lvl="0" indent="-406400" algn="l" rtl="0">
              <a:lnSpc>
                <a:spcPct val="90000"/>
              </a:lnSpc>
              <a:spcBef>
                <a:spcPts val="1000"/>
              </a:spcBef>
              <a:spcAft>
                <a:spcPts val="0"/>
              </a:spcAft>
              <a:buClr>
                <a:schemeClr val="dk1"/>
              </a:buClr>
              <a:buSzPct val="108108"/>
              <a:buFont typeface="Arial"/>
              <a:buChar char="•"/>
            </a:pPr>
            <a:r>
              <a:rPr lang="en-US" b="1"/>
              <a:t>Traffic Analysis Attack</a:t>
            </a:r>
            <a:r>
              <a:rPr lang="en-US"/>
              <a:t> – By observing message sizes and timestamps, an attacker could infer the nature of the report without decrypting it.</a:t>
            </a:r>
            <a:endParaRPr/>
          </a:p>
          <a:p>
            <a:pPr marL="457200" marR="0" lvl="0" indent="-228600" algn="l" rtl="0">
              <a:lnSpc>
                <a:spcPct val="90000"/>
              </a:lnSpc>
              <a:spcBef>
                <a:spcPts val="1000"/>
              </a:spcBef>
              <a:spcAft>
                <a:spcPts val="0"/>
              </a:spcAft>
              <a:buClr>
                <a:schemeClr val="dk1"/>
              </a:buClr>
              <a:buSzPct val="108108"/>
              <a:buFont typeface="Arial"/>
              <a:buNone/>
            </a:pPr>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489" name="Google Shape;489;p88"/>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en-US"/>
              <a:t>Ms. Swati Mali</a:t>
            </a:r>
            <a:endParaRPr/>
          </a:p>
        </p:txBody>
      </p:sp>
      <p:sp>
        <p:nvSpPr>
          <p:cNvPr id="490" name="Google Shape;490;p88"/>
          <p:cNvSpPr txBox="1">
            <a:spLocks noGrp="1"/>
          </p:cNvSpPr>
          <p:nvPr>
            <p:ph type="title"/>
          </p:nvPr>
        </p:nvSpPr>
        <p:spPr>
          <a:xfrm>
            <a:off x="817323" y="214817"/>
            <a:ext cx="7402883" cy="874951"/>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930B0B"/>
              </a:buClr>
              <a:buSzPts val="3600"/>
              <a:buFont typeface="Times New Roman"/>
              <a:buNone/>
            </a:pPr>
            <a:endParaRPr/>
          </a:p>
        </p:txBody>
      </p:sp>
      <p:sp>
        <p:nvSpPr>
          <p:cNvPr id="491" name="Google Shape;491;p88"/>
          <p:cNvSpPr txBox="1">
            <a:spLocks noGrp="1"/>
          </p:cNvSpPr>
          <p:nvPr>
            <p:ph type="body" idx="1"/>
          </p:nvPr>
        </p:nvSpPr>
        <p:spPr>
          <a:xfrm>
            <a:off x="700004" y="1324629"/>
            <a:ext cx="8229600" cy="4525963"/>
          </a:xfrm>
          <a:prstGeom prst="rect">
            <a:avLst/>
          </a:prstGeom>
          <a:noFill/>
          <a:ln>
            <a:noFill/>
          </a:ln>
        </p:spPr>
        <p:txBody>
          <a:bodyPr spcFirstLastPara="1" wrap="square" lIns="91425" tIns="45700" rIns="91425" bIns="45700" anchor="t" anchorCtr="0">
            <a:normAutofit fontScale="77500" lnSpcReduction="20000"/>
          </a:bodyPr>
          <a:lstStyle/>
          <a:p>
            <a:pPr marL="457200" marR="0" lvl="0" indent="-406400" algn="l" rtl="0">
              <a:lnSpc>
                <a:spcPct val="90000"/>
              </a:lnSpc>
              <a:spcBef>
                <a:spcPts val="1000"/>
              </a:spcBef>
              <a:spcAft>
                <a:spcPts val="0"/>
              </a:spcAft>
              <a:buClr>
                <a:schemeClr val="dk1"/>
              </a:buClr>
              <a:buSzPct val="129032"/>
              <a:buFont typeface="Arial"/>
              <a:buChar char="•"/>
            </a:pPr>
            <a:r>
              <a:rPr lang="en-US"/>
              <a:t>A company uses an RFID-based employee badge system for office access. The system does not implement challenge-response authentication. Employees scan their badges to enter the building, and the system verifies their access based on the scanned data. However, an attacker with an RFID scanner can capture the signal from an employee’s badge and replay it later to gain unauthorized entry.</a:t>
            </a:r>
            <a:endParaRPr/>
          </a:p>
          <a:p>
            <a:pPr marL="457200" marR="0" lvl="0" indent="-406400" algn="l" rtl="0">
              <a:lnSpc>
                <a:spcPct val="90000"/>
              </a:lnSpc>
              <a:spcBef>
                <a:spcPts val="1000"/>
              </a:spcBef>
              <a:spcAft>
                <a:spcPts val="0"/>
              </a:spcAft>
              <a:buClr>
                <a:schemeClr val="dk1"/>
              </a:buClr>
              <a:buSzPct val="129032"/>
              <a:buFont typeface="Arial"/>
              <a:buChar char="•"/>
            </a:pPr>
            <a:r>
              <a:rPr lang="en-US"/>
              <a:t>The system has the following characteristics:</a:t>
            </a:r>
            <a:endParaRPr/>
          </a:p>
          <a:p>
            <a:pPr marL="914400" lvl="1" indent="-381000" algn="l" rtl="0">
              <a:lnSpc>
                <a:spcPct val="90000"/>
              </a:lnSpc>
              <a:spcBef>
                <a:spcPts val="500"/>
              </a:spcBef>
              <a:spcAft>
                <a:spcPts val="0"/>
              </a:spcAft>
              <a:buSzPct val="129032"/>
              <a:buChar char="o"/>
            </a:pPr>
            <a:r>
              <a:rPr lang="en-US"/>
              <a:t>Each employee has an RFID badge with a unique identifier.</a:t>
            </a:r>
            <a:endParaRPr/>
          </a:p>
          <a:p>
            <a:pPr marL="914400" lvl="1" indent="-381000" algn="l" rtl="0">
              <a:lnSpc>
                <a:spcPct val="90000"/>
              </a:lnSpc>
              <a:spcBef>
                <a:spcPts val="500"/>
              </a:spcBef>
              <a:spcAft>
                <a:spcPts val="0"/>
              </a:spcAft>
              <a:buSzPct val="129032"/>
              <a:buChar char="o"/>
            </a:pPr>
            <a:r>
              <a:rPr lang="en-US"/>
              <a:t>The badge transmits the same signal each time it is scanned.</a:t>
            </a:r>
            <a:endParaRPr/>
          </a:p>
          <a:p>
            <a:pPr marL="914400" lvl="1" indent="-381000" algn="l" rtl="0">
              <a:lnSpc>
                <a:spcPct val="90000"/>
              </a:lnSpc>
              <a:spcBef>
                <a:spcPts val="500"/>
              </a:spcBef>
              <a:spcAft>
                <a:spcPts val="0"/>
              </a:spcAft>
              <a:buSzPct val="129032"/>
              <a:buChar char="o"/>
            </a:pPr>
            <a:r>
              <a:rPr lang="en-US"/>
              <a:t>The system does not track repeated badge use within a short timeframe.</a:t>
            </a:r>
            <a:endParaRPr/>
          </a:p>
          <a:p>
            <a:pPr marL="457200" marR="0" lvl="0" indent="-406400" algn="l" rtl="0">
              <a:lnSpc>
                <a:spcPct val="90000"/>
              </a:lnSpc>
              <a:spcBef>
                <a:spcPts val="1000"/>
              </a:spcBef>
              <a:spcAft>
                <a:spcPts val="0"/>
              </a:spcAft>
              <a:buClr>
                <a:schemeClr val="dk1"/>
              </a:buClr>
              <a:buSzPct val="129032"/>
              <a:buFont typeface="Arial"/>
              <a:buChar char="•"/>
            </a:pPr>
            <a:r>
              <a:rPr lang="en-US" b="1"/>
              <a:t>Identify and analyze the security vulnerabilities in this system. What attacks could be performed against it? Suggest modifications to enhance the security of the access control system.</a:t>
            </a:r>
            <a:endParaRPr/>
          </a:p>
          <a:p>
            <a:pPr marL="50800" lvl="0" indent="0" algn="l" rtl="0">
              <a:lnSpc>
                <a:spcPct val="90000"/>
              </a:lnSpc>
              <a:spcBef>
                <a:spcPts val="1000"/>
              </a:spcBef>
              <a:spcAft>
                <a:spcPts val="0"/>
              </a:spcAft>
              <a:buSzPct val="129032"/>
              <a:buNone/>
            </a:pPr>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sp>
        <p:nvSpPr>
          <p:cNvPr id="496" name="Google Shape;496;p89"/>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en-US"/>
              <a:t>Ms. Swati Mali</a:t>
            </a:r>
            <a:endParaRPr/>
          </a:p>
        </p:txBody>
      </p:sp>
      <p:sp>
        <p:nvSpPr>
          <p:cNvPr id="497" name="Google Shape;497;p89"/>
          <p:cNvSpPr txBox="1">
            <a:spLocks noGrp="1"/>
          </p:cNvSpPr>
          <p:nvPr>
            <p:ph type="title"/>
          </p:nvPr>
        </p:nvSpPr>
        <p:spPr>
          <a:xfrm>
            <a:off x="817323" y="214817"/>
            <a:ext cx="7402883" cy="874951"/>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930B0B"/>
              </a:buClr>
              <a:buSzPts val="3600"/>
              <a:buFont typeface="Times New Roman"/>
              <a:buNone/>
            </a:pPr>
            <a:r>
              <a:rPr lang="en-US" b="1"/>
              <a:t>Authentication Attack on Employee Web Portal</a:t>
            </a:r>
            <a:endParaRPr/>
          </a:p>
        </p:txBody>
      </p:sp>
      <p:sp>
        <p:nvSpPr>
          <p:cNvPr id="498" name="Google Shape;498;p89"/>
          <p:cNvSpPr txBox="1">
            <a:spLocks noGrp="1"/>
          </p:cNvSpPr>
          <p:nvPr>
            <p:ph type="body" idx="1"/>
          </p:nvPr>
        </p:nvSpPr>
        <p:spPr>
          <a:xfrm>
            <a:off x="700004" y="1324629"/>
            <a:ext cx="8229600" cy="4525963"/>
          </a:xfrm>
          <a:prstGeom prst="rect">
            <a:avLst/>
          </a:prstGeom>
          <a:noFill/>
          <a:ln>
            <a:noFill/>
          </a:ln>
        </p:spPr>
        <p:txBody>
          <a:bodyPr spcFirstLastPara="1" wrap="square" lIns="91425" tIns="45700" rIns="91425" bIns="45700" anchor="t" anchorCtr="0">
            <a:normAutofit fontScale="85000" lnSpcReduction="20000"/>
          </a:bodyPr>
          <a:lstStyle/>
          <a:p>
            <a:pPr marL="457200" marR="0" lvl="0" indent="-406400" algn="l" rtl="0">
              <a:lnSpc>
                <a:spcPct val="90000"/>
              </a:lnSpc>
              <a:spcBef>
                <a:spcPts val="1000"/>
              </a:spcBef>
              <a:spcAft>
                <a:spcPts val="0"/>
              </a:spcAft>
              <a:buClr>
                <a:schemeClr val="dk1"/>
              </a:buClr>
              <a:buSzPct val="117647"/>
              <a:buFont typeface="Arial"/>
              <a:buChar char="•"/>
            </a:pPr>
            <a:r>
              <a:rPr lang="en-US" b="1"/>
              <a:t>Analyze the security scenario:</a:t>
            </a:r>
            <a:r>
              <a:rPr lang="en-US"/>
              <a:t/>
            </a:r>
            <a:br>
              <a:rPr lang="en-US"/>
            </a:br>
            <a:r>
              <a:rPr lang="en-US"/>
              <a:t>A company provides employees access to a web-based portal using a username and password. The system does not implement multi-factor authentication (MFA) or account lockout mechanisms. Attackers attempt to gain unauthorized access through brute-force and credential-stuffing attacks.</a:t>
            </a:r>
            <a:endParaRPr/>
          </a:p>
          <a:p>
            <a:pPr marL="457200" marR="0" lvl="0" indent="-406400" algn="l" rtl="0">
              <a:lnSpc>
                <a:spcPct val="90000"/>
              </a:lnSpc>
              <a:spcBef>
                <a:spcPts val="1000"/>
              </a:spcBef>
              <a:spcAft>
                <a:spcPts val="0"/>
              </a:spcAft>
              <a:buClr>
                <a:schemeClr val="dk1"/>
              </a:buClr>
              <a:buSzPct val="117647"/>
              <a:buFont typeface="Arial"/>
              <a:buChar char="•"/>
            </a:pPr>
            <a:r>
              <a:rPr lang="en-US"/>
              <a:t>The system has the following characteristics:</a:t>
            </a:r>
            <a:endParaRPr/>
          </a:p>
          <a:p>
            <a:pPr marL="914400" lvl="1" indent="-381000" algn="l" rtl="0">
              <a:lnSpc>
                <a:spcPct val="90000"/>
              </a:lnSpc>
              <a:spcBef>
                <a:spcPts val="500"/>
              </a:spcBef>
              <a:spcAft>
                <a:spcPts val="0"/>
              </a:spcAft>
              <a:buSzPct val="117647"/>
              <a:buChar char="o"/>
            </a:pPr>
            <a:r>
              <a:rPr lang="en-US"/>
              <a:t>User authentication is based solely on a username and password.</a:t>
            </a:r>
            <a:endParaRPr/>
          </a:p>
          <a:p>
            <a:pPr marL="914400" lvl="1" indent="-381000" algn="l" rtl="0">
              <a:lnSpc>
                <a:spcPct val="90000"/>
              </a:lnSpc>
              <a:spcBef>
                <a:spcPts val="500"/>
              </a:spcBef>
              <a:spcAft>
                <a:spcPts val="0"/>
              </a:spcAft>
              <a:buSzPct val="117647"/>
              <a:buChar char="o"/>
            </a:pPr>
            <a:r>
              <a:rPr lang="en-US"/>
              <a:t>There is no MFA (e.g., SMS or app-based verification).</a:t>
            </a:r>
            <a:endParaRPr/>
          </a:p>
          <a:p>
            <a:pPr marL="914400" lvl="1" indent="-381000" algn="l" rtl="0">
              <a:lnSpc>
                <a:spcPct val="90000"/>
              </a:lnSpc>
              <a:spcBef>
                <a:spcPts val="500"/>
              </a:spcBef>
              <a:spcAft>
                <a:spcPts val="0"/>
              </a:spcAft>
              <a:buSzPct val="117647"/>
              <a:buChar char="o"/>
            </a:pPr>
            <a:r>
              <a:rPr lang="en-US"/>
              <a:t>There are no restrictions on the number of failed login attempts.</a:t>
            </a:r>
            <a:endParaRPr/>
          </a:p>
          <a:p>
            <a:pPr marL="914400" lvl="1" indent="-381000" algn="l" rtl="0">
              <a:lnSpc>
                <a:spcPct val="90000"/>
              </a:lnSpc>
              <a:spcBef>
                <a:spcPts val="500"/>
              </a:spcBef>
              <a:spcAft>
                <a:spcPts val="0"/>
              </a:spcAft>
              <a:buSzPct val="117647"/>
              <a:buChar char="o"/>
            </a:pPr>
            <a:r>
              <a:rPr lang="en-US"/>
              <a:t>The portal does not enforce strong password policies.</a:t>
            </a:r>
            <a:endParaRPr/>
          </a:p>
          <a:p>
            <a:pPr marL="457200" marR="0" lvl="0" indent="-406400" algn="l" rtl="0">
              <a:lnSpc>
                <a:spcPct val="90000"/>
              </a:lnSpc>
              <a:spcBef>
                <a:spcPts val="1000"/>
              </a:spcBef>
              <a:spcAft>
                <a:spcPts val="0"/>
              </a:spcAft>
              <a:buClr>
                <a:schemeClr val="dk1"/>
              </a:buClr>
              <a:buSzPct val="117647"/>
              <a:buFont typeface="Arial"/>
              <a:buChar char="•"/>
            </a:pPr>
            <a:r>
              <a:rPr lang="en-US" b="1"/>
              <a:t>Evaluate the vulnerabilities in the authentication mechanism. What attack techniques could be used against it? Propose improvements to enhance security and prevent unauthorized access.</a:t>
            </a:r>
            <a:endParaRPr/>
          </a:p>
          <a:p>
            <a:pPr marL="457200" marR="0" lvl="0" indent="-228600" algn="l" rtl="0">
              <a:lnSpc>
                <a:spcPct val="90000"/>
              </a:lnSpc>
              <a:spcBef>
                <a:spcPts val="1000"/>
              </a:spcBef>
              <a:spcAft>
                <a:spcPts val="0"/>
              </a:spcAft>
              <a:buClr>
                <a:schemeClr val="dk1"/>
              </a:buClr>
              <a:buSzPct val="117647"/>
              <a:buFont typeface="Arial"/>
              <a:buNone/>
            </a:pPr>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502"/>
        <p:cNvGrpSpPr/>
        <p:nvPr/>
      </p:nvGrpSpPr>
      <p:grpSpPr>
        <a:xfrm>
          <a:off x="0" y="0"/>
          <a:ext cx="0" cy="0"/>
          <a:chOff x="0" y="0"/>
          <a:chExt cx="0" cy="0"/>
        </a:xfrm>
      </p:grpSpPr>
      <p:sp>
        <p:nvSpPr>
          <p:cNvPr id="503" name="Google Shape;503;p90"/>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en-US"/>
              <a:t>Ms. Swati Mali</a:t>
            </a:r>
            <a:endParaRPr/>
          </a:p>
        </p:txBody>
      </p:sp>
      <p:sp>
        <p:nvSpPr>
          <p:cNvPr id="504" name="Google Shape;504;p90"/>
          <p:cNvSpPr txBox="1">
            <a:spLocks noGrp="1"/>
          </p:cNvSpPr>
          <p:nvPr>
            <p:ph type="title"/>
          </p:nvPr>
        </p:nvSpPr>
        <p:spPr>
          <a:xfrm>
            <a:off x="817323" y="214817"/>
            <a:ext cx="7402883" cy="874951"/>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930B0B"/>
              </a:buClr>
              <a:buSzPts val="3600"/>
              <a:buFont typeface="Times New Roman"/>
              <a:buNone/>
            </a:pPr>
            <a:r>
              <a:rPr lang="en-US" b="1"/>
              <a:t>Unauthorized Access Due to Shared Credentials in a Research Lab</a:t>
            </a:r>
            <a:endParaRPr/>
          </a:p>
        </p:txBody>
      </p:sp>
      <p:sp>
        <p:nvSpPr>
          <p:cNvPr id="505" name="Google Shape;505;p90"/>
          <p:cNvSpPr txBox="1">
            <a:spLocks noGrp="1"/>
          </p:cNvSpPr>
          <p:nvPr>
            <p:ph type="body" idx="1"/>
          </p:nvPr>
        </p:nvSpPr>
        <p:spPr>
          <a:xfrm>
            <a:off x="700004" y="1324629"/>
            <a:ext cx="8229600" cy="4525963"/>
          </a:xfrm>
          <a:prstGeom prst="rect">
            <a:avLst/>
          </a:prstGeom>
          <a:noFill/>
          <a:ln>
            <a:noFill/>
          </a:ln>
        </p:spPr>
        <p:txBody>
          <a:bodyPr spcFirstLastPara="1" wrap="square" lIns="91425" tIns="45700" rIns="91425" bIns="45700" anchor="t" anchorCtr="0">
            <a:normAutofit fontScale="77500" lnSpcReduction="20000"/>
          </a:bodyPr>
          <a:lstStyle/>
          <a:p>
            <a:pPr marL="457200" marR="0" lvl="0" indent="-406400" algn="l" rtl="0">
              <a:lnSpc>
                <a:spcPct val="90000"/>
              </a:lnSpc>
              <a:spcBef>
                <a:spcPts val="1000"/>
              </a:spcBef>
              <a:spcAft>
                <a:spcPts val="0"/>
              </a:spcAft>
              <a:buClr>
                <a:schemeClr val="dk1"/>
              </a:buClr>
              <a:buSzPct val="129032"/>
              <a:buFont typeface="Arial"/>
              <a:buChar char="•"/>
            </a:pPr>
            <a:r>
              <a:rPr lang="en-US" b="1"/>
              <a:t>Analyze the security scenario:</a:t>
            </a:r>
            <a:r>
              <a:rPr lang="en-US"/>
              <a:t/>
            </a:r>
            <a:br>
              <a:rPr lang="en-US"/>
            </a:br>
            <a:r>
              <a:rPr lang="en-US"/>
              <a:t>A university research lab allows multiple researchers to use a single shared administrative account to access a central database. A former researcher, who was not removed from the system, continues accessing confidential data without authorization.</a:t>
            </a:r>
            <a:endParaRPr/>
          </a:p>
          <a:p>
            <a:pPr marL="457200" marR="0" lvl="0" indent="-406400" algn="l" rtl="0">
              <a:lnSpc>
                <a:spcPct val="90000"/>
              </a:lnSpc>
              <a:spcBef>
                <a:spcPts val="1000"/>
              </a:spcBef>
              <a:spcAft>
                <a:spcPts val="0"/>
              </a:spcAft>
              <a:buClr>
                <a:schemeClr val="dk1"/>
              </a:buClr>
              <a:buSzPct val="129032"/>
              <a:buFont typeface="Arial"/>
              <a:buChar char="•"/>
            </a:pPr>
            <a:r>
              <a:rPr lang="en-US"/>
              <a:t>The system has the following characteristics:</a:t>
            </a:r>
            <a:endParaRPr/>
          </a:p>
          <a:p>
            <a:pPr marL="914400" lvl="1" indent="-381000" algn="l" rtl="0">
              <a:lnSpc>
                <a:spcPct val="90000"/>
              </a:lnSpc>
              <a:spcBef>
                <a:spcPts val="500"/>
              </a:spcBef>
              <a:spcAft>
                <a:spcPts val="0"/>
              </a:spcAft>
              <a:buSzPct val="129032"/>
              <a:buChar char="o"/>
            </a:pPr>
            <a:r>
              <a:rPr lang="en-US"/>
              <a:t>A single set of shared credentials is used by all researchers.</a:t>
            </a:r>
            <a:endParaRPr/>
          </a:p>
          <a:p>
            <a:pPr marL="914400" lvl="1" indent="-381000" algn="l" rtl="0">
              <a:lnSpc>
                <a:spcPct val="90000"/>
              </a:lnSpc>
              <a:spcBef>
                <a:spcPts val="500"/>
              </a:spcBef>
              <a:spcAft>
                <a:spcPts val="0"/>
              </a:spcAft>
              <a:buSzPct val="129032"/>
              <a:buChar char="o"/>
            </a:pPr>
            <a:r>
              <a:rPr lang="en-US"/>
              <a:t>There is no individual authentication or user tracking.</a:t>
            </a:r>
            <a:endParaRPr/>
          </a:p>
          <a:p>
            <a:pPr marL="914400" lvl="1" indent="-381000" algn="l" rtl="0">
              <a:lnSpc>
                <a:spcPct val="90000"/>
              </a:lnSpc>
              <a:spcBef>
                <a:spcPts val="500"/>
              </a:spcBef>
              <a:spcAft>
                <a:spcPts val="0"/>
              </a:spcAft>
              <a:buSzPct val="129032"/>
              <a:buChar char="o"/>
            </a:pPr>
            <a:r>
              <a:rPr lang="en-US"/>
              <a:t>The system does not have an automatic account deactivation mechanism.</a:t>
            </a:r>
            <a:endParaRPr/>
          </a:p>
          <a:p>
            <a:pPr marL="914400" lvl="1" indent="-381000" algn="l" rtl="0">
              <a:lnSpc>
                <a:spcPct val="90000"/>
              </a:lnSpc>
              <a:spcBef>
                <a:spcPts val="500"/>
              </a:spcBef>
              <a:spcAft>
                <a:spcPts val="0"/>
              </a:spcAft>
              <a:buSzPct val="129032"/>
              <a:buChar char="o"/>
            </a:pPr>
            <a:r>
              <a:rPr lang="en-US"/>
              <a:t>No audit logs are maintained to track user activity.</a:t>
            </a:r>
            <a:endParaRPr/>
          </a:p>
          <a:p>
            <a:pPr marL="457200" marR="0" lvl="0" indent="-406400" algn="l" rtl="0">
              <a:lnSpc>
                <a:spcPct val="90000"/>
              </a:lnSpc>
              <a:spcBef>
                <a:spcPts val="1000"/>
              </a:spcBef>
              <a:spcAft>
                <a:spcPts val="0"/>
              </a:spcAft>
              <a:buClr>
                <a:schemeClr val="dk1"/>
              </a:buClr>
              <a:buSzPct val="129032"/>
              <a:buFont typeface="Arial"/>
              <a:buChar char="•"/>
            </a:pPr>
            <a:r>
              <a:rPr lang="en-US" b="1"/>
              <a:t>Analyze the security risks in this access management system. What potential threats arise from shared credentials? Recommend strategies to secure the system and prevent unauthorized access.</a:t>
            </a:r>
            <a:endParaRPr/>
          </a:p>
          <a:p>
            <a:pPr marL="457200" marR="0" lvl="0" indent="-228600" algn="l" rtl="0">
              <a:lnSpc>
                <a:spcPct val="90000"/>
              </a:lnSpc>
              <a:spcBef>
                <a:spcPts val="1000"/>
              </a:spcBef>
              <a:spcAft>
                <a:spcPts val="0"/>
              </a:spcAft>
              <a:buClr>
                <a:schemeClr val="dk1"/>
              </a:buClr>
              <a:buSzPct val="129032"/>
              <a:buFont typeface="Arial"/>
              <a:buNone/>
            </a:pPr>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509"/>
        <p:cNvGrpSpPr/>
        <p:nvPr/>
      </p:nvGrpSpPr>
      <p:grpSpPr>
        <a:xfrm>
          <a:off x="0" y="0"/>
          <a:ext cx="0" cy="0"/>
          <a:chOff x="0" y="0"/>
          <a:chExt cx="0" cy="0"/>
        </a:xfrm>
      </p:grpSpPr>
      <p:sp>
        <p:nvSpPr>
          <p:cNvPr id="510" name="Google Shape;510;p91"/>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en-US"/>
              <a:t>Ms. Swati Mali</a:t>
            </a:r>
            <a:endParaRPr/>
          </a:p>
        </p:txBody>
      </p:sp>
      <p:sp>
        <p:nvSpPr>
          <p:cNvPr id="511" name="Google Shape;511;p91"/>
          <p:cNvSpPr txBox="1">
            <a:spLocks noGrp="1"/>
          </p:cNvSpPr>
          <p:nvPr>
            <p:ph type="title"/>
          </p:nvPr>
        </p:nvSpPr>
        <p:spPr>
          <a:xfrm>
            <a:off x="817323" y="214817"/>
            <a:ext cx="7402883" cy="874951"/>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930B0B"/>
              </a:buClr>
              <a:buSzPts val="3600"/>
              <a:buFont typeface="Times New Roman"/>
              <a:buNone/>
            </a:pPr>
            <a:r>
              <a:rPr lang="en-US" b="1"/>
              <a:t>Data Modification in an IoT-Based Smart Lock System</a:t>
            </a:r>
            <a:endParaRPr/>
          </a:p>
        </p:txBody>
      </p:sp>
      <p:sp>
        <p:nvSpPr>
          <p:cNvPr id="512" name="Google Shape;512;p91"/>
          <p:cNvSpPr txBox="1">
            <a:spLocks noGrp="1"/>
          </p:cNvSpPr>
          <p:nvPr>
            <p:ph type="body" idx="1"/>
          </p:nvPr>
        </p:nvSpPr>
        <p:spPr>
          <a:xfrm>
            <a:off x="700004" y="1324629"/>
            <a:ext cx="8229600" cy="4525963"/>
          </a:xfrm>
          <a:prstGeom prst="rect">
            <a:avLst/>
          </a:prstGeom>
          <a:noFill/>
          <a:ln>
            <a:noFill/>
          </a:ln>
        </p:spPr>
        <p:txBody>
          <a:bodyPr spcFirstLastPara="1" wrap="square" lIns="91425" tIns="45700" rIns="91425" bIns="45700" anchor="t" anchorCtr="0">
            <a:normAutofit fontScale="77500" lnSpcReduction="20000"/>
          </a:bodyPr>
          <a:lstStyle/>
          <a:p>
            <a:pPr marL="457200" marR="0" lvl="0" indent="-406400" algn="l" rtl="0">
              <a:lnSpc>
                <a:spcPct val="90000"/>
              </a:lnSpc>
              <a:spcBef>
                <a:spcPts val="1000"/>
              </a:spcBef>
              <a:spcAft>
                <a:spcPts val="0"/>
              </a:spcAft>
              <a:buClr>
                <a:schemeClr val="dk1"/>
              </a:buClr>
              <a:buSzPct val="129032"/>
              <a:buFont typeface="Arial"/>
              <a:buChar char="•"/>
            </a:pPr>
            <a:r>
              <a:rPr lang="en-US" b="1"/>
              <a:t>Analyze the security scenario:</a:t>
            </a:r>
            <a:r>
              <a:rPr lang="en-US"/>
              <a:t/>
            </a:r>
            <a:br>
              <a:rPr lang="en-US"/>
            </a:br>
            <a:r>
              <a:rPr lang="en-US"/>
              <a:t>A smart home security system allows users to lock and unlock their doors remotely using a mobile app. The commands are sent over an unencrypted communication channel, making it possible for an attacker to intercept and modify messages.</a:t>
            </a:r>
            <a:endParaRPr/>
          </a:p>
          <a:p>
            <a:pPr marL="457200" marR="0" lvl="0" indent="-406400" algn="l" rtl="0">
              <a:lnSpc>
                <a:spcPct val="90000"/>
              </a:lnSpc>
              <a:spcBef>
                <a:spcPts val="1000"/>
              </a:spcBef>
              <a:spcAft>
                <a:spcPts val="0"/>
              </a:spcAft>
              <a:buClr>
                <a:schemeClr val="dk1"/>
              </a:buClr>
              <a:buSzPct val="129032"/>
              <a:buFont typeface="Arial"/>
              <a:buChar char="•"/>
            </a:pPr>
            <a:r>
              <a:rPr lang="en-US"/>
              <a:t>The system has the following characteristics:</a:t>
            </a:r>
            <a:endParaRPr/>
          </a:p>
          <a:p>
            <a:pPr marL="914400" lvl="1" indent="-381000" algn="l" rtl="0">
              <a:lnSpc>
                <a:spcPct val="90000"/>
              </a:lnSpc>
              <a:spcBef>
                <a:spcPts val="500"/>
              </a:spcBef>
              <a:spcAft>
                <a:spcPts val="0"/>
              </a:spcAft>
              <a:buSzPct val="129032"/>
              <a:buChar char="o"/>
            </a:pPr>
            <a:r>
              <a:rPr lang="en-US"/>
              <a:t>Commands such as "lock door" and "unlock door" are transmitted in plaintext.</a:t>
            </a:r>
            <a:endParaRPr/>
          </a:p>
          <a:p>
            <a:pPr marL="914400" lvl="1" indent="-381000" algn="l" rtl="0">
              <a:lnSpc>
                <a:spcPct val="90000"/>
              </a:lnSpc>
              <a:spcBef>
                <a:spcPts val="500"/>
              </a:spcBef>
              <a:spcAft>
                <a:spcPts val="0"/>
              </a:spcAft>
              <a:buSzPct val="129032"/>
              <a:buChar char="o"/>
            </a:pPr>
            <a:r>
              <a:rPr lang="en-US"/>
              <a:t>No encryption or message integrity verification is used.</a:t>
            </a:r>
            <a:endParaRPr/>
          </a:p>
          <a:p>
            <a:pPr marL="914400" lvl="1" indent="-381000" algn="l" rtl="0">
              <a:lnSpc>
                <a:spcPct val="90000"/>
              </a:lnSpc>
              <a:spcBef>
                <a:spcPts val="500"/>
              </a:spcBef>
              <a:spcAft>
                <a:spcPts val="0"/>
              </a:spcAft>
              <a:buSzPct val="129032"/>
              <a:buChar char="o"/>
            </a:pPr>
            <a:r>
              <a:rPr lang="en-US"/>
              <a:t>The system does not check for tampering or replayed messages.</a:t>
            </a:r>
            <a:endParaRPr/>
          </a:p>
          <a:p>
            <a:pPr marL="914400" lvl="1" indent="-381000" algn="l" rtl="0">
              <a:lnSpc>
                <a:spcPct val="90000"/>
              </a:lnSpc>
              <a:spcBef>
                <a:spcPts val="500"/>
              </a:spcBef>
              <a:spcAft>
                <a:spcPts val="0"/>
              </a:spcAft>
              <a:buSzPct val="129032"/>
              <a:buChar char="o"/>
            </a:pPr>
            <a:r>
              <a:rPr lang="en-US"/>
              <a:t>Any intercepted command can be modified and replayed by an attacker.</a:t>
            </a:r>
            <a:endParaRPr/>
          </a:p>
          <a:p>
            <a:pPr marL="457200" marR="0" lvl="0" indent="-406400" algn="l" rtl="0">
              <a:lnSpc>
                <a:spcPct val="90000"/>
              </a:lnSpc>
              <a:spcBef>
                <a:spcPts val="1000"/>
              </a:spcBef>
              <a:spcAft>
                <a:spcPts val="0"/>
              </a:spcAft>
              <a:buClr>
                <a:schemeClr val="dk1"/>
              </a:buClr>
              <a:buSzPct val="129032"/>
              <a:buFont typeface="Arial"/>
              <a:buChar char="•"/>
            </a:pPr>
            <a:r>
              <a:rPr lang="en-US" b="1"/>
              <a:t>Identify the security vulnerabilities in this system. What attack techniques could be used against it? Suggest cryptographic measures to ensure the confidentiality and integrity of the commands.</a:t>
            </a:r>
            <a:endParaRPr/>
          </a:p>
          <a:p>
            <a:pPr marL="457200" marR="0" lvl="0" indent="-228600" algn="l" rtl="0">
              <a:lnSpc>
                <a:spcPct val="90000"/>
              </a:lnSpc>
              <a:spcBef>
                <a:spcPts val="1000"/>
              </a:spcBef>
              <a:spcAft>
                <a:spcPts val="0"/>
              </a:spcAft>
              <a:buClr>
                <a:schemeClr val="dk1"/>
              </a:buClr>
              <a:buSzPct val="129032"/>
              <a:buFont typeface="Arial"/>
              <a:buNone/>
            </a:pPr>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516"/>
        <p:cNvGrpSpPr/>
        <p:nvPr/>
      </p:nvGrpSpPr>
      <p:grpSpPr>
        <a:xfrm>
          <a:off x="0" y="0"/>
          <a:ext cx="0" cy="0"/>
          <a:chOff x="0" y="0"/>
          <a:chExt cx="0" cy="0"/>
        </a:xfrm>
      </p:grpSpPr>
      <p:sp>
        <p:nvSpPr>
          <p:cNvPr id="517" name="Google Shape;517;p92"/>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en-US"/>
              <a:t>Ms. Swati Mali</a:t>
            </a:r>
            <a:endParaRPr/>
          </a:p>
        </p:txBody>
      </p:sp>
      <p:sp>
        <p:nvSpPr>
          <p:cNvPr id="518" name="Google Shape;518;p92"/>
          <p:cNvSpPr txBox="1">
            <a:spLocks noGrp="1"/>
          </p:cNvSpPr>
          <p:nvPr>
            <p:ph type="title"/>
          </p:nvPr>
        </p:nvSpPr>
        <p:spPr>
          <a:xfrm>
            <a:off x="817323" y="214817"/>
            <a:ext cx="7402883" cy="874951"/>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930B0B"/>
              </a:buClr>
              <a:buSzPts val="3600"/>
              <a:buFont typeface="Times New Roman"/>
              <a:buNone/>
            </a:pPr>
            <a:r>
              <a:rPr lang="en-US" b="1"/>
              <a:t>Replay Attack on OTP-Based Online Banking Authentication</a:t>
            </a:r>
            <a:endParaRPr/>
          </a:p>
        </p:txBody>
      </p:sp>
      <p:sp>
        <p:nvSpPr>
          <p:cNvPr id="519" name="Google Shape;519;p92"/>
          <p:cNvSpPr txBox="1">
            <a:spLocks noGrp="1"/>
          </p:cNvSpPr>
          <p:nvPr>
            <p:ph type="body" idx="1"/>
          </p:nvPr>
        </p:nvSpPr>
        <p:spPr>
          <a:xfrm>
            <a:off x="700004" y="1324629"/>
            <a:ext cx="8229600" cy="4525963"/>
          </a:xfrm>
          <a:prstGeom prst="rect">
            <a:avLst/>
          </a:prstGeom>
          <a:noFill/>
          <a:ln>
            <a:noFill/>
          </a:ln>
        </p:spPr>
        <p:txBody>
          <a:bodyPr spcFirstLastPara="1" wrap="square" lIns="91425" tIns="45700" rIns="91425" bIns="45700" anchor="t" anchorCtr="0">
            <a:normAutofit fontScale="77500" lnSpcReduction="20000"/>
          </a:bodyPr>
          <a:lstStyle/>
          <a:p>
            <a:pPr marL="457200" marR="0" lvl="0" indent="-406400" algn="l" rtl="0">
              <a:lnSpc>
                <a:spcPct val="90000"/>
              </a:lnSpc>
              <a:spcBef>
                <a:spcPts val="1000"/>
              </a:spcBef>
              <a:spcAft>
                <a:spcPts val="0"/>
              </a:spcAft>
              <a:buClr>
                <a:schemeClr val="dk1"/>
              </a:buClr>
              <a:buSzPct val="129032"/>
              <a:buFont typeface="Arial"/>
              <a:buChar char="•"/>
            </a:pPr>
            <a:r>
              <a:rPr lang="en-US" b="1"/>
              <a:t>Analyze the security scenario:</a:t>
            </a:r>
            <a:r>
              <a:rPr lang="en-US"/>
              <a:t/>
            </a:r>
            <a:br>
              <a:rPr lang="en-US"/>
            </a:br>
            <a:r>
              <a:rPr lang="en-US"/>
              <a:t>An online banking system uses one-time passwords (OTPs) sent via SMS for transaction verification. However, OTPs remain valid for five minutes, allowing attackers to intercept and reuse them.</a:t>
            </a:r>
            <a:endParaRPr/>
          </a:p>
          <a:p>
            <a:pPr marL="457200" marR="0" lvl="0" indent="-406400" algn="l" rtl="0">
              <a:lnSpc>
                <a:spcPct val="90000"/>
              </a:lnSpc>
              <a:spcBef>
                <a:spcPts val="1000"/>
              </a:spcBef>
              <a:spcAft>
                <a:spcPts val="0"/>
              </a:spcAft>
              <a:buClr>
                <a:schemeClr val="dk1"/>
              </a:buClr>
              <a:buSzPct val="129032"/>
              <a:buFont typeface="Arial"/>
              <a:buChar char="•"/>
            </a:pPr>
            <a:r>
              <a:rPr lang="en-US"/>
              <a:t>The system has the following characteristics:</a:t>
            </a:r>
            <a:endParaRPr/>
          </a:p>
          <a:p>
            <a:pPr marL="914400" lvl="1" indent="-381000" algn="l" rtl="0">
              <a:lnSpc>
                <a:spcPct val="90000"/>
              </a:lnSpc>
              <a:spcBef>
                <a:spcPts val="500"/>
              </a:spcBef>
              <a:spcAft>
                <a:spcPts val="0"/>
              </a:spcAft>
              <a:buSzPct val="129032"/>
              <a:buChar char="o"/>
            </a:pPr>
            <a:r>
              <a:rPr lang="en-US"/>
              <a:t>OTPs are sent via SMS and remain valid for five minutes.</a:t>
            </a:r>
            <a:endParaRPr/>
          </a:p>
          <a:p>
            <a:pPr marL="914400" lvl="1" indent="-381000" algn="l" rtl="0">
              <a:lnSpc>
                <a:spcPct val="90000"/>
              </a:lnSpc>
              <a:spcBef>
                <a:spcPts val="500"/>
              </a:spcBef>
              <a:spcAft>
                <a:spcPts val="0"/>
              </a:spcAft>
              <a:buSzPct val="129032"/>
              <a:buChar char="o"/>
            </a:pPr>
            <a:r>
              <a:rPr lang="en-US"/>
              <a:t>No additional authentication (e.g., biometric verification) is required for transactions.</a:t>
            </a:r>
            <a:endParaRPr/>
          </a:p>
          <a:p>
            <a:pPr marL="914400" lvl="1" indent="-381000" algn="l" rtl="0">
              <a:lnSpc>
                <a:spcPct val="90000"/>
              </a:lnSpc>
              <a:spcBef>
                <a:spcPts val="500"/>
              </a:spcBef>
              <a:spcAft>
                <a:spcPts val="0"/>
              </a:spcAft>
              <a:buSzPct val="129032"/>
              <a:buChar char="o"/>
            </a:pPr>
            <a:r>
              <a:rPr lang="en-US"/>
              <a:t>The system does not track repeated OTP use.</a:t>
            </a:r>
            <a:endParaRPr/>
          </a:p>
          <a:p>
            <a:pPr marL="914400" lvl="1" indent="-381000" algn="l" rtl="0">
              <a:lnSpc>
                <a:spcPct val="90000"/>
              </a:lnSpc>
              <a:spcBef>
                <a:spcPts val="500"/>
              </a:spcBef>
              <a:spcAft>
                <a:spcPts val="0"/>
              </a:spcAft>
              <a:buSzPct val="129032"/>
              <a:buChar char="o"/>
            </a:pPr>
            <a:r>
              <a:rPr lang="en-US"/>
              <a:t>An attacker with access to intercepted OTPs can replay them before expiration.</a:t>
            </a:r>
            <a:endParaRPr/>
          </a:p>
          <a:p>
            <a:pPr marL="457200" marR="0" lvl="0" indent="-406400" algn="l" rtl="0">
              <a:lnSpc>
                <a:spcPct val="90000"/>
              </a:lnSpc>
              <a:spcBef>
                <a:spcPts val="1000"/>
              </a:spcBef>
              <a:spcAft>
                <a:spcPts val="0"/>
              </a:spcAft>
              <a:buClr>
                <a:schemeClr val="dk1"/>
              </a:buClr>
              <a:buSzPct val="129032"/>
              <a:buFont typeface="Arial"/>
              <a:buChar char="•"/>
            </a:pPr>
            <a:r>
              <a:rPr lang="en-US" b="1"/>
              <a:t>Evaluate the security flaws in this OTP-based authentication system. What risks arise from SMS-based OTP authentication? Propose solutions to mitigate replay attacks and strengthen transaction security.</a:t>
            </a:r>
            <a:endParaRPr/>
          </a:p>
          <a:p>
            <a:pPr marL="457200" marR="0" lvl="0" indent="-228600" algn="l" rtl="0">
              <a:lnSpc>
                <a:spcPct val="90000"/>
              </a:lnSpc>
              <a:spcBef>
                <a:spcPts val="1000"/>
              </a:spcBef>
              <a:spcAft>
                <a:spcPts val="0"/>
              </a:spcAft>
              <a:buClr>
                <a:schemeClr val="dk1"/>
              </a:buClr>
              <a:buSzPct val="129032"/>
              <a:buFont typeface="Arial"/>
              <a:buNone/>
            </a:pPr>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523"/>
        <p:cNvGrpSpPr/>
        <p:nvPr/>
      </p:nvGrpSpPr>
      <p:grpSpPr>
        <a:xfrm>
          <a:off x="0" y="0"/>
          <a:ext cx="0" cy="0"/>
          <a:chOff x="0" y="0"/>
          <a:chExt cx="0" cy="0"/>
        </a:xfrm>
      </p:grpSpPr>
      <p:sp>
        <p:nvSpPr>
          <p:cNvPr id="524" name="Google Shape;524;p93"/>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en-US"/>
              <a:t>Ms. Swati Mali</a:t>
            </a:r>
            <a:endParaRPr/>
          </a:p>
        </p:txBody>
      </p:sp>
      <p:sp>
        <p:nvSpPr>
          <p:cNvPr id="525" name="Google Shape;525;p93"/>
          <p:cNvSpPr txBox="1">
            <a:spLocks noGrp="1"/>
          </p:cNvSpPr>
          <p:nvPr>
            <p:ph type="title"/>
          </p:nvPr>
        </p:nvSpPr>
        <p:spPr>
          <a:xfrm>
            <a:off x="817323" y="214817"/>
            <a:ext cx="7402883" cy="874951"/>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930B0B"/>
              </a:buClr>
              <a:buSzPts val="3600"/>
              <a:buFont typeface="Times New Roman"/>
              <a:buNone/>
            </a:pPr>
            <a:r>
              <a:rPr lang="en-US" b="1"/>
              <a:t>Authentication Attack Due to Exposed API Keys in Cloud Services</a:t>
            </a:r>
            <a:endParaRPr/>
          </a:p>
        </p:txBody>
      </p:sp>
      <p:sp>
        <p:nvSpPr>
          <p:cNvPr id="526" name="Google Shape;526;p93"/>
          <p:cNvSpPr txBox="1">
            <a:spLocks noGrp="1"/>
          </p:cNvSpPr>
          <p:nvPr>
            <p:ph type="body" idx="1"/>
          </p:nvPr>
        </p:nvSpPr>
        <p:spPr>
          <a:xfrm>
            <a:off x="700004" y="1324629"/>
            <a:ext cx="8229600" cy="4525963"/>
          </a:xfrm>
          <a:prstGeom prst="rect">
            <a:avLst/>
          </a:prstGeom>
          <a:noFill/>
          <a:ln>
            <a:noFill/>
          </a:ln>
        </p:spPr>
        <p:txBody>
          <a:bodyPr spcFirstLastPara="1" wrap="square" lIns="91425" tIns="45700" rIns="91425" bIns="45700" anchor="t" anchorCtr="0">
            <a:normAutofit fontScale="77500" lnSpcReduction="20000"/>
          </a:bodyPr>
          <a:lstStyle/>
          <a:p>
            <a:pPr marL="457200" marR="0" lvl="0" indent="-406400" algn="l" rtl="0">
              <a:lnSpc>
                <a:spcPct val="90000"/>
              </a:lnSpc>
              <a:spcBef>
                <a:spcPts val="1000"/>
              </a:spcBef>
              <a:spcAft>
                <a:spcPts val="0"/>
              </a:spcAft>
              <a:buClr>
                <a:schemeClr val="dk1"/>
              </a:buClr>
              <a:buSzPct val="129032"/>
              <a:buFont typeface="Arial"/>
              <a:buChar char="•"/>
            </a:pPr>
            <a:r>
              <a:rPr lang="en-US" b="1"/>
              <a:t>Analyze the security scenario:</a:t>
            </a:r>
            <a:r>
              <a:rPr lang="en-US"/>
              <a:t/>
            </a:r>
            <a:br>
              <a:rPr lang="en-US"/>
            </a:br>
            <a:r>
              <a:rPr lang="en-US"/>
              <a:t>A cloud storage provider allows users to authenticate via API keys. Developers store these API keys in configuration files, but one developer accidentally commits a file containing an API key to a public GitHub repository. Attackers extract the API key and gain full access to private storage.</a:t>
            </a:r>
            <a:endParaRPr/>
          </a:p>
          <a:p>
            <a:pPr marL="457200" marR="0" lvl="0" indent="-406400" algn="l" rtl="0">
              <a:lnSpc>
                <a:spcPct val="90000"/>
              </a:lnSpc>
              <a:spcBef>
                <a:spcPts val="1000"/>
              </a:spcBef>
              <a:spcAft>
                <a:spcPts val="0"/>
              </a:spcAft>
              <a:buClr>
                <a:schemeClr val="dk1"/>
              </a:buClr>
              <a:buSzPct val="129032"/>
              <a:buFont typeface="Arial"/>
              <a:buChar char="•"/>
            </a:pPr>
            <a:r>
              <a:rPr lang="en-US"/>
              <a:t>The system has the following characteristics:</a:t>
            </a:r>
            <a:endParaRPr/>
          </a:p>
          <a:p>
            <a:pPr marL="914400" lvl="1" indent="-381000" algn="l" rtl="0">
              <a:lnSpc>
                <a:spcPct val="90000"/>
              </a:lnSpc>
              <a:spcBef>
                <a:spcPts val="500"/>
              </a:spcBef>
              <a:spcAft>
                <a:spcPts val="0"/>
              </a:spcAft>
              <a:buSzPct val="129032"/>
              <a:buChar char="o"/>
            </a:pPr>
            <a:r>
              <a:rPr lang="en-US"/>
              <a:t>API authentication relies solely on API keys stored in configuration files.</a:t>
            </a:r>
            <a:endParaRPr/>
          </a:p>
          <a:p>
            <a:pPr marL="914400" lvl="1" indent="-381000" algn="l" rtl="0">
              <a:lnSpc>
                <a:spcPct val="90000"/>
              </a:lnSpc>
              <a:spcBef>
                <a:spcPts val="500"/>
              </a:spcBef>
              <a:spcAft>
                <a:spcPts val="0"/>
              </a:spcAft>
              <a:buSzPct val="129032"/>
              <a:buChar char="o"/>
            </a:pPr>
            <a:r>
              <a:rPr lang="en-US"/>
              <a:t>There is no mechanism to detect or prevent key exposure.</a:t>
            </a:r>
            <a:endParaRPr/>
          </a:p>
          <a:p>
            <a:pPr marL="914400" lvl="1" indent="-381000" algn="l" rtl="0">
              <a:lnSpc>
                <a:spcPct val="90000"/>
              </a:lnSpc>
              <a:spcBef>
                <a:spcPts val="500"/>
              </a:spcBef>
              <a:spcAft>
                <a:spcPts val="0"/>
              </a:spcAft>
              <a:buSzPct val="129032"/>
              <a:buChar char="o"/>
            </a:pPr>
            <a:r>
              <a:rPr lang="en-US"/>
              <a:t>The API key does not expire or rotate automatically.</a:t>
            </a:r>
            <a:endParaRPr/>
          </a:p>
          <a:p>
            <a:pPr marL="914400" lvl="1" indent="-381000" algn="l" rtl="0">
              <a:lnSpc>
                <a:spcPct val="90000"/>
              </a:lnSpc>
              <a:spcBef>
                <a:spcPts val="500"/>
              </a:spcBef>
              <a:spcAft>
                <a:spcPts val="0"/>
              </a:spcAft>
              <a:buSzPct val="129032"/>
              <a:buChar char="o"/>
            </a:pPr>
            <a:r>
              <a:rPr lang="en-US"/>
              <a:t>The system lacks IP allowlisting or usage restrictions.</a:t>
            </a:r>
            <a:endParaRPr/>
          </a:p>
          <a:p>
            <a:pPr marL="457200" marR="0" lvl="0" indent="-406400" algn="l" rtl="0">
              <a:lnSpc>
                <a:spcPct val="90000"/>
              </a:lnSpc>
              <a:spcBef>
                <a:spcPts val="1000"/>
              </a:spcBef>
              <a:spcAft>
                <a:spcPts val="0"/>
              </a:spcAft>
              <a:buClr>
                <a:schemeClr val="dk1"/>
              </a:buClr>
              <a:buSzPct val="129032"/>
              <a:buFont typeface="Arial"/>
              <a:buChar char="•"/>
            </a:pPr>
            <a:r>
              <a:rPr lang="en-US" b="1"/>
              <a:t>Identify the security weaknesses in this authentication system. How could attackers exploit exposed API keys? Recommend secure authentication mechanisms for protecting API-based services.</a:t>
            </a:r>
            <a:endParaRPr/>
          </a:p>
          <a:p>
            <a:pPr marL="457200" marR="0" lvl="0" indent="-228600" algn="l" rtl="0">
              <a:lnSpc>
                <a:spcPct val="90000"/>
              </a:lnSpc>
              <a:spcBef>
                <a:spcPts val="1000"/>
              </a:spcBef>
              <a:spcAft>
                <a:spcPts val="0"/>
              </a:spcAft>
              <a:buClr>
                <a:schemeClr val="dk1"/>
              </a:buClr>
              <a:buSzPct val="129032"/>
              <a:buFont typeface="Arial"/>
              <a:buNone/>
            </a:pPr>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530"/>
        <p:cNvGrpSpPr/>
        <p:nvPr/>
      </p:nvGrpSpPr>
      <p:grpSpPr>
        <a:xfrm>
          <a:off x="0" y="0"/>
          <a:ext cx="0" cy="0"/>
          <a:chOff x="0" y="0"/>
          <a:chExt cx="0" cy="0"/>
        </a:xfrm>
      </p:grpSpPr>
      <p:sp>
        <p:nvSpPr>
          <p:cNvPr id="531" name="Google Shape;531;p94"/>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en-US"/>
              <a:t>Ms. Swati Mali</a:t>
            </a:r>
            <a:endParaRPr/>
          </a:p>
        </p:txBody>
      </p:sp>
      <p:sp>
        <p:nvSpPr>
          <p:cNvPr id="532" name="Google Shape;532;p94"/>
          <p:cNvSpPr txBox="1">
            <a:spLocks noGrp="1"/>
          </p:cNvSpPr>
          <p:nvPr>
            <p:ph type="title"/>
          </p:nvPr>
        </p:nvSpPr>
        <p:spPr>
          <a:xfrm>
            <a:off x="817323" y="214817"/>
            <a:ext cx="7402883" cy="874951"/>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930B0B"/>
              </a:buClr>
              <a:buSzPts val="3600"/>
              <a:buFont typeface="Times New Roman"/>
              <a:buNone/>
            </a:pPr>
            <a:r>
              <a:rPr lang="en-US" sz="2800" b="1"/>
              <a:t>Unauthorized Access Due to Poor Session Management in E-commerce Websites</a:t>
            </a:r>
            <a:endParaRPr sz="2800"/>
          </a:p>
        </p:txBody>
      </p:sp>
      <p:sp>
        <p:nvSpPr>
          <p:cNvPr id="533" name="Google Shape;533;p94"/>
          <p:cNvSpPr txBox="1">
            <a:spLocks noGrp="1"/>
          </p:cNvSpPr>
          <p:nvPr>
            <p:ph type="body" idx="1"/>
          </p:nvPr>
        </p:nvSpPr>
        <p:spPr>
          <a:xfrm>
            <a:off x="700004" y="1324629"/>
            <a:ext cx="8229600" cy="4525963"/>
          </a:xfrm>
          <a:prstGeom prst="rect">
            <a:avLst/>
          </a:prstGeom>
          <a:noFill/>
          <a:ln>
            <a:noFill/>
          </a:ln>
        </p:spPr>
        <p:txBody>
          <a:bodyPr spcFirstLastPara="1" wrap="square" lIns="91425" tIns="45700" rIns="91425" bIns="45700" anchor="t" anchorCtr="0">
            <a:normAutofit fontScale="85000" lnSpcReduction="20000"/>
          </a:bodyPr>
          <a:lstStyle/>
          <a:p>
            <a:pPr marL="457200" marR="0" lvl="0" indent="-406400" algn="l" rtl="0">
              <a:lnSpc>
                <a:spcPct val="90000"/>
              </a:lnSpc>
              <a:spcBef>
                <a:spcPts val="1000"/>
              </a:spcBef>
              <a:spcAft>
                <a:spcPts val="0"/>
              </a:spcAft>
              <a:buClr>
                <a:schemeClr val="dk1"/>
              </a:buClr>
              <a:buSzPct val="117647"/>
              <a:buFont typeface="Arial"/>
              <a:buChar char="•"/>
            </a:pPr>
            <a:r>
              <a:rPr lang="en-US" b="1"/>
              <a:t>Analyze the security scenario:</a:t>
            </a:r>
            <a:r>
              <a:rPr lang="en-US"/>
              <a:t/>
            </a:r>
            <a:br>
              <a:rPr lang="en-US"/>
            </a:br>
            <a:r>
              <a:rPr lang="en-US"/>
              <a:t>An e-commerce website uses authentication tokens stored in browser cookies to maintain user sessions. However, these session tokens do not expire, allowing an attacker to hijack an active session indefinitely.</a:t>
            </a:r>
            <a:endParaRPr/>
          </a:p>
          <a:p>
            <a:pPr marL="457200" marR="0" lvl="0" indent="-406400" algn="l" rtl="0">
              <a:lnSpc>
                <a:spcPct val="90000"/>
              </a:lnSpc>
              <a:spcBef>
                <a:spcPts val="1000"/>
              </a:spcBef>
              <a:spcAft>
                <a:spcPts val="0"/>
              </a:spcAft>
              <a:buClr>
                <a:schemeClr val="dk1"/>
              </a:buClr>
              <a:buSzPct val="117647"/>
              <a:buFont typeface="Arial"/>
              <a:buChar char="•"/>
            </a:pPr>
            <a:r>
              <a:rPr lang="en-US"/>
              <a:t>The system has the following characteristics:</a:t>
            </a:r>
            <a:endParaRPr/>
          </a:p>
          <a:p>
            <a:pPr marL="914400" lvl="1" indent="-381000" algn="l" rtl="0">
              <a:lnSpc>
                <a:spcPct val="90000"/>
              </a:lnSpc>
              <a:spcBef>
                <a:spcPts val="500"/>
              </a:spcBef>
              <a:spcAft>
                <a:spcPts val="0"/>
              </a:spcAft>
              <a:buSzPct val="117647"/>
              <a:buChar char="o"/>
            </a:pPr>
            <a:r>
              <a:rPr lang="en-US"/>
              <a:t>Users remain logged in unless they manually log out.</a:t>
            </a:r>
            <a:endParaRPr/>
          </a:p>
          <a:p>
            <a:pPr marL="914400" lvl="1" indent="-381000" algn="l" rtl="0">
              <a:lnSpc>
                <a:spcPct val="90000"/>
              </a:lnSpc>
              <a:spcBef>
                <a:spcPts val="500"/>
              </a:spcBef>
              <a:spcAft>
                <a:spcPts val="0"/>
              </a:spcAft>
              <a:buSzPct val="117647"/>
              <a:buChar char="o"/>
            </a:pPr>
            <a:r>
              <a:rPr lang="en-US"/>
              <a:t>Session tokens do not expire automatically.</a:t>
            </a:r>
            <a:endParaRPr/>
          </a:p>
          <a:p>
            <a:pPr marL="914400" lvl="1" indent="-381000" algn="l" rtl="0">
              <a:lnSpc>
                <a:spcPct val="90000"/>
              </a:lnSpc>
              <a:spcBef>
                <a:spcPts val="500"/>
              </a:spcBef>
              <a:spcAft>
                <a:spcPts val="0"/>
              </a:spcAft>
              <a:buSzPct val="117647"/>
              <a:buChar char="o"/>
            </a:pPr>
            <a:r>
              <a:rPr lang="en-US"/>
              <a:t>No additional verification is required for high-value transactions.</a:t>
            </a:r>
            <a:endParaRPr/>
          </a:p>
          <a:p>
            <a:pPr marL="914400" lvl="1" indent="-381000" algn="l" rtl="0">
              <a:lnSpc>
                <a:spcPct val="90000"/>
              </a:lnSpc>
              <a:spcBef>
                <a:spcPts val="500"/>
              </a:spcBef>
              <a:spcAft>
                <a:spcPts val="0"/>
              </a:spcAft>
              <a:buSzPct val="117647"/>
              <a:buChar char="o"/>
            </a:pPr>
            <a:r>
              <a:rPr lang="en-US"/>
              <a:t>An attacker who steals a session token via cross-site scripting (XSS) can reuse it indefinitely.</a:t>
            </a:r>
            <a:endParaRPr/>
          </a:p>
          <a:p>
            <a:pPr marL="457200" marR="0" lvl="0" indent="-406400" algn="l" rtl="0">
              <a:lnSpc>
                <a:spcPct val="90000"/>
              </a:lnSpc>
              <a:spcBef>
                <a:spcPts val="1000"/>
              </a:spcBef>
              <a:spcAft>
                <a:spcPts val="0"/>
              </a:spcAft>
              <a:buClr>
                <a:schemeClr val="dk1"/>
              </a:buClr>
              <a:buSzPct val="117647"/>
              <a:buFont typeface="Arial"/>
              <a:buChar char="•"/>
            </a:pPr>
            <a:r>
              <a:rPr lang="en-US" b="1"/>
              <a:t>Analyze the vulnerabilities in this session management approach. What attacks could be performed against this system? Propose security enhancements to protect user sessions.</a:t>
            </a:r>
            <a:endParaRPr/>
          </a:p>
          <a:p>
            <a:pPr marL="457200" marR="0" lvl="0" indent="-228600" algn="l" rtl="0">
              <a:lnSpc>
                <a:spcPct val="90000"/>
              </a:lnSpc>
              <a:spcBef>
                <a:spcPts val="1000"/>
              </a:spcBef>
              <a:spcAft>
                <a:spcPts val="0"/>
              </a:spcAft>
              <a:buClr>
                <a:schemeClr val="dk1"/>
              </a:buClr>
              <a:buSzPct val="117647"/>
              <a:buFont typeface="Arial"/>
              <a:buNone/>
            </a:pPr>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537"/>
        <p:cNvGrpSpPr/>
        <p:nvPr/>
      </p:nvGrpSpPr>
      <p:grpSpPr>
        <a:xfrm>
          <a:off x="0" y="0"/>
          <a:ext cx="0" cy="0"/>
          <a:chOff x="0" y="0"/>
          <a:chExt cx="0" cy="0"/>
        </a:xfrm>
      </p:grpSpPr>
      <p:sp>
        <p:nvSpPr>
          <p:cNvPr id="538" name="Google Shape;538;p95"/>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en-US"/>
              <a:t>Ms. Swati Mali</a:t>
            </a:r>
            <a:endParaRPr/>
          </a:p>
        </p:txBody>
      </p:sp>
      <p:sp>
        <p:nvSpPr>
          <p:cNvPr id="539" name="Google Shape;539;p95"/>
          <p:cNvSpPr txBox="1">
            <a:spLocks noGrp="1"/>
          </p:cNvSpPr>
          <p:nvPr>
            <p:ph type="title"/>
          </p:nvPr>
        </p:nvSpPr>
        <p:spPr>
          <a:xfrm>
            <a:off x="817323" y="214817"/>
            <a:ext cx="7402883" cy="874951"/>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930B0B"/>
              </a:buClr>
              <a:buSzPts val="3600"/>
              <a:buFont typeface="Times New Roman"/>
              <a:buNone/>
            </a:pPr>
            <a:r>
              <a:rPr lang="en-US" b="1"/>
              <a:t>Data Modification in Industrial Control Systems (ICS)</a:t>
            </a:r>
            <a:endParaRPr/>
          </a:p>
        </p:txBody>
      </p:sp>
      <p:sp>
        <p:nvSpPr>
          <p:cNvPr id="540" name="Google Shape;540;p95"/>
          <p:cNvSpPr txBox="1">
            <a:spLocks noGrp="1"/>
          </p:cNvSpPr>
          <p:nvPr>
            <p:ph type="body" idx="1"/>
          </p:nvPr>
        </p:nvSpPr>
        <p:spPr>
          <a:xfrm>
            <a:off x="700004" y="1324629"/>
            <a:ext cx="8229600" cy="4525963"/>
          </a:xfrm>
          <a:prstGeom prst="rect">
            <a:avLst/>
          </a:prstGeom>
          <a:noFill/>
          <a:ln>
            <a:noFill/>
          </a:ln>
        </p:spPr>
        <p:txBody>
          <a:bodyPr spcFirstLastPara="1" wrap="square" lIns="91425" tIns="45700" rIns="91425" bIns="45700" anchor="t" anchorCtr="0">
            <a:normAutofit fontScale="77500" lnSpcReduction="20000"/>
          </a:bodyPr>
          <a:lstStyle/>
          <a:p>
            <a:pPr marL="457200" marR="0" lvl="0" indent="-406400" algn="l" rtl="0">
              <a:lnSpc>
                <a:spcPct val="90000"/>
              </a:lnSpc>
              <a:spcBef>
                <a:spcPts val="1000"/>
              </a:spcBef>
              <a:spcAft>
                <a:spcPts val="0"/>
              </a:spcAft>
              <a:buClr>
                <a:schemeClr val="dk1"/>
              </a:buClr>
              <a:buSzPct val="129032"/>
              <a:buFont typeface="Arial"/>
              <a:buChar char="•"/>
            </a:pPr>
            <a:r>
              <a:rPr lang="en-US" b="1"/>
              <a:t>Analyze the security scenario:</a:t>
            </a:r>
            <a:r>
              <a:rPr lang="en-US"/>
              <a:t/>
            </a:r>
            <a:br>
              <a:rPr lang="en-US"/>
            </a:br>
            <a:r>
              <a:rPr lang="en-US"/>
              <a:t>A water treatment plant allows remote monitoring and control of industrial processes. However, the system lacks encryption and secure authentication for remote access. Attackers intercept and modify control commands, altering chemical levels in the water supply.</a:t>
            </a:r>
            <a:endParaRPr/>
          </a:p>
          <a:p>
            <a:pPr marL="457200" marR="0" lvl="0" indent="-406400" algn="l" rtl="0">
              <a:lnSpc>
                <a:spcPct val="90000"/>
              </a:lnSpc>
              <a:spcBef>
                <a:spcPts val="1000"/>
              </a:spcBef>
              <a:spcAft>
                <a:spcPts val="0"/>
              </a:spcAft>
              <a:buClr>
                <a:schemeClr val="dk1"/>
              </a:buClr>
              <a:buSzPct val="129032"/>
              <a:buFont typeface="Arial"/>
              <a:buChar char="•"/>
            </a:pPr>
            <a:r>
              <a:rPr lang="en-US"/>
              <a:t>The system has the following characteristics:</a:t>
            </a:r>
            <a:endParaRPr/>
          </a:p>
          <a:p>
            <a:pPr marL="914400" lvl="1" indent="-381000" algn="l" rtl="0">
              <a:lnSpc>
                <a:spcPct val="90000"/>
              </a:lnSpc>
              <a:spcBef>
                <a:spcPts val="500"/>
              </a:spcBef>
              <a:spcAft>
                <a:spcPts val="0"/>
              </a:spcAft>
              <a:buSzPct val="129032"/>
              <a:buChar char="o"/>
            </a:pPr>
            <a:r>
              <a:rPr lang="en-US"/>
              <a:t>Control commands are transmitted in plaintext.</a:t>
            </a:r>
            <a:endParaRPr/>
          </a:p>
          <a:p>
            <a:pPr marL="914400" lvl="1" indent="-381000" algn="l" rtl="0">
              <a:lnSpc>
                <a:spcPct val="90000"/>
              </a:lnSpc>
              <a:spcBef>
                <a:spcPts val="500"/>
              </a:spcBef>
              <a:spcAft>
                <a:spcPts val="0"/>
              </a:spcAft>
              <a:buSzPct val="129032"/>
              <a:buChar char="o"/>
            </a:pPr>
            <a:r>
              <a:rPr lang="en-US"/>
              <a:t>No authentication or integrity verification is implemented for remote access.</a:t>
            </a:r>
            <a:endParaRPr/>
          </a:p>
          <a:p>
            <a:pPr marL="914400" lvl="1" indent="-381000" algn="l" rtl="0">
              <a:lnSpc>
                <a:spcPct val="90000"/>
              </a:lnSpc>
              <a:spcBef>
                <a:spcPts val="500"/>
              </a:spcBef>
              <a:spcAft>
                <a:spcPts val="0"/>
              </a:spcAft>
              <a:buSzPct val="129032"/>
              <a:buChar char="o"/>
            </a:pPr>
            <a:r>
              <a:rPr lang="en-US"/>
              <a:t>Attackers can manipulate intercepted commands to change process parameters.</a:t>
            </a:r>
            <a:endParaRPr/>
          </a:p>
          <a:p>
            <a:pPr marL="914400" lvl="1" indent="-381000" algn="l" rtl="0">
              <a:lnSpc>
                <a:spcPct val="90000"/>
              </a:lnSpc>
              <a:spcBef>
                <a:spcPts val="500"/>
              </a:spcBef>
              <a:spcAft>
                <a:spcPts val="0"/>
              </a:spcAft>
              <a:buSzPct val="129032"/>
              <a:buChar char="o"/>
            </a:pPr>
            <a:r>
              <a:rPr lang="en-US"/>
              <a:t>Unauthorized modifications can lead to serious safety risks.</a:t>
            </a:r>
            <a:endParaRPr/>
          </a:p>
          <a:p>
            <a:pPr marL="457200" marR="0" lvl="0" indent="-406400" algn="l" rtl="0">
              <a:lnSpc>
                <a:spcPct val="90000"/>
              </a:lnSpc>
              <a:spcBef>
                <a:spcPts val="1000"/>
              </a:spcBef>
              <a:spcAft>
                <a:spcPts val="0"/>
              </a:spcAft>
              <a:buClr>
                <a:schemeClr val="dk1"/>
              </a:buClr>
              <a:buSzPct val="129032"/>
              <a:buFont typeface="Arial"/>
              <a:buChar char="•"/>
            </a:pPr>
            <a:r>
              <a:rPr lang="en-US" b="1"/>
              <a:t>Examine the security risks in this industrial control system. What types of attacks could be executed against it? Suggest measures to ensure the confidentiality, integrity, and authentication of control commands.</a:t>
            </a:r>
            <a:endParaRPr/>
          </a:p>
          <a:p>
            <a:pPr marL="457200" marR="0" lvl="0" indent="-228600" algn="l" rtl="0">
              <a:lnSpc>
                <a:spcPct val="90000"/>
              </a:lnSpc>
              <a:spcBef>
                <a:spcPts val="1000"/>
              </a:spcBef>
              <a:spcAft>
                <a:spcPts val="0"/>
              </a:spcAft>
              <a:buClr>
                <a:schemeClr val="dk1"/>
              </a:buClr>
              <a:buSzPct val="129032"/>
              <a:buFont typeface="Arial"/>
              <a:buNone/>
            </a:pPr>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544"/>
        <p:cNvGrpSpPr/>
        <p:nvPr/>
      </p:nvGrpSpPr>
      <p:grpSpPr>
        <a:xfrm>
          <a:off x="0" y="0"/>
          <a:ext cx="0" cy="0"/>
          <a:chOff x="0" y="0"/>
          <a:chExt cx="0" cy="0"/>
        </a:xfrm>
      </p:grpSpPr>
      <p:sp>
        <p:nvSpPr>
          <p:cNvPr id="545" name="Google Shape;545;p34"/>
          <p:cNvSpPr/>
          <p:nvPr/>
        </p:nvSpPr>
        <p:spPr>
          <a:xfrm>
            <a:off x="3033631" y="2967334"/>
            <a:ext cx="5282785"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1" i="0" u="none" strike="noStrike" cap="none">
                <a:solidFill>
                  <a:srgbClr val="FF9356"/>
                </a:solidFill>
                <a:latin typeface="Calibri"/>
                <a:ea typeface="Calibri"/>
                <a:cs typeface="Calibri"/>
                <a:sym typeface="Calibri"/>
              </a:rPr>
              <a:t>Questions? </a:t>
            </a:r>
            <a:endParaRPr sz="5400" b="1" i="0" u="none" strike="noStrike" cap="none">
              <a:solidFill>
                <a:srgbClr val="FF9356"/>
              </a:solidFill>
              <a:latin typeface="Calibri"/>
              <a:ea typeface="Calibri"/>
              <a:cs typeface="Calibri"/>
              <a:sym typeface="Calibri"/>
            </a:endParaRPr>
          </a:p>
        </p:txBody>
      </p:sp>
      <p:sp>
        <p:nvSpPr>
          <p:cNvPr id="546" name="Google Shape;546;p34"/>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en-US"/>
              <a:t>Ms. Swati Mali</a:t>
            </a:r>
            <a:endParaRPr/>
          </a:p>
        </p:txBody>
      </p:sp>
    </p:spTree>
  </p:cSld>
  <p:clrMapOvr>
    <a:masterClrMapping/>
  </p:clrMapOvr>
</p:sld>
</file>

<file path=ppt/theme/theme1.xml><?xml version="1.0" encoding="utf-8"?>
<a:theme xmlns:a="http://schemas.openxmlformats.org/drawingml/2006/main" name="2_Custom Design">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TotalTime>
  <Words>3124</Words>
  <Application>Microsoft Office PowerPoint</Application>
  <PresentationFormat>On-screen Show (4:3)</PresentationFormat>
  <Paragraphs>492</Paragraphs>
  <Slides>59</Slides>
  <Notes>59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59</vt:i4>
      </vt:variant>
    </vt:vector>
  </HeadingPairs>
  <TitlesOfParts>
    <vt:vector size="67" baseType="lpstr">
      <vt:lpstr>Arial</vt:lpstr>
      <vt:lpstr>Fira Sans</vt:lpstr>
      <vt:lpstr>Times New Roman</vt:lpstr>
      <vt:lpstr>Marcellus</vt:lpstr>
      <vt:lpstr>Calibri</vt:lpstr>
      <vt:lpstr>Noto Sans Symbols</vt:lpstr>
      <vt:lpstr>Courier New</vt:lpstr>
      <vt:lpstr>2_Custom Design</vt:lpstr>
      <vt:lpstr>Applied Cryptography </vt:lpstr>
      <vt:lpstr>PowerPoint Presentation</vt:lpstr>
      <vt:lpstr>What is this course about?</vt:lpstr>
      <vt:lpstr>Attacks, Services and Mechanisms</vt:lpstr>
      <vt:lpstr>Books</vt:lpstr>
      <vt:lpstr>Other A’s</vt:lpstr>
      <vt:lpstr>PowerPoint Presentation</vt:lpstr>
      <vt:lpstr>Security Attacks </vt:lpstr>
      <vt:lpstr>Classical – common attacks</vt:lpstr>
      <vt:lpstr>PowerPoint Presentation</vt:lpstr>
      <vt:lpstr>Attacks</vt:lpstr>
      <vt:lpstr>Method, Opportunity and Motive </vt:lpstr>
      <vt:lpstr>Security Services </vt:lpstr>
      <vt:lpstr>PowerPoint Presentation</vt:lpstr>
      <vt:lpstr>PowerPoint Presentation</vt:lpstr>
      <vt:lpstr>Vulnerabilities</vt:lpstr>
      <vt:lpstr>Computer Criminals </vt:lpstr>
      <vt:lpstr>MOM</vt:lpstr>
      <vt:lpstr>MOM : EVM – breaking</vt:lpstr>
      <vt:lpstr>Methods of Defense </vt:lpstr>
      <vt:lpstr>PowerPoint Presentation</vt:lpstr>
      <vt:lpstr>Methods of Defense </vt:lpstr>
      <vt:lpstr>Others Exposed Assets </vt:lpstr>
      <vt:lpstr>Lab CA : Designing security Protocol</vt:lpstr>
      <vt:lpstr>The Mysterious Death of Gerald Cotten and the Frozen Cryptocurrency Wallets</vt:lpstr>
      <vt:lpstr>Analysis</vt:lpstr>
      <vt:lpstr>PowerPoint Presentation</vt:lpstr>
      <vt:lpstr>Real life cases of security violation and how they could have been prevented…</vt:lpstr>
      <vt:lpstr>The Uber vs. Waymo Case (2017)</vt:lpstr>
      <vt:lpstr>Probable solutions</vt:lpstr>
      <vt:lpstr>Edward Snowden NSA Leak (2013) </vt:lpstr>
      <vt:lpstr>Security Goals Analysis</vt:lpstr>
      <vt:lpstr>Classical Attack Analysis</vt:lpstr>
      <vt:lpstr> Netflix's "Orange Is the New Black" Ransom Leak (2017)</vt:lpstr>
      <vt:lpstr>Security Goals Analysis</vt:lpstr>
      <vt:lpstr>Attack Analysis </vt:lpstr>
      <vt:lpstr>Protocol Design</vt:lpstr>
      <vt:lpstr>Secure Communication Protocol for Defense Communication System</vt:lpstr>
      <vt:lpstr>1. Protocol Objectives</vt:lpstr>
      <vt:lpstr>2. Cryptographic Components</vt:lpstr>
      <vt:lpstr>3. Entities</vt:lpstr>
      <vt:lpstr>Step 1: Key Generation &amp; Distribution</vt:lpstr>
      <vt:lpstr>Step 2: Sending a Secure Report from Base to HQ</vt:lpstr>
      <vt:lpstr>Step 3: Receiving &amp; Verifying at HQ</vt:lpstr>
      <vt:lpstr>Step 4: Sending Orders from HQ to Bases</vt:lpstr>
      <vt:lpstr>Security Policies</vt:lpstr>
      <vt:lpstr>IA III- Security Analysis of scenario</vt:lpstr>
      <vt:lpstr>Classical – common attacks</vt:lpstr>
      <vt:lpstr>Which of the attacks are possible and which are not?</vt:lpstr>
      <vt:lpstr>Potential Attacks</vt:lpstr>
      <vt:lpstr>PowerPoint Presentation</vt:lpstr>
      <vt:lpstr>Authentication Attack on Employee Web Portal</vt:lpstr>
      <vt:lpstr>Unauthorized Access Due to Shared Credentials in a Research Lab</vt:lpstr>
      <vt:lpstr>Data Modification in an IoT-Based Smart Lock System</vt:lpstr>
      <vt:lpstr>Replay Attack on OTP-Based Online Banking Authentication</vt:lpstr>
      <vt:lpstr>Authentication Attack Due to Exposed API Keys in Cloud Services</vt:lpstr>
      <vt:lpstr>Unauthorized Access Due to Poor Session Management in E-commerce Websites</vt:lpstr>
      <vt:lpstr>Data Modification in Industrial Control Systems (ICS)</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Honours in Cyber Security &amp; Forensics  Applied Cryptography </dc:title>
  <dc:creator>Swati Mali</dc:creator>
  <cp:lastModifiedBy>Swati</cp:lastModifiedBy>
  <cp:revision>2</cp:revision>
  <dcterms:created xsi:type="dcterms:W3CDTF">2021-02-11T03:47:51Z</dcterms:created>
  <dcterms:modified xsi:type="dcterms:W3CDTF">2025-08-31T10:19:19Z</dcterms:modified>
</cp:coreProperties>
</file>