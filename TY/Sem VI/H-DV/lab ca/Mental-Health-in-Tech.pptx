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Dela Gothic One" panose="020B0604020202020204" charset="-128"/>
      <p:regular r:id="rId12"/>
    </p:embeddedFont>
    <p:embeddedFont>
      <p:font typeface="Montserrat Bold" panose="020B0604020202020204" charset="0"/>
      <p:regular r:id="rId13"/>
    </p:embeddedFont>
    <p:embeddedFont>
      <p:font typeface="Montserrat Light" panose="00000400000000000000" pitchFamily="2" charset="0"/>
      <p:regular r:id="rId14"/>
    </p:embeddedFont>
    <p:embeddedFont>
      <p:font typeface="Source Sans 3" panose="020B0604020202020204" charset="0"/>
      <p:regular r:id="rId15"/>
    </p:embeddedFont>
    <p:embeddedFont>
      <p:font typeface="Source Sans 3 Bold" panose="020B0604020202020204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-1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22.04.2026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430000" y="1028700"/>
            <a:ext cx="6858000" cy="8229600"/>
            <a:chOff x="0" y="0"/>
            <a:chExt cx="9144000" cy="109728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9144000" cy="10972800"/>
            </a:xfrm>
            <a:custGeom>
              <a:avLst/>
              <a:gdLst/>
              <a:ahLst/>
              <a:cxnLst/>
              <a:rect l="l" t="t" r="r" b="b"/>
              <a:pathLst>
                <a:path w="9144000" h="10972800">
                  <a:moveTo>
                    <a:pt x="0" y="0"/>
                  </a:moveTo>
                  <a:lnTo>
                    <a:pt x="9144000" y="0"/>
                  </a:lnTo>
                  <a:lnTo>
                    <a:pt x="9144000" y="10972800"/>
                  </a:lnTo>
                  <a:lnTo>
                    <a:pt x="0" y="1097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12500" b="-12499"/>
              </a:stretch>
            </a:blipFill>
          </p:spPr>
        </p:sp>
      </p:grpSp>
      <p:sp>
        <p:nvSpPr>
          <p:cNvPr id="4" name="TextBox 4"/>
          <p:cNvSpPr txBox="1"/>
          <p:nvPr/>
        </p:nvSpPr>
        <p:spPr>
          <a:xfrm>
            <a:off x="1099908" y="2111907"/>
            <a:ext cx="7988056" cy="905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55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Mental Health in Tech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3462" y="4101423"/>
            <a:ext cx="9270502" cy="538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375">
                <a:solidFill>
                  <a:srgbClr val="1565C0"/>
                </a:solidFill>
                <a:latin typeface="Source Sans 3"/>
                <a:ea typeface="Source Sans 3"/>
                <a:cs typeface="Source Sans 3"/>
                <a:sym typeface="Source Sans 3"/>
              </a:rPr>
              <a:t>Visualizing Survey Results on Burnout and Workplace Well-being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028700" y="4862545"/>
            <a:ext cx="4434783" cy="583702"/>
            <a:chOff x="0" y="0"/>
            <a:chExt cx="5913044" cy="77826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912993" cy="778256"/>
            </a:xfrm>
            <a:custGeom>
              <a:avLst/>
              <a:gdLst/>
              <a:ahLst/>
              <a:cxnLst/>
              <a:rect l="l" t="t" r="r" b="b"/>
              <a:pathLst>
                <a:path w="5912993" h="778256">
                  <a:moveTo>
                    <a:pt x="0" y="55753"/>
                  </a:moveTo>
                  <a:cubicBezTo>
                    <a:pt x="0" y="24892"/>
                    <a:pt x="25400" y="0"/>
                    <a:pt x="56388" y="0"/>
                  </a:cubicBezTo>
                  <a:lnTo>
                    <a:pt x="5856605" y="0"/>
                  </a:lnTo>
                  <a:lnTo>
                    <a:pt x="5856605" y="6350"/>
                  </a:lnTo>
                  <a:lnTo>
                    <a:pt x="5856605" y="0"/>
                  </a:lnTo>
                  <a:cubicBezTo>
                    <a:pt x="5887720" y="0"/>
                    <a:pt x="5912993" y="24892"/>
                    <a:pt x="5912993" y="55753"/>
                  </a:cubicBezTo>
                  <a:lnTo>
                    <a:pt x="5906643" y="55753"/>
                  </a:lnTo>
                  <a:lnTo>
                    <a:pt x="5912993" y="55753"/>
                  </a:lnTo>
                  <a:lnTo>
                    <a:pt x="5912993" y="722503"/>
                  </a:lnTo>
                  <a:lnTo>
                    <a:pt x="5906643" y="722503"/>
                  </a:lnTo>
                  <a:lnTo>
                    <a:pt x="5912993" y="722503"/>
                  </a:lnTo>
                  <a:cubicBezTo>
                    <a:pt x="5912993" y="753364"/>
                    <a:pt x="5887593" y="778256"/>
                    <a:pt x="5856605" y="778256"/>
                  </a:cubicBezTo>
                  <a:lnTo>
                    <a:pt x="5856605" y="771906"/>
                  </a:lnTo>
                  <a:lnTo>
                    <a:pt x="5856605" y="778256"/>
                  </a:lnTo>
                  <a:lnTo>
                    <a:pt x="56388" y="778256"/>
                  </a:lnTo>
                  <a:lnTo>
                    <a:pt x="56388" y="771906"/>
                  </a:lnTo>
                  <a:lnTo>
                    <a:pt x="56388" y="778256"/>
                  </a:lnTo>
                  <a:cubicBezTo>
                    <a:pt x="25400" y="778256"/>
                    <a:pt x="0" y="753364"/>
                    <a:pt x="0" y="722503"/>
                  </a:cubicBezTo>
                  <a:lnTo>
                    <a:pt x="0" y="55753"/>
                  </a:lnTo>
                  <a:lnTo>
                    <a:pt x="6350" y="55753"/>
                  </a:lnTo>
                  <a:lnTo>
                    <a:pt x="0" y="55753"/>
                  </a:lnTo>
                  <a:moveTo>
                    <a:pt x="12700" y="55753"/>
                  </a:moveTo>
                  <a:lnTo>
                    <a:pt x="12700" y="722503"/>
                  </a:lnTo>
                  <a:lnTo>
                    <a:pt x="6350" y="722503"/>
                  </a:lnTo>
                  <a:lnTo>
                    <a:pt x="12700" y="722503"/>
                  </a:lnTo>
                  <a:cubicBezTo>
                    <a:pt x="12700" y="746125"/>
                    <a:pt x="32131" y="765556"/>
                    <a:pt x="56388" y="765556"/>
                  </a:cubicBezTo>
                  <a:lnTo>
                    <a:pt x="5856605" y="765556"/>
                  </a:lnTo>
                  <a:cubicBezTo>
                    <a:pt x="5880862" y="765556"/>
                    <a:pt x="5900293" y="746252"/>
                    <a:pt x="5900293" y="722503"/>
                  </a:cubicBezTo>
                  <a:lnTo>
                    <a:pt x="5900293" y="55753"/>
                  </a:lnTo>
                  <a:cubicBezTo>
                    <a:pt x="5900293" y="32131"/>
                    <a:pt x="5880862" y="12700"/>
                    <a:pt x="5856605" y="12700"/>
                  </a:cubicBezTo>
                  <a:lnTo>
                    <a:pt x="56388" y="12700"/>
                  </a:lnTo>
                  <a:lnTo>
                    <a:pt x="56388" y="6350"/>
                  </a:lnTo>
                  <a:lnTo>
                    <a:pt x="56388" y="12700"/>
                  </a:lnTo>
                  <a:cubicBezTo>
                    <a:pt x="32131" y="12700"/>
                    <a:pt x="12700" y="32004"/>
                    <a:pt x="12700" y="55753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49514" y="4940300"/>
            <a:ext cx="4440731" cy="349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OSMI MENTAL HEALTH IN TECH SURVEY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5703421"/>
            <a:ext cx="3607586" cy="1506167"/>
            <a:chOff x="0" y="0"/>
            <a:chExt cx="4155288" cy="173483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155313" cy="1734804"/>
            </a:xfrm>
            <a:custGeom>
              <a:avLst/>
              <a:gdLst/>
              <a:ahLst/>
              <a:cxnLst/>
              <a:rect l="l" t="t" r="r" b="b"/>
              <a:pathLst>
                <a:path w="4155313" h="1734804">
                  <a:moveTo>
                    <a:pt x="0" y="124279"/>
                  </a:moveTo>
                  <a:cubicBezTo>
                    <a:pt x="0" y="55487"/>
                    <a:pt x="25273" y="0"/>
                    <a:pt x="56388" y="0"/>
                  </a:cubicBezTo>
                  <a:lnTo>
                    <a:pt x="4098925" y="0"/>
                  </a:lnTo>
                  <a:lnTo>
                    <a:pt x="4098925" y="14155"/>
                  </a:lnTo>
                  <a:lnTo>
                    <a:pt x="4098925" y="0"/>
                  </a:lnTo>
                  <a:cubicBezTo>
                    <a:pt x="4130040" y="0"/>
                    <a:pt x="4155313" y="55487"/>
                    <a:pt x="4155313" y="124279"/>
                  </a:cubicBezTo>
                  <a:lnTo>
                    <a:pt x="4148963" y="124279"/>
                  </a:lnTo>
                  <a:lnTo>
                    <a:pt x="4155313" y="124279"/>
                  </a:lnTo>
                  <a:lnTo>
                    <a:pt x="4155313" y="1610525"/>
                  </a:lnTo>
                  <a:lnTo>
                    <a:pt x="4148963" y="1610525"/>
                  </a:lnTo>
                  <a:lnTo>
                    <a:pt x="4155313" y="1610525"/>
                  </a:lnTo>
                  <a:cubicBezTo>
                    <a:pt x="4155313" y="1679317"/>
                    <a:pt x="4130040" y="1734804"/>
                    <a:pt x="4098925" y="1734804"/>
                  </a:cubicBezTo>
                  <a:lnTo>
                    <a:pt x="4098925" y="1720649"/>
                  </a:lnTo>
                  <a:lnTo>
                    <a:pt x="4098925" y="1734804"/>
                  </a:lnTo>
                  <a:lnTo>
                    <a:pt x="56388" y="1734804"/>
                  </a:lnTo>
                  <a:lnTo>
                    <a:pt x="56388" y="1720649"/>
                  </a:lnTo>
                  <a:lnTo>
                    <a:pt x="56388" y="1734804"/>
                  </a:lnTo>
                  <a:cubicBezTo>
                    <a:pt x="25273" y="1734804"/>
                    <a:pt x="0" y="1679317"/>
                    <a:pt x="0" y="1610525"/>
                  </a:cubicBezTo>
                  <a:lnTo>
                    <a:pt x="0" y="124279"/>
                  </a:lnTo>
                  <a:lnTo>
                    <a:pt x="6350" y="124279"/>
                  </a:lnTo>
                  <a:lnTo>
                    <a:pt x="0" y="124279"/>
                  </a:lnTo>
                  <a:moveTo>
                    <a:pt x="12700" y="124279"/>
                  </a:moveTo>
                  <a:lnTo>
                    <a:pt x="12700" y="1610525"/>
                  </a:lnTo>
                  <a:lnTo>
                    <a:pt x="6350" y="1610525"/>
                  </a:lnTo>
                  <a:lnTo>
                    <a:pt x="12700" y="1610525"/>
                  </a:lnTo>
                  <a:cubicBezTo>
                    <a:pt x="12700" y="1663181"/>
                    <a:pt x="32131" y="1706494"/>
                    <a:pt x="56388" y="1706494"/>
                  </a:cubicBezTo>
                  <a:lnTo>
                    <a:pt x="4098925" y="1706494"/>
                  </a:lnTo>
                  <a:cubicBezTo>
                    <a:pt x="4123182" y="1706494"/>
                    <a:pt x="4142613" y="1663464"/>
                    <a:pt x="4142613" y="1610525"/>
                  </a:cubicBezTo>
                  <a:lnTo>
                    <a:pt x="4142613" y="124279"/>
                  </a:lnTo>
                  <a:cubicBezTo>
                    <a:pt x="4142613" y="71623"/>
                    <a:pt x="4123182" y="28309"/>
                    <a:pt x="4098925" y="28309"/>
                  </a:cubicBezTo>
                  <a:lnTo>
                    <a:pt x="56388" y="28309"/>
                  </a:lnTo>
                  <a:lnTo>
                    <a:pt x="56388" y="14155"/>
                  </a:lnTo>
                  <a:lnTo>
                    <a:pt x="56388" y="28309"/>
                  </a:lnTo>
                  <a:cubicBezTo>
                    <a:pt x="32131" y="28309"/>
                    <a:pt x="12700" y="71340"/>
                    <a:pt x="12700" y="124279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128341" y="5891301"/>
            <a:ext cx="3408304" cy="1073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3"/>
              </a:lnSpc>
            </a:pPr>
            <a:r>
              <a:rPr lang="en-US" sz="1937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16010123012 Aaryan Sharma</a:t>
            </a:r>
          </a:p>
          <a:p>
            <a:pPr algn="l">
              <a:lnSpc>
                <a:spcPts val="2873"/>
              </a:lnSpc>
            </a:pPr>
            <a:r>
              <a:rPr lang="en-US" sz="1937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16010123017 Aditey Kshirsagar</a:t>
            </a:r>
          </a:p>
          <a:p>
            <a:pPr algn="l">
              <a:lnSpc>
                <a:spcPts val="2874"/>
              </a:lnSpc>
            </a:pPr>
            <a:r>
              <a:rPr lang="en-US" sz="1937">
                <a:solidFill>
                  <a:srgbClr val="2D2E34"/>
                </a:solidFill>
                <a:latin typeface="Source Sans 3"/>
                <a:ea typeface="Source Sans 3"/>
                <a:cs typeface="Source Sans 3"/>
                <a:sym typeface="Source Sans 3"/>
              </a:rPr>
              <a:t>16010123023 Aditya Baheti</a:t>
            </a:r>
          </a:p>
        </p:txBody>
      </p:sp>
      <p:sp>
        <p:nvSpPr>
          <p:cNvPr id="12" name="Freeform 12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995505" y="1009650"/>
            <a:ext cx="6036916" cy="6764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12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 of Analysis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28700" y="1788257"/>
            <a:ext cx="13980487" cy="1362100"/>
            <a:chOff x="0" y="0"/>
            <a:chExt cx="19391909" cy="1889328"/>
          </a:xfrm>
        </p:grpSpPr>
        <p:sp>
          <p:nvSpPr>
            <p:cNvPr id="4" name="Freeform 4"/>
            <p:cNvSpPr/>
            <p:nvPr/>
          </p:nvSpPr>
          <p:spPr>
            <a:xfrm>
              <a:off x="19050" y="19050"/>
              <a:ext cx="19353785" cy="1851152"/>
            </a:xfrm>
            <a:custGeom>
              <a:avLst/>
              <a:gdLst/>
              <a:ahLst/>
              <a:cxnLst/>
              <a:rect l="l" t="t" r="r" b="b"/>
              <a:pathLst>
                <a:path w="19353785" h="1851152">
                  <a:moveTo>
                    <a:pt x="0" y="46228"/>
                  </a:moveTo>
                  <a:cubicBezTo>
                    <a:pt x="0" y="20701"/>
                    <a:pt x="21082" y="0"/>
                    <a:pt x="47117" y="0"/>
                  </a:cubicBezTo>
                  <a:lnTo>
                    <a:pt x="19306667" y="0"/>
                  </a:lnTo>
                  <a:cubicBezTo>
                    <a:pt x="19332702" y="0"/>
                    <a:pt x="19353785" y="20701"/>
                    <a:pt x="19353785" y="46228"/>
                  </a:cubicBezTo>
                  <a:lnTo>
                    <a:pt x="19353785" y="1804924"/>
                  </a:lnTo>
                  <a:cubicBezTo>
                    <a:pt x="19353785" y="1830451"/>
                    <a:pt x="19332702" y="1851152"/>
                    <a:pt x="19306667" y="1851152"/>
                  </a:cubicBezTo>
                  <a:lnTo>
                    <a:pt x="47117" y="1851152"/>
                  </a:lnTo>
                  <a:cubicBezTo>
                    <a:pt x="21082" y="1851152"/>
                    <a:pt x="0" y="1830451"/>
                    <a:pt x="0" y="18049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19391885" cy="1889252"/>
            </a:xfrm>
            <a:custGeom>
              <a:avLst/>
              <a:gdLst/>
              <a:ahLst/>
              <a:cxnLst/>
              <a:rect l="l" t="t" r="r" b="b"/>
              <a:pathLst>
                <a:path w="19391885" h="1889252">
                  <a:moveTo>
                    <a:pt x="0" y="65278"/>
                  </a:moveTo>
                  <a:cubicBezTo>
                    <a:pt x="0" y="28956"/>
                    <a:pt x="29972" y="0"/>
                    <a:pt x="66167" y="0"/>
                  </a:cubicBezTo>
                  <a:lnTo>
                    <a:pt x="19325717" y="0"/>
                  </a:lnTo>
                  <a:lnTo>
                    <a:pt x="19325717" y="19050"/>
                  </a:lnTo>
                  <a:lnTo>
                    <a:pt x="19325717" y="0"/>
                  </a:lnTo>
                  <a:cubicBezTo>
                    <a:pt x="19361913" y="0"/>
                    <a:pt x="19391885" y="28956"/>
                    <a:pt x="19391885" y="65278"/>
                  </a:cubicBezTo>
                  <a:lnTo>
                    <a:pt x="19372835" y="65278"/>
                  </a:lnTo>
                  <a:lnTo>
                    <a:pt x="19391885" y="65278"/>
                  </a:lnTo>
                  <a:lnTo>
                    <a:pt x="19391885" y="1823974"/>
                  </a:lnTo>
                  <a:lnTo>
                    <a:pt x="19372835" y="1823974"/>
                  </a:lnTo>
                  <a:lnTo>
                    <a:pt x="19391885" y="1823974"/>
                  </a:lnTo>
                  <a:cubicBezTo>
                    <a:pt x="19391885" y="1860423"/>
                    <a:pt x="19361913" y="1889252"/>
                    <a:pt x="19325717" y="1889252"/>
                  </a:cubicBezTo>
                  <a:lnTo>
                    <a:pt x="19325717" y="1870202"/>
                  </a:lnTo>
                  <a:lnTo>
                    <a:pt x="19325717" y="1889252"/>
                  </a:lnTo>
                  <a:lnTo>
                    <a:pt x="66167" y="1889252"/>
                  </a:lnTo>
                  <a:lnTo>
                    <a:pt x="66167" y="1870202"/>
                  </a:lnTo>
                  <a:lnTo>
                    <a:pt x="66167" y="1889252"/>
                  </a:lnTo>
                  <a:cubicBezTo>
                    <a:pt x="29972" y="1889252"/>
                    <a:pt x="0" y="1860296"/>
                    <a:pt x="0" y="1823974"/>
                  </a:cubicBezTo>
                  <a:lnTo>
                    <a:pt x="0" y="65278"/>
                  </a:lnTo>
                  <a:lnTo>
                    <a:pt x="19050" y="65278"/>
                  </a:lnTo>
                  <a:lnTo>
                    <a:pt x="0" y="65278"/>
                  </a:lnTo>
                  <a:moveTo>
                    <a:pt x="38100" y="65278"/>
                  </a:moveTo>
                  <a:lnTo>
                    <a:pt x="38100" y="1823974"/>
                  </a:lnTo>
                  <a:lnTo>
                    <a:pt x="19050" y="1823974"/>
                  </a:lnTo>
                  <a:lnTo>
                    <a:pt x="38100" y="1823974"/>
                  </a:lnTo>
                  <a:cubicBezTo>
                    <a:pt x="38100" y="1838706"/>
                    <a:pt x="50292" y="1851152"/>
                    <a:pt x="66167" y="1851152"/>
                  </a:cubicBezTo>
                  <a:lnTo>
                    <a:pt x="19325717" y="1851152"/>
                  </a:lnTo>
                  <a:cubicBezTo>
                    <a:pt x="19341592" y="1851152"/>
                    <a:pt x="19353785" y="1838579"/>
                    <a:pt x="19353785" y="1823974"/>
                  </a:cubicBezTo>
                  <a:lnTo>
                    <a:pt x="19353785" y="65278"/>
                  </a:lnTo>
                  <a:cubicBezTo>
                    <a:pt x="19353785" y="50546"/>
                    <a:pt x="19341592" y="38100"/>
                    <a:pt x="19325717" y="38100"/>
                  </a:cubicBezTo>
                  <a:lnTo>
                    <a:pt x="66167" y="38100"/>
                  </a:lnTo>
                  <a:lnTo>
                    <a:pt x="66167" y="19050"/>
                  </a:lnTo>
                  <a:lnTo>
                    <a:pt x="66167" y="38100"/>
                  </a:lnTo>
                  <a:cubicBezTo>
                    <a:pt x="50292" y="38100"/>
                    <a:pt x="38100" y="50673"/>
                    <a:pt x="38100" y="65278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69902" y="1829459"/>
            <a:ext cx="889706" cy="1279697"/>
            <a:chOff x="0" y="0"/>
            <a:chExt cx="1234084" cy="177502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34059" cy="1774952"/>
            </a:xfrm>
            <a:custGeom>
              <a:avLst/>
              <a:gdLst/>
              <a:ahLst/>
              <a:cxnLst/>
              <a:rect l="l" t="t" r="r" b="b"/>
              <a:pathLst>
                <a:path w="1234059" h="1774952">
                  <a:moveTo>
                    <a:pt x="0" y="508"/>
                  </a:moveTo>
                  <a:cubicBezTo>
                    <a:pt x="0" y="254"/>
                    <a:pt x="254" y="0"/>
                    <a:pt x="508" y="0"/>
                  </a:cubicBezTo>
                  <a:lnTo>
                    <a:pt x="1233551" y="0"/>
                  </a:lnTo>
                  <a:cubicBezTo>
                    <a:pt x="1233805" y="0"/>
                    <a:pt x="1234059" y="254"/>
                    <a:pt x="1234059" y="508"/>
                  </a:cubicBezTo>
                  <a:lnTo>
                    <a:pt x="1234059" y="1774444"/>
                  </a:lnTo>
                  <a:cubicBezTo>
                    <a:pt x="1234059" y="1774698"/>
                    <a:pt x="1233805" y="1774952"/>
                    <a:pt x="1233551" y="1774952"/>
                  </a:cubicBezTo>
                  <a:lnTo>
                    <a:pt x="508" y="1774952"/>
                  </a:lnTo>
                  <a:cubicBezTo>
                    <a:pt x="254" y="1774952"/>
                    <a:pt x="0" y="1774698"/>
                    <a:pt x="0" y="177444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347878" y="2317947"/>
            <a:ext cx="333626" cy="359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2583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1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26421" y="2042260"/>
            <a:ext cx="3264542" cy="3032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1982" b="1" dirty="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Prevalence Analysis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26421" y="2448618"/>
            <a:ext cx="12619248" cy="31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74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Measure the prevalence of mental health conditions across the tech workforce.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028700" y="3289702"/>
            <a:ext cx="13980487" cy="1362100"/>
            <a:chOff x="0" y="0"/>
            <a:chExt cx="19391909" cy="1889328"/>
          </a:xfrm>
        </p:grpSpPr>
        <p:sp>
          <p:nvSpPr>
            <p:cNvPr id="12" name="Freeform 12"/>
            <p:cNvSpPr/>
            <p:nvPr/>
          </p:nvSpPr>
          <p:spPr>
            <a:xfrm>
              <a:off x="19050" y="19050"/>
              <a:ext cx="19353785" cy="1851152"/>
            </a:xfrm>
            <a:custGeom>
              <a:avLst/>
              <a:gdLst/>
              <a:ahLst/>
              <a:cxnLst/>
              <a:rect l="l" t="t" r="r" b="b"/>
              <a:pathLst>
                <a:path w="19353785" h="1851152">
                  <a:moveTo>
                    <a:pt x="0" y="46228"/>
                  </a:moveTo>
                  <a:cubicBezTo>
                    <a:pt x="0" y="20701"/>
                    <a:pt x="21082" y="0"/>
                    <a:pt x="47117" y="0"/>
                  </a:cubicBezTo>
                  <a:lnTo>
                    <a:pt x="19306667" y="0"/>
                  </a:lnTo>
                  <a:cubicBezTo>
                    <a:pt x="19332702" y="0"/>
                    <a:pt x="19353785" y="20701"/>
                    <a:pt x="19353785" y="46228"/>
                  </a:cubicBezTo>
                  <a:lnTo>
                    <a:pt x="19353785" y="1804924"/>
                  </a:lnTo>
                  <a:cubicBezTo>
                    <a:pt x="19353785" y="1830451"/>
                    <a:pt x="19332702" y="1851152"/>
                    <a:pt x="19306667" y="1851152"/>
                  </a:cubicBezTo>
                  <a:lnTo>
                    <a:pt x="47117" y="1851152"/>
                  </a:lnTo>
                  <a:cubicBezTo>
                    <a:pt x="21082" y="1851152"/>
                    <a:pt x="0" y="1830451"/>
                    <a:pt x="0" y="18049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19391885" cy="1889252"/>
            </a:xfrm>
            <a:custGeom>
              <a:avLst/>
              <a:gdLst/>
              <a:ahLst/>
              <a:cxnLst/>
              <a:rect l="l" t="t" r="r" b="b"/>
              <a:pathLst>
                <a:path w="19391885" h="1889252">
                  <a:moveTo>
                    <a:pt x="0" y="65278"/>
                  </a:moveTo>
                  <a:cubicBezTo>
                    <a:pt x="0" y="28956"/>
                    <a:pt x="29972" y="0"/>
                    <a:pt x="66167" y="0"/>
                  </a:cubicBezTo>
                  <a:lnTo>
                    <a:pt x="19325717" y="0"/>
                  </a:lnTo>
                  <a:lnTo>
                    <a:pt x="19325717" y="19050"/>
                  </a:lnTo>
                  <a:lnTo>
                    <a:pt x="19325717" y="0"/>
                  </a:lnTo>
                  <a:cubicBezTo>
                    <a:pt x="19361913" y="0"/>
                    <a:pt x="19391885" y="28956"/>
                    <a:pt x="19391885" y="65278"/>
                  </a:cubicBezTo>
                  <a:lnTo>
                    <a:pt x="19372835" y="65278"/>
                  </a:lnTo>
                  <a:lnTo>
                    <a:pt x="19391885" y="65278"/>
                  </a:lnTo>
                  <a:lnTo>
                    <a:pt x="19391885" y="1823974"/>
                  </a:lnTo>
                  <a:lnTo>
                    <a:pt x="19372835" y="1823974"/>
                  </a:lnTo>
                  <a:lnTo>
                    <a:pt x="19391885" y="1823974"/>
                  </a:lnTo>
                  <a:cubicBezTo>
                    <a:pt x="19391885" y="1860423"/>
                    <a:pt x="19361913" y="1889252"/>
                    <a:pt x="19325717" y="1889252"/>
                  </a:cubicBezTo>
                  <a:lnTo>
                    <a:pt x="19325717" y="1870202"/>
                  </a:lnTo>
                  <a:lnTo>
                    <a:pt x="19325717" y="1889252"/>
                  </a:lnTo>
                  <a:lnTo>
                    <a:pt x="66167" y="1889252"/>
                  </a:lnTo>
                  <a:lnTo>
                    <a:pt x="66167" y="1870202"/>
                  </a:lnTo>
                  <a:lnTo>
                    <a:pt x="66167" y="1889252"/>
                  </a:lnTo>
                  <a:cubicBezTo>
                    <a:pt x="29972" y="1889252"/>
                    <a:pt x="0" y="1860296"/>
                    <a:pt x="0" y="1823974"/>
                  </a:cubicBezTo>
                  <a:lnTo>
                    <a:pt x="0" y="65278"/>
                  </a:lnTo>
                  <a:lnTo>
                    <a:pt x="19050" y="65278"/>
                  </a:lnTo>
                  <a:lnTo>
                    <a:pt x="0" y="65278"/>
                  </a:lnTo>
                  <a:moveTo>
                    <a:pt x="38100" y="65278"/>
                  </a:moveTo>
                  <a:lnTo>
                    <a:pt x="38100" y="1823974"/>
                  </a:lnTo>
                  <a:lnTo>
                    <a:pt x="19050" y="1823974"/>
                  </a:lnTo>
                  <a:lnTo>
                    <a:pt x="38100" y="1823974"/>
                  </a:lnTo>
                  <a:cubicBezTo>
                    <a:pt x="38100" y="1838706"/>
                    <a:pt x="50292" y="1851152"/>
                    <a:pt x="66167" y="1851152"/>
                  </a:cubicBezTo>
                  <a:lnTo>
                    <a:pt x="19325717" y="1851152"/>
                  </a:lnTo>
                  <a:cubicBezTo>
                    <a:pt x="19341592" y="1851152"/>
                    <a:pt x="19353785" y="1838579"/>
                    <a:pt x="19353785" y="1823974"/>
                  </a:cubicBezTo>
                  <a:lnTo>
                    <a:pt x="19353785" y="65278"/>
                  </a:lnTo>
                  <a:cubicBezTo>
                    <a:pt x="19353785" y="50546"/>
                    <a:pt x="19341592" y="38100"/>
                    <a:pt x="19325717" y="38100"/>
                  </a:cubicBezTo>
                  <a:lnTo>
                    <a:pt x="66167" y="38100"/>
                  </a:lnTo>
                  <a:lnTo>
                    <a:pt x="66167" y="19050"/>
                  </a:lnTo>
                  <a:lnTo>
                    <a:pt x="66167" y="38100"/>
                  </a:lnTo>
                  <a:cubicBezTo>
                    <a:pt x="50292" y="38100"/>
                    <a:pt x="38100" y="50673"/>
                    <a:pt x="38100" y="65278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069902" y="3330904"/>
            <a:ext cx="889706" cy="1279697"/>
            <a:chOff x="0" y="0"/>
            <a:chExt cx="1234084" cy="177502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234059" cy="1774952"/>
            </a:xfrm>
            <a:custGeom>
              <a:avLst/>
              <a:gdLst/>
              <a:ahLst/>
              <a:cxnLst/>
              <a:rect l="l" t="t" r="r" b="b"/>
              <a:pathLst>
                <a:path w="1234059" h="1774952">
                  <a:moveTo>
                    <a:pt x="0" y="508"/>
                  </a:moveTo>
                  <a:cubicBezTo>
                    <a:pt x="0" y="254"/>
                    <a:pt x="254" y="0"/>
                    <a:pt x="508" y="0"/>
                  </a:cubicBezTo>
                  <a:lnTo>
                    <a:pt x="1233551" y="0"/>
                  </a:lnTo>
                  <a:cubicBezTo>
                    <a:pt x="1233805" y="0"/>
                    <a:pt x="1234059" y="254"/>
                    <a:pt x="1234059" y="508"/>
                  </a:cubicBezTo>
                  <a:lnTo>
                    <a:pt x="1234059" y="1774444"/>
                  </a:lnTo>
                  <a:cubicBezTo>
                    <a:pt x="1234059" y="1774698"/>
                    <a:pt x="1233805" y="1774952"/>
                    <a:pt x="1233551" y="1774952"/>
                  </a:cubicBezTo>
                  <a:lnTo>
                    <a:pt x="508" y="1774952"/>
                  </a:lnTo>
                  <a:cubicBezTo>
                    <a:pt x="254" y="1774952"/>
                    <a:pt x="0" y="1774698"/>
                    <a:pt x="0" y="177444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16" name="TextBox 16"/>
          <p:cNvSpPr txBox="1"/>
          <p:nvPr/>
        </p:nvSpPr>
        <p:spPr>
          <a:xfrm>
            <a:off x="1347878" y="3819384"/>
            <a:ext cx="333626" cy="359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2583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26421" y="3543696"/>
            <a:ext cx="4274379" cy="3007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1982" b="1" dirty="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 Performance Impact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126421" y="3950054"/>
            <a:ext cx="12619248" cy="31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74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Examine how mental health affects productivity, absenteeism, and job performance.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028700" y="4791138"/>
            <a:ext cx="13980487" cy="1362100"/>
            <a:chOff x="0" y="0"/>
            <a:chExt cx="19391909" cy="1889328"/>
          </a:xfrm>
        </p:grpSpPr>
        <p:sp>
          <p:nvSpPr>
            <p:cNvPr id="20" name="Freeform 20"/>
            <p:cNvSpPr/>
            <p:nvPr/>
          </p:nvSpPr>
          <p:spPr>
            <a:xfrm>
              <a:off x="19050" y="19050"/>
              <a:ext cx="19353785" cy="1851152"/>
            </a:xfrm>
            <a:custGeom>
              <a:avLst/>
              <a:gdLst/>
              <a:ahLst/>
              <a:cxnLst/>
              <a:rect l="l" t="t" r="r" b="b"/>
              <a:pathLst>
                <a:path w="19353785" h="1851152">
                  <a:moveTo>
                    <a:pt x="0" y="46228"/>
                  </a:moveTo>
                  <a:cubicBezTo>
                    <a:pt x="0" y="20701"/>
                    <a:pt x="21082" y="0"/>
                    <a:pt x="47117" y="0"/>
                  </a:cubicBezTo>
                  <a:lnTo>
                    <a:pt x="19306667" y="0"/>
                  </a:lnTo>
                  <a:cubicBezTo>
                    <a:pt x="19332702" y="0"/>
                    <a:pt x="19353785" y="20701"/>
                    <a:pt x="19353785" y="46228"/>
                  </a:cubicBezTo>
                  <a:lnTo>
                    <a:pt x="19353785" y="1804924"/>
                  </a:lnTo>
                  <a:cubicBezTo>
                    <a:pt x="19353785" y="1830451"/>
                    <a:pt x="19332702" y="1851152"/>
                    <a:pt x="19306667" y="1851152"/>
                  </a:cubicBezTo>
                  <a:lnTo>
                    <a:pt x="47117" y="1851152"/>
                  </a:lnTo>
                  <a:cubicBezTo>
                    <a:pt x="21082" y="1851152"/>
                    <a:pt x="0" y="1830451"/>
                    <a:pt x="0" y="18049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0"/>
              <a:ext cx="19391885" cy="1889252"/>
            </a:xfrm>
            <a:custGeom>
              <a:avLst/>
              <a:gdLst/>
              <a:ahLst/>
              <a:cxnLst/>
              <a:rect l="l" t="t" r="r" b="b"/>
              <a:pathLst>
                <a:path w="19391885" h="1889252">
                  <a:moveTo>
                    <a:pt x="0" y="65278"/>
                  </a:moveTo>
                  <a:cubicBezTo>
                    <a:pt x="0" y="28956"/>
                    <a:pt x="29972" y="0"/>
                    <a:pt x="66167" y="0"/>
                  </a:cubicBezTo>
                  <a:lnTo>
                    <a:pt x="19325717" y="0"/>
                  </a:lnTo>
                  <a:lnTo>
                    <a:pt x="19325717" y="19050"/>
                  </a:lnTo>
                  <a:lnTo>
                    <a:pt x="19325717" y="0"/>
                  </a:lnTo>
                  <a:cubicBezTo>
                    <a:pt x="19361913" y="0"/>
                    <a:pt x="19391885" y="28956"/>
                    <a:pt x="19391885" y="65278"/>
                  </a:cubicBezTo>
                  <a:lnTo>
                    <a:pt x="19372835" y="65278"/>
                  </a:lnTo>
                  <a:lnTo>
                    <a:pt x="19391885" y="65278"/>
                  </a:lnTo>
                  <a:lnTo>
                    <a:pt x="19391885" y="1823974"/>
                  </a:lnTo>
                  <a:lnTo>
                    <a:pt x="19372835" y="1823974"/>
                  </a:lnTo>
                  <a:lnTo>
                    <a:pt x="19391885" y="1823974"/>
                  </a:lnTo>
                  <a:cubicBezTo>
                    <a:pt x="19391885" y="1860423"/>
                    <a:pt x="19361913" y="1889252"/>
                    <a:pt x="19325717" y="1889252"/>
                  </a:cubicBezTo>
                  <a:lnTo>
                    <a:pt x="19325717" y="1870202"/>
                  </a:lnTo>
                  <a:lnTo>
                    <a:pt x="19325717" y="1889252"/>
                  </a:lnTo>
                  <a:lnTo>
                    <a:pt x="66167" y="1889252"/>
                  </a:lnTo>
                  <a:lnTo>
                    <a:pt x="66167" y="1870202"/>
                  </a:lnTo>
                  <a:lnTo>
                    <a:pt x="66167" y="1889252"/>
                  </a:lnTo>
                  <a:cubicBezTo>
                    <a:pt x="29972" y="1889252"/>
                    <a:pt x="0" y="1860296"/>
                    <a:pt x="0" y="1823974"/>
                  </a:cubicBezTo>
                  <a:lnTo>
                    <a:pt x="0" y="65278"/>
                  </a:lnTo>
                  <a:lnTo>
                    <a:pt x="19050" y="65278"/>
                  </a:lnTo>
                  <a:lnTo>
                    <a:pt x="0" y="65278"/>
                  </a:lnTo>
                  <a:moveTo>
                    <a:pt x="38100" y="65278"/>
                  </a:moveTo>
                  <a:lnTo>
                    <a:pt x="38100" y="1823974"/>
                  </a:lnTo>
                  <a:lnTo>
                    <a:pt x="19050" y="1823974"/>
                  </a:lnTo>
                  <a:lnTo>
                    <a:pt x="38100" y="1823974"/>
                  </a:lnTo>
                  <a:cubicBezTo>
                    <a:pt x="38100" y="1838706"/>
                    <a:pt x="50292" y="1851152"/>
                    <a:pt x="66167" y="1851152"/>
                  </a:cubicBezTo>
                  <a:lnTo>
                    <a:pt x="19325717" y="1851152"/>
                  </a:lnTo>
                  <a:cubicBezTo>
                    <a:pt x="19341592" y="1851152"/>
                    <a:pt x="19353785" y="1838579"/>
                    <a:pt x="19353785" y="1823974"/>
                  </a:cubicBezTo>
                  <a:lnTo>
                    <a:pt x="19353785" y="65278"/>
                  </a:lnTo>
                  <a:cubicBezTo>
                    <a:pt x="19353785" y="50546"/>
                    <a:pt x="19341592" y="38100"/>
                    <a:pt x="19325717" y="38100"/>
                  </a:cubicBezTo>
                  <a:lnTo>
                    <a:pt x="66167" y="38100"/>
                  </a:lnTo>
                  <a:lnTo>
                    <a:pt x="66167" y="19050"/>
                  </a:lnTo>
                  <a:lnTo>
                    <a:pt x="66167" y="38100"/>
                  </a:lnTo>
                  <a:cubicBezTo>
                    <a:pt x="50292" y="38100"/>
                    <a:pt x="38100" y="50673"/>
                    <a:pt x="38100" y="65278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22" name="Group 22"/>
          <p:cNvGrpSpPr/>
          <p:nvPr/>
        </p:nvGrpSpPr>
        <p:grpSpPr>
          <a:xfrm>
            <a:off x="1069902" y="4832340"/>
            <a:ext cx="889706" cy="1279697"/>
            <a:chOff x="0" y="0"/>
            <a:chExt cx="1234084" cy="177502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34059" cy="1774952"/>
            </a:xfrm>
            <a:custGeom>
              <a:avLst/>
              <a:gdLst/>
              <a:ahLst/>
              <a:cxnLst/>
              <a:rect l="l" t="t" r="r" b="b"/>
              <a:pathLst>
                <a:path w="1234059" h="1774952">
                  <a:moveTo>
                    <a:pt x="0" y="508"/>
                  </a:moveTo>
                  <a:cubicBezTo>
                    <a:pt x="0" y="254"/>
                    <a:pt x="254" y="0"/>
                    <a:pt x="508" y="0"/>
                  </a:cubicBezTo>
                  <a:lnTo>
                    <a:pt x="1233551" y="0"/>
                  </a:lnTo>
                  <a:cubicBezTo>
                    <a:pt x="1233805" y="0"/>
                    <a:pt x="1234059" y="254"/>
                    <a:pt x="1234059" y="508"/>
                  </a:cubicBezTo>
                  <a:lnTo>
                    <a:pt x="1234059" y="1774444"/>
                  </a:lnTo>
                  <a:cubicBezTo>
                    <a:pt x="1234059" y="1774698"/>
                    <a:pt x="1233805" y="1774952"/>
                    <a:pt x="1233551" y="1774952"/>
                  </a:cubicBezTo>
                  <a:lnTo>
                    <a:pt x="508" y="1774952"/>
                  </a:lnTo>
                  <a:cubicBezTo>
                    <a:pt x="254" y="1774952"/>
                    <a:pt x="0" y="1774698"/>
                    <a:pt x="0" y="177444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24" name="TextBox 24"/>
          <p:cNvSpPr txBox="1"/>
          <p:nvPr/>
        </p:nvSpPr>
        <p:spPr>
          <a:xfrm>
            <a:off x="1347878" y="5320820"/>
            <a:ext cx="333626" cy="359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2583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26420" y="5045132"/>
            <a:ext cx="4274379" cy="3032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1982" b="1" dirty="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Factor Identification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126421" y="5451491"/>
            <a:ext cx="12619248" cy="31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74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Identify how remote work, company size, and demographics shape employee well-being.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028700" y="6292584"/>
            <a:ext cx="13980487" cy="1362100"/>
            <a:chOff x="0" y="0"/>
            <a:chExt cx="19391909" cy="1889328"/>
          </a:xfrm>
        </p:grpSpPr>
        <p:sp>
          <p:nvSpPr>
            <p:cNvPr id="28" name="Freeform 28"/>
            <p:cNvSpPr/>
            <p:nvPr/>
          </p:nvSpPr>
          <p:spPr>
            <a:xfrm>
              <a:off x="19050" y="19050"/>
              <a:ext cx="19353785" cy="1851152"/>
            </a:xfrm>
            <a:custGeom>
              <a:avLst/>
              <a:gdLst/>
              <a:ahLst/>
              <a:cxnLst/>
              <a:rect l="l" t="t" r="r" b="b"/>
              <a:pathLst>
                <a:path w="19353785" h="1851152">
                  <a:moveTo>
                    <a:pt x="0" y="46228"/>
                  </a:moveTo>
                  <a:cubicBezTo>
                    <a:pt x="0" y="20701"/>
                    <a:pt x="21082" y="0"/>
                    <a:pt x="47117" y="0"/>
                  </a:cubicBezTo>
                  <a:lnTo>
                    <a:pt x="19306667" y="0"/>
                  </a:lnTo>
                  <a:cubicBezTo>
                    <a:pt x="19332702" y="0"/>
                    <a:pt x="19353785" y="20701"/>
                    <a:pt x="19353785" y="46228"/>
                  </a:cubicBezTo>
                  <a:lnTo>
                    <a:pt x="19353785" y="1804924"/>
                  </a:lnTo>
                  <a:cubicBezTo>
                    <a:pt x="19353785" y="1830451"/>
                    <a:pt x="19332702" y="1851152"/>
                    <a:pt x="19306667" y="1851152"/>
                  </a:cubicBezTo>
                  <a:lnTo>
                    <a:pt x="47117" y="1851152"/>
                  </a:lnTo>
                  <a:cubicBezTo>
                    <a:pt x="21082" y="1851152"/>
                    <a:pt x="0" y="1830451"/>
                    <a:pt x="0" y="18049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0"/>
              <a:ext cx="19391885" cy="1889252"/>
            </a:xfrm>
            <a:custGeom>
              <a:avLst/>
              <a:gdLst/>
              <a:ahLst/>
              <a:cxnLst/>
              <a:rect l="l" t="t" r="r" b="b"/>
              <a:pathLst>
                <a:path w="19391885" h="1889252">
                  <a:moveTo>
                    <a:pt x="0" y="65278"/>
                  </a:moveTo>
                  <a:cubicBezTo>
                    <a:pt x="0" y="28956"/>
                    <a:pt x="29972" y="0"/>
                    <a:pt x="66167" y="0"/>
                  </a:cubicBezTo>
                  <a:lnTo>
                    <a:pt x="19325717" y="0"/>
                  </a:lnTo>
                  <a:lnTo>
                    <a:pt x="19325717" y="19050"/>
                  </a:lnTo>
                  <a:lnTo>
                    <a:pt x="19325717" y="0"/>
                  </a:lnTo>
                  <a:cubicBezTo>
                    <a:pt x="19361913" y="0"/>
                    <a:pt x="19391885" y="28956"/>
                    <a:pt x="19391885" y="65278"/>
                  </a:cubicBezTo>
                  <a:lnTo>
                    <a:pt x="19372835" y="65278"/>
                  </a:lnTo>
                  <a:lnTo>
                    <a:pt x="19391885" y="65278"/>
                  </a:lnTo>
                  <a:lnTo>
                    <a:pt x="19391885" y="1823974"/>
                  </a:lnTo>
                  <a:lnTo>
                    <a:pt x="19372835" y="1823974"/>
                  </a:lnTo>
                  <a:lnTo>
                    <a:pt x="19391885" y="1823974"/>
                  </a:lnTo>
                  <a:cubicBezTo>
                    <a:pt x="19391885" y="1860423"/>
                    <a:pt x="19361913" y="1889252"/>
                    <a:pt x="19325717" y="1889252"/>
                  </a:cubicBezTo>
                  <a:lnTo>
                    <a:pt x="19325717" y="1870202"/>
                  </a:lnTo>
                  <a:lnTo>
                    <a:pt x="19325717" y="1889252"/>
                  </a:lnTo>
                  <a:lnTo>
                    <a:pt x="66167" y="1889252"/>
                  </a:lnTo>
                  <a:lnTo>
                    <a:pt x="66167" y="1870202"/>
                  </a:lnTo>
                  <a:lnTo>
                    <a:pt x="66167" y="1889252"/>
                  </a:lnTo>
                  <a:cubicBezTo>
                    <a:pt x="29972" y="1889252"/>
                    <a:pt x="0" y="1860296"/>
                    <a:pt x="0" y="1823974"/>
                  </a:cubicBezTo>
                  <a:lnTo>
                    <a:pt x="0" y="65278"/>
                  </a:lnTo>
                  <a:lnTo>
                    <a:pt x="19050" y="65278"/>
                  </a:lnTo>
                  <a:lnTo>
                    <a:pt x="0" y="65278"/>
                  </a:lnTo>
                  <a:moveTo>
                    <a:pt x="38100" y="65278"/>
                  </a:moveTo>
                  <a:lnTo>
                    <a:pt x="38100" y="1823974"/>
                  </a:lnTo>
                  <a:lnTo>
                    <a:pt x="19050" y="1823974"/>
                  </a:lnTo>
                  <a:lnTo>
                    <a:pt x="38100" y="1823974"/>
                  </a:lnTo>
                  <a:cubicBezTo>
                    <a:pt x="38100" y="1838706"/>
                    <a:pt x="50292" y="1851152"/>
                    <a:pt x="66167" y="1851152"/>
                  </a:cubicBezTo>
                  <a:lnTo>
                    <a:pt x="19325717" y="1851152"/>
                  </a:lnTo>
                  <a:cubicBezTo>
                    <a:pt x="19341592" y="1851152"/>
                    <a:pt x="19353785" y="1838579"/>
                    <a:pt x="19353785" y="1823974"/>
                  </a:cubicBezTo>
                  <a:lnTo>
                    <a:pt x="19353785" y="65278"/>
                  </a:lnTo>
                  <a:cubicBezTo>
                    <a:pt x="19353785" y="50546"/>
                    <a:pt x="19341592" y="38100"/>
                    <a:pt x="19325717" y="38100"/>
                  </a:cubicBezTo>
                  <a:lnTo>
                    <a:pt x="66167" y="38100"/>
                  </a:lnTo>
                  <a:lnTo>
                    <a:pt x="66167" y="19050"/>
                  </a:lnTo>
                  <a:lnTo>
                    <a:pt x="66167" y="38100"/>
                  </a:lnTo>
                  <a:cubicBezTo>
                    <a:pt x="50292" y="38100"/>
                    <a:pt x="38100" y="50673"/>
                    <a:pt x="38100" y="65278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069902" y="6333786"/>
            <a:ext cx="889706" cy="1279697"/>
            <a:chOff x="0" y="0"/>
            <a:chExt cx="1234084" cy="177502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34059" cy="1774952"/>
            </a:xfrm>
            <a:custGeom>
              <a:avLst/>
              <a:gdLst/>
              <a:ahLst/>
              <a:cxnLst/>
              <a:rect l="l" t="t" r="r" b="b"/>
              <a:pathLst>
                <a:path w="1234059" h="1774952">
                  <a:moveTo>
                    <a:pt x="0" y="508"/>
                  </a:moveTo>
                  <a:cubicBezTo>
                    <a:pt x="0" y="254"/>
                    <a:pt x="254" y="0"/>
                    <a:pt x="508" y="0"/>
                  </a:cubicBezTo>
                  <a:lnTo>
                    <a:pt x="1233551" y="0"/>
                  </a:lnTo>
                  <a:cubicBezTo>
                    <a:pt x="1233805" y="0"/>
                    <a:pt x="1234059" y="254"/>
                    <a:pt x="1234059" y="508"/>
                  </a:cubicBezTo>
                  <a:lnTo>
                    <a:pt x="1234059" y="1774444"/>
                  </a:lnTo>
                  <a:cubicBezTo>
                    <a:pt x="1234059" y="1774698"/>
                    <a:pt x="1233805" y="1774952"/>
                    <a:pt x="1233551" y="1774952"/>
                  </a:cubicBezTo>
                  <a:lnTo>
                    <a:pt x="508" y="1774952"/>
                  </a:lnTo>
                  <a:cubicBezTo>
                    <a:pt x="254" y="1774952"/>
                    <a:pt x="0" y="1774698"/>
                    <a:pt x="0" y="177444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32" name="TextBox 32"/>
          <p:cNvSpPr txBox="1"/>
          <p:nvPr/>
        </p:nvSpPr>
        <p:spPr>
          <a:xfrm>
            <a:off x="1347878" y="6822266"/>
            <a:ext cx="333626" cy="359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2583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4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26420" y="6546579"/>
            <a:ext cx="4883979" cy="3032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1982" b="1" dirty="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Workplace Support Evaluation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126421" y="6952936"/>
            <a:ext cx="12619248" cy="31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74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Assess the availability and awareness of mental health resources and benefits.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1028700" y="7794020"/>
            <a:ext cx="13980487" cy="1362100"/>
            <a:chOff x="0" y="0"/>
            <a:chExt cx="19391909" cy="1889328"/>
          </a:xfrm>
        </p:grpSpPr>
        <p:sp>
          <p:nvSpPr>
            <p:cNvPr id="36" name="Freeform 36"/>
            <p:cNvSpPr/>
            <p:nvPr/>
          </p:nvSpPr>
          <p:spPr>
            <a:xfrm>
              <a:off x="19050" y="19050"/>
              <a:ext cx="19353785" cy="1851152"/>
            </a:xfrm>
            <a:custGeom>
              <a:avLst/>
              <a:gdLst/>
              <a:ahLst/>
              <a:cxnLst/>
              <a:rect l="l" t="t" r="r" b="b"/>
              <a:pathLst>
                <a:path w="19353785" h="1851152">
                  <a:moveTo>
                    <a:pt x="0" y="46228"/>
                  </a:moveTo>
                  <a:cubicBezTo>
                    <a:pt x="0" y="20701"/>
                    <a:pt x="21082" y="0"/>
                    <a:pt x="47117" y="0"/>
                  </a:cubicBezTo>
                  <a:lnTo>
                    <a:pt x="19306667" y="0"/>
                  </a:lnTo>
                  <a:cubicBezTo>
                    <a:pt x="19332702" y="0"/>
                    <a:pt x="19353785" y="20701"/>
                    <a:pt x="19353785" y="46228"/>
                  </a:cubicBezTo>
                  <a:lnTo>
                    <a:pt x="19353785" y="1804924"/>
                  </a:lnTo>
                  <a:cubicBezTo>
                    <a:pt x="19353785" y="1830451"/>
                    <a:pt x="19332702" y="1851152"/>
                    <a:pt x="19306667" y="1851152"/>
                  </a:cubicBezTo>
                  <a:lnTo>
                    <a:pt x="47117" y="1851152"/>
                  </a:lnTo>
                  <a:cubicBezTo>
                    <a:pt x="21082" y="1851152"/>
                    <a:pt x="0" y="1830451"/>
                    <a:pt x="0" y="180492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19391885" cy="1889252"/>
            </a:xfrm>
            <a:custGeom>
              <a:avLst/>
              <a:gdLst/>
              <a:ahLst/>
              <a:cxnLst/>
              <a:rect l="l" t="t" r="r" b="b"/>
              <a:pathLst>
                <a:path w="19391885" h="1889252">
                  <a:moveTo>
                    <a:pt x="0" y="65278"/>
                  </a:moveTo>
                  <a:cubicBezTo>
                    <a:pt x="0" y="28956"/>
                    <a:pt x="29972" y="0"/>
                    <a:pt x="66167" y="0"/>
                  </a:cubicBezTo>
                  <a:lnTo>
                    <a:pt x="19325717" y="0"/>
                  </a:lnTo>
                  <a:lnTo>
                    <a:pt x="19325717" y="19050"/>
                  </a:lnTo>
                  <a:lnTo>
                    <a:pt x="19325717" y="0"/>
                  </a:lnTo>
                  <a:cubicBezTo>
                    <a:pt x="19361913" y="0"/>
                    <a:pt x="19391885" y="28956"/>
                    <a:pt x="19391885" y="65278"/>
                  </a:cubicBezTo>
                  <a:lnTo>
                    <a:pt x="19372835" y="65278"/>
                  </a:lnTo>
                  <a:lnTo>
                    <a:pt x="19391885" y="65278"/>
                  </a:lnTo>
                  <a:lnTo>
                    <a:pt x="19391885" y="1823974"/>
                  </a:lnTo>
                  <a:lnTo>
                    <a:pt x="19372835" y="1823974"/>
                  </a:lnTo>
                  <a:lnTo>
                    <a:pt x="19391885" y="1823974"/>
                  </a:lnTo>
                  <a:cubicBezTo>
                    <a:pt x="19391885" y="1860423"/>
                    <a:pt x="19361913" y="1889252"/>
                    <a:pt x="19325717" y="1889252"/>
                  </a:cubicBezTo>
                  <a:lnTo>
                    <a:pt x="19325717" y="1870202"/>
                  </a:lnTo>
                  <a:lnTo>
                    <a:pt x="19325717" y="1889252"/>
                  </a:lnTo>
                  <a:lnTo>
                    <a:pt x="66167" y="1889252"/>
                  </a:lnTo>
                  <a:lnTo>
                    <a:pt x="66167" y="1870202"/>
                  </a:lnTo>
                  <a:lnTo>
                    <a:pt x="66167" y="1889252"/>
                  </a:lnTo>
                  <a:cubicBezTo>
                    <a:pt x="29972" y="1889252"/>
                    <a:pt x="0" y="1860296"/>
                    <a:pt x="0" y="1823974"/>
                  </a:cubicBezTo>
                  <a:lnTo>
                    <a:pt x="0" y="65278"/>
                  </a:lnTo>
                  <a:lnTo>
                    <a:pt x="19050" y="65278"/>
                  </a:lnTo>
                  <a:lnTo>
                    <a:pt x="0" y="65278"/>
                  </a:lnTo>
                  <a:moveTo>
                    <a:pt x="38100" y="65278"/>
                  </a:moveTo>
                  <a:lnTo>
                    <a:pt x="38100" y="1823974"/>
                  </a:lnTo>
                  <a:lnTo>
                    <a:pt x="19050" y="1823974"/>
                  </a:lnTo>
                  <a:lnTo>
                    <a:pt x="38100" y="1823974"/>
                  </a:lnTo>
                  <a:cubicBezTo>
                    <a:pt x="38100" y="1838706"/>
                    <a:pt x="50292" y="1851152"/>
                    <a:pt x="66167" y="1851152"/>
                  </a:cubicBezTo>
                  <a:lnTo>
                    <a:pt x="19325717" y="1851152"/>
                  </a:lnTo>
                  <a:cubicBezTo>
                    <a:pt x="19341592" y="1851152"/>
                    <a:pt x="19353785" y="1838579"/>
                    <a:pt x="19353785" y="1823974"/>
                  </a:cubicBezTo>
                  <a:lnTo>
                    <a:pt x="19353785" y="65278"/>
                  </a:lnTo>
                  <a:cubicBezTo>
                    <a:pt x="19353785" y="50546"/>
                    <a:pt x="19341592" y="38100"/>
                    <a:pt x="19325717" y="38100"/>
                  </a:cubicBezTo>
                  <a:lnTo>
                    <a:pt x="66167" y="38100"/>
                  </a:lnTo>
                  <a:lnTo>
                    <a:pt x="66167" y="19050"/>
                  </a:lnTo>
                  <a:lnTo>
                    <a:pt x="66167" y="38100"/>
                  </a:lnTo>
                  <a:cubicBezTo>
                    <a:pt x="50292" y="38100"/>
                    <a:pt x="38100" y="50673"/>
                    <a:pt x="38100" y="65278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069902" y="7835222"/>
            <a:ext cx="889706" cy="1279697"/>
            <a:chOff x="0" y="0"/>
            <a:chExt cx="1234084" cy="1775028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234059" cy="1774952"/>
            </a:xfrm>
            <a:custGeom>
              <a:avLst/>
              <a:gdLst/>
              <a:ahLst/>
              <a:cxnLst/>
              <a:rect l="l" t="t" r="r" b="b"/>
              <a:pathLst>
                <a:path w="1234059" h="1774952">
                  <a:moveTo>
                    <a:pt x="0" y="508"/>
                  </a:moveTo>
                  <a:cubicBezTo>
                    <a:pt x="0" y="254"/>
                    <a:pt x="254" y="0"/>
                    <a:pt x="508" y="0"/>
                  </a:cubicBezTo>
                  <a:lnTo>
                    <a:pt x="1233551" y="0"/>
                  </a:lnTo>
                  <a:cubicBezTo>
                    <a:pt x="1233805" y="0"/>
                    <a:pt x="1234059" y="254"/>
                    <a:pt x="1234059" y="508"/>
                  </a:cubicBezTo>
                  <a:lnTo>
                    <a:pt x="1234059" y="1774444"/>
                  </a:lnTo>
                  <a:cubicBezTo>
                    <a:pt x="1234059" y="1774698"/>
                    <a:pt x="1233805" y="1774952"/>
                    <a:pt x="1233551" y="1774952"/>
                  </a:cubicBezTo>
                  <a:lnTo>
                    <a:pt x="508" y="1774952"/>
                  </a:lnTo>
                  <a:cubicBezTo>
                    <a:pt x="254" y="1774952"/>
                    <a:pt x="0" y="1774698"/>
                    <a:pt x="0" y="1774444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40" name="TextBox 40"/>
          <p:cNvSpPr txBox="1"/>
          <p:nvPr/>
        </p:nvSpPr>
        <p:spPr>
          <a:xfrm>
            <a:off x="1347878" y="8323702"/>
            <a:ext cx="333626" cy="359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2583" b="1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5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126421" y="8048014"/>
            <a:ext cx="3664779" cy="3032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463"/>
              </a:lnSpc>
            </a:pPr>
            <a:r>
              <a:rPr lang="en-US" sz="1982" b="1" dirty="0">
                <a:solidFill>
                  <a:srgbClr val="3D383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Actionable Insights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126421" y="8454373"/>
            <a:ext cx="12619248" cy="310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742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Translate findings into evidence-based recommendations for HR leaders and policymakers.</a:t>
            </a:r>
          </a:p>
        </p:txBody>
      </p:sp>
      <p:sp>
        <p:nvSpPr>
          <p:cNvPr id="43" name="Freeform 43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5" name="Group 45"/>
          <p:cNvGrpSpPr/>
          <p:nvPr/>
        </p:nvGrpSpPr>
        <p:grpSpPr>
          <a:xfrm>
            <a:off x="3369879" y="9258300"/>
            <a:ext cx="14918121" cy="1028700"/>
            <a:chOff x="0" y="0"/>
            <a:chExt cx="3929052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0" y="9729373"/>
            <a:ext cx="18288000" cy="557627"/>
            <a:chOff x="0" y="0"/>
            <a:chExt cx="4885089" cy="81280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50" name="TextBox 50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228600" y="2682733"/>
            <a:ext cx="11301259" cy="5178020"/>
          </a:xfrm>
          <a:custGeom>
            <a:avLst/>
            <a:gdLst/>
            <a:ahLst/>
            <a:cxnLst/>
            <a:rect l="l" t="t" r="r" b="b"/>
            <a:pathLst>
              <a:path w="11301259" h="5178020">
                <a:moveTo>
                  <a:pt x="0" y="0"/>
                </a:moveTo>
                <a:lnTo>
                  <a:pt x="11301259" y="0"/>
                </a:lnTo>
                <a:lnTo>
                  <a:pt x="11301259" y="5178020"/>
                </a:lnTo>
                <a:lnTo>
                  <a:pt x="0" y="517802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0008" b="-9485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5243365" y="1009650"/>
            <a:ext cx="7801270" cy="717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7"/>
              </a:lnSpc>
            </a:pPr>
            <a:r>
              <a:rPr lang="en-US" sz="4375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Source of Data &amp; Metadata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877306" y="2701431"/>
            <a:ext cx="3972294" cy="3769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56"/>
              </a:lnSpc>
            </a:pPr>
            <a:r>
              <a:rPr lang="en-US" sz="2487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Dataset Overview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877306" y="3217858"/>
            <a:ext cx="5007921" cy="2211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72"/>
              </a:lnSpc>
            </a:pPr>
            <a:r>
              <a:rPr lang="en-US" sz="2174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OSMI Mental Health in Tech Survey</a:t>
            </a:r>
            <a:r>
              <a:rPr lang="en-US" sz="2174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a cross-sectional, survey-based dataset collecting self-reported responses from tech industry employees globally on mental health experiences and workplace conditions.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877306" y="5676900"/>
            <a:ext cx="2981694" cy="3769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56"/>
              </a:lnSpc>
            </a:pPr>
            <a:r>
              <a:rPr lang="en-US" sz="2487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Attributes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77306" y="6117131"/>
            <a:ext cx="5007921" cy="14684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8016" lvl="1" indent="-164008" algn="l">
              <a:lnSpc>
                <a:spcPts val="2972"/>
              </a:lnSpc>
              <a:buFont typeface="Arial"/>
              <a:buChar char="•"/>
            </a:pPr>
            <a:r>
              <a:rPr lang="en-US" sz="2174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Age &amp; Gender</a:t>
            </a:r>
          </a:p>
          <a:p>
            <a:pPr marL="328016" lvl="1" indent="-164008" algn="l">
              <a:lnSpc>
                <a:spcPts val="2972"/>
              </a:lnSpc>
              <a:buFont typeface="Arial"/>
              <a:buChar char="•"/>
            </a:pPr>
            <a:r>
              <a:rPr lang="en-US" sz="2174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Treatment &amp; Work Interference</a:t>
            </a:r>
          </a:p>
          <a:p>
            <a:pPr marL="328016" lvl="1" indent="-164008" algn="l">
              <a:lnSpc>
                <a:spcPts val="2972"/>
              </a:lnSpc>
              <a:buFont typeface="Arial"/>
              <a:buChar char="•"/>
            </a:pPr>
            <a:r>
              <a:rPr lang="en-US" sz="2174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Remote Work &amp; Company Size</a:t>
            </a:r>
          </a:p>
          <a:p>
            <a:pPr marL="328016" lvl="1" indent="-164008" algn="l">
              <a:lnSpc>
                <a:spcPts val="2972"/>
              </a:lnSpc>
              <a:buFont typeface="Arial"/>
              <a:buChar char="•"/>
            </a:pPr>
            <a:r>
              <a:rPr lang="en-US" sz="2174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Benefits, Care Options &amp; Leave Policies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61168" y="1028700"/>
            <a:ext cx="14565664" cy="8229600"/>
          </a:xfrm>
          <a:custGeom>
            <a:avLst/>
            <a:gdLst/>
            <a:ahLst/>
            <a:cxnLst/>
            <a:rect l="l" t="t" r="r" b="b"/>
            <a:pathLst>
              <a:path w="14565664" h="8229600">
                <a:moveTo>
                  <a:pt x="0" y="0"/>
                </a:moveTo>
                <a:lnTo>
                  <a:pt x="14565664" y="0"/>
                </a:lnTo>
                <a:lnTo>
                  <a:pt x="14565664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77245" y="1028700"/>
            <a:ext cx="14533510" cy="8229600"/>
          </a:xfrm>
          <a:custGeom>
            <a:avLst/>
            <a:gdLst/>
            <a:ahLst/>
            <a:cxnLst/>
            <a:rect l="l" t="t" r="r" b="b"/>
            <a:pathLst>
              <a:path w="14533510" h="8229600">
                <a:moveTo>
                  <a:pt x="0" y="0"/>
                </a:moveTo>
                <a:lnTo>
                  <a:pt x="14533510" y="0"/>
                </a:lnTo>
                <a:lnTo>
                  <a:pt x="1453351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845020" y="1028700"/>
            <a:ext cx="14597960" cy="8229600"/>
          </a:xfrm>
          <a:custGeom>
            <a:avLst/>
            <a:gdLst/>
            <a:ahLst/>
            <a:cxnLst/>
            <a:rect l="l" t="t" r="r" b="b"/>
            <a:pathLst>
              <a:path w="14597960" h="8229600">
                <a:moveTo>
                  <a:pt x="0" y="0"/>
                </a:moveTo>
                <a:lnTo>
                  <a:pt x="14597960" y="0"/>
                </a:lnTo>
                <a:lnTo>
                  <a:pt x="1459796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95515" y="2200866"/>
            <a:ext cx="639966" cy="639966"/>
            <a:chOff x="0" y="0"/>
            <a:chExt cx="853288" cy="85328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53313" cy="853313"/>
            </a:xfrm>
            <a:custGeom>
              <a:avLst/>
              <a:gdLst/>
              <a:ahLst/>
              <a:cxnLst/>
              <a:rect l="l" t="t" r="r" b="b"/>
              <a:pathLst>
                <a:path w="853313" h="853313">
                  <a:moveTo>
                    <a:pt x="0" y="56896"/>
                  </a:moveTo>
                  <a:cubicBezTo>
                    <a:pt x="0" y="25527"/>
                    <a:pt x="25527" y="0"/>
                    <a:pt x="56896" y="0"/>
                  </a:cubicBezTo>
                  <a:lnTo>
                    <a:pt x="796417" y="0"/>
                  </a:lnTo>
                  <a:cubicBezTo>
                    <a:pt x="827786" y="0"/>
                    <a:pt x="853313" y="25527"/>
                    <a:pt x="853313" y="56896"/>
                  </a:cubicBezTo>
                  <a:lnTo>
                    <a:pt x="853313" y="796417"/>
                  </a:lnTo>
                  <a:cubicBezTo>
                    <a:pt x="853313" y="827786"/>
                    <a:pt x="827786" y="853313"/>
                    <a:pt x="796417" y="853313"/>
                  </a:cubicBezTo>
                  <a:lnTo>
                    <a:pt x="56896" y="853313"/>
                  </a:lnTo>
                  <a:cubicBezTo>
                    <a:pt x="25527" y="853313"/>
                    <a:pt x="0" y="827786"/>
                    <a:pt x="0" y="79641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95515" y="4613815"/>
            <a:ext cx="639966" cy="639966"/>
            <a:chOff x="0" y="0"/>
            <a:chExt cx="853288" cy="85328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53313" cy="853313"/>
            </a:xfrm>
            <a:custGeom>
              <a:avLst/>
              <a:gdLst/>
              <a:ahLst/>
              <a:cxnLst/>
              <a:rect l="l" t="t" r="r" b="b"/>
              <a:pathLst>
                <a:path w="853313" h="853313">
                  <a:moveTo>
                    <a:pt x="0" y="56896"/>
                  </a:moveTo>
                  <a:cubicBezTo>
                    <a:pt x="0" y="25527"/>
                    <a:pt x="25527" y="0"/>
                    <a:pt x="56896" y="0"/>
                  </a:cubicBezTo>
                  <a:lnTo>
                    <a:pt x="796417" y="0"/>
                  </a:lnTo>
                  <a:cubicBezTo>
                    <a:pt x="827786" y="0"/>
                    <a:pt x="853313" y="25527"/>
                    <a:pt x="853313" y="56896"/>
                  </a:cubicBezTo>
                  <a:lnTo>
                    <a:pt x="853313" y="796417"/>
                  </a:lnTo>
                  <a:cubicBezTo>
                    <a:pt x="853313" y="827786"/>
                    <a:pt x="827786" y="853313"/>
                    <a:pt x="796417" y="853313"/>
                  </a:cubicBezTo>
                  <a:lnTo>
                    <a:pt x="56896" y="853313"/>
                  </a:lnTo>
                  <a:cubicBezTo>
                    <a:pt x="25527" y="853313"/>
                    <a:pt x="0" y="827786"/>
                    <a:pt x="0" y="79641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5515" y="7026764"/>
            <a:ext cx="639966" cy="639966"/>
            <a:chOff x="0" y="0"/>
            <a:chExt cx="853288" cy="85328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53313" cy="853313"/>
            </a:xfrm>
            <a:custGeom>
              <a:avLst/>
              <a:gdLst/>
              <a:ahLst/>
              <a:cxnLst/>
              <a:rect l="l" t="t" r="r" b="b"/>
              <a:pathLst>
                <a:path w="853313" h="853313">
                  <a:moveTo>
                    <a:pt x="0" y="56896"/>
                  </a:moveTo>
                  <a:cubicBezTo>
                    <a:pt x="0" y="25527"/>
                    <a:pt x="25527" y="0"/>
                    <a:pt x="56896" y="0"/>
                  </a:cubicBezTo>
                  <a:lnTo>
                    <a:pt x="796417" y="0"/>
                  </a:lnTo>
                  <a:cubicBezTo>
                    <a:pt x="827786" y="0"/>
                    <a:pt x="853313" y="25527"/>
                    <a:pt x="853313" y="56896"/>
                  </a:cubicBezTo>
                  <a:lnTo>
                    <a:pt x="853313" y="796417"/>
                  </a:lnTo>
                  <a:cubicBezTo>
                    <a:pt x="853313" y="827786"/>
                    <a:pt x="827786" y="853313"/>
                    <a:pt x="796417" y="853313"/>
                  </a:cubicBezTo>
                  <a:lnTo>
                    <a:pt x="56896" y="853313"/>
                  </a:lnTo>
                  <a:cubicBezTo>
                    <a:pt x="25527" y="853313"/>
                    <a:pt x="0" y="827786"/>
                    <a:pt x="0" y="79641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897561" y="7638155"/>
            <a:ext cx="8536934" cy="1277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187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Awareness of available mental health resources remains low. Even when benefits exist, employees often do not know about them or feel unable to use them.</a:t>
            </a:r>
          </a:p>
        </p:txBody>
      </p:sp>
      <p:sp>
        <p:nvSpPr>
          <p:cNvPr id="9" name="Freeform 9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125612" y="2411567"/>
            <a:ext cx="379771" cy="291000"/>
          </a:xfrm>
          <a:custGeom>
            <a:avLst/>
            <a:gdLst/>
            <a:ahLst/>
            <a:cxnLst/>
            <a:rect l="l" t="t" r="r" b="b"/>
            <a:pathLst>
              <a:path w="379771" h="291000">
                <a:moveTo>
                  <a:pt x="0" y="0"/>
                </a:moveTo>
                <a:lnTo>
                  <a:pt x="379771" y="0"/>
                </a:lnTo>
                <a:lnTo>
                  <a:pt x="379771" y="290999"/>
                </a:lnTo>
                <a:lnTo>
                  <a:pt x="0" y="2909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25612" y="4788298"/>
            <a:ext cx="379771" cy="291000"/>
          </a:xfrm>
          <a:custGeom>
            <a:avLst/>
            <a:gdLst/>
            <a:ahLst/>
            <a:cxnLst/>
            <a:rect l="l" t="t" r="r" b="b"/>
            <a:pathLst>
              <a:path w="379771" h="291000">
                <a:moveTo>
                  <a:pt x="0" y="0"/>
                </a:moveTo>
                <a:lnTo>
                  <a:pt x="379771" y="0"/>
                </a:lnTo>
                <a:lnTo>
                  <a:pt x="379771" y="290999"/>
                </a:lnTo>
                <a:lnTo>
                  <a:pt x="0" y="29099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25612" y="7201247"/>
            <a:ext cx="379771" cy="291000"/>
          </a:xfrm>
          <a:custGeom>
            <a:avLst/>
            <a:gdLst/>
            <a:ahLst/>
            <a:cxnLst/>
            <a:rect l="l" t="t" r="r" b="b"/>
            <a:pathLst>
              <a:path w="379771" h="291000">
                <a:moveTo>
                  <a:pt x="0" y="0"/>
                </a:moveTo>
                <a:lnTo>
                  <a:pt x="379771" y="0"/>
                </a:lnTo>
                <a:lnTo>
                  <a:pt x="379771" y="291000"/>
                </a:lnTo>
                <a:lnTo>
                  <a:pt x="0" y="2910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210801" y="2648845"/>
            <a:ext cx="8077200" cy="5250011"/>
          </a:xfrm>
          <a:custGeom>
            <a:avLst/>
            <a:gdLst/>
            <a:ahLst/>
            <a:cxnLst/>
            <a:rect l="l" t="t" r="r" b="b"/>
            <a:pathLst>
              <a:path w="7853505" h="5234672">
                <a:moveTo>
                  <a:pt x="0" y="0"/>
                </a:moveTo>
                <a:lnTo>
                  <a:pt x="7853505" y="0"/>
                </a:lnTo>
                <a:lnTo>
                  <a:pt x="7853505" y="5234672"/>
                </a:lnTo>
                <a:lnTo>
                  <a:pt x="0" y="523467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4986" b="-10039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28700" y="1192701"/>
            <a:ext cx="6464351" cy="8271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5062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Key Findings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897561" y="2288972"/>
            <a:ext cx="7431138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C62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Mental health issues are widespread in tech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897561" y="2812256"/>
            <a:ext cx="8536934" cy="1277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187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data consistently shows that a substantial share of tech workers experience mental health conditions, yet many remain untreated due to stigma or lack of access.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897561" y="4701921"/>
            <a:ext cx="6415678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C62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 environment is a decisive factor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897561" y="5225205"/>
            <a:ext cx="8536934" cy="1277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187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Company culture, management style, remote work flexibility, and company size all play significant roles in shaping employee well-being outcomes.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897561" y="7114870"/>
            <a:ext cx="6300940" cy="413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1">
                <a:solidFill>
                  <a:srgbClr val="C62828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Support systems exist but go unused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9566" y="2686645"/>
            <a:ext cx="5395685" cy="28575"/>
            <a:chOff x="0" y="0"/>
            <a:chExt cx="7194246" cy="381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194259" cy="38100"/>
            </a:xfrm>
            <a:custGeom>
              <a:avLst/>
              <a:gdLst/>
              <a:ahLst/>
              <a:cxnLst/>
              <a:rect l="l" t="t" r="r" b="b"/>
              <a:pathLst>
                <a:path w="7194259" h="38100">
                  <a:moveTo>
                    <a:pt x="0" y="0"/>
                  </a:moveTo>
                  <a:lnTo>
                    <a:pt x="7194259" y="0"/>
                  </a:lnTo>
                  <a:lnTo>
                    <a:pt x="719425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209566" y="4738387"/>
            <a:ext cx="5395685" cy="28575"/>
            <a:chOff x="0" y="0"/>
            <a:chExt cx="7194246" cy="381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194259" cy="38100"/>
            </a:xfrm>
            <a:custGeom>
              <a:avLst/>
              <a:gdLst/>
              <a:ahLst/>
              <a:cxnLst/>
              <a:rect l="l" t="t" r="r" b="b"/>
              <a:pathLst>
                <a:path w="7194259" h="38100">
                  <a:moveTo>
                    <a:pt x="0" y="0"/>
                  </a:moveTo>
                  <a:lnTo>
                    <a:pt x="7194259" y="0"/>
                  </a:lnTo>
                  <a:lnTo>
                    <a:pt x="719425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09566" y="7088872"/>
            <a:ext cx="5395685" cy="28575"/>
            <a:chOff x="0" y="0"/>
            <a:chExt cx="7194246" cy="38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194259" cy="38100"/>
            </a:xfrm>
            <a:custGeom>
              <a:avLst/>
              <a:gdLst/>
              <a:ahLst/>
              <a:cxnLst/>
              <a:rect l="l" t="t" r="r" b="b"/>
              <a:pathLst>
                <a:path w="7194259" h="38100">
                  <a:moveTo>
                    <a:pt x="0" y="0"/>
                  </a:moveTo>
                  <a:lnTo>
                    <a:pt x="7194259" y="0"/>
                  </a:lnTo>
                  <a:lnTo>
                    <a:pt x="7194259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8484068" y="1756024"/>
            <a:ext cx="8401160" cy="7338897"/>
          </a:xfrm>
          <a:custGeom>
            <a:avLst/>
            <a:gdLst/>
            <a:ahLst/>
            <a:cxnLst/>
            <a:rect l="l" t="t" r="r" b="b"/>
            <a:pathLst>
              <a:path w="8401160" h="7338897">
                <a:moveTo>
                  <a:pt x="0" y="0"/>
                </a:moveTo>
                <a:lnTo>
                  <a:pt x="8401159" y="0"/>
                </a:lnTo>
                <a:lnTo>
                  <a:pt x="8401159" y="7338898"/>
                </a:lnTo>
                <a:lnTo>
                  <a:pt x="0" y="733889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13947" b="-5452"/>
            </a:stretch>
          </a:blipFill>
        </p:spPr>
      </p:sp>
      <p:sp>
        <p:nvSpPr>
          <p:cNvPr id="17" name="TextBox 17"/>
          <p:cNvSpPr txBox="1"/>
          <p:nvPr/>
        </p:nvSpPr>
        <p:spPr>
          <a:xfrm>
            <a:off x="1209566" y="1144043"/>
            <a:ext cx="8222456" cy="611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87"/>
              </a:lnSpc>
            </a:pPr>
            <a:r>
              <a:rPr lang="en-US" sz="3749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Conclusion &amp; Recommendations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09566" y="1889374"/>
            <a:ext cx="4501893" cy="324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sz="217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Strategic Recommendations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9566" y="2335706"/>
            <a:ext cx="529697" cy="30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3"/>
              </a:lnSpc>
            </a:pPr>
            <a:r>
              <a:rPr lang="en-US" sz="1924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01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09566" y="2849761"/>
            <a:ext cx="5395316" cy="3241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sz="217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Strengthen Mental Health Policies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09566" y="3277786"/>
            <a:ext cx="5395685" cy="91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3"/>
              </a:lnSpc>
            </a:pPr>
            <a:r>
              <a:rPr lang="en-US" sz="1924" dirty="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Organizations should formalize mental health support through clear policies, dedicated budgets, and trained HR personnel.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09566" y="4387448"/>
            <a:ext cx="529697" cy="30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3"/>
              </a:lnSpc>
            </a:pPr>
            <a:r>
              <a:rPr lang="en-US" sz="1924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09566" y="4901503"/>
            <a:ext cx="5395685" cy="657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sz="217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Promote Awareness &amp; Open Dialogue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09566" y="5630909"/>
            <a:ext cx="5395685" cy="91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3"/>
              </a:lnSpc>
            </a:pPr>
            <a:r>
              <a:rPr lang="en-US" sz="1924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Regular communication about available resources, combined with leadership modeling vulnerability, can reduce stigma and increase uptake.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09566" y="6737933"/>
            <a:ext cx="529697" cy="306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3"/>
              </a:lnSpc>
            </a:pPr>
            <a:r>
              <a:rPr lang="en-US" sz="1924">
                <a:solidFill>
                  <a:srgbClr val="000000"/>
                </a:solidFill>
                <a:latin typeface="Montserrat Light"/>
                <a:ea typeface="Montserrat Light"/>
                <a:cs typeface="Montserrat Light"/>
                <a:sym typeface="Montserrat Light"/>
              </a:rPr>
              <a:t>03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09566" y="7251988"/>
            <a:ext cx="5395685" cy="657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2"/>
              </a:lnSpc>
            </a:pPr>
            <a:r>
              <a:rPr lang="en-US" sz="2174" b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Foster Flexible, Supportive Environments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09566" y="7981394"/>
            <a:ext cx="5395685" cy="91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3"/>
              </a:lnSpc>
            </a:pPr>
            <a:r>
              <a:rPr lang="en-US" sz="1924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Remote work options, flexible hours, and a culture of psychological safety are proven to improve both well-being and productivity.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84939" y="3543300"/>
            <a:ext cx="14918121" cy="23530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501"/>
              </a:lnSpc>
              <a:spcBef>
                <a:spcPct val="0"/>
              </a:spcBef>
            </a:pPr>
            <a:r>
              <a:rPr lang="en-US" sz="15600" dirty="0">
                <a:solidFill>
                  <a:srgbClr val="0A0A0A"/>
                </a:solidFill>
                <a:latin typeface="Dela Gothic One"/>
                <a:ea typeface="Dela Gothic One"/>
                <a:cs typeface="Dela Gothic One"/>
                <a:sym typeface="Dela Gothic One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>
            <a:off x="0" y="0"/>
            <a:ext cx="3369879" cy="1028700"/>
          </a:xfrm>
          <a:custGeom>
            <a:avLst/>
            <a:gdLst/>
            <a:ahLst/>
            <a:cxnLst/>
            <a:rect l="l" t="t" r="r" b="b"/>
            <a:pathLst>
              <a:path w="3369879" h="1028700">
                <a:moveTo>
                  <a:pt x="0" y="0"/>
                </a:moveTo>
                <a:lnTo>
                  <a:pt x="3369879" y="0"/>
                </a:lnTo>
                <a:lnTo>
                  <a:pt x="3369879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6885227" y="0"/>
            <a:ext cx="1402773" cy="1028700"/>
          </a:xfrm>
          <a:custGeom>
            <a:avLst/>
            <a:gdLst/>
            <a:ahLst/>
            <a:cxnLst/>
            <a:rect l="l" t="t" r="r" b="b"/>
            <a:pathLst>
              <a:path w="1402773" h="1028700">
                <a:moveTo>
                  <a:pt x="0" y="0"/>
                </a:moveTo>
                <a:lnTo>
                  <a:pt x="1402773" y="0"/>
                </a:lnTo>
                <a:lnTo>
                  <a:pt x="1402773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3369879" y="9258300"/>
            <a:ext cx="14918121" cy="3086100"/>
            <a:chOff x="0" y="0"/>
            <a:chExt cx="3929052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929052" cy="812800"/>
            </a:xfrm>
            <a:custGeom>
              <a:avLst/>
              <a:gdLst/>
              <a:ahLst/>
              <a:cxnLst/>
              <a:rect l="l" t="t" r="r" b="b"/>
              <a:pathLst>
                <a:path w="3929052" h="812800">
                  <a:moveTo>
                    <a:pt x="0" y="0"/>
                  </a:moveTo>
                  <a:lnTo>
                    <a:pt x="3929052" y="0"/>
                  </a:lnTo>
                  <a:lnTo>
                    <a:pt x="3929052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1C24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76200"/>
              <a:ext cx="3929052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60073" y="9729373"/>
            <a:ext cx="18548073" cy="3086100"/>
            <a:chOff x="0" y="0"/>
            <a:chExt cx="4885089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885089" cy="812800"/>
            </a:xfrm>
            <a:custGeom>
              <a:avLst/>
              <a:gdLst/>
              <a:ahLst/>
              <a:cxnLst/>
              <a:rect l="l" t="t" r="r" b="b"/>
              <a:pathLst>
                <a:path w="4885089" h="812800">
                  <a:moveTo>
                    <a:pt x="0" y="0"/>
                  </a:moveTo>
                  <a:lnTo>
                    <a:pt x="4885089" y="0"/>
                  </a:lnTo>
                  <a:lnTo>
                    <a:pt x="4885089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7202E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76200"/>
              <a:ext cx="4885089" cy="8890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75"/>
                </a:lnSpc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373</Words>
  <Application>Microsoft Office PowerPoint</Application>
  <PresentationFormat>Custom</PresentationFormat>
  <Paragraphs>73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Calibri</vt:lpstr>
      <vt:lpstr>Montserrat Bold</vt:lpstr>
      <vt:lpstr>Source Sans 3</vt:lpstr>
      <vt:lpstr>Source Sans 3 Bold</vt:lpstr>
      <vt:lpstr>Arial</vt:lpstr>
      <vt:lpstr>Dela Gothic One</vt:lpstr>
      <vt:lpstr>Montserrat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Mental-Health-in-Tech.pptx</dc:title>
  <cp:lastModifiedBy>Aaryan Sharma</cp:lastModifiedBy>
  <cp:revision>2</cp:revision>
  <dcterms:created xsi:type="dcterms:W3CDTF">2006-08-16T00:00:00Z</dcterms:created>
  <dcterms:modified xsi:type="dcterms:W3CDTF">2026-04-21T19:06:41Z</dcterms:modified>
  <dc:identifier>DAHHf6NjC6E</dc:identifier>
</cp:coreProperties>
</file>