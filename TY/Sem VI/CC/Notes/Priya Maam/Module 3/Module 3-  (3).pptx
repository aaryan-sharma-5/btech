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y="6858000" cx="9144000"/>
  <p:notesSz cx="6858000" cy="9144000"/>
  <p:embeddedFontLst>
    <p:embeddedFont>
      <p:font typeface="Roboto"/>
      <p:regular r:id="rId94"/>
      <p:bold r:id="rId95"/>
      <p:italic r:id="rId96"/>
      <p:boldItalic r:id="rId97"/>
    </p:embeddedFont>
    <p:embeddedFont>
      <p:font typeface="Marcellus SC"/>
      <p:regular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9" roundtripDataSignature="AMtx7minMxZJLJZdFnDYiiKiyTiA/FaJ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25A502-1D04-4CF7-B8BF-D3690062694B}">
  <a:tblStyle styleId="{6125A502-1D04-4CF7-B8BF-D369006269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bold.fntdata"/><Relationship Id="rId94" Type="http://schemas.openxmlformats.org/officeDocument/2006/relationships/font" Target="fonts/Roboto-regular.fntdata"/><Relationship Id="rId97" Type="http://schemas.openxmlformats.org/officeDocument/2006/relationships/font" Target="fonts/Roboto-boldItalic.fntdata"/><Relationship Id="rId96" Type="http://schemas.openxmlformats.org/officeDocument/2006/relationships/font" Target="fonts/Roboto-italic.fntdata"/><Relationship Id="rId11" Type="http://schemas.openxmlformats.org/officeDocument/2006/relationships/slide" Target="slides/slide5.xml"/><Relationship Id="rId99" Type="http://customschemas.google.com/relationships/presentationmetadata" Target="metadata"/><Relationship Id="rId10" Type="http://schemas.openxmlformats.org/officeDocument/2006/relationships/slide" Target="slides/slide4.xml"/><Relationship Id="rId98" Type="http://schemas.openxmlformats.org/officeDocument/2006/relationships/font" Target="fonts/MarcellusSC-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7a787bc74_1_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b7a787bc74_1_2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g3b7a787bc74_1_2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c6f659c99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g3bc6f659c99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c6f659c99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3bc6f659c99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c6f659c99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bc6f659c99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c6f659c99_0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3bc6f659c99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c6f659c99_0_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3bc6f659c99_0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c6f659c99_0_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bc6f659c99_0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c6f659c99_0_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3bc6f659c99_0_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c6f659c99_0_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3bc6f659c99_0_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c6f659c99_0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3bc6f659c99_0_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c6f659c99_0_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bc6f659c99_0_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c6f659c99_0_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bc6f659c99_0_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c6f659c99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bc6f659c99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CR - like which data center</a:t>
            </a:r>
            <a:endParaRPr/>
          </a:p>
          <a:p>
            <a:pPr indent="0" lvl="0" marL="0" rtl="0" algn="l">
              <a:spcBef>
                <a:spcPts val="0"/>
              </a:spcBef>
              <a:spcAft>
                <a:spcPts val="0"/>
              </a:spcAft>
              <a:buNone/>
            </a:pPr>
            <a:r>
              <a:rPr lang="en-IN"/>
              <a:t>AR- INside data center, which block or cluster the request should go to</a:t>
            </a:r>
            <a:endParaRPr/>
          </a:p>
          <a:p>
            <a:pPr indent="0" lvl="0" marL="0" rtl="0" algn="l">
              <a:spcBef>
                <a:spcPts val="0"/>
              </a:spcBef>
              <a:spcAft>
                <a:spcPts val="0"/>
              </a:spcAft>
              <a:buNone/>
            </a:pPr>
            <a:r>
              <a:rPr lang="en-IN"/>
              <a:t>AS and L2 switch, they will check source and destination MAC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ToR swith- at top of every server</a:t>
            </a:r>
            <a:endParaRPr/>
          </a:p>
        </p:txBody>
      </p:sp>
      <p:sp>
        <p:nvSpPr>
          <p:cNvPr id="256" name="Google Shape;256;g3bc6f659c99_0_4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c8df442ee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c8df442ee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bc8df442ee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c8df442ee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c8df442ee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bc8df442ee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c8df442ee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c8df442ee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bc8df442ee_0_4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c8df442ee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bc8df442ee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bc8df442ee_0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c8df442ee_0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c8df442ee_0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bc8df442ee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bc8df442ee_0_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bc8df442ee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CR - like which data center</a:t>
            </a:r>
            <a:endParaRPr/>
          </a:p>
          <a:p>
            <a:pPr indent="0" lvl="0" marL="0" rtl="0" algn="l">
              <a:spcBef>
                <a:spcPts val="0"/>
              </a:spcBef>
              <a:spcAft>
                <a:spcPts val="0"/>
              </a:spcAft>
              <a:buNone/>
            </a:pPr>
            <a:r>
              <a:rPr lang="en-IN"/>
              <a:t>AR- INside data center, which block or cluster the request should go to</a:t>
            </a:r>
            <a:endParaRPr/>
          </a:p>
          <a:p>
            <a:pPr indent="0" lvl="0" marL="0" rtl="0" algn="l">
              <a:spcBef>
                <a:spcPts val="0"/>
              </a:spcBef>
              <a:spcAft>
                <a:spcPts val="0"/>
              </a:spcAft>
              <a:buNone/>
            </a:pPr>
            <a:r>
              <a:rPr lang="en-IN"/>
              <a:t>AS and L2 switch, they will check source and destination MAC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ToR swith- at top of every server</a:t>
            </a:r>
            <a:endParaRPr/>
          </a:p>
        </p:txBody>
      </p:sp>
      <p:sp>
        <p:nvSpPr>
          <p:cNvPr id="341" name="Google Shape;341;g3bc8df442ee_0_1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c6f659c99_0_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c6f659c99_0_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bc6f659c99_0_18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c6f659c99_0_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bc6f659c99_0_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bc6f659c99_0_20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c6f659c99_0_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bc6f659c99_0_2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bc6f659c99_0_2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bc6f659c99_0_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bc6f659c99_0_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bc6f659c99_0_2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c6f659c99_0_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bc6f659c99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bc6f659c99_0_2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c2c8891362_0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c2c8891362_0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en-IN"/>
              <a:t>B</a:t>
            </a:r>
            <a:endParaRPr/>
          </a:p>
          <a:p>
            <a:pPr indent="-317500" lvl="0" marL="457200" rtl="0" algn="l">
              <a:spcBef>
                <a:spcPts val="0"/>
              </a:spcBef>
              <a:spcAft>
                <a:spcPts val="0"/>
              </a:spcAft>
              <a:buSzPts val="1400"/>
              <a:buAutoNum type="arabicPeriod"/>
            </a:pPr>
            <a:r>
              <a:rPr lang="en-IN"/>
              <a:t>B</a:t>
            </a:r>
            <a:endParaRPr/>
          </a:p>
          <a:p>
            <a:pPr indent="-317500" lvl="0" marL="457200" rtl="0" algn="l">
              <a:spcBef>
                <a:spcPts val="0"/>
              </a:spcBef>
              <a:spcAft>
                <a:spcPts val="0"/>
              </a:spcAft>
              <a:buSzPts val="1400"/>
              <a:buAutoNum type="arabicPeriod"/>
            </a:pPr>
            <a:r>
              <a:rPr lang="en-IN"/>
              <a:t>C</a:t>
            </a:r>
            <a:endParaRPr/>
          </a:p>
          <a:p>
            <a:pPr indent="-317500" lvl="0" marL="457200" rtl="0" algn="l">
              <a:spcBef>
                <a:spcPts val="0"/>
              </a:spcBef>
              <a:spcAft>
                <a:spcPts val="0"/>
              </a:spcAft>
              <a:buSzPts val="1400"/>
              <a:buAutoNum type="arabicPeriod"/>
            </a:pPr>
            <a:r>
              <a:rPr lang="en-IN"/>
              <a:t>B</a:t>
            </a:r>
            <a:endParaRPr/>
          </a:p>
        </p:txBody>
      </p:sp>
      <p:sp>
        <p:nvSpPr>
          <p:cNvPr id="414" name="Google Shape;414;g3c2c8891362_0_4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2c8891362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c2c8891362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5. B</a:t>
            </a:r>
            <a:endParaRPr/>
          </a:p>
          <a:p>
            <a:pPr indent="0" lvl="0" marL="0" rtl="0" algn="l">
              <a:spcBef>
                <a:spcPts val="0"/>
              </a:spcBef>
              <a:spcAft>
                <a:spcPts val="0"/>
              </a:spcAft>
              <a:buNone/>
            </a:pPr>
            <a:r>
              <a:rPr lang="en-IN"/>
              <a:t>6. C</a:t>
            </a:r>
            <a:endParaRPr/>
          </a:p>
          <a:p>
            <a:pPr indent="0" lvl="0" marL="0" rtl="0" algn="l">
              <a:spcBef>
                <a:spcPts val="0"/>
              </a:spcBef>
              <a:spcAft>
                <a:spcPts val="0"/>
              </a:spcAft>
              <a:buNone/>
            </a:pPr>
            <a:r>
              <a:rPr lang="en-IN"/>
              <a:t>7. C</a:t>
            </a:r>
            <a:endParaRPr/>
          </a:p>
          <a:p>
            <a:pPr indent="0" lvl="0" marL="0" rtl="0" algn="l">
              <a:spcBef>
                <a:spcPts val="0"/>
              </a:spcBef>
              <a:spcAft>
                <a:spcPts val="0"/>
              </a:spcAft>
              <a:buNone/>
            </a:pPr>
            <a:r>
              <a:rPr lang="en-IN"/>
              <a:t>8. B</a:t>
            </a:r>
            <a:endParaRPr/>
          </a:p>
        </p:txBody>
      </p:sp>
      <p:sp>
        <p:nvSpPr>
          <p:cNvPr id="427" name="Google Shape;427;g3c2c8891362_0_3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c2c8891362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c2c8891362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10. B</a:t>
            </a:r>
            <a:endParaRPr/>
          </a:p>
          <a:p>
            <a:pPr indent="0" lvl="0" marL="0" rtl="0" algn="l">
              <a:spcBef>
                <a:spcPts val="0"/>
              </a:spcBef>
              <a:spcAft>
                <a:spcPts val="0"/>
              </a:spcAft>
              <a:buNone/>
            </a:pPr>
            <a:r>
              <a:rPr lang="en-IN"/>
              <a:t>11. C</a:t>
            </a:r>
            <a:endParaRPr/>
          </a:p>
        </p:txBody>
      </p:sp>
      <p:sp>
        <p:nvSpPr>
          <p:cNvPr id="440" name="Google Shape;440;g3c2c8891362_0_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c6f659c99_0_2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bc6f659c99_0_2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3bc6f659c99_0_25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bc8df442ee_0_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bc8df442ee_0_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g3bc8df442ee_0_1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c929645f4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bc929645f4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3bc929645f4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2c8891362_0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c2c8891362_0_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c2c8891362_0_10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c929645f4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bc929645f4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bc929645f4_0_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c929645f4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bc929645f4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g3bc929645f4_0_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c929645f4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bc929645f4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Large applications- gmail, facebook (duistribuyted </a:t>
            </a:r>
            <a:r>
              <a:rPr lang="en-IN"/>
              <a:t>networks</a:t>
            </a:r>
            <a:r>
              <a:rPr lang="en-IN"/>
              <a:t>, high bandwidth, composed of manyicroservices that may be hosted on multiple different servers)</a:t>
            </a:r>
            <a:endParaRPr/>
          </a:p>
          <a:p>
            <a:pPr indent="0" lvl="0" marL="0" rtl="0" algn="l">
              <a:spcBef>
                <a:spcPts val="0"/>
              </a:spcBef>
              <a:spcAft>
                <a:spcPts val="0"/>
              </a:spcAft>
              <a:buNone/>
            </a:pPr>
            <a:r>
              <a:rPr lang="en-IN"/>
              <a:t>Small applications- HR system, payroll system, </a:t>
            </a:r>
            <a:endParaRPr/>
          </a:p>
        </p:txBody>
      </p:sp>
      <p:sp>
        <p:nvSpPr>
          <p:cNvPr id="524" name="Google Shape;524;g3bc929645f4_0_4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bc929645f4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bc929645f4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g3bc929645f4_0_6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c2c889136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c2c889136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3c2c889136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bcc419759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bcc419759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bcc4197594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cc4197594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bcc4197594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bcc4197594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bcc4197594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bcc4197594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g3bcc4197594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bcc4197594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bcc4197594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g3bcc4197594_0_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bcc4197594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bcc4197594_0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g3bcc4197594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bcc4197594_0_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bcc4197594_0_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g3bcc4197594_0_1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bcc4197594_0_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bcc4197594_0_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g3bcc4197594_0_6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bcc4197594_0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bcc4197594_0_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g3bcc4197594_0_8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cc4197594_0_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bcc4197594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g3bcc4197594_0_1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cc4197594_0_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bcc4197594_0_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g3bcc4197594_0_1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cc4197594_0_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bcc4197594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g3bcc4197594_0_14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cc4197594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bcc4197594_0_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g3bcc4197594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bcc4197594_0_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bcc4197594_0_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g3bcc4197594_0_17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cc4197594_0_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bcc4197594_0_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g3bcc4197594_0_19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bcc4197594_0_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bcc4197594_0_2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g3bcc4197594_0_20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bcc4197594_0_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bcc4197594_0_2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g3bcc4197594_0_2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bced218d8f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bced218d8f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g3bced218d8f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bcf12ddd78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bcf12ddd78_0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CR - like which data center</a:t>
            </a:r>
            <a:endParaRPr/>
          </a:p>
          <a:p>
            <a:pPr indent="0" lvl="0" marL="0" rtl="0" algn="l">
              <a:spcBef>
                <a:spcPts val="0"/>
              </a:spcBef>
              <a:spcAft>
                <a:spcPts val="0"/>
              </a:spcAft>
              <a:buNone/>
            </a:pPr>
            <a:r>
              <a:rPr lang="en-IN"/>
              <a:t>AR- INside data center, which block or cluster the request should go to</a:t>
            </a:r>
            <a:endParaRPr/>
          </a:p>
          <a:p>
            <a:pPr indent="0" lvl="0" marL="0" rtl="0" algn="l">
              <a:spcBef>
                <a:spcPts val="0"/>
              </a:spcBef>
              <a:spcAft>
                <a:spcPts val="0"/>
              </a:spcAft>
              <a:buNone/>
            </a:pPr>
            <a:r>
              <a:rPr lang="en-IN"/>
              <a:t>AS and L2 switch, they will check source and destination MAC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ToR swith- at top of every server</a:t>
            </a:r>
            <a:endParaRPr/>
          </a:p>
        </p:txBody>
      </p:sp>
      <p:sp>
        <p:nvSpPr>
          <p:cNvPr id="767" name="Google Shape;767;g3bcf12ddd78_0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bcf12ddd78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bcf12ddd78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g3bcf12ddd78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bcf12ddd78_0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bcf12ddd78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g3bcf12ddd78_0_5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bced218d8f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bced218d8f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CR - like which data center</a:t>
            </a:r>
            <a:endParaRPr/>
          </a:p>
          <a:p>
            <a:pPr indent="0" lvl="0" marL="0" rtl="0" algn="l">
              <a:spcBef>
                <a:spcPts val="0"/>
              </a:spcBef>
              <a:spcAft>
                <a:spcPts val="0"/>
              </a:spcAft>
              <a:buNone/>
            </a:pPr>
            <a:r>
              <a:rPr lang="en-IN"/>
              <a:t>AR- INside data center, which block or cluster the request should go to</a:t>
            </a:r>
            <a:endParaRPr/>
          </a:p>
          <a:p>
            <a:pPr indent="0" lvl="0" marL="0" rtl="0" algn="l">
              <a:spcBef>
                <a:spcPts val="0"/>
              </a:spcBef>
              <a:spcAft>
                <a:spcPts val="0"/>
              </a:spcAft>
              <a:buNone/>
            </a:pPr>
            <a:r>
              <a:rPr lang="en-IN"/>
              <a:t>AS and L2 switch, they will check source and destination MAC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ToR swith- at top of every server</a:t>
            </a:r>
            <a:endParaRPr/>
          </a:p>
        </p:txBody>
      </p:sp>
      <p:sp>
        <p:nvSpPr>
          <p:cNvPr id="802" name="Google Shape;802;g3bced218d8f_0_4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bced218d8f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bced218d8f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CR - like which data center</a:t>
            </a:r>
            <a:endParaRPr/>
          </a:p>
          <a:p>
            <a:pPr indent="0" lvl="0" marL="0" rtl="0" algn="l">
              <a:spcBef>
                <a:spcPts val="0"/>
              </a:spcBef>
              <a:spcAft>
                <a:spcPts val="0"/>
              </a:spcAft>
              <a:buNone/>
            </a:pPr>
            <a:r>
              <a:rPr lang="en-IN"/>
              <a:t>AR- INside data center, which block or cluster the request should go to</a:t>
            </a:r>
            <a:endParaRPr/>
          </a:p>
          <a:p>
            <a:pPr indent="0" lvl="0" marL="0" rtl="0" algn="l">
              <a:spcBef>
                <a:spcPts val="0"/>
              </a:spcBef>
              <a:spcAft>
                <a:spcPts val="0"/>
              </a:spcAft>
              <a:buNone/>
            </a:pPr>
            <a:r>
              <a:rPr lang="en-IN"/>
              <a:t>AS and L2 switch, they will check source and destination MAC address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ToR swith- at top of every server</a:t>
            </a:r>
            <a:endParaRPr/>
          </a:p>
        </p:txBody>
      </p:sp>
      <p:sp>
        <p:nvSpPr>
          <p:cNvPr id="817" name="Google Shape;817;g3bced218d8f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cf12ddd78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bcf12ddd78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g3bcf12ddd78_0_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cf12ddd78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bcf12ddd78_0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Vm to Vm in same rack - only 1 hop (only leaf)</a:t>
            </a:r>
            <a:endParaRPr/>
          </a:p>
          <a:p>
            <a:pPr indent="0" lvl="0" marL="0" rtl="0" algn="l">
              <a:spcBef>
                <a:spcPts val="0"/>
              </a:spcBef>
              <a:spcAft>
                <a:spcPts val="0"/>
              </a:spcAft>
              <a:buNone/>
            </a:pPr>
            <a:r>
              <a:rPr lang="en-IN"/>
              <a:t>Vm (one rack) to other Vm (other rack) -  (leaf - spine - leaf) 3 hops</a:t>
            </a:r>
            <a:endParaRPr/>
          </a:p>
        </p:txBody>
      </p:sp>
      <p:sp>
        <p:nvSpPr>
          <p:cNvPr id="840" name="Google Shape;840;g3bcf12ddd78_0_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bcf12ddd78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bcf12ddd78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848" name="Google Shape;848;g3bcf12ddd78_0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c2c8891362_0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c2c8891362_0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g3c2c8891362_0_8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bcf12ddd78_0_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bcf12ddd78_0_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g3bcf12ddd78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bcf12ddd78_0_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bcf12ddd78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Value of k must be even</a:t>
            </a:r>
            <a:endParaRPr/>
          </a:p>
        </p:txBody>
      </p:sp>
      <p:sp>
        <p:nvSpPr>
          <p:cNvPr id="879" name="Google Shape;879;g3bcf12ddd78_0_9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c68390414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c68390414e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g3c68390414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c68390414e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c68390414e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g3c68390414e_0_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c68390414e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c68390414e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Peering -  Peering is an agreement where two networks of equal standing connect directly to exchange traffic for their mutual benefit.</a:t>
            </a:r>
            <a:endParaRPr/>
          </a:p>
        </p:txBody>
      </p:sp>
      <p:sp>
        <p:nvSpPr>
          <p:cNvPr id="907" name="Google Shape;907;g3c68390414e_0_4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c68390414e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c68390414e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15" name="Google Shape;915;g3c68390414e_0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c68390414e_0_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3c68390414e_0_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23" name="Google Shape;923;g3c68390414e_0_7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c68390414e_0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c68390414e_0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32" name="Google Shape;932;g3c68390414e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c68390414e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c68390414e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41" name="Google Shape;941;g3c68390414e_0_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c68390414e_0_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c68390414e_0_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49" name="Google Shape;949;g3c68390414e_0_9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c68390414e_0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3c68390414e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57" name="Google Shape;957;g3c68390414e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c68390414e_0_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c68390414e_0_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65" name="Google Shape;965;g3c68390414e_0_1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c68390414e_0_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c68390414e_0_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THIS I ABOUT FAILURE</a:t>
            </a:r>
            <a:endParaRPr/>
          </a:p>
        </p:txBody>
      </p:sp>
      <p:sp>
        <p:nvSpPr>
          <p:cNvPr id="973" name="Google Shape;973;g3c68390414e_0_1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c68390414e_0_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c68390414e_0_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THIS IS ABOUT PERFROMANCE UNDER LOAD</a:t>
            </a:r>
            <a:endParaRPr/>
          </a:p>
        </p:txBody>
      </p:sp>
      <p:sp>
        <p:nvSpPr>
          <p:cNvPr id="983" name="Google Shape;983;g3c68390414e_0_14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c68390414e_0_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c68390414e_0_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992" name="Google Shape;992;g3c68390414e_0_1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c68390414e_0_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c68390414e_0_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01" name="Google Shape;1001;g3c68390414e_0_1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c68390414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c68390414e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12" name="Google Shape;1012;g3c68390414e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c68390414e_1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c68390414e_1_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20" name="Google Shape;1020;g3c68390414e_1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c68390414e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c68390414e_1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28" name="Google Shape;1028;g3c68390414e_1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c68390414e_1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c68390414e_1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36" name="Google Shape;1036;g3c68390414e_1_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c68390414e_1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c68390414e_1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46" name="Google Shape;1046;g3c68390414e_1_4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c68390414e_0_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3c68390414e_0_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54" name="Google Shape;1054;g3c68390414e_0_1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c68390414e_0_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c68390414e_0_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a 5:1 oversubscribed leaf, the aggregate server bandwidth is five times greater than the uplink capacity, meaning that if multiple servers transmit simultaneously at line rate, they must share the uplink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At full load, five times more server bandwidth exists than uplink capacity.</a:t>
            </a:r>
            <a:endParaRPr/>
          </a:p>
        </p:txBody>
      </p:sp>
      <p:sp>
        <p:nvSpPr>
          <p:cNvPr id="1063" name="Google Shape;1063;g3c68390414e_0_16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c68390414e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c68390414e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1" name="Google Shape;1071;g3c68390414e_0_1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0" name="Shape 10"/>
        <p:cNvGrpSpPr/>
        <p:nvPr/>
      </p:nvGrpSpPr>
      <p:grpSpPr>
        <a:xfrm>
          <a:off x="0" y="0"/>
          <a:ext cx="0" cy="0"/>
          <a:chOff x="0" y="0"/>
          <a:chExt cx="0" cy="0"/>
        </a:xfrm>
      </p:grpSpPr>
      <p:sp>
        <p:nvSpPr>
          <p:cNvPr id="11" name="Google Shape;11;g3b7a787bc74_1_69"/>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g3b7a787bc74_1_6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marR="0" rtl="0" algn="ctr">
              <a:lnSpc>
                <a:spcPct val="100000"/>
              </a:lnSpc>
              <a:spcBef>
                <a:spcPts val="640"/>
              </a:spcBef>
              <a:spcAft>
                <a:spcPts val="0"/>
              </a:spcAft>
              <a:buClr>
                <a:srgbClr val="888888"/>
              </a:buClr>
              <a:buSzPts val="3200"/>
              <a:buFont typeface="Arial"/>
              <a:buNone/>
              <a:defRPr b="0" i="0" sz="1400" u="none" cap="none" strike="noStrike">
                <a:solidFill>
                  <a:srgbClr val="888888"/>
                </a:solidFill>
                <a:latin typeface="Arial"/>
                <a:ea typeface="Arial"/>
                <a:cs typeface="Arial"/>
                <a:sym typeface="Arial"/>
              </a:defRPr>
            </a:lvl1pPr>
            <a:lvl2pPr lvl="1" marR="0" rtl="0" algn="ctr">
              <a:lnSpc>
                <a:spcPct val="100000"/>
              </a:lnSpc>
              <a:spcBef>
                <a:spcPts val="560"/>
              </a:spcBef>
              <a:spcAft>
                <a:spcPts val="0"/>
              </a:spcAft>
              <a:buClr>
                <a:srgbClr val="888888"/>
              </a:buClr>
              <a:buSzPts val="2800"/>
              <a:buFont typeface="Arial"/>
              <a:buNone/>
              <a:defRPr b="0" i="0" sz="1400" u="none" cap="none" strike="noStrike">
                <a:solidFill>
                  <a:srgbClr val="888888"/>
                </a:solidFill>
                <a:latin typeface="Arial"/>
                <a:ea typeface="Arial"/>
                <a:cs typeface="Arial"/>
                <a:sym typeface="Arial"/>
              </a:defRPr>
            </a:lvl2pPr>
            <a:lvl3pPr lvl="2" marR="0" rtl="0" algn="ctr">
              <a:lnSpc>
                <a:spcPct val="100000"/>
              </a:lnSpc>
              <a:spcBef>
                <a:spcPts val="480"/>
              </a:spcBef>
              <a:spcAft>
                <a:spcPts val="0"/>
              </a:spcAft>
              <a:buClr>
                <a:srgbClr val="888888"/>
              </a:buClr>
              <a:buSzPts val="2400"/>
              <a:buFont typeface="Arial"/>
              <a:buNone/>
              <a:defRPr b="0" i="0" sz="1400" u="none" cap="none" strike="noStrike">
                <a:solidFill>
                  <a:srgbClr val="888888"/>
                </a:solidFill>
                <a:latin typeface="Arial"/>
                <a:ea typeface="Arial"/>
                <a:cs typeface="Arial"/>
                <a:sym typeface="Arial"/>
              </a:defRPr>
            </a:lvl3pPr>
            <a:lvl4pPr lvl="3"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4pPr>
            <a:lvl5pPr lvl="4"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5pPr>
            <a:lvl6pPr lvl="5"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6pPr>
            <a:lvl7pPr lvl="6"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7pPr>
            <a:lvl8pPr lvl="7"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8pPr>
            <a:lvl9pPr lvl="8" marR="0" rtl="0" algn="ctr">
              <a:lnSpc>
                <a:spcPct val="100000"/>
              </a:lnSpc>
              <a:spcBef>
                <a:spcPts val="400"/>
              </a:spcBef>
              <a:spcAft>
                <a:spcPts val="0"/>
              </a:spcAft>
              <a:buClr>
                <a:srgbClr val="888888"/>
              </a:buClr>
              <a:buSzPts val="2000"/>
              <a:buFont typeface="Arial"/>
              <a:buNone/>
              <a:defRPr b="0" i="0" sz="1400" u="none" cap="none" strike="noStrike">
                <a:solidFill>
                  <a:srgbClr val="888888"/>
                </a:solidFill>
                <a:latin typeface="Arial"/>
                <a:ea typeface="Arial"/>
                <a:cs typeface="Arial"/>
                <a:sym typeface="Arial"/>
              </a:defRPr>
            </a:lvl9pPr>
          </a:lstStyle>
          <a:p/>
        </p:txBody>
      </p:sp>
      <p:sp>
        <p:nvSpPr>
          <p:cNvPr id="13" name="Google Shape;13;g3b7a787bc74_1_6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3b7a787bc74_1_6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g3b7a787bc74_1_6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bg>
      <p:bgPr>
        <a:solidFill>
          <a:schemeClr val="lt1"/>
        </a:solidFill>
      </p:bgPr>
    </p:bg>
    <p:spTree>
      <p:nvGrpSpPr>
        <p:cNvPr id="16" name="Shape 16"/>
        <p:cNvGrpSpPr/>
        <p:nvPr/>
      </p:nvGrpSpPr>
      <p:grpSpPr>
        <a:xfrm>
          <a:off x="0" y="0"/>
          <a:ext cx="0" cy="0"/>
          <a:chOff x="0" y="0"/>
          <a:chExt cx="0" cy="0"/>
        </a:xfrm>
      </p:grpSpPr>
      <p:sp>
        <p:nvSpPr>
          <p:cNvPr id="17" name="Google Shape;17;g3b7a787bc74_1_1"/>
          <p:cNvSpPr txBox="1"/>
          <p:nvPr>
            <p:ph type="title"/>
          </p:nvPr>
        </p:nvSpPr>
        <p:spPr>
          <a:xfrm>
            <a:off x="457200" y="274680"/>
            <a:ext cx="8229300" cy="11427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g3b7a787bc74_1_1"/>
          <p:cNvSpPr txBox="1"/>
          <p:nvPr>
            <p:ph idx="1" type="body"/>
          </p:nvPr>
        </p:nvSpPr>
        <p:spPr>
          <a:xfrm>
            <a:off x="457200" y="1600200"/>
            <a:ext cx="8229300" cy="45255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g3b7a787bc74_1_1"/>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g3b7a787bc74_1_1"/>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g3b7a787bc74_1_1"/>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bg>
      <p:bgPr>
        <a:solidFill>
          <a:schemeClr val="lt1"/>
        </a:solidFill>
      </p:bgPr>
    </p:bg>
    <p:spTree>
      <p:nvGrpSpPr>
        <p:cNvPr id="22" name="Shape 22"/>
        <p:cNvGrpSpPr/>
        <p:nvPr/>
      </p:nvGrpSpPr>
      <p:grpSpPr>
        <a:xfrm>
          <a:off x="0" y="0"/>
          <a:ext cx="0" cy="0"/>
          <a:chOff x="0" y="0"/>
          <a:chExt cx="0" cy="0"/>
        </a:xfrm>
      </p:grpSpPr>
      <p:sp>
        <p:nvSpPr>
          <p:cNvPr id="23" name="Google Shape;23;g3b7a787bc74_1_7"/>
          <p:cNvSpPr txBox="1"/>
          <p:nvPr>
            <p:ph type="title"/>
          </p:nvPr>
        </p:nvSpPr>
        <p:spPr>
          <a:xfrm>
            <a:off x="457200" y="274680"/>
            <a:ext cx="8229300" cy="11427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g3b7a787bc74_1_7"/>
          <p:cNvSpPr txBox="1"/>
          <p:nvPr>
            <p:ph idx="1" type="body"/>
          </p:nvPr>
        </p:nvSpPr>
        <p:spPr>
          <a:xfrm rot="5400000">
            <a:off x="2309400" y="-251700"/>
            <a:ext cx="4525500" cy="82293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g3b7a787bc74_1_7"/>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g3b7a787bc74_1_7"/>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g3b7a787bc74_1_7"/>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bg>
      <p:bgPr>
        <a:solidFill>
          <a:schemeClr val="lt1"/>
        </a:solidFill>
      </p:bgPr>
    </p:bg>
    <p:spTree>
      <p:nvGrpSpPr>
        <p:cNvPr id="28" name="Shape 28"/>
        <p:cNvGrpSpPr/>
        <p:nvPr/>
      </p:nvGrpSpPr>
      <p:grpSpPr>
        <a:xfrm>
          <a:off x="0" y="0"/>
          <a:ext cx="0" cy="0"/>
          <a:chOff x="0" y="0"/>
          <a:chExt cx="0" cy="0"/>
        </a:xfrm>
      </p:grpSpPr>
      <p:sp>
        <p:nvSpPr>
          <p:cNvPr id="29" name="Google Shape;29;g3b7a787bc74_1_13"/>
          <p:cNvSpPr txBox="1"/>
          <p:nvPr>
            <p:ph type="title"/>
          </p:nvPr>
        </p:nvSpPr>
        <p:spPr>
          <a:xfrm rot="5400000">
            <a:off x="4732470" y="2171550"/>
            <a:ext cx="5851200" cy="20571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g3b7a787bc74_1_13"/>
          <p:cNvSpPr txBox="1"/>
          <p:nvPr>
            <p:ph idx="1" type="body"/>
          </p:nvPr>
        </p:nvSpPr>
        <p:spPr>
          <a:xfrm rot="5400000">
            <a:off x="541770" y="190170"/>
            <a:ext cx="5851200" cy="60195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 name="Google Shape;31;g3b7a787bc74_1_13"/>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2" name="Google Shape;32;g3b7a787bc74_1_13"/>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g3b7a787bc74_1_13"/>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34" name="Shape 34"/>
        <p:cNvGrpSpPr/>
        <p:nvPr/>
      </p:nvGrpSpPr>
      <p:grpSpPr>
        <a:xfrm>
          <a:off x="0" y="0"/>
          <a:ext cx="0" cy="0"/>
          <a:chOff x="0" y="0"/>
          <a:chExt cx="0" cy="0"/>
        </a:xfrm>
      </p:grpSpPr>
      <p:sp>
        <p:nvSpPr>
          <p:cNvPr id="35" name="Google Shape;35;g3b7a787bc74_1_19"/>
          <p:cNvSpPr txBox="1"/>
          <p:nvPr>
            <p:ph type="title"/>
          </p:nvPr>
        </p:nvSpPr>
        <p:spPr>
          <a:xfrm>
            <a:off x="685800" y="2130480"/>
            <a:ext cx="7772100" cy="14694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g3b7a787bc74_1_19"/>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g3b7a787bc74_1_19"/>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g3b7a787bc74_1_19"/>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blank">
  <p:cSld name="BLANK">
    <p:bg>
      <p:bgPr>
        <a:solidFill>
          <a:schemeClr val="lt1"/>
        </a:solidFill>
      </p:bgPr>
    </p:bg>
    <p:spTree>
      <p:nvGrpSpPr>
        <p:cNvPr id="39" name="Shape 39"/>
        <p:cNvGrpSpPr/>
        <p:nvPr/>
      </p:nvGrpSpPr>
      <p:grpSpPr>
        <a:xfrm>
          <a:off x="0" y="0"/>
          <a:ext cx="0" cy="0"/>
          <a:chOff x="0" y="0"/>
          <a:chExt cx="0" cy="0"/>
        </a:xfrm>
      </p:grpSpPr>
      <p:sp>
        <p:nvSpPr>
          <p:cNvPr id="40" name="Google Shape;40;g3b7a787bc74_1_24"/>
          <p:cNvSpPr txBox="1"/>
          <p:nvPr>
            <p:ph type="title"/>
          </p:nvPr>
        </p:nvSpPr>
        <p:spPr>
          <a:xfrm>
            <a:off x="722160" y="4406760"/>
            <a:ext cx="7772100" cy="136200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g3b7a787bc74_1_24"/>
          <p:cNvSpPr txBox="1"/>
          <p:nvPr>
            <p:ph idx="1" type="body"/>
          </p:nvPr>
        </p:nvSpPr>
        <p:spPr>
          <a:xfrm>
            <a:off x="722160" y="2906640"/>
            <a:ext cx="7772100" cy="14997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g3b7a787bc74_1_24"/>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3" name="Google Shape;43;g3b7a787bc74_1_24"/>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g3b7a787bc74_1_24"/>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bg>
      <p:bgPr>
        <a:solidFill>
          <a:schemeClr val="lt1"/>
        </a:solidFill>
      </p:bgPr>
    </p:bg>
    <p:spTree>
      <p:nvGrpSpPr>
        <p:cNvPr id="45" name="Shape 45"/>
        <p:cNvGrpSpPr/>
        <p:nvPr/>
      </p:nvGrpSpPr>
      <p:grpSpPr>
        <a:xfrm>
          <a:off x="0" y="0"/>
          <a:ext cx="0" cy="0"/>
          <a:chOff x="0" y="0"/>
          <a:chExt cx="0" cy="0"/>
        </a:xfrm>
      </p:grpSpPr>
      <p:sp>
        <p:nvSpPr>
          <p:cNvPr id="46" name="Google Shape;46;g3b7a787bc74_1_30"/>
          <p:cNvSpPr txBox="1"/>
          <p:nvPr>
            <p:ph type="title"/>
          </p:nvPr>
        </p:nvSpPr>
        <p:spPr>
          <a:xfrm>
            <a:off x="457200" y="274680"/>
            <a:ext cx="8229300" cy="11427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 name="Google Shape;47;g3b7a787bc74_1_30"/>
          <p:cNvSpPr txBox="1"/>
          <p:nvPr>
            <p:ph idx="1" type="body"/>
          </p:nvPr>
        </p:nvSpPr>
        <p:spPr>
          <a:xfrm>
            <a:off x="457200" y="1600200"/>
            <a:ext cx="4038000" cy="45255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g3b7a787bc74_1_30"/>
          <p:cNvSpPr txBox="1"/>
          <p:nvPr>
            <p:ph idx="2" type="body"/>
          </p:nvPr>
        </p:nvSpPr>
        <p:spPr>
          <a:xfrm>
            <a:off x="4648320" y="1600200"/>
            <a:ext cx="4038000" cy="45255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g3b7a787bc74_1_30"/>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g3b7a787bc74_1_30"/>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1" name="Google Shape;51;g3b7a787bc74_1_30"/>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bg>
      <p:bgPr>
        <a:solidFill>
          <a:schemeClr val="lt1"/>
        </a:solidFill>
      </p:bgPr>
    </p:bg>
    <p:spTree>
      <p:nvGrpSpPr>
        <p:cNvPr id="52" name="Shape 52"/>
        <p:cNvGrpSpPr/>
        <p:nvPr/>
      </p:nvGrpSpPr>
      <p:grpSpPr>
        <a:xfrm>
          <a:off x="0" y="0"/>
          <a:ext cx="0" cy="0"/>
          <a:chOff x="0" y="0"/>
          <a:chExt cx="0" cy="0"/>
        </a:xfrm>
      </p:grpSpPr>
      <p:sp>
        <p:nvSpPr>
          <p:cNvPr id="53" name="Google Shape;53;g3b7a787bc74_1_37"/>
          <p:cNvSpPr txBox="1"/>
          <p:nvPr>
            <p:ph type="title"/>
          </p:nvPr>
        </p:nvSpPr>
        <p:spPr>
          <a:xfrm>
            <a:off x="457200" y="274680"/>
            <a:ext cx="8229300" cy="11427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g3b7a787bc74_1_37"/>
          <p:cNvSpPr txBox="1"/>
          <p:nvPr>
            <p:ph idx="1" type="body"/>
          </p:nvPr>
        </p:nvSpPr>
        <p:spPr>
          <a:xfrm>
            <a:off x="457200" y="1535040"/>
            <a:ext cx="4039800" cy="6393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g3b7a787bc74_1_37"/>
          <p:cNvSpPr txBox="1"/>
          <p:nvPr>
            <p:ph idx="2" type="body"/>
          </p:nvPr>
        </p:nvSpPr>
        <p:spPr>
          <a:xfrm>
            <a:off x="457200" y="2174760"/>
            <a:ext cx="4039800" cy="39510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6" name="Google Shape;56;g3b7a787bc74_1_37"/>
          <p:cNvSpPr txBox="1"/>
          <p:nvPr>
            <p:ph idx="3" type="body"/>
          </p:nvPr>
        </p:nvSpPr>
        <p:spPr>
          <a:xfrm>
            <a:off x="4645080" y="1535040"/>
            <a:ext cx="4041300" cy="639300"/>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g3b7a787bc74_1_37"/>
          <p:cNvSpPr txBox="1"/>
          <p:nvPr>
            <p:ph idx="4" type="body"/>
          </p:nvPr>
        </p:nvSpPr>
        <p:spPr>
          <a:xfrm>
            <a:off x="4645080" y="2174760"/>
            <a:ext cx="4041300" cy="39510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g3b7a787bc74_1_37"/>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g3b7a787bc74_1_37"/>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g3b7a787bc74_1_37"/>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g3b7a787bc74_1_46"/>
          <p:cNvSpPr txBox="1"/>
          <p:nvPr>
            <p:ph type="title"/>
          </p:nvPr>
        </p:nvSpPr>
        <p:spPr>
          <a:xfrm>
            <a:off x="457200" y="274680"/>
            <a:ext cx="8229300" cy="11427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g3b7a787bc74_1_46"/>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Google Shape;64;g3b7a787bc74_1_46"/>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g3b7a787bc74_1_46"/>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lt1"/>
        </a:solidFill>
      </p:bgPr>
    </p:bg>
    <p:spTree>
      <p:nvGrpSpPr>
        <p:cNvPr id="66" name="Shape 66"/>
        <p:cNvGrpSpPr/>
        <p:nvPr/>
      </p:nvGrpSpPr>
      <p:grpSpPr>
        <a:xfrm>
          <a:off x="0" y="0"/>
          <a:ext cx="0" cy="0"/>
          <a:chOff x="0" y="0"/>
          <a:chExt cx="0" cy="0"/>
        </a:xfrm>
      </p:grpSpPr>
      <p:sp>
        <p:nvSpPr>
          <p:cNvPr id="67" name="Google Shape;67;g3b7a787bc74_1_51"/>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g3b7a787bc74_1_51"/>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9" name="Google Shape;69;g3b7a787bc74_1_51"/>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bg>
      <p:bgPr>
        <a:solidFill>
          <a:schemeClr val="lt1"/>
        </a:solidFill>
      </p:bgPr>
    </p:bg>
    <p:spTree>
      <p:nvGrpSpPr>
        <p:cNvPr id="70" name="Shape 70"/>
        <p:cNvGrpSpPr/>
        <p:nvPr/>
      </p:nvGrpSpPr>
      <p:grpSpPr>
        <a:xfrm>
          <a:off x="0" y="0"/>
          <a:ext cx="0" cy="0"/>
          <a:chOff x="0" y="0"/>
          <a:chExt cx="0" cy="0"/>
        </a:xfrm>
      </p:grpSpPr>
      <p:sp>
        <p:nvSpPr>
          <p:cNvPr id="71" name="Google Shape;71;g3b7a787bc74_1_55"/>
          <p:cNvSpPr txBox="1"/>
          <p:nvPr>
            <p:ph type="title"/>
          </p:nvPr>
        </p:nvSpPr>
        <p:spPr>
          <a:xfrm>
            <a:off x="457200" y="272880"/>
            <a:ext cx="3007800" cy="1161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 name="Google Shape;72;g3b7a787bc74_1_55"/>
          <p:cNvSpPr txBox="1"/>
          <p:nvPr>
            <p:ph idx="1" type="body"/>
          </p:nvPr>
        </p:nvSpPr>
        <p:spPr>
          <a:xfrm>
            <a:off x="3575160" y="272880"/>
            <a:ext cx="5111400" cy="58530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g3b7a787bc74_1_55"/>
          <p:cNvSpPr txBox="1"/>
          <p:nvPr>
            <p:ph idx="2" type="body"/>
          </p:nvPr>
        </p:nvSpPr>
        <p:spPr>
          <a:xfrm>
            <a:off x="457200" y="1434960"/>
            <a:ext cx="3007800" cy="4690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g3b7a787bc74_1_55"/>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5" name="Google Shape;75;g3b7a787bc74_1_55"/>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 name="Google Shape;76;g3b7a787bc74_1_55"/>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bg>
      <p:bgPr>
        <a:solidFill>
          <a:schemeClr val="lt1"/>
        </a:solidFill>
      </p:bgPr>
    </p:bg>
    <p:spTree>
      <p:nvGrpSpPr>
        <p:cNvPr id="77" name="Shape 77"/>
        <p:cNvGrpSpPr/>
        <p:nvPr/>
      </p:nvGrpSpPr>
      <p:grpSpPr>
        <a:xfrm>
          <a:off x="0" y="0"/>
          <a:ext cx="0" cy="0"/>
          <a:chOff x="0" y="0"/>
          <a:chExt cx="0" cy="0"/>
        </a:xfrm>
      </p:grpSpPr>
      <p:sp>
        <p:nvSpPr>
          <p:cNvPr id="78" name="Google Shape;78;g3b7a787bc74_1_62"/>
          <p:cNvSpPr txBox="1"/>
          <p:nvPr>
            <p:ph type="title"/>
          </p:nvPr>
        </p:nvSpPr>
        <p:spPr>
          <a:xfrm>
            <a:off x="1792440" y="4800600"/>
            <a:ext cx="5486100" cy="5664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9" name="Google Shape;79;g3b7a787bc74_1_62"/>
          <p:cNvSpPr txBox="1"/>
          <p:nvPr>
            <p:ph idx="1" type="body"/>
          </p:nvPr>
        </p:nvSpPr>
        <p:spPr>
          <a:xfrm>
            <a:off x="1792440" y="612720"/>
            <a:ext cx="5486100" cy="4114500"/>
          </a:xfrm>
          <a:prstGeom prst="rect">
            <a:avLst/>
          </a:prstGeom>
          <a:noFill/>
          <a:ln>
            <a:noFill/>
          </a:ln>
        </p:spPr>
        <p:txBody>
          <a:bodyPr anchorCtr="0" anchor="t" bIns="45000" lIns="90000" spcFirstLastPara="1" rIns="90000" wrap="square" tIns="450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g3b7a787bc74_1_62"/>
          <p:cNvSpPr txBox="1"/>
          <p:nvPr>
            <p:ph idx="2" type="body"/>
          </p:nvPr>
        </p:nvSpPr>
        <p:spPr>
          <a:xfrm>
            <a:off x="1792440" y="5367240"/>
            <a:ext cx="5486100" cy="8046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1" name="Google Shape;81;g3b7a787bc74_1_62"/>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g3b7a787bc74_1_62"/>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3" name="Google Shape;83;g3b7a787bc74_1_62"/>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jp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34.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7.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7.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7.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6.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6.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14.png"/><Relationship Id="rId5" Type="http://schemas.openxmlformats.org/officeDocument/2006/relationships/image" Target="../media/image26.png"/><Relationship Id="rId6" Type="http://schemas.openxmlformats.org/officeDocument/2006/relationships/image" Target="../media/image21.png"/><Relationship Id="rId7" Type="http://schemas.openxmlformats.org/officeDocument/2006/relationships/image" Target="../media/image27.png"/><Relationship Id="rId8"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5.png"/><Relationship Id="rId4" Type="http://schemas.openxmlformats.org/officeDocument/2006/relationships/image" Target="../media/image40.png"/><Relationship Id="rId5" Type="http://schemas.openxmlformats.org/officeDocument/2006/relationships/image" Target="../media/image44.png"/><Relationship Id="rId6" Type="http://schemas.openxmlformats.org/officeDocument/2006/relationships/image" Target="../media/image35.png"/><Relationship Id="rId7"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 Id="rId7" Type="http://schemas.openxmlformats.org/officeDocument/2006/relationships/image" Target="../media/image3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6.png"/><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46.png"/><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5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5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1.png"/><Relationship Id="rId4" Type="http://schemas.openxmlformats.org/officeDocument/2006/relationships/image" Target="../media/image5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4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58.png"/><Relationship Id="rId4" Type="http://schemas.openxmlformats.org/officeDocument/2006/relationships/image" Target="../media/image5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5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5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pic>
        <p:nvPicPr>
          <p:cNvPr id="90" name="Google Shape;90;p1"/>
          <p:cNvPicPr preferRelativeResize="0"/>
          <p:nvPr/>
        </p:nvPicPr>
        <p:blipFill rotWithShape="1">
          <a:blip r:embed="rId3">
            <a:alphaModFix/>
          </a:blip>
          <a:srcRect b="0" l="0" r="0" t="0"/>
          <a:stretch/>
        </p:blipFill>
        <p:spPr>
          <a:xfrm>
            <a:off x="-76320" y="1440"/>
            <a:ext cx="568080" cy="6856200"/>
          </a:xfrm>
          <a:prstGeom prst="rect">
            <a:avLst/>
          </a:prstGeom>
          <a:noFill/>
          <a:ln>
            <a:noFill/>
          </a:ln>
        </p:spPr>
      </p:pic>
      <p:pic>
        <p:nvPicPr>
          <p:cNvPr id="91" name="Google Shape;91;p1"/>
          <p:cNvPicPr preferRelativeResize="0"/>
          <p:nvPr/>
        </p:nvPicPr>
        <p:blipFill rotWithShape="1">
          <a:blip r:embed="rId4">
            <a:alphaModFix/>
          </a:blip>
          <a:srcRect b="0" l="0" r="0" t="0"/>
          <a:stretch/>
        </p:blipFill>
        <p:spPr>
          <a:xfrm>
            <a:off x="457200" y="0"/>
            <a:ext cx="209160" cy="5439961"/>
          </a:xfrm>
          <a:prstGeom prst="rect">
            <a:avLst/>
          </a:prstGeom>
          <a:noFill/>
          <a:ln>
            <a:noFill/>
          </a:ln>
        </p:spPr>
      </p:pic>
      <p:pic>
        <p:nvPicPr>
          <p:cNvPr descr="A picture containing drawing&#10;&#10;Description automatically generated" id="92" name="Google Shape;92;p1"/>
          <p:cNvPicPr preferRelativeResize="0"/>
          <p:nvPr/>
        </p:nvPicPr>
        <p:blipFill rotWithShape="1">
          <a:blip r:embed="rId5">
            <a:alphaModFix/>
          </a:blip>
          <a:srcRect b="0" l="0" r="0" t="0"/>
          <a:stretch/>
        </p:blipFill>
        <p:spPr>
          <a:xfrm>
            <a:off x="812520" y="5929560"/>
            <a:ext cx="3246120" cy="810720"/>
          </a:xfrm>
          <a:prstGeom prst="rect">
            <a:avLst/>
          </a:prstGeom>
          <a:noFill/>
          <a:ln>
            <a:noFill/>
          </a:ln>
        </p:spPr>
      </p:pic>
      <p:pic>
        <p:nvPicPr>
          <p:cNvPr descr="A close up of a sign&#10;&#10;Description automatically generated" id="93" name="Google Shape;93;p1"/>
          <p:cNvPicPr preferRelativeResize="0"/>
          <p:nvPr/>
        </p:nvPicPr>
        <p:blipFill rotWithShape="1">
          <a:blip r:embed="rId6">
            <a:alphaModFix/>
          </a:blip>
          <a:srcRect b="0" l="0" r="0" t="0"/>
          <a:stretch/>
        </p:blipFill>
        <p:spPr>
          <a:xfrm>
            <a:off x="7898760" y="5932800"/>
            <a:ext cx="968040" cy="721800"/>
          </a:xfrm>
          <a:prstGeom prst="rect">
            <a:avLst/>
          </a:prstGeom>
          <a:noFill/>
          <a:ln>
            <a:noFill/>
          </a:ln>
        </p:spPr>
      </p:pic>
      <p:sp>
        <p:nvSpPr>
          <p:cNvPr id="94" name="Google Shape;94;p1"/>
          <p:cNvSpPr txBox="1"/>
          <p:nvPr/>
        </p:nvSpPr>
        <p:spPr>
          <a:xfrm>
            <a:off x="1061400" y="1850200"/>
            <a:ext cx="7625400" cy="1583400"/>
          </a:xfrm>
          <a:prstGeom prst="rect">
            <a:avLst/>
          </a:prstGeom>
          <a:noFill/>
          <a:ln cap="flat" cmpd="sng" w="9525">
            <a:solidFill>
              <a:srgbClr val="000000"/>
            </a:solidFill>
            <a:prstDash val="solid"/>
            <a:round/>
            <a:headEnd len="sm" w="sm" type="none"/>
            <a:tailEnd len="sm" w="sm" type="none"/>
          </a:ln>
        </p:spPr>
        <p:txBody>
          <a:bodyPr anchorCtr="0" anchor="ctr" bIns="0" lIns="0" spcFirstLastPara="1" rIns="0" wrap="square" tIns="13300">
            <a:spAutoFit/>
          </a:bodyPr>
          <a:lstStyle/>
          <a:p>
            <a:pPr indent="0" lvl="0" marL="12599" marR="0" rtl="0" algn="ctr">
              <a:lnSpc>
                <a:spcPct val="100000"/>
              </a:lnSpc>
              <a:spcBef>
                <a:spcPts val="0"/>
              </a:spcBef>
              <a:spcAft>
                <a:spcPts val="0"/>
              </a:spcAft>
              <a:buClr>
                <a:srgbClr val="000000"/>
              </a:buClr>
              <a:buSzPts val="3400"/>
              <a:buFont typeface="Arial"/>
              <a:buNone/>
            </a:pPr>
            <a:r>
              <a:rPr b="0" i="0" lang="en-IN" sz="3400" u="none" cap="none" strike="noStrike">
                <a:solidFill>
                  <a:srgbClr val="FF0000"/>
                </a:solidFill>
                <a:latin typeface="Marcellus SC"/>
                <a:ea typeface="Marcellus SC"/>
                <a:cs typeface="Marcellus SC"/>
                <a:sym typeface="Marcellus SC"/>
              </a:rPr>
              <a:t>Module </a:t>
            </a:r>
            <a:r>
              <a:rPr lang="en-IN" sz="3400">
                <a:solidFill>
                  <a:srgbClr val="FF0000"/>
                </a:solidFill>
                <a:latin typeface="Marcellus SC"/>
                <a:ea typeface="Marcellus SC"/>
                <a:cs typeface="Marcellus SC"/>
                <a:sym typeface="Marcellus SC"/>
              </a:rPr>
              <a:t>3</a:t>
            </a:r>
            <a:r>
              <a:rPr b="0" i="0" lang="en-IN" sz="3400" u="none" cap="none" strike="noStrike">
                <a:solidFill>
                  <a:srgbClr val="FF0000"/>
                </a:solidFill>
                <a:latin typeface="Marcellus SC"/>
                <a:ea typeface="Marcellus SC"/>
                <a:cs typeface="Marcellus SC"/>
                <a:sym typeface="Marcellus SC"/>
              </a:rPr>
              <a:t>: </a:t>
            </a:r>
            <a:r>
              <a:rPr lang="en-IN" sz="3400">
                <a:solidFill>
                  <a:srgbClr val="FF0000"/>
                </a:solidFill>
                <a:latin typeface="Marcellus SC"/>
                <a:ea typeface="Marcellus SC"/>
                <a:cs typeface="Marcellus SC"/>
                <a:sym typeface="Marcellus SC"/>
              </a:rPr>
              <a:t>Cloud Infrastructure and Platforms in Industry</a:t>
            </a:r>
            <a:endParaRPr b="0" i="0" sz="3400" u="none" cap="none" strike="noStrike">
              <a:solidFill>
                <a:srgbClr val="FF0000"/>
              </a:solidFill>
              <a:latin typeface="Marcellus SC"/>
              <a:ea typeface="Marcellus SC"/>
              <a:cs typeface="Marcellus SC"/>
              <a:sym typeface="Marcellus SC"/>
            </a:endParaRPr>
          </a:p>
          <a:p>
            <a:pPr indent="0" lvl="0" marL="0" marR="0" rtl="0" algn="l">
              <a:lnSpc>
                <a:spcPct val="100000"/>
              </a:lnSpc>
              <a:spcBef>
                <a:spcPts val="0"/>
              </a:spcBef>
              <a:spcAft>
                <a:spcPts val="0"/>
              </a:spcAft>
              <a:buClr>
                <a:srgbClr val="000000"/>
              </a:buClr>
              <a:buSzPts val="3400"/>
              <a:buFont typeface="Arial"/>
              <a:buNone/>
            </a:pPr>
            <a:r>
              <a:t/>
            </a:r>
            <a:endParaRPr b="0" i="0" sz="3400" u="none" cap="none" strike="noStrike">
              <a:solidFill>
                <a:srgbClr val="FF0000"/>
              </a:solidFill>
              <a:latin typeface="Marcellus SC"/>
              <a:ea typeface="Marcellus SC"/>
              <a:cs typeface="Marcellus SC"/>
              <a:sym typeface="Marcellus S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b7a787bc74_1_2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
        <p:nvSpPr>
          <p:cNvPr id="101" name="Google Shape;101;g3b7a787bc74_1_220"/>
          <p:cNvSpPr/>
          <p:nvPr/>
        </p:nvSpPr>
        <p:spPr>
          <a:xfrm>
            <a:off x="478800" y="5335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rgbClr val="FF0000"/>
                </a:solidFill>
                <a:latin typeface="Arial"/>
                <a:ea typeface="Arial"/>
                <a:cs typeface="Arial"/>
                <a:sym typeface="Arial"/>
              </a:rPr>
              <a:t>Outline</a:t>
            </a:r>
            <a:endParaRPr b="0" i="0" sz="3000" u="none" cap="none" strike="noStrike">
              <a:solidFill>
                <a:srgbClr val="000000"/>
              </a:solidFill>
              <a:latin typeface="Arial"/>
              <a:ea typeface="Arial"/>
              <a:cs typeface="Arial"/>
              <a:sym typeface="Arial"/>
            </a:endParaRPr>
          </a:p>
        </p:txBody>
      </p:sp>
      <p:sp>
        <p:nvSpPr>
          <p:cNvPr id="102" name="Google Shape;102;g3b7a787bc74_1_220"/>
          <p:cNvSpPr/>
          <p:nvPr/>
        </p:nvSpPr>
        <p:spPr>
          <a:xfrm>
            <a:off x="521250" y="1639850"/>
            <a:ext cx="8067900" cy="43062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SzPts val="2000"/>
              <a:buAutoNum type="arabicPeriod"/>
            </a:pPr>
            <a:r>
              <a:rPr lang="en-IN" sz="2000"/>
              <a:t>Why Data Center</a:t>
            </a:r>
            <a:endParaRPr sz="2000"/>
          </a:p>
          <a:p>
            <a:pPr indent="-355600" lvl="0" marL="457200" marR="0" rtl="0" algn="l">
              <a:lnSpc>
                <a:spcPct val="150000"/>
              </a:lnSpc>
              <a:spcBef>
                <a:spcPts val="0"/>
              </a:spcBef>
              <a:spcAft>
                <a:spcPts val="0"/>
              </a:spcAft>
              <a:buSzPts val="2000"/>
              <a:buAutoNum type="arabicPeriod"/>
            </a:pPr>
            <a:r>
              <a:rPr lang="en-IN" sz="2000"/>
              <a:t>Data Center- Servers</a:t>
            </a:r>
            <a:endParaRPr sz="2000"/>
          </a:p>
          <a:p>
            <a:pPr indent="-355600" lvl="0" marL="457200" marR="0" rtl="0" algn="l">
              <a:lnSpc>
                <a:spcPct val="150000"/>
              </a:lnSpc>
              <a:spcBef>
                <a:spcPts val="0"/>
              </a:spcBef>
              <a:spcAft>
                <a:spcPts val="0"/>
              </a:spcAft>
              <a:buSzPts val="2000"/>
              <a:buAutoNum type="arabicPeriod"/>
            </a:pPr>
            <a:r>
              <a:rPr lang="en-IN" sz="2000"/>
              <a:t>Basic DCN Architecture (3 tier)</a:t>
            </a:r>
            <a:endParaRPr sz="2000"/>
          </a:p>
          <a:p>
            <a:pPr indent="-355600" lvl="0" marL="457200" marR="0" rtl="0" algn="l">
              <a:lnSpc>
                <a:spcPct val="150000"/>
              </a:lnSpc>
              <a:spcBef>
                <a:spcPts val="0"/>
              </a:spcBef>
              <a:spcAft>
                <a:spcPts val="0"/>
              </a:spcAft>
              <a:buSzPts val="2000"/>
              <a:buAutoNum type="arabicPeriod"/>
            </a:pPr>
            <a:r>
              <a:rPr lang="en-IN" sz="2000"/>
              <a:t>Issues with traditional 3 tier architecture</a:t>
            </a:r>
            <a:endParaRPr sz="2000"/>
          </a:p>
          <a:p>
            <a:pPr indent="-355600" lvl="0" marL="457200" marR="0" rtl="0" algn="l">
              <a:lnSpc>
                <a:spcPct val="150000"/>
              </a:lnSpc>
              <a:spcBef>
                <a:spcPts val="0"/>
              </a:spcBef>
              <a:spcAft>
                <a:spcPts val="0"/>
              </a:spcAft>
              <a:buSzPts val="2000"/>
              <a:buAutoNum type="arabicPeriod"/>
            </a:pPr>
            <a:r>
              <a:rPr lang="en-IN" sz="2000"/>
              <a:t>What is WSD (</a:t>
            </a:r>
            <a:r>
              <a:rPr lang="en-IN" sz="2000">
                <a:solidFill>
                  <a:schemeClr val="dk1"/>
                </a:solidFill>
              </a:rPr>
              <a:t>Warehouse-Scale Data-Center)</a:t>
            </a:r>
            <a:endParaRPr sz="2000">
              <a:solidFill>
                <a:schemeClr val="dk1"/>
              </a:solidFill>
            </a:endParaRPr>
          </a:p>
          <a:p>
            <a:pPr indent="-355600" lvl="0" marL="457200" marR="0" rtl="0" algn="l">
              <a:lnSpc>
                <a:spcPct val="150000"/>
              </a:lnSpc>
              <a:spcBef>
                <a:spcPts val="0"/>
              </a:spcBef>
              <a:spcAft>
                <a:spcPts val="0"/>
              </a:spcAft>
              <a:buClr>
                <a:schemeClr val="dk1"/>
              </a:buClr>
              <a:buSzPts val="2000"/>
              <a:buAutoNum type="arabicPeriod"/>
            </a:pPr>
            <a:r>
              <a:rPr lang="en-IN" sz="2000">
                <a:solidFill>
                  <a:schemeClr val="dk1"/>
                </a:solidFill>
              </a:rPr>
              <a:t>Leaf Spine Architecture</a:t>
            </a:r>
            <a:endParaRPr sz="2000">
              <a:solidFill>
                <a:schemeClr val="dk1"/>
              </a:solidFill>
            </a:endParaRPr>
          </a:p>
          <a:p>
            <a:pPr indent="-355600" lvl="0" marL="457200" marR="0" rtl="0" algn="l">
              <a:lnSpc>
                <a:spcPct val="150000"/>
              </a:lnSpc>
              <a:spcBef>
                <a:spcPts val="0"/>
              </a:spcBef>
              <a:spcAft>
                <a:spcPts val="0"/>
              </a:spcAft>
              <a:buSzPts val="2000"/>
              <a:buAutoNum type="arabicPeriod"/>
            </a:pPr>
            <a:r>
              <a:rPr lang="en-IN" sz="2000"/>
              <a:t>Topologies in WSD</a:t>
            </a:r>
            <a:endParaRPr sz="2000"/>
          </a:p>
          <a:p>
            <a:pPr indent="0" lvl="0" marL="914400" marR="0" rtl="0" algn="l">
              <a:lnSpc>
                <a:spcPct val="150000"/>
              </a:lnSpc>
              <a:spcBef>
                <a:spcPts val="0"/>
              </a:spcBef>
              <a:spcAft>
                <a:spcPts val="0"/>
              </a:spcAft>
              <a:buNone/>
            </a:pPr>
            <a:r>
              <a:rPr lang="en-IN" sz="2000"/>
              <a:t>       i. Fat-Tree topology</a:t>
            </a:r>
            <a:endParaRPr sz="2000"/>
          </a:p>
          <a:p>
            <a:pPr indent="0" lvl="0" marL="914400" marR="0" rtl="0" algn="l">
              <a:lnSpc>
                <a:spcPct val="150000"/>
              </a:lnSpc>
              <a:spcBef>
                <a:spcPts val="0"/>
              </a:spcBef>
              <a:spcAft>
                <a:spcPts val="0"/>
              </a:spcAft>
              <a:buNone/>
            </a:pPr>
            <a:r>
              <a:rPr lang="en-IN" sz="2000"/>
              <a:t>       </a:t>
            </a:r>
            <a:r>
              <a:rPr lang="en-IN" sz="2000"/>
              <a:t>i</a:t>
            </a:r>
            <a:r>
              <a:rPr lang="en-IN" sz="2000"/>
              <a:t>i. BCube network </a:t>
            </a:r>
            <a:endParaRPr sz="2000"/>
          </a:p>
          <a:p>
            <a:pPr indent="0" lvl="0" marL="45720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bc6f659c99_0_8"/>
          <p:cNvSpPr txBox="1"/>
          <p:nvPr>
            <p:ph idx="1" type="body"/>
          </p:nvPr>
        </p:nvSpPr>
        <p:spPr>
          <a:xfrm>
            <a:off x="188975" y="1340775"/>
            <a:ext cx="8773800" cy="4389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Char char="●"/>
            </a:pPr>
            <a:r>
              <a:rPr b="1" lang="en-IN" sz="2000">
                <a:solidFill>
                  <a:srgbClr val="FF0000"/>
                </a:solidFill>
              </a:rPr>
              <a:t>Large amount of data and information</a:t>
            </a:r>
            <a:r>
              <a:rPr lang="en-IN" sz="2000"/>
              <a:t> is being transmitted worldwide- question of storing the data. </a:t>
            </a:r>
            <a:endParaRPr sz="2000"/>
          </a:p>
          <a:p>
            <a:pPr indent="-355600" lvl="0" marL="457200" rtl="0" algn="l">
              <a:lnSpc>
                <a:spcPct val="115000"/>
              </a:lnSpc>
              <a:spcBef>
                <a:spcPts val="0"/>
              </a:spcBef>
              <a:spcAft>
                <a:spcPts val="0"/>
              </a:spcAft>
              <a:buSzPts val="2000"/>
              <a:buChar char="●"/>
            </a:pPr>
            <a:r>
              <a:rPr lang="en-IN" sz="2000"/>
              <a:t>One approach is to </a:t>
            </a:r>
            <a:r>
              <a:rPr b="1" lang="en-IN" sz="2000">
                <a:solidFill>
                  <a:srgbClr val="FF0000"/>
                </a:solidFill>
              </a:rPr>
              <a:t>store data on the Server</a:t>
            </a:r>
            <a:r>
              <a:rPr lang="en-IN" sz="2000"/>
              <a:t> and the other option is to store on Data Center.</a:t>
            </a:r>
            <a:endParaRPr sz="2000"/>
          </a:p>
          <a:p>
            <a:pPr indent="-355600" lvl="0" marL="457200" rtl="0" algn="l">
              <a:lnSpc>
                <a:spcPct val="115000"/>
              </a:lnSpc>
              <a:spcBef>
                <a:spcPts val="0"/>
              </a:spcBef>
              <a:spcAft>
                <a:spcPts val="0"/>
              </a:spcAft>
              <a:buSzPts val="2000"/>
              <a:buChar char="●"/>
            </a:pPr>
            <a:r>
              <a:rPr lang="en-IN" sz="2000"/>
              <a:t>The drawback of storing data on server is need for </a:t>
            </a:r>
            <a:r>
              <a:rPr b="1" lang="en-IN" sz="2000">
                <a:solidFill>
                  <a:srgbClr val="FF0000"/>
                </a:solidFill>
              </a:rPr>
              <a:t>server rooms </a:t>
            </a:r>
            <a:r>
              <a:rPr lang="en-IN" sz="2000"/>
              <a:t>increases as the demand for storage increases.</a:t>
            </a:r>
            <a:endParaRPr sz="2000"/>
          </a:p>
          <a:p>
            <a:pPr indent="-355600" lvl="0" marL="457200" rtl="0" algn="l">
              <a:lnSpc>
                <a:spcPct val="115000"/>
              </a:lnSpc>
              <a:spcBef>
                <a:spcPts val="0"/>
              </a:spcBef>
              <a:spcAft>
                <a:spcPts val="0"/>
              </a:spcAft>
              <a:buSzPts val="2000"/>
              <a:buChar char="●"/>
            </a:pPr>
            <a:r>
              <a:rPr lang="en-IN" sz="2000"/>
              <a:t>Server rooms produce </a:t>
            </a:r>
            <a:r>
              <a:rPr b="1" lang="en-IN" sz="2000">
                <a:solidFill>
                  <a:srgbClr val="FF0000"/>
                </a:solidFill>
              </a:rPr>
              <a:t>tremendous amount of heat</a:t>
            </a:r>
            <a:r>
              <a:rPr lang="en-IN" sz="2000"/>
              <a:t> and which in turn have to be kept cool. </a:t>
            </a:r>
            <a:r>
              <a:rPr b="1" lang="en-IN" sz="2000">
                <a:solidFill>
                  <a:srgbClr val="FF0000"/>
                </a:solidFill>
              </a:rPr>
              <a:t>Cooling factor</a:t>
            </a:r>
            <a:r>
              <a:rPr lang="en-IN" sz="2000"/>
              <a:t> leads to</a:t>
            </a:r>
            <a:r>
              <a:rPr b="1" lang="en-IN" sz="2000">
                <a:solidFill>
                  <a:srgbClr val="FF0000"/>
                </a:solidFill>
              </a:rPr>
              <a:t> increase in cost</a:t>
            </a:r>
            <a:r>
              <a:rPr lang="en-IN" sz="2000"/>
              <a:t>. </a:t>
            </a:r>
            <a:endParaRPr sz="2000"/>
          </a:p>
          <a:p>
            <a:pPr indent="-355600" lvl="0" marL="457200" rtl="0" algn="l">
              <a:lnSpc>
                <a:spcPct val="115000"/>
              </a:lnSpc>
              <a:spcBef>
                <a:spcPts val="0"/>
              </a:spcBef>
              <a:spcAft>
                <a:spcPts val="0"/>
              </a:spcAft>
              <a:buSzPts val="2000"/>
              <a:buChar char="●"/>
            </a:pPr>
            <a:r>
              <a:rPr lang="en-IN" sz="2000"/>
              <a:t>Servers have to be maintained </a:t>
            </a:r>
            <a:r>
              <a:rPr b="1" lang="en-IN" sz="2000">
                <a:solidFill>
                  <a:srgbClr val="FF0000"/>
                </a:solidFill>
              </a:rPr>
              <a:t>24 X 7</a:t>
            </a:r>
            <a:r>
              <a:rPr lang="en-IN" sz="2000"/>
              <a:t> by an individual.</a:t>
            </a:r>
            <a:endParaRPr sz="2000"/>
          </a:p>
          <a:p>
            <a:pPr indent="-355600" lvl="0" marL="457200" rtl="0" algn="l">
              <a:lnSpc>
                <a:spcPct val="115000"/>
              </a:lnSpc>
              <a:spcBef>
                <a:spcPts val="0"/>
              </a:spcBef>
              <a:spcAft>
                <a:spcPts val="0"/>
              </a:spcAft>
              <a:buSzPts val="2000"/>
              <a:buChar char="●"/>
            </a:pPr>
            <a:r>
              <a:rPr lang="en-IN" sz="2000"/>
              <a:t>Keeping </a:t>
            </a:r>
            <a:r>
              <a:rPr b="1" lang="en-IN" sz="2000">
                <a:solidFill>
                  <a:srgbClr val="FF0000"/>
                </a:solidFill>
              </a:rPr>
              <a:t>critical data in house</a:t>
            </a:r>
            <a:r>
              <a:rPr lang="en-IN" sz="2000"/>
              <a:t> is like keeping money wide open for robbers to steal- </a:t>
            </a:r>
            <a:r>
              <a:rPr b="1" lang="en-IN" sz="2000">
                <a:solidFill>
                  <a:srgbClr val="FF0000"/>
                </a:solidFill>
              </a:rPr>
              <a:t>financial and mental stress</a:t>
            </a:r>
            <a:r>
              <a:rPr lang="en-IN" sz="2000"/>
              <a:t>.</a:t>
            </a:r>
            <a:endParaRPr sz="2000"/>
          </a:p>
        </p:txBody>
      </p:sp>
      <p:sp>
        <p:nvSpPr>
          <p:cNvPr id="108" name="Google Shape;108;g3bc6f659c99_0_8"/>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09" name="Google Shape;109;g3bc6f659c99_0_8"/>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10" name="Google Shape;110;g3bc6f659c99_0_8"/>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11" name="Google Shape;111;g3bc6f659c99_0_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12" name="Google Shape;112;g3bc6f659c99_0_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13" name="Google Shape;113;g3bc6f659c99_0_8"/>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14" name="Google Shape;114;g3bc6f659c99_0_8"/>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15" name="Google Shape;115;g3bc6f659c99_0_8"/>
          <p:cNvSpPr/>
          <p:nvPr/>
        </p:nvSpPr>
        <p:spPr>
          <a:xfrm>
            <a:off x="478800" y="533520"/>
            <a:ext cx="8152800" cy="553800"/>
          </a:xfrm>
          <a:prstGeom prst="rect">
            <a:avLst/>
          </a:prstGeom>
          <a:noFill/>
          <a:ln>
            <a:noFill/>
          </a:ln>
        </p:spPr>
        <p:txBody>
          <a:bodyPr anchorCtr="0" anchor="t" bIns="45700" lIns="91425" spcFirstLastPara="1" rIns="91425" wrap="square" tIns="45700">
            <a:noAutofit/>
          </a:bodyPr>
          <a:lstStyle/>
          <a:p>
            <a:pPr indent="-419100" lvl="0" marL="457200" marR="0" rtl="0" algn="ctr">
              <a:lnSpc>
                <a:spcPct val="100000"/>
              </a:lnSpc>
              <a:spcBef>
                <a:spcPts val="0"/>
              </a:spcBef>
              <a:spcAft>
                <a:spcPts val="0"/>
              </a:spcAft>
              <a:buClr>
                <a:srgbClr val="FF0000"/>
              </a:buClr>
              <a:buSzPts val="3000"/>
              <a:buAutoNum type="arabicPeriod"/>
            </a:pPr>
            <a:r>
              <a:rPr b="1" lang="en-IN" sz="3000">
                <a:solidFill>
                  <a:srgbClr val="FF0000"/>
                </a:solidFill>
              </a:rPr>
              <a:t>Why Data Center ?</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bc6f659c99_0_21"/>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21" name="Google Shape;121;g3bc6f659c99_0_21"/>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22" name="Google Shape;122;g3bc6f659c99_0_21"/>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23" name="Google Shape;123;g3bc6f659c99_0_2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24" name="Google Shape;124;g3bc6f659c99_0_2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25" name="Google Shape;125;g3bc6f659c99_0_21"/>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26" name="Google Shape;126;g3bc6f659c99_0_21"/>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pic>
        <p:nvPicPr>
          <p:cNvPr id="127" name="Google Shape;127;g3bc6f659c99_0_21"/>
          <p:cNvPicPr preferRelativeResize="0"/>
          <p:nvPr/>
        </p:nvPicPr>
        <p:blipFill>
          <a:blip r:embed="rId7">
            <a:alphaModFix/>
          </a:blip>
          <a:stretch>
            <a:fillRect/>
          </a:stretch>
        </p:blipFill>
        <p:spPr>
          <a:xfrm>
            <a:off x="152400" y="926125"/>
            <a:ext cx="8839201" cy="4651384"/>
          </a:xfrm>
          <a:prstGeom prst="rect">
            <a:avLst/>
          </a:prstGeom>
          <a:noFill/>
          <a:ln cap="flat" cmpd="sng" w="9525">
            <a:solidFill>
              <a:schemeClr val="dk1"/>
            </a:solidFill>
            <a:prstDash val="solid"/>
            <a:round/>
            <a:headEnd len="sm" w="sm" type="none"/>
            <a:tailEnd len="sm" w="sm" type="none"/>
          </a:ln>
        </p:spPr>
      </p:pic>
      <p:sp>
        <p:nvSpPr>
          <p:cNvPr id="128" name="Google Shape;128;g3bc6f659c99_0_21"/>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bc6f659c99_0_50"/>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34" name="Google Shape;134;g3bc6f659c99_0_50"/>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35" name="Google Shape;135;g3bc6f659c99_0_50"/>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36" name="Google Shape;136;g3bc6f659c99_0_5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37" name="Google Shape;137;g3bc6f659c99_0_5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38" name="Google Shape;138;g3bc6f659c99_0_50"/>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39" name="Google Shape;139;g3bc6f659c99_0_50"/>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40" name="Google Shape;140;g3bc6f659c99_0_50"/>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Sever Racks</a:t>
            </a:r>
            <a:endParaRPr b="0" i="0" sz="3000" u="none" cap="none" strike="noStrike">
              <a:solidFill>
                <a:srgbClr val="000000"/>
              </a:solidFill>
              <a:latin typeface="Arial"/>
              <a:ea typeface="Arial"/>
              <a:cs typeface="Arial"/>
              <a:sym typeface="Arial"/>
            </a:endParaRPr>
          </a:p>
        </p:txBody>
      </p:sp>
      <p:pic>
        <p:nvPicPr>
          <p:cNvPr id="141" name="Google Shape;141;g3bc6f659c99_0_50"/>
          <p:cNvPicPr preferRelativeResize="0"/>
          <p:nvPr/>
        </p:nvPicPr>
        <p:blipFill>
          <a:blip r:embed="rId7">
            <a:alphaModFix/>
          </a:blip>
          <a:stretch>
            <a:fillRect/>
          </a:stretch>
        </p:blipFill>
        <p:spPr>
          <a:xfrm>
            <a:off x="1141964" y="1048750"/>
            <a:ext cx="6860061" cy="465160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bc6f659c99_0_63"/>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47" name="Google Shape;147;g3bc6f659c99_0_63"/>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48" name="Google Shape;148;g3bc6f659c99_0_63"/>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49" name="Google Shape;149;g3bc6f659c99_0_63"/>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50" name="Google Shape;150;g3bc6f659c99_0_63"/>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51" name="Google Shape;151;g3bc6f659c99_0_63"/>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52" name="Google Shape;152;g3bc6f659c99_0_63"/>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53" name="Google Shape;153;g3bc6f659c99_0_63"/>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2. </a:t>
            </a:r>
            <a:r>
              <a:rPr b="1" lang="en-IN" sz="3000">
                <a:solidFill>
                  <a:srgbClr val="FF0000"/>
                </a:solidFill>
              </a:rPr>
              <a:t>Data Center Pictures- Servers</a:t>
            </a:r>
            <a:endParaRPr b="0" i="0" sz="3000" u="none" cap="none" strike="noStrike">
              <a:solidFill>
                <a:srgbClr val="000000"/>
              </a:solidFill>
              <a:latin typeface="Arial"/>
              <a:ea typeface="Arial"/>
              <a:cs typeface="Arial"/>
              <a:sym typeface="Arial"/>
            </a:endParaRPr>
          </a:p>
        </p:txBody>
      </p:sp>
      <p:pic>
        <p:nvPicPr>
          <p:cNvPr id="154" name="Google Shape;154;g3bc6f659c99_0_63"/>
          <p:cNvPicPr preferRelativeResize="0"/>
          <p:nvPr/>
        </p:nvPicPr>
        <p:blipFill>
          <a:blip r:embed="rId7">
            <a:alphaModFix/>
          </a:blip>
          <a:stretch>
            <a:fillRect/>
          </a:stretch>
        </p:blipFill>
        <p:spPr>
          <a:xfrm>
            <a:off x="743588" y="1078520"/>
            <a:ext cx="7622994" cy="459208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bc6f659c99_0_76"/>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60" name="Google Shape;160;g3bc6f659c99_0_76"/>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61" name="Google Shape;161;g3bc6f659c99_0_76"/>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62" name="Google Shape;162;g3bc6f659c99_0_76"/>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63" name="Google Shape;163;g3bc6f659c99_0_76"/>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64" name="Google Shape;164;g3bc6f659c99_0_76"/>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65" name="Google Shape;165;g3bc6f659c99_0_76"/>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66" name="Google Shape;166;g3bc6f659c99_0_76"/>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Servers</a:t>
            </a:r>
            <a:endParaRPr b="0" i="0" sz="3000" u="none" cap="none" strike="noStrike">
              <a:solidFill>
                <a:srgbClr val="000000"/>
              </a:solidFill>
              <a:latin typeface="Arial"/>
              <a:ea typeface="Arial"/>
              <a:cs typeface="Arial"/>
              <a:sym typeface="Arial"/>
            </a:endParaRPr>
          </a:p>
        </p:txBody>
      </p:sp>
      <p:pic>
        <p:nvPicPr>
          <p:cNvPr id="167" name="Google Shape;167;g3bc6f659c99_0_76"/>
          <p:cNvPicPr preferRelativeResize="0"/>
          <p:nvPr/>
        </p:nvPicPr>
        <p:blipFill>
          <a:blip r:embed="rId7">
            <a:alphaModFix/>
          </a:blip>
          <a:stretch>
            <a:fillRect/>
          </a:stretch>
        </p:blipFill>
        <p:spPr>
          <a:xfrm>
            <a:off x="286400" y="1966763"/>
            <a:ext cx="4285599" cy="2815599"/>
          </a:xfrm>
          <a:prstGeom prst="rect">
            <a:avLst/>
          </a:prstGeom>
          <a:noFill/>
          <a:ln cap="flat" cmpd="sng" w="9525">
            <a:solidFill>
              <a:schemeClr val="dk1"/>
            </a:solidFill>
            <a:prstDash val="solid"/>
            <a:round/>
            <a:headEnd len="sm" w="sm" type="none"/>
            <a:tailEnd len="sm" w="sm" type="none"/>
          </a:ln>
        </p:spPr>
      </p:pic>
      <p:sp>
        <p:nvSpPr>
          <p:cNvPr id="168" name="Google Shape;168;g3bc6f659c99_0_76"/>
          <p:cNvSpPr txBox="1"/>
          <p:nvPr/>
        </p:nvSpPr>
        <p:spPr>
          <a:xfrm>
            <a:off x="4760975" y="1255775"/>
            <a:ext cx="4201500" cy="4352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b="1" lang="en-IN" sz="1600"/>
              <a:t>N+2 Fans </a:t>
            </a:r>
            <a:r>
              <a:rPr lang="en-IN" sz="1600"/>
              <a:t>- Cooling + Reliability: Fans push air through the server to remove heat from CPU, RAM, SSDs, etc.</a:t>
            </a:r>
            <a:endParaRPr sz="1600"/>
          </a:p>
          <a:p>
            <a:pPr indent="-330200" lvl="0" marL="457200" rtl="0" algn="l">
              <a:spcBef>
                <a:spcPts val="0"/>
              </a:spcBef>
              <a:spcAft>
                <a:spcPts val="0"/>
              </a:spcAft>
              <a:buSzPts val="1600"/>
              <a:buAutoNum type="arabicPeriod"/>
            </a:pPr>
            <a:r>
              <a:rPr b="1" lang="en-IN" sz="1600">
                <a:solidFill>
                  <a:schemeClr val="dk1"/>
                </a:solidFill>
              </a:rPr>
              <a:t>“Remote heatsink”</a:t>
            </a:r>
            <a:r>
              <a:rPr lang="en-IN" sz="1600">
                <a:solidFill>
                  <a:schemeClr val="dk1"/>
                </a:solidFill>
              </a:rPr>
              <a:t> - </a:t>
            </a:r>
            <a:r>
              <a:rPr lang="en-IN" sz="1600"/>
              <a:t>Modern CPUs can be very high power (high TDP- Thermal Design Power). Heat is moved away (often using heat pipes) to a location with stronger airflow. Helps cool hotter CPUs in a tight 1U (1.7f inches height) chassis.</a:t>
            </a:r>
            <a:endParaRPr sz="1600"/>
          </a:p>
          <a:p>
            <a:pPr indent="-330200" lvl="0" marL="457200" rtl="0" algn="l">
              <a:spcBef>
                <a:spcPts val="0"/>
              </a:spcBef>
              <a:spcAft>
                <a:spcPts val="0"/>
              </a:spcAft>
              <a:buSzPts val="1600"/>
              <a:buAutoNum type="arabicPeriod"/>
            </a:pPr>
            <a:r>
              <a:rPr b="1" lang="en-IN" sz="1600"/>
              <a:t>Dual 3Φ (Three-Phase) PSU (Power Supply Unit) with Battery</a:t>
            </a:r>
            <a:r>
              <a:rPr lang="en-IN" sz="1600"/>
              <a:t> - </a:t>
            </a:r>
            <a:endParaRPr sz="1600"/>
          </a:p>
          <a:p>
            <a:pPr indent="0" lvl="0" marL="457200" rtl="0" algn="l">
              <a:spcBef>
                <a:spcPts val="0"/>
              </a:spcBef>
              <a:spcAft>
                <a:spcPts val="0"/>
              </a:spcAft>
              <a:buNone/>
            </a:pPr>
            <a:r>
              <a:rPr lang="en-IN" sz="1600"/>
              <a:t>Dual PSU: Two power supply units → redundancy (if one fails, other can keep server alive). In racks, typically each PSU is connected to a different power feed.</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bc6f659c99_0_89"/>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74" name="Google Shape;174;g3bc6f659c99_0_89"/>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75" name="Google Shape;175;g3bc6f659c99_0_89"/>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76" name="Google Shape;176;g3bc6f659c99_0_89"/>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77" name="Google Shape;177;g3bc6f659c99_0_89"/>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78" name="Google Shape;178;g3bc6f659c99_0_89"/>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79" name="Google Shape;179;g3bc6f659c99_0_89"/>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80" name="Google Shape;180;g3bc6f659c99_0_89"/>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Servers</a:t>
            </a:r>
            <a:endParaRPr b="0" i="0" sz="3000" u="none" cap="none" strike="noStrike">
              <a:solidFill>
                <a:srgbClr val="000000"/>
              </a:solidFill>
              <a:latin typeface="Arial"/>
              <a:ea typeface="Arial"/>
              <a:cs typeface="Arial"/>
              <a:sym typeface="Arial"/>
            </a:endParaRPr>
          </a:p>
        </p:txBody>
      </p:sp>
      <p:pic>
        <p:nvPicPr>
          <p:cNvPr id="181" name="Google Shape;181;g3bc6f659c99_0_89"/>
          <p:cNvPicPr preferRelativeResize="0"/>
          <p:nvPr/>
        </p:nvPicPr>
        <p:blipFill>
          <a:blip r:embed="rId7">
            <a:alphaModFix/>
          </a:blip>
          <a:stretch>
            <a:fillRect/>
          </a:stretch>
        </p:blipFill>
        <p:spPr>
          <a:xfrm>
            <a:off x="176675" y="2169038"/>
            <a:ext cx="4285599" cy="2920449"/>
          </a:xfrm>
          <a:prstGeom prst="rect">
            <a:avLst/>
          </a:prstGeom>
          <a:noFill/>
          <a:ln cap="flat" cmpd="sng" w="9525">
            <a:solidFill>
              <a:schemeClr val="dk1"/>
            </a:solidFill>
            <a:prstDash val="solid"/>
            <a:round/>
            <a:headEnd len="sm" w="sm" type="none"/>
            <a:tailEnd len="sm" w="sm" type="none"/>
          </a:ln>
        </p:spPr>
      </p:pic>
      <p:sp>
        <p:nvSpPr>
          <p:cNvPr id="182" name="Google Shape;182;g3bc6f659c99_0_89"/>
          <p:cNvSpPr txBox="1"/>
          <p:nvPr/>
        </p:nvSpPr>
        <p:spPr>
          <a:xfrm>
            <a:off x="4572000" y="1255775"/>
            <a:ext cx="4390500" cy="477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spcBef>
                <a:spcPts val="0"/>
              </a:spcBef>
              <a:spcAft>
                <a:spcPts val="0"/>
              </a:spcAft>
              <a:buNone/>
            </a:pPr>
            <a:r>
              <a:rPr b="1" lang="en-IN" sz="1700"/>
              <a:t>3. 3Φ (Three-phase power)</a:t>
            </a:r>
            <a:endParaRPr b="1" sz="1700"/>
          </a:p>
          <a:p>
            <a:pPr indent="0" lvl="0" marL="457200" rtl="0" algn="l">
              <a:spcBef>
                <a:spcPts val="0"/>
              </a:spcBef>
              <a:spcAft>
                <a:spcPts val="0"/>
              </a:spcAft>
              <a:buNone/>
            </a:pPr>
            <a:r>
              <a:rPr lang="en-IN" sz="1700"/>
              <a:t>Used in data centers for efficiency and to handle high power loads better than single phase.</a:t>
            </a:r>
            <a:endParaRPr sz="1700"/>
          </a:p>
          <a:p>
            <a:pPr indent="0" lvl="0" marL="0" rtl="0" algn="l">
              <a:spcBef>
                <a:spcPts val="0"/>
              </a:spcBef>
              <a:spcAft>
                <a:spcPts val="0"/>
              </a:spcAft>
              <a:buNone/>
            </a:pPr>
            <a:r>
              <a:rPr b="1" lang="en-IN" sz="1700"/>
              <a:t>4. DDR4 DIMMs </a:t>
            </a:r>
            <a:r>
              <a:rPr lang="en-IN" sz="1700"/>
              <a:t>— Main Memory (RAM)</a:t>
            </a:r>
            <a:endParaRPr sz="1700"/>
          </a:p>
          <a:p>
            <a:pPr indent="0" lvl="0" marL="0" rtl="0" algn="l">
              <a:spcBef>
                <a:spcPts val="0"/>
              </a:spcBef>
              <a:spcAft>
                <a:spcPts val="0"/>
              </a:spcAft>
              <a:buNone/>
            </a:pPr>
            <a:r>
              <a:rPr b="1" lang="en-IN" sz="1700"/>
              <a:t>5. Next Gen CPUs</a:t>
            </a:r>
            <a:r>
              <a:rPr lang="en-IN" sz="1700"/>
              <a:t> — Compute engines (running OS / hypervisor (VMware, KVM, Hyper-V), running workloads: web apps, databases, AI inference, etc.)</a:t>
            </a:r>
            <a:endParaRPr sz="1700"/>
          </a:p>
          <a:p>
            <a:pPr indent="0" lvl="0" marL="0" rtl="0" algn="l">
              <a:spcBef>
                <a:spcPts val="0"/>
              </a:spcBef>
              <a:spcAft>
                <a:spcPts val="0"/>
              </a:spcAft>
              <a:buNone/>
            </a:pPr>
            <a:r>
              <a:rPr b="1" lang="en-IN" sz="1700"/>
              <a:t>6. (8) M.2 NVMe SSDs</a:t>
            </a:r>
            <a:r>
              <a:rPr lang="en-IN" sz="1700"/>
              <a:t> — High-speed storage</a:t>
            </a:r>
            <a:endParaRPr sz="1700"/>
          </a:p>
          <a:p>
            <a:pPr indent="0" lvl="0" marL="0" rtl="0" algn="l">
              <a:spcBef>
                <a:spcPts val="0"/>
              </a:spcBef>
              <a:spcAft>
                <a:spcPts val="0"/>
              </a:spcAft>
              <a:buNone/>
            </a:pPr>
            <a:r>
              <a:rPr b="1" lang="en-IN" sz="1700"/>
              <a:t>7. 50G Networking </a:t>
            </a:r>
            <a:r>
              <a:rPr lang="en-IN" sz="1700"/>
              <a:t>— High bandwidth connectivity</a:t>
            </a:r>
            <a:endParaRPr sz="1700"/>
          </a:p>
          <a:p>
            <a:pPr indent="0" lvl="0" marL="0" rtl="0" algn="l">
              <a:spcBef>
                <a:spcPts val="0"/>
              </a:spcBef>
              <a:spcAft>
                <a:spcPts val="0"/>
              </a:spcAft>
              <a:buNone/>
            </a:pPr>
            <a:r>
              <a:rPr b="1" lang="en-IN" sz="1700"/>
              <a:t>8. Up to (3) FHHL PCIe x16 Cards — Expansion / Acceleration</a:t>
            </a:r>
            <a:r>
              <a:rPr lang="en-IN" sz="1700"/>
              <a:t>- Full Height Half Length (Supports GPUs, SmartNIC)</a:t>
            </a:r>
            <a:endParaRPr sz="1700"/>
          </a:p>
          <a:p>
            <a:pPr indent="0" lvl="0" marL="0" rtl="0" algn="l">
              <a:spcBef>
                <a:spcPts val="0"/>
              </a:spcBef>
              <a:spcAft>
                <a:spcPts val="0"/>
              </a:spcAft>
              <a:buNone/>
            </a:pPr>
            <a:r>
              <a:rPr b="1" lang="en-IN" sz="1700"/>
              <a:t>9. Universal Motherboard </a:t>
            </a:r>
            <a:r>
              <a:rPr lang="en-IN" sz="1700"/>
              <a:t>— “Main highway” connecting everything</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457200" rtl="0" algn="l">
              <a:spcBef>
                <a:spcPts val="0"/>
              </a:spcBef>
              <a:spcAft>
                <a:spcPts val="0"/>
              </a:spcAft>
              <a:buNone/>
            </a:pPr>
            <a:r>
              <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bc6f659c99_0_102"/>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188" name="Google Shape;188;g3bc6f659c99_0_102"/>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189" name="Google Shape;189;g3bc6f659c99_0_102"/>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190" name="Google Shape;190;g3bc6f659c99_0_102"/>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191" name="Google Shape;191;g3bc6f659c99_0_102"/>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192" name="Google Shape;192;g3bc6f659c99_0_102"/>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193" name="Google Shape;193;g3bc6f659c99_0_102"/>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194" name="Google Shape;194;g3bc6f659c99_0_102"/>
          <p:cNvSpPr/>
          <p:nvPr/>
        </p:nvSpPr>
        <p:spPr>
          <a:xfrm>
            <a:off x="478688" y="37232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Servers</a:t>
            </a:r>
            <a:endParaRPr b="0" i="0" sz="3000" u="none" cap="none" strike="noStrike">
              <a:solidFill>
                <a:srgbClr val="000000"/>
              </a:solidFill>
              <a:latin typeface="Arial"/>
              <a:ea typeface="Arial"/>
              <a:cs typeface="Arial"/>
              <a:sym typeface="Arial"/>
            </a:endParaRPr>
          </a:p>
        </p:txBody>
      </p:sp>
      <p:pic>
        <p:nvPicPr>
          <p:cNvPr id="195" name="Google Shape;195;g3bc6f659c99_0_102"/>
          <p:cNvPicPr preferRelativeResize="0"/>
          <p:nvPr/>
        </p:nvPicPr>
        <p:blipFill>
          <a:blip r:embed="rId7">
            <a:alphaModFix/>
          </a:blip>
          <a:stretch>
            <a:fillRect/>
          </a:stretch>
        </p:blipFill>
        <p:spPr>
          <a:xfrm>
            <a:off x="286400" y="1736900"/>
            <a:ext cx="4285599" cy="2815599"/>
          </a:xfrm>
          <a:prstGeom prst="rect">
            <a:avLst/>
          </a:prstGeom>
          <a:noFill/>
          <a:ln cap="flat" cmpd="sng" w="9525">
            <a:solidFill>
              <a:schemeClr val="dk1"/>
            </a:solidFill>
            <a:prstDash val="solid"/>
            <a:round/>
            <a:headEnd len="sm" w="sm" type="none"/>
            <a:tailEnd len="sm" w="sm" type="none"/>
          </a:ln>
        </p:spPr>
      </p:pic>
      <p:sp>
        <p:nvSpPr>
          <p:cNvPr id="196" name="Google Shape;196;g3bc6f659c99_0_102"/>
          <p:cNvSpPr txBox="1"/>
          <p:nvPr/>
        </p:nvSpPr>
        <p:spPr>
          <a:xfrm>
            <a:off x="4676950" y="1323225"/>
            <a:ext cx="4285500" cy="4633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1600">
                <a:solidFill>
                  <a:schemeClr val="dk1"/>
                </a:solidFill>
              </a:rPr>
              <a:t>How everything works together (simple flow)</a:t>
            </a:r>
            <a:endParaRPr b="1" sz="1600">
              <a:solidFill>
                <a:schemeClr val="dk1"/>
              </a:solidFill>
            </a:endParaRPr>
          </a:p>
          <a:p>
            <a:pPr indent="-330200" lvl="0" marL="457200" rtl="0" algn="l">
              <a:lnSpc>
                <a:spcPct val="100000"/>
              </a:lnSpc>
              <a:spcBef>
                <a:spcPts val="1400"/>
              </a:spcBef>
              <a:spcAft>
                <a:spcPts val="0"/>
              </a:spcAft>
              <a:buClr>
                <a:schemeClr val="dk1"/>
              </a:buClr>
              <a:buSzPts val="1600"/>
              <a:buAutoNum type="alphaUcPeriod"/>
            </a:pPr>
            <a:r>
              <a:rPr b="1" lang="en-IN" sz="1600">
                <a:solidFill>
                  <a:schemeClr val="dk1"/>
                </a:solidFill>
              </a:rPr>
              <a:t>Power path</a:t>
            </a:r>
            <a:endParaRPr b="1" sz="1600">
              <a:solidFill>
                <a:schemeClr val="dk1"/>
              </a:solidFill>
            </a:endParaRPr>
          </a:p>
          <a:p>
            <a:pPr indent="0" lvl="0" marL="0" rtl="0" algn="l">
              <a:lnSpc>
                <a:spcPct val="100000"/>
              </a:lnSpc>
              <a:spcBef>
                <a:spcPts val="1200"/>
              </a:spcBef>
              <a:spcAft>
                <a:spcPts val="0"/>
              </a:spcAft>
              <a:buNone/>
            </a:pPr>
            <a:r>
              <a:rPr lang="en-IN" sz="1600">
                <a:solidFill>
                  <a:schemeClr val="dk1"/>
                </a:solidFill>
              </a:rPr>
              <a:t>AC power → Dual PSU → motherboard power rails → CPU/RAM/SSD/NIC</a:t>
            </a:r>
            <a:endParaRPr sz="1600">
              <a:solidFill>
                <a:schemeClr val="dk1"/>
              </a:solidFill>
            </a:endParaRPr>
          </a:p>
          <a:p>
            <a:pPr indent="-330200" lvl="0" marL="457200" rtl="0" algn="l">
              <a:lnSpc>
                <a:spcPct val="100000"/>
              </a:lnSpc>
              <a:spcBef>
                <a:spcPts val="1400"/>
              </a:spcBef>
              <a:spcAft>
                <a:spcPts val="0"/>
              </a:spcAft>
              <a:buClr>
                <a:schemeClr val="dk1"/>
              </a:buClr>
              <a:buSzPts val="1600"/>
              <a:buAutoNum type="alphaUcPeriod"/>
            </a:pPr>
            <a:r>
              <a:rPr b="1" lang="en-IN" sz="1600">
                <a:solidFill>
                  <a:schemeClr val="dk1"/>
                </a:solidFill>
              </a:rPr>
              <a:t>Data path</a:t>
            </a:r>
            <a:endParaRPr b="1" sz="1600">
              <a:solidFill>
                <a:schemeClr val="dk1"/>
              </a:solidFill>
            </a:endParaRPr>
          </a:p>
          <a:p>
            <a:pPr indent="0" lvl="0" marL="0" rtl="0" algn="l">
              <a:lnSpc>
                <a:spcPct val="100000"/>
              </a:lnSpc>
              <a:spcBef>
                <a:spcPts val="1200"/>
              </a:spcBef>
              <a:spcAft>
                <a:spcPts val="0"/>
              </a:spcAft>
              <a:buNone/>
            </a:pPr>
            <a:r>
              <a:rPr lang="en-IN" sz="1600">
                <a:solidFill>
                  <a:schemeClr val="dk1"/>
                </a:solidFill>
              </a:rPr>
              <a:t>CPU ↔ RAM (fastest)</a:t>
            </a:r>
            <a:br>
              <a:rPr lang="en-IN" sz="1600">
                <a:solidFill>
                  <a:schemeClr val="dk1"/>
                </a:solidFill>
              </a:rPr>
            </a:br>
            <a:r>
              <a:rPr lang="en-IN" sz="1600">
                <a:solidFill>
                  <a:schemeClr val="dk1"/>
                </a:solidFill>
              </a:rPr>
              <a:t> CPU ↔ NVMe SSD (very fast storage)</a:t>
            </a:r>
            <a:br>
              <a:rPr lang="en-IN" sz="1600">
                <a:solidFill>
                  <a:schemeClr val="dk1"/>
                </a:solidFill>
              </a:rPr>
            </a:br>
            <a:r>
              <a:rPr lang="en-IN" sz="1600">
                <a:solidFill>
                  <a:schemeClr val="dk1"/>
                </a:solidFill>
              </a:rPr>
              <a:t> CPU ↔ NIC (network traffic out to other servers/storage)</a:t>
            </a:r>
            <a:br>
              <a:rPr lang="en-IN" sz="1600">
                <a:solidFill>
                  <a:schemeClr val="dk1"/>
                </a:solidFill>
              </a:rPr>
            </a:br>
            <a:r>
              <a:rPr lang="en-IN" sz="1600">
                <a:solidFill>
                  <a:schemeClr val="dk1"/>
                </a:solidFill>
              </a:rPr>
              <a:t> CPU ↔ PCIe cards (GPU/NIC/etc.)</a:t>
            </a:r>
            <a:endParaRPr sz="1600">
              <a:solidFill>
                <a:schemeClr val="dk1"/>
              </a:solidFill>
            </a:endParaRPr>
          </a:p>
          <a:p>
            <a:pPr indent="-330200" lvl="0" marL="457200" rtl="0" algn="l">
              <a:lnSpc>
                <a:spcPct val="100000"/>
              </a:lnSpc>
              <a:spcBef>
                <a:spcPts val="1400"/>
              </a:spcBef>
              <a:spcAft>
                <a:spcPts val="0"/>
              </a:spcAft>
              <a:buClr>
                <a:schemeClr val="dk1"/>
              </a:buClr>
              <a:buSzPts val="1600"/>
              <a:buAutoNum type="alphaUcPeriod"/>
            </a:pPr>
            <a:r>
              <a:rPr b="1" lang="en-IN" sz="1600">
                <a:solidFill>
                  <a:schemeClr val="dk1"/>
                </a:solidFill>
              </a:rPr>
              <a:t>Cooling path</a:t>
            </a:r>
            <a:endParaRPr b="1" sz="1600">
              <a:solidFill>
                <a:schemeClr val="dk1"/>
              </a:solidFill>
            </a:endParaRPr>
          </a:p>
          <a:p>
            <a:pPr indent="0" lvl="0" marL="0" rtl="0" algn="l">
              <a:lnSpc>
                <a:spcPct val="100000"/>
              </a:lnSpc>
              <a:spcBef>
                <a:spcPts val="1200"/>
              </a:spcBef>
              <a:spcAft>
                <a:spcPts val="1200"/>
              </a:spcAft>
              <a:buNone/>
            </a:pPr>
            <a:r>
              <a:rPr lang="en-IN" sz="1600">
                <a:solidFill>
                  <a:schemeClr val="dk1"/>
                </a:solidFill>
              </a:rPr>
              <a:t>Fans pull/push air → across heatsinks + components → exhaust out the back</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bc6f659c99_0_118"/>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202" name="Google Shape;202;g3bc6f659c99_0_118"/>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203" name="Google Shape;203;g3bc6f659c99_0_118"/>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204" name="Google Shape;204;g3bc6f659c99_0_11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05" name="Google Shape;205;g3bc6f659c99_0_11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06" name="Google Shape;206;g3bc6f659c99_0_118"/>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207" name="Google Shape;207;g3bc6f659c99_0_118"/>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208" name="Google Shape;208;g3bc6f659c99_0_118"/>
          <p:cNvSpPr/>
          <p:nvPr/>
        </p:nvSpPr>
        <p:spPr>
          <a:xfrm>
            <a:off x="478675" y="43670"/>
            <a:ext cx="8152800" cy="55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Cooling</a:t>
            </a:r>
            <a:endParaRPr b="0" i="0" sz="3000" u="none" cap="none" strike="noStrike">
              <a:solidFill>
                <a:srgbClr val="000000"/>
              </a:solidFill>
              <a:latin typeface="Arial"/>
              <a:ea typeface="Arial"/>
              <a:cs typeface="Arial"/>
              <a:sym typeface="Arial"/>
            </a:endParaRPr>
          </a:p>
        </p:txBody>
      </p:sp>
      <p:pic>
        <p:nvPicPr>
          <p:cNvPr id="209" name="Google Shape;209;g3bc6f659c99_0_118"/>
          <p:cNvPicPr preferRelativeResize="0"/>
          <p:nvPr/>
        </p:nvPicPr>
        <p:blipFill>
          <a:blip r:embed="rId7">
            <a:alphaModFix/>
          </a:blip>
          <a:stretch>
            <a:fillRect/>
          </a:stretch>
        </p:blipFill>
        <p:spPr>
          <a:xfrm>
            <a:off x="975375" y="658262"/>
            <a:ext cx="6704475" cy="5103950"/>
          </a:xfrm>
          <a:prstGeom prst="rect">
            <a:avLst/>
          </a:prstGeom>
          <a:noFill/>
          <a:ln cap="flat" cmpd="sng" w="9525">
            <a:solidFill>
              <a:schemeClr val="dk1"/>
            </a:solidFill>
            <a:prstDash val="solid"/>
            <a:round/>
            <a:headEnd len="sm" w="sm" type="none"/>
            <a:tailEnd len="sm" w="sm" type="none"/>
          </a:ln>
        </p:spPr>
      </p:pic>
      <p:sp>
        <p:nvSpPr>
          <p:cNvPr id="210" name="Google Shape;210;g3bc6f659c99_0_118"/>
          <p:cNvSpPr txBox="1"/>
          <p:nvPr/>
        </p:nvSpPr>
        <p:spPr>
          <a:xfrm>
            <a:off x="1981975" y="5742238"/>
            <a:ext cx="67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Sasser, “A Look at Data Center Cooling Technologies”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bc6f659c99_0_137"/>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216" name="Google Shape;216;g3bc6f659c99_0_137"/>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217" name="Google Shape;217;g3bc6f659c99_0_137"/>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218" name="Google Shape;218;g3bc6f659c99_0_137"/>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19" name="Google Shape;219;g3bc6f659c99_0_137"/>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20" name="Google Shape;220;g3bc6f659c99_0_137"/>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221" name="Google Shape;221;g3bc6f659c99_0_137"/>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222" name="Google Shape;222;g3bc6f659c99_0_137"/>
          <p:cNvSpPr/>
          <p:nvPr/>
        </p:nvSpPr>
        <p:spPr>
          <a:xfrm>
            <a:off x="495600" y="384954"/>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Mechanical Penthouse</a:t>
            </a:r>
            <a:endParaRPr b="0" i="0" sz="3000" u="none" cap="none" strike="noStrike">
              <a:solidFill>
                <a:srgbClr val="000000"/>
              </a:solidFill>
              <a:latin typeface="Arial"/>
              <a:ea typeface="Arial"/>
              <a:cs typeface="Arial"/>
              <a:sym typeface="Arial"/>
            </a:endParaRPr>
          </a:p>
        </p:txBody>
      </p:sp>
      <p:sp>
        <p:nvSpPr>
          <p:cNvPr id="223" name="Google Shape;223;g3bc6f659c99_0_137"/>
          <p:cNvSpPr txBox="1"/>
          <p:nvPr/>
        </p:nvSpPr>
        <p:spPr>
          <a:xfrm>
            <a:off x="1981975" y="5742238"/>
            <a:ext cx="67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Sasser, “A Look at Data Center Cooling Technologies”</a:t>
            </a:r>
            <a:endParaRPr/>
          </a:p>
        </p:txBody>
      </p:sp>
      <p:pic>
        <p:nvPicPr>
          <p:cNvPr id="224" name="Google Shape;224;g3bc6f659c99_0_137"/>
          <p:cNvPicPr preferRelativeResize="0"/>
          <p:nvPr/>
        </p:nvPicPr>
        <p:blipFill>
          <a:blip r:embed="rId7">
            <a:alphaModFix/>
          </a:blip>
          <a:stretch>
            <a:fillRect/>
          </a:stretch>
        </p:blipFill>
        <p:spPr>
          <a:xfrm>
            <a:off x="135475" y="1594807"/>
            <a:ext cx="8839200" cy="347925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bc6f659c99_0_151"/>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230" name="Google Shape;230;g3bc6f659c99_0_151"/>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231" name="Google Shape;231;g3bc6f659c99_0_151"/>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232" name="Google Shape;232;g3bc6f659c99_0_15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33" name="Google Shape;233;g3bc6f659c99_0_15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34" name="Google Shape;234;g3bc6f659c99_0_151"/>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235" name="Google Shape;235;g3bc6f659c99_0_151"/>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236" name="Google Shape;236;g3bc6f659c99_0_151"/>
          <p:cNvSpPr/>
          <p:nvPr/>
        </p:nvSpPr>
        <p:spPr>
          <a:xfrm>
            <a:off x="495600" y="384954"/>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Backup Power</a:t>
            </a:r>
            <a:endParaRPr b="0" i="0" sz="3000" u="none" cap="none" strike="noStrike">
              <a:solidFill>
                <a:srgbClr val="000000"/>
              </a:solidFill>
              <a:latin typeface="Arial"/>
              <a:ea typeface="Arial"/>
              <a:cs typeface="Arial"/>
              <a:sym typeface="Arial"/>
            </a:endParaRPr>
          </a:p>
        </p:txBody>
      </p:sp>
      <p:sp>
        <p:nvSpPr>
          <p:cNvPr id="237" name="Google Shape;237;g3bc6f659c99_0_151"/>
          <p:cNvSpPr txBox="1"/>
          <p:nvPr/>
        </p:nvSpPr>
        <p:spPr>
          <a:xfrm>
            <a:off x="1981975" y="5742238"/>
            <a:ext cx="67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Facebook datacenter, Prineville, Oregon; via TechCrunch</a:t>
            </a:r>
            <a:endParaRPr/>
          </a:p>
        </p:txBody>
      </p:sp>
      <p:pic>
        <p:nvPicPr>
          <p:cNvPr id="238" name="Google Shape;238;g3bc6f659c99_0_151"/>
          <p:cNvPicPr preferRelativeResize="0"/>
          <p:nvPr/>
        </p:nvPicPr>
        <p:blipFill>
          <a:blip r:embed="rId7">
            <a:alphaModFix/>
          </a:blip>
          <a:stretch>
            <a:fillRect/>
          </a:stretch>
        </p:blipFill>
        <p:spPr>
          <a:xfrm>
            <a:off x="1733400" y="1474679"/>
            <a:ext cx="5419452" cy="405348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bc6f659c99_0_166"/>
          <p:cNvSpPr txBox="1"/>
          <p:nvPr>
            <p:ph idx="10" type="dt"/>
          </p:nvPr>
        </p:nvSpPr>
        <p:spPr>
          <a:xfrm>
            <a:off x="457200" y="6356520"/>
            <a:ext cx="21333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28-01-2025</a:t>
            </a:r>
            <a:endParaRPr/>
          </a:p>
        </p:txBody>
      </p:sp>
      <p:sp>
        <p:nvSpPr>
          <p:cNvPr id="244" name="Google Shape;244;g3bc6f659c99_0_166"/>
          <p:cNvSpPr txBox="1"/>
          <p:nvPr>
            <p:ph idx="11" type="ftr"/>
          </p:nvPr>
        </p:nvSpPr>
        <p:spPr>
          <a:xfrm>
            <a:off x="3124080" y="6356520"/>
            <a:ext cx="28950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Prof. Shweta Dhawan Chachra</a:t>
            </a:r>
            <a:endParaRPr/>
          </a:p>
        </p:txBody>
      </p:sp>
      <p:sp>
        <p:nvSpPr>
          <p:cNvPr id="245" name="Google Shape;245;g3bc6f659c99_0_166"/>
          <p:cNvSpPr txBox="1"/>
          <p:nvPr>
            <p:ph idx="12" type="sldNum"/>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246" name="Google Shape;246;g3bc6f659c99_0_166"/>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47" name="Google Shape;247;g3bc6f659c99_0_166"/>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48" name="Google Shape;248;g3bc6f659c99_0_166"/>
          <p:cNvPicPr preferRelativeResize="0"/>
          <p:nvPr/>
        </p:nvPicPr>
        <p:blipFill rotWithShape="1">
          <a:blip r:embed="rId5">
            <a:alphaModFix/>
          </a:blip>
          <a:srcRect b="0" l="0" r="0" t="0"/>
          <a:stretch/>
        </p:blipFill>
        <p:spPr>
          <a:xfrm>
            <a:off x="34200" y="5823000"/>
            <a:ext cx="1699200" cy="424440"/>
          </a:xfrm>
          <a:prstGeom prst="rect">
            <a:avLst/>
          </a:prstGeom>
          <a:noFill/>
          <a:ln>
            <a:noFill/>
          </a:ln>
        </p:spPr>
      </p:pic>
      <p:pic>
        <p:nvPicPr>
          <p:cNvPr descr="A close up of a sign&#10;&#10;Description automatically generated" id="249" name="Google Shape;249;g3bc6f659c99_0_166"/>
          <p:cNvPicPr preferRelativeResize="0"/>
          <p:nvPr/>
        </p:nvPicPr>
        <p:blipFill rotWithShape="1">
          <a:blip r:embed="rId6">
            <a:alphaModFix/>
          </a:blip>
          <a:srcRect b="0" l="0" r="0" t="0"/>
          <a:stretch/>
        </p:blipFill>
        <p:spPr>
          <a:xfrm>
            <a:off x="8307720" y="5730120"/>
            <a:ext cx="654840" cy="424440"/>
          </a:xfrm>
          <a:prstGeom prst="rect">
            <a:avLst/>
          </a:prstGeom>
          <a:noFill/>
          <a:ln>
            <a:noFill/>
          </a:ln>
        </p:spPr>
      </p:pic>
      <p:sp>
        <p:nvSpPr>
          <p:cNvPr id="250" name="Google Shape;250;g3bc6f659c99_0_166"/>
          <p:cNvSpPr/>
          <p:nvPr/>
        </p:nvSpPr>
        <p:spPr>
          <a:xfrm>
            <a:off x="495600" y="384954"/>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Pictures- Battery Room</a:t>
            </a:r>
            <a:endParaRPr b="0" i="0" sz="3000" u="none" cap="none" strike="noStrike">
              <a:solidFill>
                <a:srgbClr val="000000"/>
              </a:solidFill>
              <a:latin typeface="Arial"/>
              <a:ea typeface="Arial"/>
              <a:cs typeface="Arial"/>
              <a:sym typeface="Arial"/>
            </a:endParaRPr>
          </a:p>
        </p:txBody>
      </p:sp>
      <p:sp>
        <p:nvSpPr>
          <p:cNvPr id="251" name="Google Shape;251;g3bc6f659c99_0_166"/>
          <p:cNvSpPr txBox="1"/>
          <p:nvPr/>
        </p:nvSpPr>
        <p:spPr>
          <a:xfrm>
            <a:off x="1621750" y="5730175"/>
            <a:ext cx="67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a:t>NOAA Center for Weather and Climate Prediction (at University of Maryland)</a:t>
            </a:r>
            <a:endParaRPr/>
          </a:p>
        </p:txBody>
      </p:sp>
      <p:pic>
        <p:nvPicPr>
          <p:cNvPr id="252" name="Google Shape;252;g3bc6f659c99_0_166"/>
          <p:cNvPicPr preferRelativeResize="0"/>
          <p:nvPr/>
        </p:nvPicPr>
        <p:blipFill>
          <a:blip r:embed="rId7">
            <a:alphaModFix/>
          </a:blip>
          <a:stretch>
            <a:fillRect/>
          </a:stretch>
        </p:blipFill>
        <p:spPr>
          <a:xfrm>
            <a:off x="1621750" y="1114500"/>
            <a:ext cx="5866674" cy="441368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bc6f659c99_0_4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259" name="Google Shape;259;g3bc6f659c99_0_43"/>
          <p:cNvSpPr/>
          <p:nvPr/>
        </p:nvSpPr>
        <p:spPr>
          <a:xfrm>
            <a:off x="153600" y="238625"/>
            <a:ext cx="8845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3. Basic DCN (Data Center Network) Architecture- </a:t>
            </a:r>
            <a:r>
              <a:rPr b="1" i="1" lang="en-IN" sz="1600">
                <a:solidFill>
                  <a:srgbClr val="FF0000"/>
                </a:solidFill>
              </a:rPr>
              <a:t>traditional 3-tier data-center network with a shared Layer-2 domain</a:t>
            </a:r>
            <a:endParaRPr b="0" i="1" sz="1600" u="none" cap="none" strike="noStrike">
              <a:solidFill>
                <a:srgbClr val="000000"/>
              </a:solidFill>
              <a:latin typeface="Arial"/>
              <a:ea typeface="Arial"/>
              <a:cs typeface="Arial"/>
              <a:sym typeface="Arial"/>
            </a:endParaRPr>
          </a:p>
        </p:txBody>
      </p:sp>
      <p:pic>
        <p:nvPicPr>
          <p:cNvPr id="260" name="Google Shape;260;g3bc6f659c99_0_43"/>
          <p:cNvPicPr preferRelativeResize="0"/>
          <p:nvPr/>
        </p:nvPicPr>
        <p:blipFill>
          <a:blip r:embed="rId3">
            <a:alphaModFix/>
          </a:blip>
          <a:stretch>
            <a:fillRect/>
          </a:stretch>
        </p:blipFill>
        <p:spPr>
          <a:xfrm>
            <a:off x="802440" y="1383950"/>
            <a:ext cx="7167135" cy="4727225"/>
          </a:xfrm>
          <a:prstGeom prst="rect">
            <a:avLst/>
          </a:prstGeom>
          <a:noFill/>
          <a:ln cap="flat" cmpd="sng" w="9525">
            <a:solidFill>
              <a:schemeClr val="dk1"/>
            </a:solidFill>
            <a:prstDash val="solid"/>
            <a:round/>
            <a:headEnd len="sm" w="sm" type="none"/>
            <a:tailEnd len="sm" w="sm" type="none"/>
          </a:ln>
        </p:spPr>
      </p:pic>
      <p:sp>
        <p:nvSpPr>
          <p:cNvPr id="261" name="Google Shape;261;g3bc6f659c99_0_43"/>
          <p:cNvSpPr txBox="1"/>
          <p:nvPr/>
        </p:nvSpPr>
        <p:spPr>
          <a:xfrm>
            <a:off x="6626350" y="2029550"/>
            <a:ext cx="2133300" cy="713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a:t>Data </a:t>
            </a:r>
            <a:r>
              <a:rPr b="1" lang="en-IN"/>
              <a:t>sent</a:t>
            </a:r>
            <a:r>
              <a:rPr b="1" lang="en-IN"/>
              <a:t> as IP packets using IP addresses</a:t>
            </a:r>
            <a:endParaRPr b="1"/>
          </a:p>
        </p:txBody>
      </p:sp>
      <p:sp>
        <p:nvSpPr>
          <p:cNvPr id="262" name="Google Shape;262;g3bc6f659c99_0_43"/>
          <p:cNvSpPr txBox="1"/>
          <p:nvPr/>
        </p:nvSpPr>
        <p:spPr>
          <a:xfrm>
            <a:off x="0" y="3914475"/>
            <a:ext cx="1341000" cy="1254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a:t>Data sent as Ethernet Frames using MAC addresses</a:t>
            </a:r>
            <a:endParaRPr b="1"/>
          </a:p>
        </p:txBody>
      </p:sp>
      <p:sp>
        <p:nvSpPr>
          <p:cNvPr id="263" name="Google Shape;263;g3bc6f659c99_0_43"/>
          <p:cNvSpPr/>
          <p:nvPr/>
        </p:nvSpPr>
        <p:spPr>
          <a:xfrm>
            <a:off x="6187450" y="2298200"/>
            <a:ext cx="438900" cy="17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g3bc6f659c99_0_43"/>
          <p:cNvSpPr/>
          <p:nvPr/>
        </p:nvSpPr>
        <p:spPr>
          <a:xfrm rot="-10797857">
            <a:off x="1340995" y="3999480"/>
            <a:ext cx="481200" cy="163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g3bc6f659c99_0_43"/>
          <p:cNvSpPr txBox="1"/>
          <p:nvPr/>
        </p:nvSpPr>
        <p:spPr>
          <a:xfrm>
            <a:off x="81600" y="6111175"/>
            <a:ext cx="8282100" cy="61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a:t>Layer 1 is present everywhere in the network diagram as the physical connections between devices.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bc8df442ee_0_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272" name="Google Shape;272;g3bc8df442ee_0_7"/>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Networking</a:t>
            </a:r>
            <a:endParaRPr b="0" i="0" sz="3000" u="none" cap="none" strike="noStrike">
              <a:solidFill>
                <a:srgbClr val="000000"/>
              </a:solidFill>
              <a:latin typeface="Arial"/>
              <a:ea typeface="Arial"/>
              <a:cs typeface="Arial"/>
              <a:sym typeface="Arial"/>
            </a:endParaRPr>
          </a:p>
        </p:txBody>
      </p:sp>
      <p:pic>
        <p:nvPicPr>
          <p:cNvPr id="273" name="Google Shape;273;g3bc8df442ee_0_7"/>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74" name="Google Shape;274;g3bc8df442ee_0_7"/>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75" name="Google Shape;275;g3bc8df442ee_0_7"/>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276" name="Google Shape;276;g3bc8df442ee_0_7"/>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graphicFrame>
        <p:nvGraphicFramePr>
          <p:cNvPr id="277" name="Google Shape;277;g3bc8df442ee_0_7"/>
          <p:cNvGraphicFramePr/>
          <p:nvPr/>
        </p:nvGraphicFramePr>
        <p:xfrm>
          <a:off x="318075" y="1659825"/>
          <a:ext cx="3000000" cy="3000000"/>
        </p:xfrm>
        <a:graphic>
          <a:graphicData uri="http://schemas.openxmlformats.org/drawingml/2006/table">
            <a:tbl>
              <a:tblPr>
                <a:noFill/>
                <a:tableStyleId>{6125A502-1D04-4CF7-B8BF-D3690062694B}</a:tableStyleId>
              </a:tblPr>
              <a:tblGrid>
                <a:gridCol w="923250"/>
                <a:gridCol w="1211400"/>
                <a:gridCol w="1224875"/>
                <a:gridCol w="1423650"/>
              </a:tblGrid>
              <a:tr h="200025">
                <a:tc>
                  <a:txBody>
                    <a:bodyPr/>
                    <a:lstStyle/>
                    <a:p>
                      <a:pPr indent="0" lvl="0" marL="0" rtl="0" algn="ctr">
                        <a:lnSpc>
                          <a:spcPct val="115000"/>
                        </a:lnSpc>
                        <a:spcBef>
                          <a:spcPts val="0"/>
                        </a:spcBef>
                        <a:spcAft>
                          <a:spcPts val="0"/>
                        </a:spcAft>
                        <a:buNone/>
                      </a:pPr>
                      <a:r>
                        <a:rPr b="1" lang="en-IN" sz="1600">
                          <a:solidFill>
                            <a:srgbClr val="FF0000"/>
                          </a:solidFill>
                        </a:rPr>
                        <a:t>Identity</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Meaning</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Example</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Used By</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IP address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i="1" lang="en-IN" sz="1600">
                          <a:solidFill>
                            <a:schemeClr val="dk1"/>
                          </a:solidFill>
                        </a:rPr>
                        <a:t>Logical address</a:t>
                      </a:r>
                      <a:r>
                        <a:rPr b="1" lang="en-IN" sz="1600">
                          <a:solidFill>
                            <a:schemeClr val="dk1"/>
                          </a:solidFill>
                        </a:rPr>
                        <a:t> </a:t>
                      </a:r>
                      <a:r>
                        <a:rPr lang="en-IN" sz="1600">
                          <a:solidFill>
                            <a:schemeClr val="dk1"/>
                          </a:solidFill>
                        </a:rPr>
                        <a:t>(who you are)</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solidFill>
                            <a:schemeClr val="dk1"/>
                          </a:solidFill>
                        </a:rPr>
                        <a:t>192.168.1.10</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solidFill>
                            <a:schemeClr val="dk1"/>
                          </a:solidFill>
                        </a:rPr>
                        <a:t>applications</a:t>
                      </a:r>
                      <a:endParaRPr sz="1600">
                        <a:solidFill>
                          <a:schemeClr val="dk1"/>
                        </a:solidFill>
                      </a:endParaRPr>
                    </a:p>
                    <a:p>
                      <a:pPr indent="0" lvl="0" marL="0" rtl="0" algn="l">
                        <a:spcBef>
                          <a:spcPts val="0"/>
                        </a:spcBef>
                        <a:spcAft>
                          <a:spcPts val="0"/>
                        </a:spcAft>
                        <a:buNone/>
                      </a:pPr>
                      <a:r>
                        <a:rPr lang="en-IN" sz="1600">
                          <a:solidFill>
                            <a:schemeClr val="dk1"/>
                          </a:solidFill>
                        </a:rPr>
                        <a:t>Layer 3 (Network layer)</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MAC address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i="1" lang="en-IN" sz="1600">
                          <a:solidFill>
                            <a:schemeClr val="dk1"/>
                          </a:solidFill>
                        </a:rPr>
                        <a:t>Physical address</a:t>
                      </a:r>
                      <a:r>
                        <a:rPr b="1" lang="en-IN" sz="1600">
                          <a:solidFill>
                            <a:schemeClr val="dk1"/>
                          </a:solidFill>
                        </a:rPr>
                        <a:t> </a:t>
                      </a:r>
                      <a:r>
                        <a:rPr lang="en-IN" sz="1600">
                          <a:solidFill>
                            <a:schemeClr val="dk1"/>
                          </a:solidFill>
                        </a:rPr>
                        <a:t>(where you are plugged)</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solidFill>
                            <a:schemeClr val="dk1"/>
                          </a:solidFill>
                        </a:rPr>
                        <a:t>AA:BB:CC:11:22:33</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solidFill>
                            <a:schemeClr val="dk1"/>
                          </a:solidFill>
                        </a:rPr>
                        <a:t>Ethernet</a:t>
                      </a:r>
                      <a:endParaRPr sz="1600">
                        <a:solidFill>
                          <a:schemeClr val="dk1"/>
                        </a:solidFill>
                      </a:endParaRPr>
                    </a:p>
                    <a:p>
                      <a:pPr indent="0" lvl="0" marL="0" rtl="0" algn="l">
                        <a:spcBef>
                          <a:spcPts val="0"/>
                        </a:spcBef>
                        <a:spcAft>
                          <a:spcPts val="0"/>
                        </a:spcAft>
                        <a:buNone/>
                      </a:pPr>
                      <a:r>
                        <a:rPr lang="en-IN" sz="1600">
                          <a:solidFill>
                            <a:schemeClr val="dk1"/>
                          </a:solidFill>
                        </a:rPr>
                        <a:t> Layer 2 (Data Link Layer)</a:t>
                      </a:r>
                      <a:endParaRPr sz="16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78" name="Google Shape;278;g3bc8df442ee_0_7"/>
          <p:cNvSpPr txBox="1"/>
          <p:nvPr/>
        </p:nvSpPr>
        <p:spPr>
          <a:xfrm>
            <a:off x="5172950" y="2810950"/>
            <a:ext cx="3789600" cy="999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sz="1600">
                <a:solidFill>
                  <a:srgbClr val="FF0000"/>
                </a:solidFill>
              </a:rPr>
              <a:t>Address Resolution Protocol (ARP)</a:t>
            </a:r>
            <a:endParaRPr b="1" sz="1600">
              <a:solidFill>
                <a:srgbClr val="FF0000"/>
              </a:solidFill>
            </a:endParaRPr>
          </a:p>
          <a:p>
            <a:pPr indent="0" lvl="0" marL="0" rtl="0" algn="l">
              <a:spcBef>
                <a:spcPts val="0"/>
              </a:spcBef>
              <a:spcAft>
                <a:spcPts val="0"/>
              </a:spcAft>
              <a:buNone/>
            </a:pPr>
            <a:r>
              <a:rPr lang="en-IN" sz="1600">
                <a:solidFill>
                  <a:schemeClr val="dk1"/>
                </a:solidFill>
              </a:rPr>
              <a:t>finds the </a:t>
            </a:r>
            <a:r>
              <a:rPr b="1" lang="en-IN" sz="1600">
                <a:solidFill>
                  <a:schemeClr val="dk1"/>
                </a:solidFill>
              </a:rPr>
              <a:t>MAC address</a:t>
            </a:r>
            <a:r>
              <a:rPr lang="en-IN" sz="1600">
                <a:solidFill>
                  <a:schemeClr val="dk1"/>
                </a:solidFill>
              </a:rPr>
              <a:t> corresponding to an </a:t>
            </a:r>
            <a:r>
              <a:rPr b="1" lang="en-IN" sz="1600">
                <a:solidFill>
                  <a:schemeClr val="dk1"/>
                </a:solidFill>
              </a:rPr>
              <a:t>IP address</a:t>
            </a:r>
            <a:endParaRPr b="1"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bc8df442ee_0_2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285" name="Google Shape;285;g3bc8df442ee_0_28"/>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Networking</a:t>
            </a:r>
            <a:endParaRPr b="0" i="0" sz="3000" u="none" cap="none" strike="noStrike">
              <a:solidFill>
                <a:srgbClr val="000000"/>
              </a:solidFill>
              <a:latin typeface="Arial"/>
              <a:ea typeface="Arial"/>
              <a:cs typeface="Arial"/>
              <a:sym typeface="Arial"/>
            </a:endParaRPr>
          </a:p>
        </p:txBody>
      </p:sp>
      <p:pic>
        <p:nvPicPr>
          <p:cNvPr id="286" name="Google Shape;286;g3bc8df442ee_0_2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287" name="Google Shape;287;g3bc8df442ee_0_2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288" name="Google Shape;288;g3bc8df442ee_0_2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289" name="Google Shape;289;g3bc8df442ee_0_2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290" name="Google Shape;290;g3bc8df442ee_0_28"/>
          <p:cNvPicPr preferRelativeResize="0"/>
          <p:nvPr/>
        </p:nvPicPr>
        <p:blipFill>
          <a:blip r:embed="rId7">
            <a:alphaModFix/>
          </a:blip>
          <a:stretch>
            <a:fillRect/>
          </a:stretch>
        </p:blipFill>
        <p:spPr>
          <a:xfrm>
            <a:off x="962563" y="851587"/>
            <a:ext cx="7218875" cy="515482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bc8df442ee_0_41"/>
          <p:cNvSpPr/>
          <p:nvPr/>
        </p:nvSpPr>
        <p:spPr>
          <a:xfrm>
            <a:off x="2091725" y="1400500"/>
            <a:ext cx="4290300" cy="361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g3bc8df442ee_0_4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298" name="Google Shape;298;g3bc8df442ee_0_41"/>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Networking</a:t>
            </a:r>
            <a:endParaRPr b="0" i="0" sz="3000" u="none" cap="none" strike="noStrike">
              <a:solidFill>
                <a:srgbClr val="000000"/>
              </a:solidFill>
              <a:latin typeface="Arial"/>
              <a:ea typeface="Arial"/>
              <a:cs typeface="Arial"/>
              <a:sym typeface="Arial"/>
            </a:endParaRPr>
          </a:p>
        </p:txBody>
      </p:sp>
      <p:pic>
        <p:nvPicPr>
          <p:cNvPr id="299" name="Google Shape;299;g3bc8df442ee_0_4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00" name="Google Shape;300;g3bc8df442ee_0_4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01" name="Google Shape;301;g3bc8df442ee_0_41"/>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02" name="Google Shape;302;g3bc8df442ee_0_41"/>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03" name="Google Shape;303;g3bc8df442ee_0_41"/>
          <p:cNvSpPr txBox="1"/>
          <p:nvPr/>
        </p:nvSpPr>
        <p:spPr>
          <a:xfrm>
            <a:off x="2237825" y="2050013"/>
            <a:ext cx="3998100" cy="6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600"/>
              <a:t>I</a:t>
            </a:r>
            <a:r>
              <a:rPr b="1" lang="en-IN" sz="1600"/>
              <a:t>P                              MAC</a:t>
            </a:r>
            <a:endParaRPr b="1" sz="1600"/>
          </a:p>
          <a:p>
            <a:pPr indent="0" lvl="0" marL="0" rtl="0" algn="l">
              <a:spcBef>
                <a:spcPts val="0"/>
              </a:spcBef>
              <a:spcAft>
                <a:spcPts val="0"/>
              </a:spcAft>
              <a:buNone/>
            </a:pPr>
            <a:r>
              <a:rPr lang="en-IN" sz="1600"/>
              <a:t>192.168.1.20 →        BB:BB:BB:BB:BB:BB</a:t>
            </a:r>
            <a:endParaRPr sz="1600"/>
          </a:p>
        </p:txBody>
      </p:sp>
      <p:sp>
        <p:nvSpPr>
          <p:cNvPr id="304" name="Google Shape;304;g3bc8df442ee_0_41"/>
          <p:cNvSpPr txBox="1"/>
          <p:nvPr/>
        </p:nvSpPr>
        <p:spPr>
          <a:xfrm>
            <a:off x="2237825" y="1664513"/>
            <a:ext cx="1573800" cy="385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sz="1600"/>
              <a:t>ARP Table</a:t>
            </a:r>
            <a:endParaRPr b="1" sz="1600"/>
          </a:p>
        </p:txBody>
      </p:sp>
      <p:sp>
        <p:nvSpPr>
          <p:cNvPr id="305" name="Google Shape;305;g3bc8df442ee_0_41"/>
          <p:cNvSpPr txBox="1"/>
          <p:nvPr/>
        </p:nvSpPr>
        <p:spPr>
          <a:xfrm>
            <a:off x="2237825" y="3824188"/>
            <a:ext cx="3998100" cy="92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sz="1600"/>
              <a:t>MAC                                    Port</a:t>
            </a:r>
            <a:endParaRPr b="1" sz="1600"/>
          </a:p>
          <a:p>
            <a:pPr indent="0" lvl="0" marL="0" rtl="0" algn="l">
              <a:spcBef>
                <a:spcPts val="0"/>
              </a:spcBef>
              <a:spcAft>
                <a:spcPts val="0"/>
              </a:spcAft>
              <a:buNone/>
            </a:pPr>
            <a:r>
              <a:rPr lang="en-IN" sz="1600"/>
              <a:t>AA:AA:AA:AA:AA:AA →      Port 3</a:t>
            </a:r>
            <a:endParaRPr sz="1600"/>
          </a:p>
          <a:p>
            <a:pPr indent="0" lvl="0" marL="0" rtl="0" algn="l">
              <a:spcBef>
                <a:spcPts val="0"/>
              </a:spcBef>
              <a:spcAft>
                <a:spcPts val="0"/>
              </a:spcAft>
              <a:buNone/>
            </a:pPr>
            <a:r>
              <a:rPr lang="en-IN" sz="1600"/>
              <a:t>BB:BB:BB:BB:BB:BB →      Port 7</a:t>
            </a:r>
            <a:endParaRPr sz="1600"/>
          </a:p>
        </p:txBody>
      </p:sp>
      <p:sp>
        <p:nvSpPr>
          <p:cNvPr id="306" name="Google Shape;306;g3bc8df442ee_0_41"/>
          <p:cNvSpPr txBox="1"/>
          <p:nvPr/>
        </p:nvSpPr>
        <p:spPr>
          <a:xfrm>
            <a:off x="2237825" y="3459388"/>
            <a:ext cx="3531000" cy="364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sz="1600"/>
              <a:t>Switches maintain MAC table</a:t>
            </a:r>
            <a:endParaRPr b="1"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bc8df442ee_0_6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13" name="Google Shape;313;g3bc8df442ee_0_63"/>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Networking</a:t>
            </a:r>
            <a:endParaRPr b="0" i="0" sz="3000" u="none" cap="none" strike="noStrike">
              <a:solidFill>
                <a:srgbClr val="000000"/>
              </a:solidFill>
              <a:latin typeface="Arial"/>
              <a:ea typeface="Arial"/>
              <a:cs typeface="Arial"/>
              <a:sym typeface="Arial"/>
            </a:endParaRPr>
          </a:p>
        </p:txBody>
      </p:sp>
      <p:pic>
        <p:nvPicPr>
          <p:cNvPr id="314" name="Google Shape;314;g3bc8df442ee_0_63"/>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15" name="Google Shape;315;g3bc8df442ee_0_63"/>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16" name="Google Shape;316;g3bc8df442ee_0_63"/>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17" name="Google Shape;317;g3bc8df442ee_0_63"/>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18" name="Google Shape;318;g3bc8df442ee_0_63"/>
          <p:cNvSpPr txBox="1"/>
          <p:nvPr/>
        </p:nvSpPr>
        <p:spPr>
          <a:xfrm>
            <a:off x="269550" y="1126450"/>
            <a:ext cx="8514600" cy="92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IN" sz="1600">
                <a:solidFill>
                  <a:schemeClr val="dk1"/>
                </a:solidFill>
              </a:rPr>
              <a:t>The</a:t>
            </a:r>
            <a:r>
              <a:rPr b="1" lang="en-IN" sz="1600">
                <a:solidFill>
                  <a:schemeClr val="dk1"/>
                </a:solidFill>
              </a:rPr>
              <a:t> laptop </a:t>
            </a:r>
            <a:r>
              <a:rPr lang="en-IN" sz="1600">
                <a:solidFill>
                  <a:schemeClr val="dk1"/>
                </a:solidFill>
              </a:rPr>
              <a:t>sends a </a:t>
            </a:r>
            <a:r>
              <a:rPr b="1" lang="en-IN" sz="1600">
                <a:solidFill>
                  <a:schemeClr val="dk1"/>
                </a:solidFill>
              </a:rPr>
              <a:t>DNS query</a:t>
            </a:r>
            <a:r>
              <a:rPr lang="en-IN" sz="1600">
                <a:solidFill>
                  <a:schemeClr val="dk1"/>
                </a:solidFill>
              </a:rPr>
              <a:t> containing the </a:t>
            </a:r>
            <a:r>
              <a:rPr b="1" lang="en-IN" sz="1600">
                <a:solidFill>
                  <a:schemeClr val="dk1"/>
                </a:solidFill>
              </a:rPr>
              <a:t>domain name www.google.com</a:t>
            </a:r>
            <a:r>
              <a:rPr lang="en-IN" sz="1600">
                <a:solidFill>
                  <a:schemeClr val="dk1"/>
                </a:solidFill>
              </a:rPr>
              <a:t> to a </a:t>
            </a:r>
            <a:r>
              <a:rPr b="1" lang="en-IN" sz="1600">
                <a:solidFill>
                  <a:schemeClr val="dk1"/>
                </a:solidFill>
              </a:rPr>
              <a:t>DNS server</a:t>
            </a:r>
            <a:r>
              <a:rPr lang="en-IN" sz="1600">
                <a:solidFill>
                  <a:schemeClr val="dk1"/>
                </a:solidFill>
              </a:rPr>
              <a:t>, which resolves the name and returns the </a:t>
            </a:r>
            <a:r>
              <a:rPr b="1" lang="en-IN" sz="1600">
                <a:solidFill>
                  <a:schemeClr val="dk1"/>
                </a:solidFill>
              </a:rPr>
              <a:t>corresponding IP address </a:t>
            </a:r>
            <a:r>
              <a:rPr lang="en-IN" sz="1600">
                <a:solidFill>
                  <a:schemeClr val="dk1"/>
                </a:solidFill>
              </a:rPr>
              <a:t>(for example, </a:t>
            </a:r>
            <a:r>
              <a:rPr b="1" lang="en-IN" sz="1600">
                <a:solidFill>
                  <a:schemeClr val="dk1"/>
                </a:solidFill>
              </a:rPr>
              <a:t>134.100.78.9</a:t>
            </a:r>
            <a:r>
              <a:rPr lang="en-IN" sz="1600">
                <a:solidFill>
                  <a:schemeClr val="dk1"/>
                </a:solidFill>
              </a:rPr>
              <a:t>).</a:t>
            </a:r>
            <a:endParaRPr sz="1600">
              <a:solidFill>
                <a:schemeClr val="dk1"/>
              </a:solidFill>
            </a:endParaRPr>
          </a:p>
        </p:txBody>
      </p:sp>
      <p:sp>
        <p:nvSpPr>
          <p:cNvPr id="319" name="Google Shape;319;g3bc8df442ee_0_63"/>
          <p:cNvSpPr txBox="1"/>
          <p:nvPr/>
        </p:nvSpPr>
        <p:spPr>
          <a:xfrm>
            <a:off x="314700" y="4582763"/>
            <a:ext cx="8514600" cy="677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IN" sz="1600">
                <a:solidFill>
                  <a:schemeClr val="dk1"/>
                </a:solidFill>
              </a:rPr>
              <a:t>This </a:t>
            </a:r>
            <a:r>
              <a:rPr b="1" lang="en-IN" sz="1600">
                <a:solidFill>
                  <a:srgbClr val="FF0000"/>
                </a:solidFill>
              </a:rPr>
              <a:t>default router</a:t>
            </a:r>
            <a:r>
              <a:rPr lang="en-IN" sz="1600">
                <a:solidFill>
                  <a:schemeClr val="dk1"/>
                </a:solidFill>
              </a:rPr>
              <a:t> will send packet to </a:t>
            </a:r>
            <a:r>
              <a:rPr b="1" lang="en-IN" sz="1600">
                <a:solidFill>
                  <a:srgbClr val="FF0000"/>
                </a:solidFill>
              </a:rPr>
              <a:t>next hop (router)</a:t>
            </a:r>
            <a:r>
              <a:rPr lang="en-IN" sz="1600">
                <a:solidFill>
                  <a:schemeClr val="dk1"/>
                </a:solidFill>
              </a:rPr>
              <a:t> using its </a:t>
            </a:r>
            <a:r>
              <a:rPr b="1" lang="en-IN" sz="1600">
                <a:solidFill>
                  <a:srgbClr val="FF0000"/>
                </a:solidFill>
              </a:rPr>
              <a:t>Routing table</a:t>
            </a:r>
            <a:r>
              <a:rPr lang="en-IN" sz="1600">
                <a:solidFill>
                  <a:schemeClr val="dk1"/>
                </a:solidFill>
              </a:rPr>
              <a:t> and </a:t>
            </a:r>
            <a:r>
              <a:rPr b="1" lang="en-IN" sz="1600">
                <a:solidFill>
                  <a:srgbClr val="FF0000"/>
                </a:solidFill>
              </a:rPr>
              <a:t>ARP table</a:t>
            </a:r>
            <a:r>
              <a:rPr lang="en-IN" sz="1600">
                <a:solidFill>
                  <a:schemeClr val="dk1"/>
                </a:solidFill>
              </a:rPr>
              <a:t> for </a:t>
            </a:r>
            <a:r>
              <a:rPr b="1" lang="en-IN" sz="1600">
                <a:solidFill>
                  <a:srgbClr val="FF0000"/>
                </a:solidFill>
              </a:rPr>
              <a:t>IP address</a:t>
            </a:r>
            <a:r>
              <a:rPr lang="en-IN" sz="1600">
                <a:solidFill>
                  <a:schemeClr val="dk1"/>
                </a:solidFill>
              </a:rPr>
              <a:t> and </a:t>
            </a:r>
            <a:r>
              <a:rPr b="1" lang="en-IN" sz="1600">
                <a:solidFill>
                  <a:srgbClr val="FF0000"/>
                </a:solidFill>
              </a:rPr>
              <a:t>MAC address of next hop</a:t>
            </a:r>
            <a:r>
              <a:rPr lang="en-IN" sz="1600">
                <a:solidFill>
                  <a:schemeClr val="dk1"/>
                </a:solidFill>
              </a:rPr>
              <a:t>. </a:t>
            </a:r>
            <a:endParaRPr sz="1600"/>
          </a:p>
        </p:txBody>
      </p:sp>
      <p:sp>
        <p:nvSpPr>
          <p:cNvPr id="320" name="Google Shape;320;g3bc8df442ee_0_63"/>
          <p:cNvSpPr/>
          <p:nvPr/>
        </p:nvSpPr>
        <p:spPr>
          <a:xfrm rot="5400000">
            <a:off x="4184049" y="2255775"/>
            <a:ext cx="514500" cy="1935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g3bc8df442ee_0_63"/>
          <p:cNvSpPr txBox="1"/>
          <p:nvPr/>
        </p:nvSpPr>
        <p:spPr>
          <a:xfrm>
            <a:off x="269550" y="2669175"/>
            <a:ext cx="8514600" cy="1169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IN" sz="1600">
                <a:solidFill>
                  <a:schemeClr val="dk1"/>
                </a:solidFill>
              </a:rPr>
              <a:t>Now the laptop checks its </a:t>
            </a:r>
            <a:r>
              <a:rPr b="1" lang="en-IN" sz="1600">
                <a:solidFill>
                  <a:srgbClr val="FF0000"/>
                </a:solidFill>
              </a:rPr>
              <a:t>routing table</a:t>
            </a:r>
            <a:r>
              <a:rPr lang="en-IN" sz="1600">
                <a:solidFill>
                  <a:schemeClr val="dk1"/>
                </a:solidFill>
              </a:rPr>
              <a:t> to find </a:t>
            </a:r>
            <a:r>
              <a:rPr b="1" lang="en-IN" sz="1600">
                <a:solidFill>
                  <a:srgbClr val="FF0000"/>
                </a:solidFill>
              </a:rPr>
              <a:t>IP address</a:t>
            </a:r>
            <a:r>
              <a:rPr lang="en-IN" sz="1600">
                <a:solidFill>
                  <a:schemeClr val="dk1"/>
                </a:solidFill>
              </a:rPr>
              <a:t> of </a:t>
            </a:r>
            <a:r>
              <a:rPr b="1" lang="en-IN" sz="1600">
                <a:solidFill>
                  <a:srgbClr val="FF0000"/>
                </a:solidFill>
              </a:rPr>
              <a:t>default gateway</a:t>
            </a:r>
            <a:r>
              <a:rPr lang="en-IN" sz="1600">
                <a:solidFill>
                  <a:schemeClr val="dk1"/>
                </a:solidFill>
              </a:rPr>
              <a:t>. After that laptop checks </a:t>
            </a:r>
            <a:r>
              <a:rPr b="1" lang="en-IN" sz="1600">
                <a:solidFill>
                  <a:srgbClr val="FF0000"/>
                </a:solidFill>
              </a:rPr>
              <a:t>local ARP table</a:t>
            </a:r>
            <a:r>
              <a:rPr lang="en-IN" sz="1600">
                <a:solidFill>
                  <a:schemeClr val="dk1"/>
                </a:solidFill>
              </a:rPr>
              <a:t> to find associated </a:t>
            </a:r>
            <a:r>
              <a:rPr b="1" lang="en-IN" sz="1600">
                <a:solidFill>
                  <a:srgbClr val="FF0000"/>
                </a:solidFill>
              </a:rPr>
              <a:t>MAC address</a:t>
            </a:r>
            <a:r>
              <a:rPr lang="en-IN" sz="1600">
                <a:solidFill>
                  <a:schemeClr val="dk1"/>
                </a:solidFill>
              </a:rPr>
              <a:t>. If found, packet sent to </a:t>
            </a:r>
            <a:r>
              <a:rPr lang="en-IN" sz="1600">
                <a:solidFill>
                  <a:schemeClr val="dk1"/>
                </a:solidFill>
              </a:rPr>
              <a:t>default</a:t>
            </a:r>
            <a:r>
              <a:rPr lang="en-IN" sz="1600">
                <a:solidFill>
                  <a:schemeClr val="dk1"/>
                </a:solidFill>
              </a:rPr>
              <a:t> router. If not found, </a:t>
            </a:r>
            <a:r>
              <a:rPr b="1" lang="en-IN" sz="1600">
                <a:solidFill>
                  <a:srgbClr val="FF0000"/>
                </a:solidFill>
              </a:rPr>
              <a:t>ARP broadcast message</a:t>
            </a:r>
            <a:r>
              <a:rPr lang="en-IN" sz="1600">
                <a:solidFill>
                  <a:schemeClr val="dk1"/>
                </a:solidFill>
              </a:rPr>
              <a:t> is sent to whole network asking for corresp. MAC </a:t>
            </a:r>
            <a:r>
              <a:rPr lang="en-IN" sz="1600">
                <a:solidFill>
                  <a:schemeClr val="dk1"/>
                </a:solidFill>
              </a:rPr>
              <a:t>address</a:t>
            </a:r>
            <a:r>
              <a:rPr lang="en-IN" sz="1600">
                <a:solidFill>
                  <a:schemeClr val="dk1"/>
                </a:solidFill>
              </a:rPr>
              <a:t>.</a:t>
            </a:r>
            <a:endParaRPr sz="1600"/>
          </a:p>
        </p:txBody>
      </p:sp>
      <p:sp>
        <p:nvSpPr>
          <p:cNvPr id="322" name="Google Shape;322;g3bc8df442ee_0_63"/>
          <p:cNvSpPr/>
          <p:nvPr/>
        </p:nvSpPr>
        <p:spPr>
          <a:xfrm rot="5400000">
            <a:off x="4184049" y="4114087"/>
            <a:ext cx="514500" cy="1935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g3bc8df442ee_0_63"/>
          <p:cNvSpPr/>
          <p:nvPr/>
        </p:nvSpPr>
        <p:spPr>
          <a:xfrm rot="5400000">
            <a:off x="4184049" y="5535087"/>
            <a:ext cx="514500" cy="1935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bc8df442ee_0_8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30" name="Google Shape;330;g3bc8df442ee_0_88"/>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Networking</a:t>
            </a:r>
            <a:endParaRPr b="0" i="0" sz="3000" u="none" cap="none" strike="noStrike">
              <a:solidFill>
                <a:srgbClr val="000000"/>
              </a:solidFill>
              <a:latin typeface="Arial"/>
              <a:ea typeface="Arial"/>
              <a:cs typeface="Arial"/>
              <a:sym typeface="Arial"/>
            </a:endParaRPr>
          </a:p>
        </p:txBody>
      </p:sp>
      <p:pic>
        <p:nvPicPr>
          <p:cNvPr id="331" name="Google Shape;331;g3bc8df442ee_0_8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32" name="Google Shape;332;g3bc8df442ee_0_8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33" name="Google Shape;333;g3bc8df442ee_0_8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34" name="Google Shape;334;g3bc8df442ee_0_8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35" name="Google Shape;335;g3bc8df442ee_0_88"/>
          <p:cNvSpPr txBox="1"/>
          <p:nvPr/>
        </p:nvSpPr>
        <p:spPr>
          <a:xfrm>
            <a:off x="269550" y="1126450"/>
            <a:ext cx="8514600" cy="1169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IN" sz="1600">
                <a:solidFill>
                  <a:schemeClr val="dk1"/>
                </a:solidFill>
              </a:rPr>
              <a:t>One hop forwards the packet to the next hop, and this </a:t>
            </a:r>
            <a:r>
              <a:rPr b="1" lang="en-IN" sz="1600">
                <a:solidFill>
                  <a:srgbClr val="FF0000"/>
                </a:solidFill>
              </a:rPr>
              <a:t>process continues</a:t>
            </a:r>
            <a:r>
              <a:rPr lang="en-IN" sz="1600">
                <a:solidFill>
                  <a:schemeClr val="dk1"/>
                </a:solidFill>
              </a:rPr>
              <a:t> until the </a:t>
            </a:r>
            <a:r>
              <a:rPr b="1" lang="en-IN" sz="1600">
                <a:solidFill>
                  <a:srgbClr val="FF0000"/>
                </a:solidFill>
              </a:rPr>
              <a:t>packet reaches the last router</a:t>
            </a:r>
            <a:r>
              <a:rPr lang="en-IN" sz="1600">
                <a:solidFill>
                  <a:schemeClr val="dk1"/>
                </a:solidFill>
              </a:rPr>
              <a:t> connected to the </a:t>
            </a:r>
            <a:r>
              <a:rPr b="1" lang="en-IN" sz="1600">
                <a:solidFill>
                  <a:srgbClr val="FF0000"/>
                </a:solidFill>
              </a:rPr>
              <a:t>destination local network</a:t>
            </a:r>
            <a:r>
              <a:rPr lang="en-IN" sz="1600">
                <a:solidFill>
                  <a:schemeClr val="dk1"/>
                </a:solidFill>
              </a:rPr>
              <a:t>. At this point, the router resolves the </a:t>
            </a:r>
            <a:r>
              <a:rPr b="1" lang="en-IN" sz="1600">
                <a:solidFill>
                  <a:srgbClr val="FF0000"/>
                </a:solidFill>
              </a:rPr>
              <a:t>MAC address of the Google server using ARP </a:t>
            </a:r>
            <a:r>
              <a:rPr lang="en-IN" sz="1600">
                <a:solidFill>
                  <a:schemeClr val="dk1"/>
                </a:solidFill>
              </a:rPr>
              <a:t>and forwards the packet to the server.</a:t>
            </a:r>
            <a:endParaRPr sz="1600">
              <a:solidFill>
                <a:schemeClr val="dk1"/>
              </a:solidFill>
            </a:endParaRPr>
          </a:p>
        </p:txBody>
      </p:sp>
      <p:sp>
        <p:nvSpPr>
          <p:cNvPr id="336" name="Google Shape;336;g3bc8df442ee_0_88"/>
          <p:cNvSpPr/>
          <p:nvPr/>
        </p:nvSpPr>
        <p:spPr>
          <a:xfrm rot="5400000">
            <a:off x="4117799" y="2584700"/>
            <a:ext cx="514500" cy="1935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g3bc8df442ee_0_88"/>
          <p:cNvSpPr txBox="1"/>
          <p:nvPr/>
        </p:nvSpPr>
        <p:spPr>
          <a:xfrm>
            <a:off x="297800" y="3066750"/>
            <a:ext cx="8514600" cy="92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IN" sz="1600">
                <a:solidFill>
                  <a:schemeClr val="dk1"/>
                </a:solidFill>
              </a:rPr>
              <a:t>Packet is forwarded to a</a:t>
            </a:r>
            <a:r>
              <a:rPr b="1" lang="en-IN" sz="1600">
                <a:solidFill>
                  <a:srgbClr val="FF0000"/>
                </a:solidFill>
              </a:rPr>
              <a:t> switch </a:t>
            </a:r>
            <a:r>
              <a:rPr lang="en-IN" sz="1600">
                <a:solidFill>
                  <a:schemeClr val="dk1"/>
                </a:solidFill>
              </a:rPr>
              <a:t>after resolving the server’s MAC address using ARP. The switch then uses its MAC address table to map the</a:t>
            </a:r>
            <a:r>
              <a:rPr b="1" lang="en-IN" sz="1600">
                <a:solidFill>
                  <a:srgbClr val="FF0000"/>
                </a:solidFill>
              </a:rPr>
              <a:t> destination MAC address to the appropriate port </a:t>
            </a:r>
            <a:r>
              <a:rPr lang="en-IN" sz="1600">
                <a:solidFill>
                  <a:schemeClr val="dk1"/>
                </a:solidFill>
              </a:rPr>
              <a:t>and delivers the </a:t>
            </a:r>
            <a:r>
              <a:rPr b="1" lang="en-IN" sz="1600">
                <a:solidFill>
                  <a:srgbClr val="FF0000"/>
                </a:solidFill>
              </a:rPr>
              <a:t>frame to the destination machine.</a:t>
            </a:r>
            <a:endParaRPr b="1" sz="16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c8df442ee_0_10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344" name="Google Shape;344;g3bc8df442ee_0_104"/>
          <p:cNvPicPr preferRelativeResize="0"/>
          <p:nvPr/>
        </p:nvPicPr>
        <p:blipFill>
          <a:blip r:embed="rId3">
            <a:alphaModFix/>
          </a:blip>
          <a:stretch>
            <a:fillRect/>
          </a:stretch>
        </p:blipFill>
        <p:spPr>
          <a:xfrm>
            <a:off x="802440" y="1383950"/>
            <a:ext cx="7167135" cy="4727225"/>
          </a:xfrm>
          <a:prstGeom prst="rect">
            <a:avLst/>
          </a:prstGeom>
          <a:noFill/>
          <a:ln cap="flat" cmpd="sng" w="9525">
            <a:solidFill>
              <a:schemeClr val="dk1"/>
            </a:solidFill>
            <a:prstDash val="solid"/>
            <a:round/>
            <a:headEnd len="sm" w="sm" type="none"/>
            <a:tailEnd len="sm" w="sm" type="none"/>
          </a:ln>
        </p:spPr>
      </p:pic>
      <p:sp>
        <p:nvSpPr>
          <p:cNvPr id="345" name="Google Shape;345;g3bc8df442ee_0_104"/>
          <p:cNvSpPr txBox="1"/>
          <p:nvPr/>
        </p:nvSpPr>
        <p:spPr>
          <a:xfrm>
            <a:off x="6626350" y="2029550"/>
            <a:ext cx="2133300" cy="713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a:t>Data sent as IP packets using IP address of server</a:t>
            </a:r>
            <a:endParaRPr b="1"/>
          </a:p>
        </p:txBody>
      </p:sp>
      <p:sp>
        <p:nvSpPr>
          <p:cNvPr id="346" name="Google Shape;346;g3bc8df442ee_0_104"/>
          <p:cNvSpPr txBox="1"/>
          <p:nvPr/>
        </p:nvSpPr>
        <p:spPr>
          <a:xfrm>
            <a:off x="0" y="3914475"/>
            <a:ext cx="1341000" cy="1254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IN"/>
              <a:t>Data sent as Ethernet Frames using MAC address of server</a:t>
            </a:r>
            <a:endParaRPr b="1"/>
          </a:p>
        </p:txBody>
      </p:sp>
      <p:sp>
        <p:nvSpPr>
          <p:cNvPr id="347" name="Google Shape;347;g3bc8df442ee_0_104"/>
          <p:cNvSpPr/>
          <p:nvPr/>
        </p:nvSpPr>
        <p:spPr>
          <a:xfrm>
            <a:off x="6187450" y="2298200"/>
            <a:ext cx="438900" cy="17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g3bc8df442ee_0_104"/>
          <p:cNvSpPr/>
          <p:nvPr/>
        </p:nvSpPr>
        <p:spPr>
          <a:xfrm rot="-10797857">
            <a:off x="1340995" y="3999480"/>
            <a:ext cx="481200" cy="163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g3bc8df442ee_0_104"/>
          <p:cNvSpPr txBox="1"/>
          <p:nvPr/>
        </p:nvSpPr>
        <p:spPr>
          <a:xfrm>
            <a:off x="81600" y="6111175"/>
            <a:ext cx="8282100" cy="61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a:t>Layer 1 is present everywhere in the network diagram as the physical connections between devices. </a:t>
            </a:r>
            <a:endParaRPr b="1"/>
          </a:p>
        </p:txBody>
      </p:sp>
      <p:sp>
        <p:nvSpPr>
          <p:cNvPr id="350" name="Google Shape;350;g3bc8df442ee_0_104"/>
          <p:cNvSpPr/>
          <p:nvPr/>
        </p:nvSpPr>
        <p:spPr>
          <a:xfrm>
            <a:off x="153600" y="238625"/>
            <a:ext cx="8845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 </a:t>
            </a:r>
            <a:r>
              <a:rPr b="1" i="1" lang="en-IN" sz="1700">
                <a:solidFill>
                  <a:srgbClr val="FF0000"/>
                </a:solidFill>
              </a:rPr>
              <a:t>traditional 3-tier data-center network with a shared Layer-2 domain</a:t>
            </a:r>
            <a:endParaRPr b="0" i="1" sz="17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bc6f659c99_0_186"/>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57" name="Google Shape;357;g3bc6f659c99_0_186"/>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a:t>
            </a:r>
            <a:endParaRPr b="0" i="0" sz="3000" u="none" cap="none" strike="noStrike">
              <a:solidFill>
                <a:srgbClr val="000000"/>
              </a:solidFill>
              <a:latin typeface="Arial"/>
              <a:ea typeface="Arial"/>
              <a:cs typeface="Arial"/>
              <a:sym typeface="Arial"/>
            </a:endParaRPr>
          </a:p>
        </p:txBody>
      </p:sp>
      <p:pic>
        <p:nvPicPr>
          <p:cNvPr id="358" name="Google Shape;358;g3bc6f659c99_0_186"/>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59" name="Google Shape;359;g3bc6f659c99_0_186"/>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60" name="Google Shape;360;g3bc6f659c99_0_186"/>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61" name="Google Shape;361;g3bc6f659c99_0_186"/>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62" name="Google Shape;362;g3bc6f659c99_0_186"/>
          <p:cNvSpPr txBox="1"/>
          <p:nvPr/>
        </p:nvSpPr>
        <p:spPr>
          <a:xfrm>
            <a:off x="495600" y="1438675"/>
            <a:ext cx="8051100" cy="3724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55600" lvl="0" marL="457200" rtl="0" algn="l">
              <a:lnSpc>
                <a:spcPct val="150000"/>
              </a:lnSpc>
              <a:spcBef>
                <a:spcPts val="1800"/>
              </a:spcBef>
              <a:spcAft>
                <a:spcPts val="0"/>
              </a:spcAft>
              <a:buClr>
                <a:srgbClr val="FF0000"/>
              </a:buClr>
              <a:buSzPts val="2000"/>
              <a:buAutoNum type="arabicPeriod"/>
            </a:pPr>
            <a:r>
              <a:rPr b="1" lang="en-IN" sz="2000">
                <a:solidFill>
                  <a:srgbClr val="FF0000"/>
                </a:solidFill>
              </a:rPr>
              <a:t>Top Layer : Internet + CR (Core Routers) — Layer 3</a:t>
            </a:r>
            <a:endParaRPr b="1" sz="2000">
              <a:solidFill>
                <a:srgbClr val="FF0000"/>
              </a:solidFill>
            </a:endParaRPr>
          </a:p>
          <a:p>
            <a:pPr indent="-355600" lvl="0" marL="457200" rtl="0" algn="l">
              <a:lnSpc>
                <a:spcPct val="150000"/>
              </a:lnSpc>
              <a:spcBef>
                <a:spcPts val="0"/>
              </a:spcBef>
              <a:spcAft>
                <a:spcPts val="0"/>
              </a:spcAft>
              <a:buClr>
                <a:srgbClr val="FF0000"/>
              </a:buClr>
              <a:buSzPts val="2000"/>
              <a:buAutoNum type="alphaUcPeriod"/>
            </a:pPr>
            <a:r>
              <a:rPr b="1" lang="en-IN" sz="2000">
                <a:solidFill>
                  <a:srgbClr val="FF0000"/>
                </a:solidFill>
              </a:rPr>
              <a:t>Internet</a:t>
            </a:r>
            <a:endParaRPr b="1" sz="2000">
              <a:solidFill>
                <a:srgbClr val="FF0000"/>
              </a:solidFill>
            </a:endParaRPr>
          </a:p>
          <a:p>
            <a:pPr indent="-355600" lvl="0" marL="457200" rtl="0" algn="l">
              <a:lnSpc>
                <a:spcPct val="150000"/>
              </a:lnSpc>
              <a:spcBef>
                <a:spcPts val="0"/>
              </a:spcBef>
              <a:spcAft>
                <a:spcPts val="0"/>
              </a:spcAft>
              <a:buClr>
                <a:schemeClr val="dk1"/>
              </a:buClr>
              <a:buSzPts val="2000"/>
              <a:buChar char="●"/>
            </a:pPr>
            <a:r>
              <a:rPr lang="en-IN" sz="2000">
                <a:solidFill>
                  <a:schemeClr val="dk1"/>
                </a:solidFill>
              </a:rPr>
              <a:t>Represents the </a:t>
            </a:r>
            <a:r>
              <a:rPr b="1" lang="en-IN" sz="2000">
                <a:solidFill>
                  <a:schemeClr val="dk1"/>
                </a:solidFill>
              </a:rPr>
              <a:t>external world</a:t>
            </a:r>
            <a:r>
              <a:rPr lang="en-IN" sz="2000">
                <a:solidFill>
                  <a:schemeClr val="dk1"/>
                </a:solidFill>
              </a:rPr>
              <a:t> (users, other data centers, WAN).</a:t>
            </a:r>
            <a:endParaRPr sz="2000">
              <a:solidFill>
                <a:schemeClr val="dk1"/>
              </a:solidFill>
            </a:endParaRPr>
          </a:p>
          <a:p>
            <a:pPr indent="-355600" lvl="0" marL="457200" rtl="0" algn="l">
              <a:lnSpc>
                <a:spcPct val="150000"/>
              </a:lnSpc>
              <a:spcBef>
                <a:spcPts val="0"/>
              </a:spcBef>
              <a:spcAft>
                <a:spcPts val="0"/>
              </a:spcAft>
              <a:buClr>
                <a:srgbClr val="FF0000"/>
              </a:buClr>
              <a:buSzPts val="2000"/>
              <a:buAutoNum type="alphaUcPeriod"/>
            </a:pPr>
            <a:r>
              <a:rPr b="1" lang="en-IN" sz="2000">
                <a:solidFill>
                  <a:srgbClr val="FF0000"/>
                </a:solidFill>
              </a:rPr>
              <a:t>CR = L3 Core Routers</a:t>
            </a:r>
            <a:endParaRPr b="1" sz="2000">
              <a:solidFill>
                <a:srgbClr val="FF0000"/>
              </a:solidFill>
            </a:endParaRPr>
          </a:p>
          <a:p>
            <a:pPr indent="-355600" lvl="0" marL="457200" rtl="0" algn="l">
              <a:lnSpc>
                <a:spcPct val="150000"/>
              </a:lnSpc>
              <a:spcBef>
                <a:spcPts val="0"/>
              </a:spcBef>
              <a:spcAft>
                <a:spcPts val="0"/>
              </a:spcAft>
              <a:buClr>
                <a:schemeClr val="dk1"/>
              </a:buClr>
              <a:buSzPts val="2000"/>
              <a:buChar char="●"/>
            </a:pPr>
            <a:r>
              <a:rPr lang="en-IN" sz="2000">
                <a:solidFill>
                  <a:schemeClr val="dk1"/>
                </a:solidFill>
              </a:rPr>
              <a:t>Highest level routers in the data center</a:t>
            </a:r>
            <a:r>
              <a:rPr lang="en-IN" sz="2000">
                <a:solidFill>
                  <a:schemeClr val="dk1"/>
                </a:solidFill>
              </a:rPr>
              <a:t>.</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IN" sz="2000">
                <a:solidFill>
                  <a:schemeClr val="dk1"/>
                </a:solidFill>
              </a:rPr>
              <a:t>Responsibilities:</a:t>
            </a:r>
            <a:endParaRPr sz="2000">
              <a:solidFill>
                <a:schemeClr val="dk1"/>
              </a:solidFill>
            </a:endParaRPr>
          </a:p>
          <a:p>
            <a:pPr indent="-355600" lvl="1" marL="914400" rtl="0" algn="l">
              <a:lnSpc>
                <a:spcPct val="150000"/>
              </a:lnSpc>
              <a:spcBef>
                <a:spcPts val="0"/>
              </a:spcBef>
              <a:spcAft>
                <a:spcPts val="0"/>
              </a:spcAft>
              <a:buClr>
                <a:schemeClr val="dk1"/>
              </a:buClr>
              <a:buSzPts val="2000"/>
              <a:buChar char="○"/>
            </a:pPr>
            <a:r>
              <a:rPr lang="en-IN" sz="2000">
                <a:solidFill>
                  <a:schemeClr val="dk1"/>
                </a:solidFill>
              </a:rPr>
              <a:t>Connect the data center to the Internet/WAN</a:t>
            </a:r>
            <a:endParaRPr sz="2000">
              <a:solidFill>
                <a:schemeClr val="dk1"/>
              </a:solidFill>
            </a:endParaRPr>
          </a:p>
          <a:p>
            <a:pPr indent="-355600" lvl="1" marL="914400" rtl="0" algn="l">
              <a:lnSpc>
                <a:spcPct val="150000"/>
              </a:lnSpc>
              <a:spcBef>
                <a:spcPts val="0"/>
              </a:spcBef>
              <a:spcAft>
                <a:spcPts val="0"/>
              </a:spcAft>
              <a:buClr>
                <a:schemeClr val="dk1"/>
              </a:buClr>
              <a:buSzPts val="2000"/>
              <a:buChar char="○"/>
            </a:pPr>
            <a:r>
              <a:rPr lang="en-IN" sz="2000">
                <a:solidFill>
                  <a:schemeClr val="dk1"/>
                </a:solidFill>
              </a:rPr>
              <a:t>Perform</a:t>
            </a:r>
            <a:r>
              <a:rPr lang="en-IN" sz="2000">
                <a:solidFill>
                  <a:srgbClr val="FF0000"/>
                </a:solidFill>
              </a:rPr>
              <a:t> </a:t>
            </a:r>
            <a:r>
              <a:rPr b="1" lang="en-IN" sz="2000">
                <a:solidFill>
                  <a:srgbClr val="FF0000"/>
                </a:solidFill>
              </a:rPr>
              <a:t>Layer-3 routing (IP routing)</a:t>
            </a:r>
            <a:endParaRPr b="1" sz="200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c6f659c99_0_20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69" name="Google Shape;369;g3bc6f659c99_0_200"/>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a:t>
            </a:r>
            <a:endParaRPr b="0" i="0" sz="3000" u="none" cap="none" strike="noStrike">
              <a:solidFill>
                <a:srgbClr val="000000"/>
              </a:solidFill>
              <a:latin typeface="Arial"/>
              <a:ea typeface="Arial"/>
              <a:cs typeface="Arial"/>
              <a:sym typeface="Arial"/>
            </a:endParaRPr>
          </a:p>
        </p:txBody>
      </p:sp>
      <p:pic>
        <p:nvPicPr>
          <p:cNvPr id="370" name="Google Shape;370;g3bc6f659c99_0_20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71" name="Google Shape;371;g3bc6f659c99_0_20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72" name="Google Shape;372;g3bc6f659c99_0_20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73" name="Google Shape;373;g3bc6f659c99_0_20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74" name="Google Shape;374;g3bc6f659c99_0_200"/>
          <p:cNvSpPr txBox="1"/>
          <p:nvPr/>
        </p:nvSpPr>
        <p:spPr>
          <a:xfrm>
            <a:off x="495600" y="1438675"/>
            <a:ext cx="8051100" cy="334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2000">
                <a:solidFill>
                  <a:srgbClr val="FF0000"/>
                </a:solidFill>
              </a:rPr>
              <a:t>2. Data Center Layer 3: AR (Access Routers)</a:t>
            </a:r>
            <a:endParaRPr b="1" sz="2000">
              <a:solidFill>
                <a:srgbClr val="FF0000"/>
              </a:solidFill>
            </a:endParaRPr>
          </a:p>
          <a:p>
            <a:pPr indent="-355600" lvl="0" marL="457200" rtl="0" algn="l">
              <a:lnSpc>
                <a:spcPct val="100000"/>
              </a:lnSpc>
              <a:spcBef>
                <a:spcPts val="1800"/>
              </a:spcBef>
              <a:spcAft>
                <a:spcPts val="0"/>
              </a:spcAft>
              <a:buClr>
                <a:srgbClr val="FF0000"/>
              </a:buClr>
              <a:buSzPts val="2000"/>
              <a:buAutoNum type="alphaUcPeriod"/>
            </a:pPr>
            <a:r>
              <a:rPr b="1" lang="en-IN" sz="2000">
                <a:solidFill>
                  <a:srgbClr val="FF0000"/>
                </a:solidFill>
              </a:rPr>
              <a:t>AR = L3 Access Routers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Sits between core routers and aggregation switches</a:t>
            </a:r>
            <a:endParaRPr sz="2000">
              <a:solidFill>
                <a:schemeClr val="dk1"/>
              </a:solidFill>
            </a:endParaRPr>
          </a:p>
          <a:p>
            <a:pPr indent="0" lvl="0" marL="0" rtl="0" algn="l">
              <a:lnSpc>
                <a:spcPct val="100000"/>
              </a:lnSpc>
              <a:spcBef>
                <a:spcPts val="1800"/>
              </a:spcBef>
              <a:spcAft>
                <a:spcPts val="0"/>
              </a:spcAft>
              <a:buNone/>
            </a:pPr>
            <a:r>
              <a:rPr lang="en-IN" sz="2000">
                <a:solidFill>
                  <a:schemeClr val="dk1"/>
                </a:solidFill>
              </a:rPr>
              <a:t>Functions:</a:t>
            </a:r>
            <a:endParaRPr sz="2000">
              <a:solidFill>
                <a:schemeClr val="dk1"/>
              </a:solidFill>
            </a:endParaRPr>
          </a:p>
          <a:p>
            <a:pPr indent="-355600" lvl="0" marL="457200" rtl="0" algn="l">
              <a:lnSpc>
                <a:spcPct val="100000"/>
              </a:lnSpc>
              <a:spcBef>
                <a:spcPts val="1800"/>
              </a:spcBef>
              <a:spcAft>
                <a:spcPts val="0"/>
              </a:spcAft>
              <a:buClr>
                <a:schemeClr val="dk1"/>
              </a:buClr>
              <a:buSzPts val="2000"/>
              <a:buChar char="●"/>
            </a:pPr>
            <a:r>
              <a:rPr lang="en-IN" sz="2000">
                <a:solidFill>
                  <a:schemeClr val="dk1"/>
                </a:solidFill>
              </a:rPr>
              <a:t>Routes t</a:t>
            </a:r>
            <a:r>
              <a:rPr b="1" lang="en-IN" sz="2000">
                <a:solidFill>
                  <a:srgbClr val="FF0000"/>
                </a:solidFill>
              </a:rPr>
              <a:t>raffic inside the data center</a:t>
            </a:r>
            <a:endParaRPr b="1" sz="2000">
              <a:solidFill>
                <a:srgbClr val="FF0000"/>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Apply policies (ACLs, routing decisions)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Act as a boundary between L3 and L2 parts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At this point, </a:t>
            </a:r>
            <a:r>
              <a:rPr b="1" lang="en-IN" sz="2000">
                <a:solidFill>
                  <a:srgbClr val="FF0000"/>
                </a:solidFill>
              </a:rPr>
              <a:t>traffic transitions from pure routing to switching</a:t>
            </a:r>
            <a:r>
              <a:rPr lang="en-IN" sz="2000">
                <a:solidFill>
                  <a:schemeClr val="dk1"/>
                </a:solidFill>
              </a:rPr>
              <a:t>.</a:t>
            </a:r>
            <a:endParaRPr sz="20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bc6f659c99_0_21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81" name="Google Shape;381;g3bc6f659c99_0_214"/>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a:t>
            </a:r>
            <a:endParaRPr b="0" i="0" sz="3000" u="none" cap="none" strike="noStrike">
              <a:solidFill>
                <a:srgbClr val="000000"/>
              </a:solidFill>
              <a:latin typeface="Arial"/>
              <a:ea typeface="Arial"/>
              <a:cs typeface="Arial"/>
              <a:sym typeface="Arial"/>
            </a:endParaRPr>
          </a:p>
        </p:txBody>
      </p:sp>
      <p:pic>
        <p:nvPicPr>
          <p:cNvPr id="382" name="Google Shape;382;g3bc6f659c99_0_214"/>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83" name="Google Shape;383;g3bc6f659c99_0_214"/>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84" name="Google Shape;384;g3bc6f659c99_0_214"/>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85" name="Google Shape;385;g3bc6f659c99_0_214"/>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86" name="Google Shape;386;g3bc6f659c99_0_214"/>
          <p:cNvSpPr txBox="1"/>
          <p:nvPr/>
        </p:nvSpPr>
        <p:spPr>
          <a:xfrm>
            <a:off x="495600" y="1438675"/>
            <a:ext cx="8051100" cy="467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1900">
                <a:solidFill>
                  <a:srgbClr val="FF0000"/>
                </a:solidFill>
              </a:rPr>
              <a:t>3. Layer 2: AS (Aggregation Switches)</a:t>
            </a:r>
            <a:endParaRPr b="1" sz="1900">
              <a:solidFill>
                <a:srgbClr val="FF0000"/>
              </a:solidFill>
            </a:endParaRPr>
          </a:p>
          <a:p>
            <a:pPr indent="-349250" lvl="0" marL="457200" rtl="0" algn="l">
              <a:lnSpc>
                <a:spcPct val="100000"/>
              </a:lnSpc>
              <a:spcBef>
                <a:spcPts val="1800"/>
              </a:spcBef>
              <a:spcAft>
                <a:spcPts val="0"/>
              </a:spcAft>
              <a:buClr>
                <a:schemeClr val="dk1"/>
              </a:buClr>
              <a:buSzPts val="1900"/>
              <a:buChar char="●"/>
            </a:pPr>
            <a:r>
              <a:rPr lang="en-IN" sz="1900">
                <a:solidFill>
                  <a:schemeClr val="dk1"/>
                </a:solidFill>
              </a:rPr>
              <a:t>AS = L2 Aggregation Switch</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Aggregate multiple lower-level switches</a:t>
            </a:r>
            <a:endParaRPr sz="1900">
              <a:solidFill>
                <a:schemeClr val="dk1"/>
              </a:solidFill>
            </a:endParaRPr>
          </a:p>
          <a:p>
            <a:pPr indent="0" lvl="0" marL="0" rtl="0" algn="l">
              <a:lnSpc>
                <a:spcPct val="100000"/>
              </a:lnSpc>
              <a:spcBef>
                <a:spcPts val="1800"/>
              </a:spcBef>
              <a:spcAft>
                <a:spcPts val="0"/>
              </a:spcAft>
              <a:buNone/>
            </a:pPr>
            <a:r>
              <a:rPr b="1" lang="en-IN" sz="1900">
                <a:solidFill>
                  <a:srgbClr val="FF0000"/>
                </a:solidFill>
              </a:rPr>
              <a:t>Key role:</a:t>
            </a:r>
            <a:endParaRPr b="1" sz="1900">
              <a:solidFill>
                <a:srgbClr val="FF0000"/>
              </a:solidFill>
            </a:endParaRPr>
          </a:p>
          <a:p>
            <a:pPr indent="-349250" lvl="0" marL="457200" rtl="0" algn="l">
              <a:lnSpc>
                <a:spcPct val="100000"/>
              </a:lnSpc>
              <a:spcBef>
                <a:spcPts val="1800"/>
              </a:spcBef>
              <a:spcAft>
                <a:spcPts val="0"/>
              </a:spcAft>
              <a:buClr>
                <a:schemeClr val="dk1"/>
              </a:buClr>
              <a:buSzPts val="1900"/>
              <a:buChar char="●"/>
            </a:pPr>
            <a:r>
              <a:rPr lang="en-IN" sz="1900">
                <a:solidFill>
                  <a:schemeClr val="dk1"/>
                </a:solidFill>
              </a:rPr>
              <a:t>Collect traffic from many access switches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Reduce number of connections going upward</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Operates at Layer 2 (Ethernet)</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This is where </a:t>
            </a:r>
            <a:r>
              <a:rPr b="1" lang="en-IN" sz="1900">
                <a:solidFill>
                  <a:srgbClr val="FF0000"/>
                </a:solidFill>
              </a:rPr>
              <a:t>oversubscription</a:t>
            </a:r>
            <a:r>
              <a:rPr lang="en-IN" sz="1900">
                <a:solidFill>
                  <a:schemeClr val="dk1"/>
                </a:solidFill>
              </a:rPr>
              <a:t> often begins - It is the rate when all the devices are sending data (traffic) at the same time. It can be measured in the traffic entering or leaving the data center and in traffic between the devices in the data center. It is the </a:t>
            </a:r>
            <a:r>
              <a:rPr b="1" lang="en-IN" sz="1900">
                <a:solidFill>
                  <a:srgbClr val="FF0000"/>
                </a:solidFill>
              </a:rPr>
              <a:t>ratio between the bandwidth of backbone switches and to the capacity of servers</a:t>
            </a:r>
            <a:r>
              <a:rPr lang="en-IN" sz="1900">
                <a:solidFill>
                  <a:schemeClr val="dk1"/>
                </a:solidFill>
              </a:rPr>
              <a:t>.</a:t>
            </a:r>
            <a:endParaRPr sz="19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bc6f659c99_0_22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393" name="Google Shape;393;g3bc6f659c99_0_225"/>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a:t>
            </a:r>
            <a:endParaRPr b="0" i="0" sz="3000" u="none" cap="none" strike="noStrike">
              <a:solidFill>
                <a:srgbClr val="000000"/>
              </a:solidFill>
              <a:latin typeface="Arial"/>
              <a:ea typeface="Arial"/>
              <a:cs typeface="Arial"/>
              <a:sym typeface="Arial"/>
            </a:endParaRPr>
          </a:p>
        </p:txBody>
      </p:sp>
      <p:pic>
        <p:nvPicPr>
          <p:cNvPr id="394" name="Google Shape;394;g3bc6f659c99_0_225"/>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395" name="Google Shape;395;g3bc6f659c99_0_225"/>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396" name="Google Shape;396;g3bc6f659c99_0_225"/>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397" name="Google Shape;397;g3bc6f659c99_0_225"/>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398" name="Google Shape;398;g3bc6f659c99_0_225"/>
          <p:cNvSpPr txBox="1"/>
          <p:nvPr/>
        </p:nvSpPr>
        <p:spPr>
          <a:xfrm>
            <a:off x="529538" y="1420400"/>
            <a:ext cx="8051100" cy="418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2000">
                <a:solidFill>
                  <a:srgbClr val="FF0000"/>
                </a:solidFill>
              </a:rPr>
              <a:t>4. Layer 2: S (Access / Edge Switches)</a:t>
            </a:r>
            <a:endParaRPr b="1" sz="2000">
              <a:solidFill>
                <a:srgbClr val="FF0000"/>
              </a:solidFill>
            </a:endParaRPr>
          </a:p>
          <a:p>
            <a:pPr indent="0" lvl="0" marL="0" rtl="0" algn="l">
              <a:lnSpc>
                <a:spcPct val="100000"/>
              </a:lnSpc>
              <a:spcBef>
                <a:spcPts val="1800"/>
              </a:spcBef>
              <a:spcAft>
                <a:spcPts val="0"/>
              </a:spcAft>
              <a:buNone/>
            </a:pPr>
            <a:r>
              <a:rPr lang="en-IN" sz="2000">
                <a:solidFill>
                  <a:schemeClr val="dk1"/>
                </a:solidFill>
              </a:rPr>
              <a:t>S = L2 Switch</a:t>
            </a:r>
            <a:endParaRPr sz="2000">
              <a:solidFill>
                <a:schemeClr val="dk1"/>
              </a:solidFill>
            </a:endParaRPr>
          </a:p>
          <a:p>
            <a:pPr indent="-355600" lvl="0" marL="457200" rtl="0" algn="l">
              <a:lnSpc>
                <a:spcPct val="100000"/>
              </a:lnSpc>
              <a:spcBef>
                <a:spcPts val="1800"/>
              </a:spcBef>
              <a:spcAft>
                <a:spcPts val="0"/>
              </a:spcAft>
              <a:buClr>
                <a:schemeClr val="dk1"/>
              </a:buClr>
              <a:buSzPts val="2000"/>
              <a:buChar char="●"/>
            </a:pPr>
            <a:r>
              <a:rPr lang="en-IN" sz="2000">
                <a:solidFill>
                  <a:schemeClr val="dk1"/>
                </a:solidFill>
              </a:rPr>
              <a:t>Connects directly to Top-of-Rack (ToR) switches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Acts as an </a:t>
            </a:r>
            <a:r>
              <a:rPr b="1" lang="en-IN" sz="2000">
                <a:solidFill>
                  <a:srgbClr val="FF0000"/>
                </a:solidFill>
              </a:rPr>
              <a:t>edge switch for server racks</a:t>
            </a:r>
            <a:endParaRPr b="1" sz="2000">
              <a:solidFill>
                <a:srgbClr val="FF0000"/>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Still Layer 2 → MAC-based forwarding</a:t>
            </a:r>
            <a:endParaRPr sz="2000">
              <a:solidFill>
                <a:schemeClr val="dk1"/>
              </a:solidFill>
            </a:endParaRPr>
          </a:p>
          <a:p>
            <a:pPr indent="0" lvl="0" marL="0" rtl="0" algn="l">
              <a:lnSpc>
                <a:spcPct val="100000"/>
              </a:lnSpc>
              <a:spcBef>
                <a:spcPts val="1800"/>
              </a:spcBef>
              <a:spcAft>
                <a:spcPts val="0"/>
              </a:spcAft>
              <a:buNone/>
            </a:pPr>
            <a:r>
              <a:rPr b="1" lang="en-IN" sz="2000">
                <a:solidFill>
                  <a:srgbClr val="FF0000"/>
                </a:solidFill>
              </a:rPr>
              <a:t>5. Bottom: ToR + Servers</a:t>
            </a:r>
            <a:endParaRPr b="1" sz="2000">
              <a:solidFill>
                <a:srgbClr val="FF0000"/>
              </a:solidFill>
            </a:endParaRPr>
          </a:p>
          <a:p>
            <a:pPr indent="-355600" lvl="0" marL="457200" rtl="0" algn="l">
              <a:lnSpc>
                <a:spcPct val="100000"/>
              </a:lnSpc>
              <a:spcBef>
                <a:spcPts val="1800"/>
              </a:spcBef>
              <a:spcAft>
                <a:spcPts val="0"/>
              </a:spcAft>
              <a:buClr>
                <a:schemeClr val="dk1"/>
              </a:buClr>
              <a:buSzPts val="2000"/>
              <a:buChar char="●"/>
            </a:pPr>
            <a:r>
              <a:rPr lang="en-IN" sz="2000">
                <a:solidFill>
                  <a:schemeClr val="dk1"/>
                </a:solidFill>
              </a:rPr>
              <a:t>ToR = </a:t>
            </a:r>
            <a:r>
              <a:rPr b="1" lang="en-IN" sz="2000">
                <a:solidFill>
                  <a:srgbClr val="FF0000"/>
                </a:solidFill>
              </a:rPr>
              <a:t>Top-of-Rack Switch</a:t>
            </a:r>
            <a:endParaRPr b="1" sz="2000">
              <a:solidFill>
                <a:srgbClr val="FF0000"/>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One ToR per rack</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Directly connects to Physical servers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IN" sz="2000">
                <a:solidFill>
                  <a:schemeClr val="dk1"/>
                </a:solidFill>
              </a:rPr>
              <a:t>Advantages: Short cables, Easier rack management</a:t>
            </a:r>
            <a:endParaRPr sz="20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bc6f659c99_0_23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05" name="Google Shape;405;g3bc6f659c99_0_237"/>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a:t>
            </a:r>
            <a:endParaRPr b="0" i="0" sz="3000" u="none" cap="none" strike="noStrike">
              <a:solidFill>
                <a:srgbClr val="000000"/>
              </a:solidFill>
              <a:latin typeface="Arial"/>
              <a:ea typeface="Arial"/>
              <a:cs typeface="Arial"/>
              <a:sym typeface="Arial"/>
            </a:endParaRPr>
          </a:p>
        </p:txBody>
      </p:sp>
      <p:pic>
        <p:nvPicPr>
          <p:cNvPr id="406" name="Google Shape;406;g3bc6f659c99_0_237"/>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07" name="Google Shape;407;g3bc6f659c99_0_237"/>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08" name="Google Shape;408;g3bc6f659c99_0_237"/>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09" name="Google Shape;409;g3bc6f659c99_0_237"/>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10" name="Google Shape;410;g3bc6f659c99_0_237"/>
          <p:cNvSpPr txBox="1"/>
          <p:nvPr/>
        </p:nvSpPr>
        <p:spPr>
          <a:xfrm>
            <a:off x="529538" y="1420400"/>
            <a:ext cx="8051100" cy="3263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2000">
                <a:solidFill>
                  <a:srgbClr val="FF0000"/>
                </a:solidFill>
              </a:rPr>
              <a:t>6. Servers</a:t>
            </a:r>
            <a:endParaRPr b="1" sz="2000">
              <a:solidFill>
                <a:srgbClr val="FF0000"/>
              </a:solidFill>
            </a:endParaRPr>
          </a:p>
          <a:p>
            <a:pPr indent="0" lvl="0" marL="0" rtl="0" algn="l">
              <a:lnSpc>
                <a:spcPct val="100000"/>
              </a:lnSpc>
              <a:spcBef>
                <a:spcPts val="1800"/>
              </a:spcBef>
              <a:spcAft>
                <a:spcPts val="0"/>
              </a:spcAft>
              <a:buNone/>
            </a:pPr>
            <a:r>
              <a:rPr lang="en-IN" sz="2000">
                <a:solidFill>
                  <a:schemeClr val="dk1"/>
                </a:solidFill>
              </a:rPr>
              <a:t>Run applications, VMs, databases, etc.</a:t>
            </a:r>
            <a:endParaRPr sz="2000">
              <a:solidFill>
                <a:schemeClr val="dk1"/>
              </a:solidFill>
            </a:endParaRPr>
          </a:p>
          <a:p>
            <a:pPr indent="0" lvl="0" marL="0" rtl="0" algn="l">
              <a:lnSpc>
                <a:spcPct val="100000"/>
              </a:lnSpc>
              <a:spcBef>
                <a:spcPts val="1800"/>
              </a:spcBef>
              <a:spcAft>
                <a:spcPts val="0"/>
              </a:spcAft>
              <a:buNone/>
            </a:pPr>
            <a:r>
              <a:t/>
            </a:r>
            <a:endParaRPr sz="2000">
              <a:solidFill>
                <a:schemeClr val="dk1"/>
              </a:solidFill>
            </a:endParaRPr>
          </a:p>
          <a:p>
            <a:pPr indent="0" lvl="0" marL="0" rtl="0" algn="l">
              <a:lnSpc>
                <a:spcPct val="100000"/>
              </a:lnSpc>
              <a:spcBef>
                <a:spcPts val="1800"/>
              </a:spcBef>
              <a:spcAft>
                <a:spcPts val="0"/>
              </a:spcAft>
              <a:buNone/>
            </a:pPr>
            <a:r>
              <a:rPr b="1" lang="en-IN" sz="2000">
                <a:solidFill>
                  <a:srgbClr val="FF0000"/>
                </a:solidFill>
              </a:rPr>
              <a:t>7. A Single Layer-2 Domain</a:t>
            </a:r>
            <a:endParaRPr b="1" sz="2000">
              <a:solidFill>
                <a:srgbClr val="FF0000"/>
              </a:solidFill>
            </a:endParaRPr>
          </a:p>
          <a:p>
            <a:pPr indent="0" lvl="0" marL="0" rtl="0" algn="l">
              <a:lnSpc>
                <a:spcPct val="100000"/>
              </a:lnSpc>
              <a:spcBef>
                <a:spcPts val="1800"/>
              </a:spcBef>
              <a:spcAft>
                <a:spcPts val="400"/>
              </a:spcAft>
              <a:buNone/>
            </a:pPr>
            <a:r>
              <a:rPr lang="en-IN" sz="2000">
                <a:solidFill>
                  <a:schemeClr val="dk1"/>
                </a:solidFill>
              </a:rPr>
              <a:t>This  is the most critical concept in the diagram. All servers share: same broadcast domain, Same VLAN space, Protocols l</a:t>
            </a:r>
            <a:r>
              <a:rPr lang="en-IN" sz="2000">
                <a:solidFill>
                  <a:schemeClr val="dk1"/>
                </a:solidFill>
              </a:rPr>
              <a:t>ike- ARP, </a:t>
            </a:r>
            <a:r>
              <a:rPr lang="en-IN" sz="2000">
                <a:solidFill>
                  <a:schemeClr val="dk1"/>
                </a:solidFill>
              </a:rPr>
              <a:t>Broadcast traffic</a:t>
            </a:r>
            <a:endParaRPr sz="20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c2c8891362_0_4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17" name="Google Shape;417;g3c2c8891362_0_45"/>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Knowledge Check</a:t>
            </a:r>
            <a:endParaRPr b="0" i="0" sz="3000" u="none" cap="none" strike="noStrike">
              <a:solidFill>
                <a:srgbClr val="000000"/>
              </a:solidFill>
              <a:latin typeface="Arial"/>
              <a:ea typeface="Arial"/>
              <a:cs typeface="Arial"/>
              <a:sym typeface="Arial"/>
            </a:endParaRPr>
          </a:p>
        </p:txBody>
      </p:sp>
      <p:pic>
        <p:nvPicPr>
          <p:cNvPr id="418" name="Google Shape;418;g3c2c8891362_0_45"/>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19" name="Google Shape;419;g3c2c8891362_0_45"/>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20" name="Google Shape;420;g3c2c8891362_0_45"/>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21" name="Google Shape;421;g3c2c8891362_0_45"/>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22" name="Google Shape;422;g3c2c8891362_0_45"/>
          <p:cNvSpPr txBox="1"/>
          <p:nvPr/>
        </p:nvSpPr>
        <p:spPr>
          <a:xfrm>
            <a:off x="495600" y="1289400"/>
            <a:ext cx="4265400" cy="45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9250" lvl="0" marL="457200" rtl="0" algn="l">
              <a:lnSpc>
                <a:spcPct val="100000"/>
              </a:lnSpc>
              <a:spcBef>
                <a:spcPts val="0"/>
              </a:spcBef>
              <a:spcAft>
                <a:spcPts val="0"/>
              </a:spcAft>
              <a:buClr>
                <a:schemeClr val="dk1"/>
              </a:buClr>
              <a:buSzPts val="1900"/>
              <a:buAutoNum type="arabicPeriod"/>
            </a:pPr>
            <a:r>
              <a:rPr b="1" lang="en-IN" sz="1900">
                <a:solidFill>
                  <a:schemeClr val="dk1"/>
                </a:solidFill>
              </a:rPr>
              <a:t>Which of the following devices uses MAC addresses for forwarding frames?</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Router</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Switch</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Gateway</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Firewall</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2. Which device operates primarily at the Network Layer?</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Switch</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Router</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Bridge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Hub</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p:txBody>
      </p:sp>
      <p:sp>
        <p:nvSpPr>
          <p:cNvPr id="423" name="Google Shape;423;g3c2c8891362_0_45"/>
          <p:cNvSpPr txBox="1"/>
          <p:nvPr/>
        </p:nvSpPr>
        <p:spPr>
          <a:xfrm>
            <a:off x="4963950" y="1289400"/>
            <a:ext cx="4265400" cy="45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1900">
                <a:solidFill>
                  <a:schemeClr val="dk1"/>
                </a:solidFill>
              </a:rPr>
              <a:t>3. Which device primarily uses the destination IP address to forward packets?</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Hub</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Switch</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Router</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Repeater</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4. The primary function of ARP is to:</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Map MAC address to port number</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Map IP address to MAC address</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Map IP address to DNS name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Map MAC address to IP subnet</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c2c8891362_0_3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30" name="Google Shape;430;g3c2c8891362_0_33"/>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Knowledge Check</a:t>
            </a:r>
            <a:endParaRPr b="0" i="0" sz="3000" u="none" cap="none" strike="noStrike">
              <a:solidFill>
                <a:srgbClr val="000000"/>
              </a:solidFill>
              <a:latin typeface="Arial"/>
              <a:ea typeface="Arial"/>
              <a:cs typeface="Arial"/>
              <a:sym typeface="Arial"/>
            </a:endParaRPr>
          </a:p>
        </p:txBody>
      </p:sp>
      <p:pic>
        <p:nvPicPr>
          <p:cNvPr id="431" name="Google Shape;431;g3c2c8891362_0_33"/>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32" name="Google Shape;432;g3c2c8891362_0_33"/>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33" name="Google Shape;433;g3c2c8891362_0_33"/>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34" name="Google Shape;434;g3c2c8891362_0_33"/>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35" name="Google Shape;435;g3c2c8891362_0_33"/>
          <p:cNvSpPr txBox="1"/>
          <p:nvPr/>
        </p:nvSpPr>
        <p:spPr>
          <a:xfrm>
            <a:off x="495600" y="1289400"/>
            <a:ext cx="4265400" cy="45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1900">
                <a:solidFill>
                  <a:schemeClr val="dk1"/>
                </a:solidFill>
              </a:rPr>
              <a:t>Q5. When is an ARP request broadcast?</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When destination IP is unknown</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When MAC address for next-hop IP is unknown</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When packet size exceeds MTU</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When router table is full</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Q6. Which statement about ARP is TRUE?</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ARP works at application layer</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ARP uses TCP</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ARP request is broadcast, reply is unicast</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ARP assigns IP addresses</a:t>
            </a:r>
            <a:endParaRPr sz="1900">
              <a:solidFill>
                <a:schemeClr val="dk1"/>
              </a:solidFill>
            </a:endParaRPr>
          </a:p>
        </p:txBody>
      </p:sp>
      <p:sp>
        <p:nvSpPr>
          <p:cNvPr id="436" name="Google Shape;436;g3c2c8891362_0_33"/>
          <p:cNvSpPr txBox="1"/>
          <p:nvPr/>
        </p:nvSpPr>
        <p:spPr>
          <a:xfrm>
            <a:off x="4963950" y="1289400"/>
            <a:ext cx="4265400" cy="4863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1900">
                <a:solidFill>
                  <a:schemeClr val="dk1"/>
                </a:solidFill>
              </a:rPr>
              <a:t>Q7. Which layer in a 3-tier DCN directly connects to servers?</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Core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Aggregation</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Access</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Distribution</a:t>
            </a:r>
            <a:endParaRPr sz="1900">
              <a:solidFill>
                <a:schemeClr val="dk1"/>
              </a:solidFill>
            </a:endParaRPr>
          </a:p>
          <a:p>
            <a:pPr indent="0" lvl="0" marL="0" rtl="0" algn="l">
              <a:lnSpc>
                <a:spcPct val="100000"/>
              </a:lnSpc>
              <a:spcBef>
                <a:spcPts val="0"/>
              </a:spcBef>
              <a:spcAft>
                <a:spcPts val="0"/>
              </a:spcAft>
              <a:buNone/>
            </a:pPr>
            <a:r>
              <a:t/>
            </a:r>
            <a:endParaRPr b="1"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Q8. The primary role of the Access Router is to:</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Connect servers</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Provide high-speed switching between aggregation switches</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Perform ARP resolution</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Handle storage traffic</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c2c8891362_0_5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43" name="Google Shape;443;g3c2c8891362_0_57"/>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Knowledge Check</a:t>
            </a:r>
            <a:endParaRPr b="0" i="0" sz="3000" u="none" cap="none" strike="noStrike">
              <a:solidFill>
                <a:srgbClr val="000000"/>
              </a:solidFill>
              <a:latin typeface="Arial"/>
              <a:ea typeface="Arial"/>
              <a:cs typeface="Arial"/>
              <a:sym typeface="Arial"/>
            </a:endParaRPr>
          </a:p>
        </p:txBody>
      </p:sp>
      <p:pic>
        <p:nvPicPr>
          <p:cNvPr id="444" name="Google Shape;444;g3c2c8891362_0_57"/>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45" name="Google Shape;445;g3c2c8891362_0_57"/>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46" name="Google Shape;446;g3c2c8891362_0_57"/>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47" name="Google Shape;447;g3c2c8891362_0_57"/>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48" name="Google Shape;448;g3c2c8891362_0_57"/>
          <p:cNvSpPr txBox="1"/>
          <p:nvPr/>
        </p:nvSpPr>
        <p:spPr>
          <a:xfrm>
            <a:off x="495600" y="1289400"/>
            <a:ext cx="7812000" cy="3694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1900">
                <a:solidFill>
                  <a:schemeClr val="dk1"/>
                </a:solidFill>
              </a:rPr>
              <a:t>Q10. VM migration in a 3-tier DCN is difficult mainly because:</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MAC addresses cannot move</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IP addressing and Layer-2 boundaries are tightly coupled</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Routers do not support ARP</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Switches cannot learn MAC addresses</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rPr b="1" lang="en-IN" sz="1900">
                <a:solidFill>
                  <a:schemeClr val="dk1"/>
                </a:solidFill>
              </a:rPr>
              <a:t>Q11. Why is a traditional 3-tier DCN less suitable for cloud data centers?</a:t>
            </a:r>
            <a:endParaRPr b="1" sz="1900">
              <a:solidFill>
                <a:schemeClr val="dk1"/>
              </a:solidFill>
            </a:endParaRPr>
          </a:p>
          <a:p>
            <a:pPr indent="0" lvl="0" marL="0" rtl="0" algn="l">
              <a:lnSpc>
                <a:spcPct val="100000"/>
              </a:lnSpc>
              <a:spcBef>
                <a:spcPts val="0"/>
              </a:spcBef>
              <a:spcAft>
                <a:spcPts val="0"/>
              </a:spcAft>
              <a:buNone/>
            </a:pPr>
            <a:r>
              <a:rPr lang="en-IN" sz="1900">
                <a:solidFill>
                  <a:schemeClr val="dk1"/>
                </a:solidFill>
              </a:rPr>
              <a:t>A. It does not support IP addressing</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B. It cannot support virtualization</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C. It is optimized for client-server traffic, not VM-to-VM traffic</a:t>
            </a:r>
            <a:endParaRPr sz="1900">
              <a:solidFill>
                <a:schemeClr val="dk1"/>
              </a:solidFill>
            </a:endParaRPr>
          </a:p>
          <a:p>
            <a:pPr indent="0" lvl="0" marL="0" rtl="0" algn="l">
              <a:lnSpc>
                <a:spcPct val="100000"/>
              </a:lnSpc>
              <a:spcBef>
                <a:spcPts val="0"/>
              </a:spcBef>
              <a:spcAft>
                <a:spcPts val="0"/>
              </a:spcAft>
              <a:buNone/>
            </a:pPr>
            <a:r>
              <a:rPr lang="en-IN" sz="1900">
                <a:solidFill>
                  <a:schemeClr val="dk1"/>
                </a:solidFill>
              </a:rPr>
              <a:t>D. It does not use switches</a:t>
            </a:r>
            <a:endParaRPr sz="19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3bc6f659c99_0_25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55" name="Google Shape;455;g3bc6f659c99_0_255"/>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4. Issues with traditional DCN Architecture</a:t>
            </a:r>
            <a:endParaRPr b="0" i="0" sz="3000" u="none" cap="none" strike="noStrike">
              <a:solidFill>
                <a:srgbClr val="000000"/>
              </a:solidFill>
              <a:latin typeface="Arial"/>
              <a:ea typeface="Arial"/>
              <a:cs typeface="Arial"/>
              <a:sym typeface="Arial"/>
            </a:endParaRPr>
          </a:p>
        </p:txBody>
      </p:sp>
      <p:pic>
        <p:nvPicPr>
          <p:cNvPr id="456" name="Google Shape;456;g3bc6f659c99_0_255"/>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57" name="Google Shape;457;g3bc6f659c99_0_255"/>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58" name="Google Shape;458;g3bc6f659c99_0_255"/>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59" name="Google Shape;459;g3bc6f659c99_0_255"/>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60" name="Google Shape;460;g3bc6f659c99_0_255"/>
          <p:cNvSpPr txBox="1"/>
          <p:nvPr/>
        </p:nvSpPr>
        <p:spPr>
          <a:xfrm>
            <a:off x="529538" y="1237625"/>
            <a:ext cx="8051100" cy="43611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342900" lvl="0" marL="457200" rtl="0" algn="l">
              <a:lnSpc>
                <a:spcPct val="100000"/>
              </a:lnSpc>
              <a:spcBef>
                <a:spcPts val="1800"/>
              </a:spcBef>
              <a:spcAft>
                <a:spcPts val="0"/>
              </a:spcAft>
              <a:buSzPts val="1800"/>
              <a:buAutoNum type="arabicPeriod"/>
            </a:pPr>
            <a:r>
              <a:rPr b="1" lang="en-IN" sz="1800"/>
              <a:t>Scalability Limitations</a:t>
            </a:r>
            <a:endParaRPr b="1" sz="1800"/>
          </a:p>
          <a:p>
            <a:pPr indent="-342900" lvl="0" marL="457200" rtl="0" algn="l">
              <a:lnSpc>
                <a:spcPct val="100000"/>
              </a:lnSpc>
              <a:spcBef>
                <a:spcPts val="1000"/>
              </a:spcBef>
              <a:spcAft>
                <a:spcPts val="0"/>
              </a:spcAft>
              <a:buClr>
                <a:schemeClr val="dk1"/>
              </a:buClr>
              <a:buSzPts val="1800"/>
              <a:buChar char="●"/>
            </a:pPr>
            <a:r>
              <a:rPr lang="en-IN" sz="1800">
                <a:solidFill>
                  <a:schemeClr val="dk1"/>
                </a:solidFill>
              </a:rPr>
              <a:t>Large single</a:t>
            </a:r>
            <a:r>
              <a:rPr b="1" lang="en-IN" sz="1800">
                <a:solidFill>
                  <a:srgbClr val="FF0000"/>
                </a:solidFill>
              </a:rPr>
              <a:t> Layer-2</a:t>
            </a:r>
            <a:r>
              <a:rPr lang="en-IN" sz="1800">
                <a:solidFill>
                  <a:schemeClr val="dk1"/>
                </a:solidFill>
              </a:rPr>
              <a:t> domain </a:t>
            </a:r>
            <a:r>
              <a:rPr b="1" lang="en-IN" sz="1800">
                <a:solidFill>
                  <a:srgbClr val="FF0000"/>
                </a:solidFill>
              </a:rPr>
              <a:t>does not scale</a:t>
            </a:r>
            <a:r>
              <a:rPr lang="en-IN" sz="1800">
                <a:solidFill>
                  <a:schemeClr val="dk1"/>
                </a:solidFill>
              </a:rPr>
              <a:t> beyond a </a:t>
            </a:r>
            <a:r>
              <a:rPr b="1" lang="en-IN" sz="1800">
                <a:solidFill>
                  <a:srgbClr val="FF0000"/>
                </a:solidFill>
              </a:rPr>
              <a:t>few thousand servers</a:t>
            </a:r>
            <a:endParaRPr b="1" sz="1800">
              <a:solidFill>
                <a:srgbClr val="FF0000"/>
              </a:solidFill>
            </a:endParaRPr>
          </a:p>
          <a:p>
            <a:pPr indent="-342900" lvl="0" marL="457200" rtl="0" algn="l">
              <a:lnSpc>
                <a:spcPct val="100000"/>
              </a:lnSpc>
              <a:spcBef>
                <a:spcPts val="1000"/>
              </a:spcBef>
              <a:spcAft>
                <a:spcPts val="0"/>
              </a:spcAft>
              <a:buClr>
                <a:schemeClr val="dk1"/>
              </a:buClr>
              <a:buSzPts val="1800"/>
              <a:buChar char="●"/>
            </a:pPr>
            <a:r>
              <a:rPr b="1" lang="en-IN" sz="1800">
                <a:solidFill>
                  <a:srgbClr val="FF0000"/>
                </a:solidFill>
              </a:rPr>
              <a:t>MAC tables, ARP tables</a:t>
            </a:r>
            <a:r>
              <a:rPr lang="en-IN" sz="1800">
                <a:solidFill>
                  <a:schemeClr val="dk1"/>
                </a:solidFill>
              </a:rPr>
              <a:t>, and control </a:t>
            </a:r>
            <a:r>
              <a:rPr b="1" lang="en-IN" sz="1800">
                <a:solidFill>
                  <a:schemeClr val="dk1"/>
                </a:solidFill>
              </a:rPr>
              <a:t>traffic </a:t>
            </a:r>
            <a:r>
              <a:rPr lang="en-IN" sz="1800">
                <a:solidFill>
                  <a:schemeClr val="dk1"/>
                </a:solidFill>
              </a:rPr>
              <a:t>grow </a:t>
            </a:r>
            <a:r>
              <a:rPr b="1" lang="en-IN" sz="1800">
                <a:solidFill>
                  <a:srgbClr val="FF0000"/>
                </a:solidFill>
              </a:rPr>
              <a:t>exponentially</a:t>
            </a:r>
            <a:endParaRPr b="1" sz="1800">
              <a:solidFill>
                <a:srgbClr val="FF0000"/>
              </a:solidFill>
            </a:endParaRPr>
          </a:p>
          <a:p>
            <a:pPr indent="-342900" lvl="0" marL="457200" rtl="0" algn="l">
              <a:lnSpc>
                <a:spcPct val="100000"/>
              </a:lnSpc>
              <a:spcBef>
                <a:spcPts val="1000"/>
              </a:spcBef>
              <a:spcAft>
                <a:spcPts val="0"/>
              </a:spcAft>
              <a:buClr>
                <a:schemeClr val="dk1"/>
              </a:buClr>
              <a:buSzPts val="1800"/>
              <a:buChar char="●"/>
            </a:pPr>
            <a:r>
              <a:rPr lang="en-IN" sz="1800">
                <a:solidFill>
                  <a:schemeClr val="dk1"/>
                </a:solidFill>
              </a:rPr>
              <a:t>Adding more racks increases complexity, not capacity</a:t>
            </a:r>
            <a:endParaRPr sz="1800">
              <a:solidFill>
                <a:schemeClr val="dk1"/>
              </a:solidFill>
            </a:endParaRPr>
          </a:p>
          <a:p>
            <a:pPr indent="-342900" lvl="0" marL="457200" rtl="0" algn="l">
              <a:lnSpc>
                <a:spcPct val="100000"/>
              </a:lnSpc>
              <a:spcBef>
                <a:spcPts val="1000"/>
              </a:spcBef>
              <a:spcAft>
                <a:spcPts val="0"/>
              </a:spcAft>
              <a:buClr>
                <a:schemeClr val="dk1"/>
              </a:buClr>
              <a:buSzPts val="1800"/>
              <a:buChar char="●"/>
            </a:pPr>
            <a:r>
              <a:rPr lang="en-IN" sz="1800">
                <a:solidFill>
                  <a:schemeClr val="dk1"/>
                </a:solidFill>
              </a:rPr>
              <a:t>Scaling is done by- </a:t>
            </a:r>
            <a:r>
              <a:rPr b="1" lang="en-IN" sz="1800">
                <a:solidFill>
                  <a:srgbClr val="FF0000"/>
                </a:solidFill>
              </a:rPr>
              <a:t>adding bigger switches</a:t>
            </a:r>
            <a:r>
              <a:rPr lang="en-IN" sz="1800">
                <a:solidFill>
                  <a:schemeClr val="dk1"/>
                </a:solidFill>
              </a:rPr>
              <a:t>, Increasing port density, </a:t>
            </a:r>
            <a:r>
              <a:rPr b="1" lang="en-IN" sz="1800">
                <a:solidFill>
                  <a:schemeClr val="dk1"/>
                </a:solidFill>
              </a:rPr>
              <a:t>Core and aggregation switches</a:t>
            </a:r>
            <a:r>
              <a:rPr lang="en-IN" sz="1800">
                <a:solidFill>
                  <a:schemeClr val="dk1"/>
                </a:solidFill>
              </a:rPr>
              <a:t> become </a:t>
            </a:r>
            <a:r>
              <a:rPr b="1" lang="en-IN" sz="1800">
                <a:solidFill>
                  <a:srgbClr val="FF0000"/>
                </a:solidFill>
              </a:rPr>
              <a:t>choke points</a:t>
            </a:r>
            <a:endParaRPr b="1" sz="1800">
              <a:solidFill>
                <a:srgbClr val="FF0000"/>
              </a:solidFill>
            </a:endParaRPr>
          </a:p>
          <a:p>
            <a:pPr indent="-342900" lvl="0" marL="457200" rtl="0" algn="l">
              <a:lnSpc>
                <a:spcPct val="100000"/>
              </a:lnSpc>
              <a:spcBef>
                <a:spcPts val="1000"/>
              </a:spcBef>
              <a:spcAft>
                <a:spcPts val="0"/>
              </a:spcAft>
              <a:buClr>
                <a:schemeClr val="dk1"/>
              </a:buClr>
              <a:buSzPts val="1800"/>
              <a:buAutoNum type="arabicPeriod"/>
            </a:pPr>
            <a:r>
              <a:rPr b="1" lang="en-IN" sz="1800">
                <a:solidFill>
                  <a:schemeClr val="dk1"/>
                </a:solidFill>
              </a:rPr>
              <a:t>Broadcast Storms &amp; Control Overhead</a:t>
            </a:r>
            <a:endParaRPr b="1" sz="1800">
              <a:solidFill>
                <a:schemeClr val="dk1"/>
              </a:solidFill>
            </a:endParaRPr>
          </a:p>
          <a:p>
            <a:pPr indent="-342900" lvl="0" marL="457200" rtl="0" algn="l">
              <a:lnSpc>
                <a:spcPct val="100000"/>
              </a:lnSpc>
              <a:spcBef>
                <a:spcPts val="1000"/>
              </a:spcBef>
              <a:spcAft>
                <a:spcPts val="0"/>
              </a:spcAft>
              <a:buClr>
                <a:schemeClr val="dk1"/>
              </a:buClr>
              <a:buSzPts val="1800"/>
              <a:buChar char="●"/>
            </a:pPr>
            <a:r>
              <a:rPr b="1" lang="en-IN" sz="1800">
                <a:solidFill>
                  <a:srgbClr val="FF0000"/>
                </a:solidFill>
              </a:rPr>
              <a:t>ARP, DHCP</a:t>
            </a:r>
            <a:r>
              <a:rPr lang="en-IN" sz="1800">
                <a:solidFill>
                  <a:schemeClr val="dk1"/>
                </a:solidFill>
              </a:rPr>
              <a:t>, and unknown unicast frames are </a:t>
            </a:r>
            <a:r>
              <a:rPr b="1" lang="en-IN" sz="1800">
                <a:solidFill>
                  <a:srgbClr val="FF0000"/>
                </a:solidFill>
              </a:rPr>
              <a:t>broadcast</a:t>
            </a:r>
            <a:r>
              <a:rPr b="1" lang="en-IN" sz="1800">
                <a:solidFill>
                  <a:schemeClr val="dk1"/>
                </a:solidFill>
              </a:rPr>
              <a:t> </a:t>
            </a:r>
            <a:r>
              <a:rPr lang="en-IN" sz="1800">
                <a:solidFill>
                  <a:schemeClr val="dk1"/>
                </a:solidFill>
              </a:rPr>
              <a:t>to all servers.</a:t>
            </a:r>
            <a:endParaRPr sz="1800">
              <a:solidFill>
                <a:schemeClr val="dk1"/>
              </a:solidFill>
            </a:endParaRPr>
          </a:p>
          <a:p>
            <a:pPr indent="-342900" lvl="0" marL="457200" rtl="0" algn="l">
              <a:lnSpc>
                <a:spcPct val="100000"/>
              </a:lnSpc>
              <a:spcBef>
                <a:spcPts val="1000"/>
              </a:spcBef>
              <a:spcAft>
                <a:spcPts val="0"/>
              </a:spcAft>
              <a:buClr>
                <a:schemeClr val="dk1"/>
              </a:buClr>
              <a:buSzPts val="1800"/>
              <a:buChar char="●"/>
            </a:pPr>
            <a:r>
              <a:rPr lang="en-IN" sz="1800">
                <a:solidFill>
                  <a:schemeClr val="dk1"/>
                </a:solidFill>
              </a:rPr>
              <a:t>Broadcast traffic consumes bandwidth and CPU on every device</a:t>
            </a:r>
            <a:endParaRPr sz="1800">
              <a:solidFill>
                <a:schemeClr val="dk1"/>
              </a:solidFill>
            </a:endParaRPr>
          </a:p>
          <a:p>
            <a:pPr indent="-342900" lvl="0" marL="457200" rtl="0" algn="l">
              <a:lnSpc>
                <a:spcPct val="100000"/>
              </a:lnSpc>
              <a:spcBef>
                <a:spcPts val="1800"/>
              </a:spcBef>
              <a:spcAft>
                <a:spcPts val="1000"/>
              </a:spcAft>
              <a:buClr>
                <a:schemeClr val="dk1"/>
              </a:buClr>
              <a:buSzPts val="1800"/>
              <a:buChar char="●"/>
            </a:pPr>
            <a:r>
              <a:rPr lang="en-IN" sz="1800">
                <a:solidFill>
                  <a:schemeClr val="dk1"/>
                </a:solidFill>
              </a:rPr>
              <a:t>One faulty device can flood the entire data center</a:t>
            </a:r>
            <a:endParaRPr sz="18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bc8df442ee_0_12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67" name="Google Shape;467;g3bc8df442ee_0_120"/>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Issues with traditional DCN Architecture</a:t>
            </a:r>
            <a:endParaRPr b="0" i="0" sz="3000" u="none" cap="none" strike="noStrike">
              <a:solidFill>
                <a:srgbClr val="000000"/>
              </a:solidFill>
              <a:latin typeface="Arial"/>
              <a:ea typeface="Arial"/>
              <a:cs typeface="Arial"/>
              <a:sym typeface="Arial"/>
            </a:endParaRPr>
          </a:p>
        </p:txBody>
      </p:sp>
      <p:pic>
        <p:nvPicPr>
          <p:cNvPr id="468" name="Google Shape;468;g3bc8df442ee_0_12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69" name="Google Shape;469;g3bc8df442ee_0_12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70" name="Google Shape;470;g3bc8df442ee_0_12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71" name="Google Shape;471;g3bc8df442ee_0_12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72" name="Google Shape;472;g3bc8df442ee_0_120"/>
          <p:cNvSpPr txBox="1"/>
          <p:nvPr/>
        </p:nvSpPr>
        <p:spPr>
          <a:xfrm>
            <a:off x="529538" y="1420400"/>
            <a:ext cx="8051100" cy="3278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IN" sz="1900">
                <a:solidFill>
                  <a:schemeClr val="dk1"/>
                </a:solidFill>
              </a:rPr>
              <a:t>3. Oversubscription &amp; Bandwidth Bottlenecks</a:t>
            </a:r>
            <a:endParaRPr b="1" sz="1900">
              <a:solidFill>
                <a:schemeClr val="dk1"/>
              </a:solidFill>
            </a:endParaRPr>
          </a:p>
          <a:p>
            <a:pPr indent="-349250" lvl="0" marL="457200" rtl="0" algn="l">
              <a:lnSpc>
                <a:spcPct val="100000"/>
              </a:lnSpc>
              <a:spcBef>
                <a:spcPts val="1800"/>
              </a:spcBef>
              <a:spcAft>
                <a:spcPts val="0"/>
              </a:spcAft>
              <a:buClr>
                <a:schemeClr val="dk1"/>
              </a:buClr>
              <a:buSzPts val="1900"/>
              <a:buChar char="●"/>
            </a:pPr>
            <a:r>
              <a:rPr lang="en-IN" sz="1900">
                <a:solidFill>
                  <a:schemeClr val="dk1"/>
                </a:solidFill>
              </a:rPr>
              <a:t>In 3-tier DCN, North–South traffic assumed dominant and Uplinks are fewer than downlinks but modern cloud apps generate </a:t>
            </a:r>
            <a:r>
              <a:rPr b="1" lang="en-IN" sz="1900">
                <a:solidFill>
                  <a:srgbClr val="FF0000"/>
                </a:solidFill>
              </a:rPr>
              <a:t>East–West traffic i.e. VM ↔ VM </a:t>
            </a:r>
            <a:r>
              <a:rPr b="1" lang="en-IN" sz="1900"/>
              <a:t>and </a:t>
            </a:r>
            <a:r>
              <a:rPr b="1" lang="en-IN" sz="1900">
                <a:solidFill>
                  <a:srgbClr val="FF0000"/>
                </a:solidFill>
              </a:rPr>
              <a:t>Microservices ↔ Microservices</a:t>
            </a:r>
            <a:endParaRPr b="1" sz="1900">
              <a:solidFill>
                <a:srgbClr val="FF0000"/>
              </a:solidFill>
            </a:endParaRPr>
          </a:p>
          <a:p>
            <a:pPr indent="-349250" lvl="0" marL="457200" rtl="0" algn="l">
              <a:lnSpc>
                <a:spcPct val="100000"/>
              </a:lnSpc>
              <a:spcBef>
                <a:spcPts val="0"/>
              </a:spcBef>
              <a:spcAft>
                <a:spcPts val="0"/>
              </a:spcAft>
              <a:buClr>
                <a:schemeClr val="dk1"/>
              </a:buClr>
              <a:buSzPts val="1900"/>
              <a:buChar char="●"/>
            </a:pPr>
            <a:r>
              <a:rPr lang="en-IN" sz="1900">
                <a:solidFill>
                  <a:schemeClr val="dk1"/>
                </a:solidFill>
              </a:rPr>
              <a:t>Congestion occurs at </a:t>
            </a:r>
            <a:r>
              <a:rPr b="1" lang="en-IN" sz="1900">
                <a:solidFill>
                  <a:srgbClr val="FF0000"/>
                </a:solidFill>
              </a:rPr>
              <a:t>aggregation/core</a:t>
            </a:r>
            <a:endParaRPr b="1" sz="1900">
              <a:solidFill>
                <a:srgbClr val="FF0000"/>
              </a:solidFill>
            </a:endParaRPr>
          </a:p>
          <a:p>
            <a:pPr indent="-349250" lvl="0" marL="457200" rtl="0" algn="l">
              <a:lnSpc>
                <a:spcPct val="100000"/>
              </a:lnSpc>
              <a:spcBef>
                <a:spcPts val="0"/>
              </a:spcBef>
              <a:spcAft>
                <a:spcPts val="0"/>
              </a:spcAft>
              <a:buSzPts val="1900"/>
              <a:buChar char="●"/>
            </a:pPr>
            <a:r>
              <a:rPr b="1" lang="en-IN" sz="1900">
                <a:solidFill>
                  <a:srgbClr val="FF0000"/>
                </a:solidFill>
              </a:rPr>
              <a:t>Latency</a:t>
            </a:r>
            <a:r>
              <a:rPr lang="en-IN" sz="1900"/>
              <a:t> increases</a:t>
            </a:r>
            <a:endParaRPr sz="1900"/>
          </a:p>
          <a:p>
            <a:pPr indent="-349250" lvl="0" marL="457200" rtl="0" algn="l">
              <a:lnSpc>
                <a:spcPct val="100000"/>
              </a:lnSpc>
              <a:spcBef>
                <a:spcPts val="0"/>
              </a:spcBef>
              <a:spcAft>
                <a:spcPts val="0"/>
              </a:spcAft>
              <a:buSzPts val="1900"/>
              <a:buChar char="●"/>
            </a:pPr>
            <a:r>
              <a:rPr b="1" lang="en-IN" sz="1900">
                <a:solidFill>
                  <a:srgbClr val="FF0000"/>
                </a:solidFill>
              </a:rPr>
              <a:t>Failure impact</a:t>
            </a:r>
            <a:r>
              <a:rPr lang="en-IN" sz="1900"/>
              <a:t> </a:t>
            </a:r>
            <a:r>
              <a:rPr lang="en-IN" sz="1900"/>
              <a:t>increases (incase aggregation switch fails)</a:t>
            </a:r>
            <a:endParaRPr sz="1900"/>
          </a:p>
          <a:p>
            <a:pPr indent="0" lvl="0" marL="0" rtl="0" algn="l">
              <a:lnSpc>
                <a:spcPct val="100000"/>
              </a:lnSpc>
              <a:spcBef>
                <a:spcPts val="1800"/>
              </a:spcBef>
              <a:spcAft>
                <a:spcPts val="400"/>
              </a:spcAft>
              <a:buNone/>
            </a:pPr>
            <a:r>
              <a:rPr lang="en-IN" sz="1900">
                <a:solidFill>
                  <a:schemeClr val="dk1"/>
                </a:solidFill>
              </a:rPr>
              <a:t>4. </a:t>
            </a:r>
            <a:r>
              <a:rPr lang="en-IN" sz="1900">
                <a:solidFill>
                  <a:schemeClr val="dk1"/>
                </a:solidFill>
              </a:rPr>
              <a:t>The traditional 3-tier DCN was designed for </a:t>
            </a:r>
            <a:r>
              <a:rPr b="1" lang="en-IN" sz="1900">
                <a:solidFill>
                  <a:srgbClr val="FF0000"/>
                </a:solidFill>
              </a:rPr>
              <a:t>enterprise client–server traffic, </a:t>
            </a:r>
            <a:r>
              <a:rPr lang="en-IN" sz="1900">
                <a:solidFill>
                  <a:schemeClr val="dk1"/>
                </a:solidFill>
              </a:rPr>
              <a:t>supports more of vertical scaling instead of horizontal </a:t>
            </a:r>
            <a:endParaRPr sz="19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bc929645f4_0_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79" name="Google Shape;479;g3bc929645f4_0_1"/>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Issues with traditional DCN Architecture</a:t>
            </a:r>
            <a:endParaRPr b="0" i="0" sz="3000" u="none" cap="none" strike="noStrike">
              <a:solidFill>
                <a:srgbClr val="000000"/>
              </a:solidFill>
              <a:latin typeface="Arial"/>
              <a:ea typeface="Arial"/>
              <a:cs typeface="Arial"/>
              <a:sym typeface="Arial"/>
            </a:endParaRPr>
          </a:p>
        </p:txBody>
      </p:sp>
      <p:pic>
        <p:nvPicPr>
          <p:cNvPr id="480" name="Google Shape;480;g3bc929645f4_0_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81" name="Google Shape;481;g3bc929645f4_0_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82" name="Google Shape;482;g3bc929645f4_0_1"/>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83" name="Google Shape;483;g3bc929645f4_0_1"/>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484" name="Google Shape;484;g3bc929645f4_0_1"/>
          <p:cNvPicPr preferRelativeResize="0"/>
          <p:nvPr/>
        </p:nvPicPr>
        <p:blipFill>
          <a:blip r:embed="rId7">
            <a:alphaModFix/>
          </a:blip>
          <a:stretch>
            <a:fillRect/>
          </a:stretch>
        </p:blipFill>
        <p:spPr>
          <a:xfrm>
            <a:off x="1831724" y="1391412"/>
            <a:ext cx="5269725" cy="407517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c2c8891362_0_10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491" name="Google Shape;491;g3c2c8891362_0_103"/>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5. What is Warehouse Scale Computer (WSC) or Warehouse Scale Datacenter (WSD)</a:t>
            </a:r>
            <a:r>
              <a:rPr b="1" lang="en-IN" sz="3000">
                <a:solidFill>
                  <a:srgbClr val="FF0000"/>
                </a:solidFill>
              </a:rPr>
              <a:t> </a:t>
            </a:r>
            <a:endParaRPr b="0" i="0" sz="3000" u="none" cap="none" strike="noStrike">
              <a:solidFill>
                <a:srgbClr val="000000"/>
              </a:solidFill>
              <a:latin typeface="Arial"/>
              <a:ea typeface="Arial"/>
              <a:cs typeface="Arial"/>
              <a:sym typeface="Arial"/>
            </a:endParaRPr>
          </a:p>
        </p:txBody>
      </p:sp>
      <p:pic>
        <p:nvPicPr>
          <p:cNvPr id="492" name="Google Shape;492;g3c2c8891362_0_103"/>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493" name="Google Shape;493;g3c2c8891362_0_103"/>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494" name="Google Shape;494;g3c2c8891362_0_103"/>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495" name="Google Shape;495;g3c2c8891362_0_103"/>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496" name="Google Shape;496;g3c2c8891362_0_103"/>
          <p:cNvSpPr txBox="1"/>
          <p:nvPr/>
        </p:nvSpPr>
        <p:spPr>
          <a:xfrm>
            <a:off x="343500" y="2291925"/>
            <a:ext cx="8457000" cy="1877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i="1" lang="en-IN" sz="2200">
                <a:solidFill>
                  <a:srgbClr val="FF0000"/>
                </a:solidFill>
              </a:rPr>
              <a:t>A </a:t>
            </a:r>
            <a:r>
              <a:rPr b="1" i="1" lang="en-IN" sz="2200">
                <a:solidFill>
                  <a:srgbClr val="FF0000"/>
                </a:solidFill>
              </a:rPr>
              <a:t>Warehouse-Scale Data Center (WSD)</a:t>
            </a:r>
            <a:r>
              <a:rPr b="1" i="1" lang="en-IN" sz="2200">
                <a:solidFill>
                  <a:srgbClr val="FF0000"/>
                </a:solidFill>
              </a:rPr>
              <a:t> is a </a:t>
            </a:r>
            <a:r>
              <a:rPr b="1" i="1" lang="en-IN" sz="2200">
                <a:solidFill>
                  <a:srgbClr val="FF0000"/>
                </a:solidFill>
              </a:rPr>
              <a:t>large-scale computing facility</a:t>
            </a:r>
            <a:r>
              <a:rPr b="1" i="1" lang="en-IN" sz="2200">
                <a:solidFill>
                  <a:srgbClr val="FF0000"/>
                </a:solidFill>
              </a:rPr>
              <a:t> designed to </a:t>
            </a:r>
            <a:r>
              <a:rPr b="1" i="1" lang="en-IN" sz="2200">
                <a:solidFill>
                  <a:srgbClr val="FF0000"/>
                </a:solidFill>
                <a:highlight>
                  <a:srgbClr val="FFFF00"/>
                </a:highlight>
              </a:rPr>
              <a:t>host </a:t>
            </a:r>
            <a:r>
              <a:rPr b="1" i="1" lang="en-IN" sz="2200">
                <a:solidFill>
                  <a:srgbClr val="FF0000"/>
                </a:solidFill>
                <a:highlight>
                  <a:srgbClr val="FFFF00"/>
                </a:highlight>
              </a:rPr>
              <a:t>tens or hundreds of thousands of servers</a:t>
            </a:r>
            <a:r>
              <a:rPr b="1" i="1" lang="en-IN" sz="2200">
                <a:solidFill>
                  <a:srgbClr val="FF0000"/>
                </a:solidFill>
              </a:rPr>
              <a:t>. It is operated by a</a:t>
            </a:r>
            <a:r>
              <a:rPr b="1" i="1" lang="en-IN" sz="2200">
                <a:solidFill>
                  <a:srgbClr val="FF0000"/>
                </a:solidFill>
                <a:highlight>
                  <a:srgbClr val="FFFF00"/>
                </a:highlight>
              </a:rPr>
              <a:t> </a:t>
            </a:r>
            <a:r>
              <a:rPr b="1" i="1" lang="en-IN" sz="2200">
                <a:solidFill>
                  <a:srgbClr val="FF0000"/>
                </a:solidFill>
                <a:highlight>
                  <a:srgbClr val="FFFF00"/>
                </a:highlight>
              </a:rPr>
              <a:t>single organization</a:t>
            </a:r>
            <a:r>
              <a:rPr b="1" i="1" lang="en-IN" sz="2200">
                <a:solidFill>
                  <a:srgbClr val="FF0000"/>
                </a:solidFill>
                <a:highlight>
                  <a:srgbClr val="FFFF00"/>
                </a:highlight>
              </a:rPr>
              <a:t> (e.g., Google, Amazon, Microsoft) </a:t>
            </a:r>
            <a:r>
              <a:rPr b="1" i="1" lang="en-IN" sz="2200">
                <a:solidFill>
                  <a:srgbClr val="FF0000"/>
                </a:solidFill>
              </a:rPr>
              <a:t>and is treated as </a:t>
            </a:r>
            <a:r>
              <a:rPr b="1" i="1" lang="en-IN" sz="2200">
                <a:solidFill>
                  <a:srgbClr val="FF0000"/>
                </a:solidFill>
              </a:rPr>
              <a:t>one large computer</a:t>
            </a:r>
            <a:r>
              <a:rPr b="1" i="1" lang="en-IN" sz="2200">
                <a:solidFill>
                  <a:srgbClr val="FF0000"/>
                </a:solidFill>
              </a:rPr>
              <a:t>, not as independent servers.</a:t>
            </a:r>
            <a:endParaRPr b="1" i="1" sz="22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bc929645f4_0_2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03" name="Google Shape;503;g3bc929645f4_0_25"/>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5. What is Warehouse Scale Computer (WSC) or Warehouse Scale Datacenter (WSD)</a:t>
            </a:r>
            <a:r>
              <a:rPr b="1" lang="en-IN" sz="3000">
                <a:solidFill>
                  <a:srgbClr val="FF0000"/>
                </a:solidFill>
              </a:rPr>
              <a:t> </a:t>
            </a:r>
            <a:endParaRPr b="0" i="0" sz="3000" u="none" cap="none" strike="noStrike">
              <a:solidFill>
                <a:srgbClr val="000000"/>
              </a:solidFill>
              <a:latin typeface="Arial"/>
              <a:ea typeface="Arial"/>
              <a:cs typeface="Arial"/>
              <a:sym typeface="Arial"/>
            </a:endParaRPr>
          </a:p>
        </p:txBody>
      </p:sp>
      <p:pic>
        <p:nvPicPr>
          <p:cNvPr id="504" name="Google Shape;504;g3bc929645f4_0_25"/>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05" name="Google Shape;505;g3bc929645f4_0_25"/>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06" name="Google Shape;506;g3bc929645f4_0_25"/>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07" name="Google Shape;507;g3bc929645f4_0_25"/>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508" name="Google Shape;508;g3bc929645f4_0_25"/>
          <p:cNvSpPr txBox="1"/>
          <p:nvPr/>
        </p:nvSpPr>
        <p:spPr>
          <a:xfrm>
            <a:off x="529538" y="1330150"/>
            <a:ext cx="8051100" cy="473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33375" lvl="0" marL="457200" rtl="0" algn="l">
              <a:lnSpc>
                <a:spcPct val="150000"/>
              </a:lnSpc>
              <a:spcBef>
                <a:spcPts val="1800"/>
              </a:spcBef>
              <a:spcAft>
                <a:spcPts val="0"/>
              </a:spcAft>
              <a:buClr>
                <a:schemeClr val="dk1"/>
              </a:buClr>
              <a:buSzPts val="1650"/>
              <a:buChar char="●"/>
            </a:pPr>
            <a:r>
              <a:rPr lang="en-IN" sz="1650">
                <a:solidFill>
                  <a:schemeClr val="dk1"/>
                </a:solidFill>
              </a:rPr>
              <a:t>Trends toward </a:t>
            </a:r>
            <a:r>
              <a:rPr b="1" lang="en-IN" sz="1650">
                <a:solidFill>
                  <a:srgbClr val="FF0000"/>
                </a:solidFill>
              </a:rPr>
              <a:t>server-side computing</a:t>
            </a:r>
            <a:r>
              <a:rPr lang="en-IN" sz="1650">
                <a:solidFill>
                  <a:schemeClr val="dk1"/>
                </a:solidFill>
              </a:rPr>
              <a:t> and widespread</a:t>
            </a:r>
            <a:r>
              <a:rPr b="1" lang="en-IN" sz="1650">
                <a:solidFill>
                  <a:srgbClr val="FF0000"/>
                </a:solidFill>
              </a:rPr>
              <a:t> internet services</a:t>
            </a:r>
            <a:r>
              <a:rPr lang="en-IN" sz="1650">
                <a:solidFill>
                  <a:schemeClr val="dk1"/>
                </a:solidFill>
              </a:rPr>
              <a:t> created a new class of computing systems that were  named </a:t>
            </a:r>
            <a:r>
              <a:rPr b="1" lang="en-IN" sz="1650">
                <a:solidFill>
                  <a:srgbClr val="FF0000"/>
                </a:solidFill>
              </a:rPr>
              <a:t>warehouse-scale computers,or WSCs.</a:t>
            </a:r>
            <a:endParaRPr b="1" sz="1650">
              <a:solidFill>
                <a:srgbClr val="FF0000"/>
              </a:solidFill>
            </a:endParaRPr>
          </a:p>
          <a:p>
            <a:pPr indent="-333375" lvl="0" marL="457200" rtl="0" algn="l">
              <a:lnSpc>
                <a:spcPct val="150000"/>
              </a:lnSpc>
              <a:spcBef>
                <a:spcPts val="1000"/>
              </a:spcBef>
              <a:spcAft>
                <a:spcPts val="0"/>
              </a:spcAft>
              <a:buClr>
                <a:schemeClr val="dk1"/>
              </a:buClr>
              <a:buSzPts val="1650"/>
              <a:buChar char="●"/>
            </a:pPr>
            <a:r>
              <a:rPr lang="en-IN" sz="1650">
                <a:solidFill>
                  <a:schemeClr val="dk1"/>
                </a:solidFill>
              </a:rPr>
              <a:t>This perspective is a departure from a view of the computing problem that implicitly assumes a model where one program runs in a single machine.</a:t>
            </a:r>
            <a:endParaRPr sz="1650">
              <a:solidFill>
                <a:schemeClr val="dk1"/>
              </a:solidFill>
            </a:endParaRPr>
          </a:p>
          <a:p>
            <a:pPr indent="-333375" lvl="0" marL="457200" rtl="0" algn="l">
              <a:lnSpc>
                <a:spcPct val="150000"/>
              </a:lnSpc>
              <a:spcBef>
                <a:spcPts val="1000"/>
              </a:spcBef>
              <a:spcAft>
                <a:spcPts val="0"/>
              </a:spcAft>
              <a:buClr>
                <a:schemeClr val="dk1"/>
              </a:buClr>
              <a:buSzPts val="1650"/>
              <a:buChar char="●"/>
            </a:pPr>
            <a:r>
              <a:rPr lang="en-IN" sz="1650">
                <a:solidFill>
                  <a:schemeClr val="dk1"/>
                </a:solidFill>
                <a:highlight>
                  <a:srgbClr val="FFFF00"/>
                </a:highlight>
              </a:rPr>
              <a:t> In warehouse-scale computing, the </a:t>
            </a:r>
            <a:r>
              <a:rPr b="1" lang="en-IN" sz="1650">
                <a:solidFill>
                  <a:srgbClr val="FF0000"/>
                </a:solidFill>
                <a:highlight>
                  <a:srgbClr val="FFFF00"/>
                </a:highlight>
              </a:rPr>
              <a:t>program is an internet service</a:t>
            </a:r>
            <a:r>
              <a:rPr lang="en-IN" sz="1650">
                <a:solidFill>
                  <a:schemeClr val="dk1"/>
                </a:solidFill>
                <a:highlight>
                  <a:srgbClr val="FFFF00"/>
                </a:highlight>
              </a:rPr>
              <a:t>, which may consist of</a:t>
            </a:r>
            <a:r>
              <a:rPr b="1" lang="en-IN" sz="1650">
                <a:solidFill>
                  <a:srgbClr val="FF0000"/>
                </a:solidFill>
                <a:highlight>
                  <a:srgbClr val="FFFF00"/>
                </a:highlight>
              </a:rPr>
              <a:t> tens or more individual programs</a:t>
            </a:r>
            <a:r>
              <a:rPr lang="en-IN" sz="1650">
                <a:solidFill>
                  <a:schemeClr val="dk1"/>
                </a:solidFill>
                <a:highlight>
                  <a:srgbClr val="FFFF00"/>
                </a:highlight>
              </a:rPr>
              <a:t> that interact to implement complex end-user services such as </a:t>
            </a:r>
            <a:r>
              <a:rPr b="1" lang="en-IN" sz="1650">
                <a:solidFill>
                  <a:srgbClr val="FF0000"/>
                </a:solidFill>
                <a:highlight>
                  <a:srgbClr val="FFFF00"/>
                </a:highlight>
              </a:rPr>
              <a:t>email, search, or maps</a:t>
            </a:r>
            <a:r>
              <a:rPr lang="en-IN" sz="1650">
                <a:solidFill>
                  <a:schemeClr val="dk1"/>
                </a:solidFill>
                <a:highlight>
                  <a:srgbClr val="FFFF00"/>
                </a:highlight>
              </a:rPr>
              <a:t>. </a:t>
            </a:r>
            <a:endParaRPr sz="1650">
              <a:solidFill>
                <a:schemeClr val="dk1"/>
              </a:solidFill>
              <a:highlight>
                <a:srgbClr val="FFFF00"/>
              </a:highlight>
            </a:endParaRPr>
          </a:p>
          <a:p>
            <a:pPr indent="-333375" lvl="0" marL="457200" rtl="0" algn="l">
              <a:lnSpc>
                <a:spcPct val="150000"/>
              </a:lnSpc>
              <a:spcBef>
                <a:spcPts val="1800"/>
              </a:spcBef>
              <a:spcAft>
                <a:spcPts val="1000"/>
              </a:spcAft>
              <a:buClr>
                <a:schemeClr val="dk1"/>
              </a:buClr>
              <a:buSzPts val="1650"/>
              <a:buChar char="●"/>
            </a:pPr>
            <a:r>
              <a:rPr lang="en-IN" sz="1650">
                <a:solidFill>
                  <a:schemeClr val="dk1"/>
                </a:solidFill>
              </a:rPr>
              <a:t>These programs might be implemented and maintained by </a:t>
            </a:r>
            <a:r>
              <a:rPr b="1" lang="en-IN" sz="1650">
                <a:solidFill>
                  <a:srgbClr val="FF0000"/>
                </a:solidFill>
              </a:rPr>
              <a:t>different teams</a:t>
            </a:r>
            <a:r>
              <a:rPr lang="en-IN" sz="1650">
                <a:solidFill>
                  <a:schemeClr val="dk1"/>
                </a:solidFill>
              </a:rPr>
              <a:t> of engineers, perhaps even across organizational, </a:t>
            </a:r>
            <a:r>
              <a:rPr b="1" lang="en-IN" sz="1650">
                <a:solidFill>
                  <a:srgbClr val="FF0000"/>
                </a:solidFill>
              </a:rPr>
              <a:t>geographic, and company boundaries</a:t>
            </a:r>
            <a:endParaRPr b="1" sz="165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bc929645f4_0_36"/>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15" name="Google Shape;515;g3bc929645f4_0_36"/>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What is Warehouse Scale Computer (WSC) or Warehouse Scale Datacenter (WSD) </a:t>
            </a:r>
            <a:endParaRPr b="0" i="0" sz="3000" u="none" cap="none" strike="noStrike">
              <a:solidFill>
                <a:srgbClr val="000000"/>
              </a:solidFill>
              <a:latin typeface="Arial"/>
              <a:ea typeface="Arial"/>
              <a:cs typeface="Arial"/>
              <a:sym typeface="Arial"/>
            </a:endParaRPr>
          </a:p>
        </p:txBody>
      </p:sp>
      <p:pic>
        <p:nvPicPr>
          <p:cNvPr id="516" name="Google Shape;516;g3bc929645f4_0_36"/>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17" name="Google Shape;517;g3bc929645f4_0_36"/>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18" name="Google Shape;518;g3bc929645f4_0_36"/>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19" name="Google Shape;519;g3bc929645f4_0_36"/>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520" name="Google Shape;520;g3bc929645f4_0_36"/>
          <p:cNvSpPr txBox="1"/>
          <p:nvPr/>
        </p:nvSpPr>
        <p:spPr>
          <a:xfrm>
            <a:off x="529538" y="1436975"/>
            <a:ext cx="8051100" cy="4014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6075" lvl="0" marL="457200" rtl="0" algn="l">
              <a:lnSpc>
                <a:spcPct val="150000"/>
              </a:lnSpc>
              <a:spcBef>
                <a:spcPts val="1800"/>
              </a:spcBef>
              <a:spcAft>
                <a:spcPts val="0"/>
              </a:spcAft>
              <a:buClr>
                <a:schemeClr val="dk1"/>
              </a:buClr>
              <a:buSzPts val="1850"/>
              <a:buChar char="●"/>
            </a:pPr>
            <a:r>
              <a:rPr lang="en-IN" sz="1850">
                <a:solidFill>
                  <a:schemeClr val="dk1"/>
                </a:solidFill>
              </a:rPr>
              <a:t>The hardware for such a platform consists of</a:t>
            </a:r>
            <a:r>
              <a:rPr b="1" lang="en-IN" sz="1850">
                <a:solidFill>
                  <a:srgbClr val="FF0000"/>
                </a:solidFill>
              </a:rPr>
              <a:t> thousands of individual computing nodes </a:t>
            </a:r>
            <a:r>
              <a:rPr lang="en-IN" sz="1850">
                <a:solidFill>
                  <a:schemeClr val="dk1"/>
                </a:solidFill>
              </a:rPr>
              <a:t>with their corresponding </a:t>
            </a:r>
            <a:r>
              <a:rPr b="1" lang="en-IN" sz="1850">
                <a:solidFill>
                  <a:srgbClr val="FF0000"/>
                </a:solidFill>
              </a:rPr>
              <a:t>networking and storage subsystems, power distribution and conditioning equipment,</a:t>
            </a:r>
            <a:r>
              <a:rPr lang="en-IN" sz="1850">
                <a:solidFill>
                  <a:schemeClr val="dk1"/>
                </a:solidFill>
              </a:rPr>
              <a:t> and extensive </a:t>
            </a:r>
            <a:r>
              <a:rPr b="1" lang="en-IN" sz="1850">
                <a:solidFill>
                  <a:srgbClr val="FF0000"/>
                </a:solidFill>
              </a:rPr>
              <a:t>cooling systems</a:t>
            </a:r>
            <a:r>
              <a:rPr lang="en-IN" sz="1850">
                <a:solidFill>
                  <a:schemeClr val="dk1"/>
                </a:solidFill>
              </a:rPr>
              <a:t>. The enclosure for these systems is in fact a </a:t>
            </a:r>
            <a:r>
              <a:rPr b="1" lang="en-IN" sz="1850">
                <a:solidFill>
                  <a:srgbClr val="FF0000"/>
                </a:solidFill>
              </a:rPr>
              <a:t>building,</a:t>
            </a:r>
            <a:r>
              <a:rPr lang="en-IN" sz="1850">
                <a:solidFill>
                  <a:schemeClr val="dk1"/>
                </a:solidFill>
              </a:rPr>
              <a:t> which is often indistinguishable from a large warehouse.</a:t>
            </a:r>
            <a:endParaRPr sz="1850">
              <a:solidFill>
                <a:schemeClr val="dk1"/>
              </a:solidFill>
            </a:endParaRPr>
          </a:p>
          <a:p>
            <a:pPr indent="-346075" lvl="0" marL="457200" rtl="0" algn="l">
              <a:lnSpc>
                <a:spcPct val="150000"/>
              </a:lnSpc>
              <a:spcBef>
                <a:spcPts val="1000"/>
              </a:spcBef>
              <a:spcAft>
                <a:spcPts val="400"/>
              </a:spcAft>
              <a:buClr>
                <a:schemeClr val="dk1"/>
              </a:buClr>
              <a:buSzPts val="1850"/>
              <a:buChar char="●"/>
            </a:pPr>
            <a:r>
              <a:rPr lang="en-IN" sz="1850">
                <a:solidFill>
                  <a:schemeClr val="dk1"/>
                </a:solidFill>
              </a:rPr>
              <a:t>Data centers are buildings where multiple servers and communication gear are co-located because of their common environmental requirements and physical security needs, and for ease of maintenance.</a:t>
            </a:r>
            <a:endParaRPr sz="185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bc929645f4_0_4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27" name="Google Shape;527;g3bc929645f4_0_48"/>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What is Warehouse Scale Computer (WSC) or Warehouse Scale Datacenter (WSD) </a:t>
            </a:r>
            <a:endParaRPr b="0" i="0" sz="3000" u="none" cap="none" strike="noStrike">
              <a:solidFill>
                <a:srgbClr val="000000"/>
              </a:solidFill>
              <a:latin typeface="Arial"/>
              <a:ea typeface="Arial"/>
              <a:cs typeface="Arial"/>
              <a:sym typeface="Arial"/>
            </a:endParaRPr>
          </a:p>
        </p:txBody>
      </p:sp>
      <p:pic>
        <p:nvPicPr>
          <p:cNvPr id="528" name="Google Shape;528;g3bc929645f4_0_4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29" name="Google Shape;529;g3bc929645f4_0_4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30" name="Google Shape;530;g3bc929645f4_0_4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31" name="Google Shape;531;g3bc929645f4_0_4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graphicFrame>
        <p:nvGraphicFramePr>
          <p:cNvPr id="532" name="Google Shape;532;g3bc929645f4_0_48"/>
          <p:cNvGraphicFramePr/>
          <p:nvPr/>
        </p:nvGraphicFramePr>
        <p:xfrm>
          <a:off x="23813" y="1497450"/>
          <a:ext cx="3000000" cy="3000000"/>
        </p:xfrm>
        <a:graphic>
          <a:graphicData uri="http://schemas.openxmlformats.org/drawingml/2006/table">
            <a:tbl>
              <a:tblPr>
                <a:noFill/>
                <a:tableStyleId>{6125A502-1D04-4CF7-B8BF-D3690062694B}</a:tableStyleId>
              </a:tblPr>
              <a:tblGrid>
                <a:gridCol w="1771650"/>
                <a:gridCol w="3857625"/>
                <a:gridCol w="3467100"/>
              </a:tblGrid>
              <a:tr h="200025">
                <a:tc>
                  <a:txBody>
                    <a:bodyPr/>
                    <a:lstStyle/>
                    <a:p>
                      <a:pPr indent="0" lvl="0" marL="0" rtl="0" algn="ctr">
                        <a:lnSpc>
                          <a:spcPct val="115000"/>
                        </a:lnSpc>
                        <a:spcBef>
                          <a:spcPts val="0"/>
                        </a:spcBef>
                        <a:spcAft>
                          <a:spcPts val="0"/>
                        </a:spcAft>
                        <a:buNone/>
                      </a:pPr>
                      <a:r>
                        <a:rPr b="1" lang="en-IN" sz="1600">
                          <a:solidFill>
                            <a:srgbClr val="FF0000"/>
                          </a:solidFill>
                        </a:rPr>
                        <a:t>Aspect</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Traditional Data Center</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Warehouse-Scale Data Center (WSC)</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IN" sz="1600"/>
                        <a:t>Ownership &amp; Control</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Hosts infrastructure for </a:t>
                      </a:r>
                      <a:r>
                        <a:rPr b="1" lang="en-IN" sz="1600"/>
                        <a:t>multiple organizational units or companies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Owned and operated by </a:t>
                      </a:r>
                      <a:r>
                        <a:rPr b="1" lang="en-IN" sz="1600"/>
                        <a:t>a single organization</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IN" sz="1600"/>
                        <a:t>Application Type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Large number of small / medium applications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Small number of very large applications (internet services)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Hardware Usage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Each application runs on </a:t>
                      </a:r>
                      <a:r>
                        <a:rPr b="1" lang="en-IN" sz="1600"/>
                        <a:t>dedicated hardware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Hardware is </a:t>
                      </a:r>
                      <a:r>
                        <a:rPr b="1" lang="en-IN" sz="1600"/>
                        <a:t>shared and pooled</a:t>
                      </a:r>
                      <a:r>
                        <a:rPr lang="en-IN" sz="1600"/>
                        <a:t> across applications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Hardware Homogeneity</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Heterogeneous</a:t>
                      </a:r>
                      <a:r>
                        <a:rPr lang="en-IN" sz="1600"/>
                        <a:t> hardware (different vendors, generations)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Highly homogeneous</a:t>
                      </a:r>
                      <a:r>
                        <a:rPr lang="en-IN" sz="1600"/>
                        <a:t> hardware platform</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System Software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Mix </a:t>
                      </a:r>
                      <a:r>
                        <a:rPr lang="en-IN" sz="1600"/>
                        <a:t>of operating systems and third-party software</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Uniform system software</a:t>
                      </a:r>
                      <a:r>
                        <a:rPr lang="en-IN" sz="1600"/>
                        <a:t>, largely </a:t>
                      </a:r>
                      <a:r>
                        <a:rPr b="1" lang="en-IN" sz="1600"/>
                        <a:t>built in-house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c929645f4_0_62"/>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39" name="Google Shape;539;g3bc929645f4_0_62"/>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What is Warehouse Scale Computer (WSC) or Warehouse Scale Datacenter (WSD) </a:t>
            </a:r>
            <a:endParaRPr b="0" i="0" sz="3000" u="none" cap="none" strike="noStrike">
              <a:solidFill>
                <a:srgbClr val="000000"/>
              </a:solidFill>
              <a:latin typeface="Arial"/>
              <a:ea typeface="Arial"/>
              <a:cs typeface="Arial"/>
              <a:sym typeface="Arial"/>
            </a:endParaRPr>
          </a:p>
        </p:txBody>
      </p:sp>
      <p:pic>
        <p:nvPicPr>
          <p:cNvPr id="540" name="Google Shape;540;g3bc929645f4_0_62"/>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41" name="Google Shape;541;g3bc929645f4_0_62"/>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42" name="Google Shape;542;g3bc929645f4_0_62"/>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43" name="Google Shape;543;g3bc929645f4_0_62"/>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graphicFrame>
        <p:nvGraphicFramePr>
          <p:cNvPr id="544" name="Google Shape;544;g3bc929645f4_0_62"/>
          <p:cNvGraphicFramePr/>
          <p:nvPr/>
        </p:nvGraphicFramePr>
        <p:xfrm>
          <a:off x="23800" y="1734050"/>
          <a:ext cx="3000000" cy="3000000"/>
        </p:xfrm>
        <a:graphic>
          <a:graphicData uri="http://schemas.openxmlformats.org/drawingml/2006/table">
            <a:tbl>
              <a:tblPr>
                <a:noFill/>
                <a:tableStyleId>{6125A502-1D04-4CF7-B8BF-D3690062694B}</a:tableStyleId>
              </a:tblPr>
              <a:tblGrid>
                <a:gridCol w="1771650"/>
                <a:gridCol w="3857625"/>
                <a:gridCol w="3467100"/>
              </a:tblGrid>
              <a:tr h="200025">
                <a:tc>
                  <a:txBody>
                    <a:bodyPr/>
                    <a:lstStyle/>
                    <a:p>
                      <a:pPr indent="0" lvl="0" marL="0" rtl="0" algn="ctr">
                        <a:lnSpc>
                          <a:spcPct val="115000"/>
                        </a:lnSpc>
                        <a:spcBef>
                          <a:spcPts val="0"/>
                        </a:spcBef>
                        <a:spcAft>
                          <a:spcPts val="0"/>
                        </a:spcAft>
                        <a:buNone/>
                      </a:pPr>
                      <a:r>
                        <a:rPr b="1" lang="en-IN" sz="1600">
                          <a:solidFill>
                            <a:srgbClr val="FF0000"/>
                          </a:solidFill>
                        </a:rPr>
                        <a:t>Aspect</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Traditional Data Center</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Warehouse-Scale Data Center (WSC)</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IN" sz="1600"/>
                        <a:t>Application Communication</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Applications </a:t>
                      </a:r>
                      <a:r>
                        <a:rPr b="1" lang="en-IN" sz="1600"/>
                        <a:t>rarely communicate</a:t>
                      </a:r>
                      <a:r>
                        <a:rPr lang="en-IN" sz="1600"/>
                        <a:t> with each other</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Components </a:t>
                      </a:r>
                      <a:r>
                        <a:rPr b="1" lang="en-IN" sz="1600"/>
                        <a:t>constantly communicate</a:t>
                      </a:r>
                      <a:r>
                        <a:rPr lang="en-IN" sz="1600"/>
                        <a:t> (east–west traffic)</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Management Model</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Separate management</a:t>
                      </a:r>
                      <a:r>
                        <a:rPr lang="en-IN" sz="1600"/>
                        <a:t> per system or department</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Common centralized systems management layer</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Scalability Approach</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Vertical scaling</a:t>
                      </a:r>
                      <a:r>
                        <a:rPr lang="en-IN" sz="1600"/>
                        <a:t> (bigger servers, bigger switches)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Horizontal scaling</a:t>
                      </a:r>
                      <a:r>
                        <a:rPr lang="en-IN" sz="1600"/>
                        <a:t> (add more servers)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Network Traffic Pattern</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Dominantly </a:t>
                      </a:r>
                      <a:r>
                        <a:rPr b="1" lang="en-IN" sz="1600"/>
                        <a:t>north–south</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Dominantly </a:t>
                      </a:r>
                      <a:r>
                        <a:rPr b="1" lang="en-IN" sz="1600"/>
                        <a:t>east–west</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Failure Assumption</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Failures are </a:t>
                      </a:r>
                      <a:r>
                        <a:rPr b="1" lang="en-IN" sz="1600"/>
                        <a:t>rare and avoided</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Failures are </a:t>
                      </a:r>
                      <a:r>
                        <a:rPr b="1" lang="en-IN" sz="1600"/>
                        <a:t>expected and tolerated</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c2c8891362_0_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51" name="Google Shape;551;g3c2c8891362_0_0"/>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What is Warehouse Scale Computer (WSC) or Warehouse Scale Datacenter (WSD) </a:t>
            </a:r>
            <a:endParaRPr b="0" i="0" sz="3000" u="none" cap="none" strike="noStrike">
              <a:solidFill>
                <a:srgbClr val="000000"/>
              </a:solidFill>
              <a:latin typeface="Arial"/>
              <a:ea typeface="Arial"/>
              <a:cs typeface="Arial"/>
              <a:sym typeface="Arial"/>
            </a:endParaRPr>
          </a:p>
        </p:txBody>
      </p:sp>
      <p:pic>
        <p:nvPicPr>
          <p:cNvPr id="552" name="Google Shape;552;g3c2c8891362_0_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53" name="Google Shape;553;g3c2c8891362_0_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54" name="Google Shape;554;g3c2c8891362_0_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55" name="Google Shape;555;g3c2c8891362_0_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graphicFrame>
        <p:nvGraphicFramePr>
          <p:cNvPr id="556" name="Google Shape;556;g3c2c8891362_0_0"/>
          <p:cNvGraphicFramePr/>
          <p:nvPr/>
        </p:nvGraphicFramePr>
        <p:xfrm>
          <a:off x="23800" y="1721988"/>
          <a:ext cx="3000000" cy="3000000"/>
        </p:xfrm>
        <a:graphic>
          <a:graphicData uri="http://schemas.openxmlformats.org/drawingml/2006/table">
            <a:tbl>
              <a:tblPr>
                <a:noFill/>
                <a:tableStyleId>{6125A502-1D04-4CF7-B8BF-D3690062694B}</a:tableStyleId>
              </a:tblPr>
              <a:tblGrid>
                <a:gridCol w="1771650"/>
                <a:gridCol w="3857625"/>
                <a:gridCol w="3467100"/>
              </a:tblGrid>
              <a:tr h="200025">
                <a:tc>
                  <a:txBody>
                    <a:bodyPr/>
                    <a:lstStyle/>
                    <a:p>
                      <a:pPr indent="0" lvl="0" marL="0" rtl="0" algn="ctr">
                        <a:lnSpc>
                          <a:spcPct val="115000"/>
                        </a:lnSpc>
                        <a:spcBef>
                          <a:spcPts val="0"/>
                        </a:spcBef>
                        <a:spcAft>
                          <a:spcPts val="0"/>
                        </a:spcAft>
                        <a:buNone/>
                      </a:pPr>
                      <a:r>
                        <a:rPr b="1" lang="en-IN" sz="1600">
                          <a:solidFill>
                            <a:srgbClr val="FF0000"/>
                          </a:solidFill>
                        </a:rPr>
                        <a:t>Aspect</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Traditional Data Center</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600">
                          <a:solidFill>
                            <a:srgbClr val="FF0000"/>
                          </a:solidFill>
                        </a:rPr>
                        <a:t>Warehouse-Scale Data Center (WSC)</a:t>
                      </a:r>
                      <a:endParaRPr b="1" sz="1600">
                        <a:solidFill>
                          <a:srgbClr val="FF0000"/>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Fault Tolerance Strategy</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Hardware redundancy, </a:t>
                      </a:r>
                      <a:r>
                        <a:rPr b="1" lang="en-IN" sz="1600"/>
                        <a:t>expensive components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Software-based fault tolerance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Availability Model</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Depends on reliable hardware</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Designed for </a:t>
                      </a:r>
                      <a:r>
                        <a:rPr b="1" lang="en-IN" sz="1600"/>
                        <a:t>≥ 99.99% availability</a:t>
                      </a:r>
                      <a:r>
                        <a:rPr lang="en-IN" sz="1600"/>
                        <a:t> despite failures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Deployment Flexibility</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Limited</a:t>
                      </a:r>
                      <a:r>
                        <a:rPr lang="en-IN" sz="1600"/>
                        <a:t>; rigid allocation</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IN" sz="1600"/>
                        <a:t>Highly flexible deployment</a:t>
                      </a:r>
                      <a:r>
                        <a:rPr lang="en-IN" sz="1600"/>
                        <a:t> via </a:t>
                      </a:r>
                      <a:r>
                        <a:rPr b="1" lang="en-IN" sz="1600"/>
                        <a:t>resource pooling</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IN" sz="1600"/>
                        <a:t>Example Users</a:t>
                      </a:r>
                      <a:endParaRPr b="1"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Enterprises, banks, universities</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600"/>
                        <a:t>Google, Amazon, Microsoft, Meta, Alibaba</a:t>
                      </a:r>
                      <a:endParaRPr sz="16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bcc4197594_0_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63" name="Google Shape;563;g3bcc4197594_0_0"/>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6. Modular Data Center</a:t>
            </a:r>
            <a:endParaRPr b="0" i="0" sz="3000" u="none" cap="none" strike="noStrike">
              <a:solidFill>
                <a:srgbClr val="000000"/>
              </a:solidFill>
              <a:latin typeface="Arial"/>
              <a:ea typeface="Arial"/>
              <a:cs typeface="Arial"/>
              <a:sym typeface="Arial"/>
            </a:endParaRPr>
          </a:p>
        </p:txBody>
      </p:sp>
      <p:pic>
        <p:nvPicPr>
          <p:cNvPr id="564" name="Google Shape;564;g3bcc4197594_0_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65" name="Google Shape;565;g3bcc4197594_0_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66" name="Google Shape;566;g3bcc4197594_0_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67" name="Google Shape;567;g3bcc4197594_0_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568" name="Google Shape;568;g3bcc4197594_0_0"/>
          <p:cNvSpPr txBox="1"/>
          <p:nvPr/>
        </p:nvSpPr>
        <p:spPr>
          <a:xfrm>
            <a:off x="529538" y="1085425"/>
            <a:ext cx="8051100" cy="466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2250">
                <a:solidFill>
                  <a:schemeClr val="dk1"/>
                </a:solidFill>
              </a:rPr>
              <a:t>Traditional Data Center is</a:t>
            </a:r>
            <a:endParaRPr b="1" sz="2250">
              <a:solidFill>
                <a:schemeClr val="dk1"/>
              </a:solidFill>
            </a:endParaRPr>
          </a:p>
          <a:p>
            <a:pPr indent="-358775" lvl="0" marL="457200" rtl="0" algn="l">
              <a:lnSpc>
                <a:spcPct val="150000"/>
              </a:lnSpc>
              <a:spcBef>
                <a:spcPts val="1800"/>
              </a:spcBef>
              <a:spcAft>
                <a:spcPts val="0"/>
              </a:spcAft>
              <a:buClr>
                <a:schemeClr val="dk1"/>
              </a:buClr>
              <a:buSzPts val="2050"/>
              <a:buChar char="●"/>
            </a:pPr>
            <a:r>
              <a:rPr lang="en-IN" sz="2050">
                <a:solidFill>
                  <a:schemeClr val="dk1"/>
                </a:solidFill>
              </a:rPr>
              <a:t>Built </a:t>
            </a:r>
            <a:r>
              <a:rPr b="1" lang="en-IN" sz="2050">
                <a:solidFill>
                  <a:schemeClr val="dk1"/>
                </a:solidFill>
                <a:highlight>
                  <a:srgbClr val="FFFF00"/>
                </a:highlight>
              </a:rPr>
              <a:t>on-site</a:t>
            </a:r>
            <a:r>
              <a:rPr lang="en-IN" sz="2050">
                <a:solidFill>
                  <a:schemeClr val="dk1"/>
                </a:solidFill>
              </a:rPr>
              <a:t>, from the ground up, with </a:t>
            </a:r>
            <a:r>
              <a:rPr b="1" lang="en-IN" sz="2050">
                <a:solidFill>
                  <a:schemeClr val="dk1"/>
                </a:solidFill>
                <a:highlight>
                  <a:srgbClr val="FFFF00"/>
                </a:highlight>
              </a:rPr>
              <a:t>structural, electrical, and mechanical work</a:t>
            </a:r>
            <a:r>
              <a:rPr lang="en-IN" sz="2050">
                <a:solidFill>
                  <a:schemeClr val="dk1"/>
                </a:solidFill>
              </a:rPr>
              <a:t> done at location.</a:t>
            </a:r>
            <a:endParaRPr sz="2050">
              <a:solidFill>
                <a:schemeClr val="dk1"/>
              </a:solidFill>
            </a:endParaRPr>
          </a:p>
          <a:p>
            <a:pPr indent="-358775" lvl="0" marL="457200" rtl="0" algn="l">
              <a:lnSpc>
                <a:spcPct val="150000"/>
              </a:lnSpc>
              <a:spcBef>
                <a:spcPts val="1800"/>
              </a:spcBef>
              <a:spcAft>
                <a:spcPts val="0"/>
              </a:spcAft>
              <a:buClr>
                <a:schemeClr val="dk1"/>
              </a:buClr>
              <a:buSzPts val="2050"/>
              <a:buChar char="●"/>
            </a:pPr>
            <a:r>
              <a:rPr lang="en-IN" sz="2050">
                <a:solidFill>
                  <a:schemeClr val="dk1"/>
                </a:solidFill>
              </a:rPr>
              <a:t>Designed as a </a:t>
            </a:r>
            <a:r>
              <a:rPr b="1" lang="en-IN" sz="2050">
                <a:solidFill>
                  <a:schemeClr val="dk1"/>
                </a:solidFill>
                <a:highlight>
                  <a:srgbClr val="FFFF00"/>
                </a:highlight>
              </a:rPr>
              <a:t>permanent facility</a:t>
            </a:r>
            <a:r>
              <a:rPr lang="en-IN" sz="2050">
                <a:solidFill>
                  <a:schemeClr val="dk1"/>
                </a:solidFill>
              </a:rPr>
              <a:t> with capacity often built upfront.</a:t>
            </a:r>
            <a:endParaRPr sz="2050">
              <a:solidFill>
                <a:schemeClr val="dk1"/>
              </a:solidFill>
            </a:endParaRPr>
          </a:p>
          <a:p>
            <a:pPr indent="-358775" lvl="0" marL="457200" rtl="0" algn="l">
              <a:lnSpc>
                <a:spcPct val="150000"/>
              </a:lnSpc>
              <a:spcBef>
                <a:spcPts val="1800"/>
              </a:spcBef>
              <a:spcAft>
                <a:spcPts val="0"/>
              </a:spcAft>
              <a:buClr>
                <a:schemeClr val="dk1"/>
              </a:buClr>
              <a:buSzPts val="2050"/>
              <a:buChar char="●"/>
            </a:pPr>
            <a:r>
              <a:rPr lang="en-IN" sz="2050">
                <a:solidFill>
                  <a:schemeClr val="dk1"/>
                </a:solidFill>
              </a:rPr>
              <a:t>Works well for </a:t>
            </a:r>
            <a:r>
              <a:rPr b="1" lang="en-IN" sz="2050">
                <a:solidFill>
                  <a:schemeClr val="dk1"/>
                </a:solidFill>
                <a:highlight>
                  <a:srgbClr val="FFFF00"/>
                </a:highlight>
              </a:rPr>
              <a:t>predictable growth</a:t>
            </a:r>
            <a:r>
              <a:rPr lang="en-IN" sz="2050">
                <a:solidFill>
                  <a:schemeClr val="dk1"/>
                </a:solidFill>
              </a:rPr>
              <a:t> and </a:t>
            </a:r>
            <a:r>
              <a:rPr b="1" lang="en-IN" sz="2050">
                <a:solidFill>
                  <a:schemeClr val="dk1"/>
                </a:solidFill>
                <a:highlight>
                  <a:srgbClr val="FFFF00"/>
                </a:highlight>
              </a:rPr>
              <a:t>long-term planning</a:t>
            </a:r>
            <a:r>
              <a:rPr lang="en-IN" sz="2050">
                <a:solidFill>
                  <a:schemeClr val="dk1"/>
                </a:solidFill>
              </a:rPr>
              <a:t>.</a:t>
            </a:r>
            <a:endParaRPr sz="2050">
              <a:solidFill>
                <a:schemeClr val="dk1"/>
              </a:solidFill>
            </a:endParaRPr>
          </a:p>
          <a:p>
            <a:pPr indent="-358775" lvl="0" marL="457200" rtl="0" algn="l">
              <a:lnSpc>
                <a:spcPct val="150000"/>
              </a:lnSpc>
              <a:spcBef>
                <a:spcPts val="1800"/>
              </a:spcBef>
              <a:spcAft>
                <a:spcPts val="1000"/>
              </a:spcAft>
              <a:buClr>
                <a:schemeClr val="dk1"/>
              </a:buClr>
              <a:buSzPts val="2050"/>
              <a:buChar char="●"/>
            </a:pPr>
            <a:r>
              <a:rPr lang="en-IN" sz="2050">
                <a:solidFill>
                  <a:schemeClr val="dk1"/>
                </a:solidFill>
              </a:rPr>
              <a:t>Construction and commissioning can take</a:t>
            </a:r>
            <a:r>
              <a:rPr b="1" lang="en-IN" sz="2050">
                <a:solidFill>
                  <a:schemeClr val="dk1"/>
                </a:solidFill>
                <a:highlight>
                  <a:srgbClr val="FFFF00"/>
                </a:highlight>
              </a:rPr>
              <a:t> 12–24+ months or more.</a:t>
            </a:r>
            <a:endParaRPr b="1" sz="2050">
              <a:solidFill>
                <a:schemeClr val="dk1"/>
              </a:solidFill>
              <a:highlight>
                <a:srgbClr val="FFFF00"/>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bcc4197594_0_1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75" name="Google Shape;575;g3bcc4197594_0_11"/>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6. Modular Data Center</a:t>
            </a:r>
            <a:endParaRPr b="0" i="0" sz="3000" u="none" cap="none" strike="noStrike">
              <a:solidFill>
                <a:srgbClr val="000000"/>
              </a:solidFill>
              <a:latin typeface="Arial"/>
              <a:ea typeface="Arial"/>
              <a:cs typeface="Arial"/>
              <a:sym typeface="Arial"/>
            </a:endParaRPr>
          </a:p>
        </p:txBody>
      </p:sp>
      <p:pic>
        <p:nvPicPr>
          <p:cNvPr id="576" name="Google Shape;576;g3bcc4197594_0_1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77" name="Google Shape;577;g3bcc4197594_0_1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78" name="Google Shape;578;g3bcc4197594_0_11"/>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79" name="Google Shape;579;g3bcc4197594_0_11"/>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580" name="Google Shape;580;g3bcc4197594_0_11"/>
          <p:cNvSpPr txBox="1"/>
          <p:nvPr/>
        </p:nvSpPr>
        <p:spPr>
          <a:xfrm>
            <a:off x="546438" y="1098925"/>
            <a:ext cx="8051100" cy="4648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1800"/>
              </a:spcBef>
              <a:spcAft>
                <a:spcPts val="0"/>
              </a:spcAft>
              <a:buNone/>
            </a:pPr>
            <a:r>
              <a:rPr b="1" lang="en-IN" sz="2000">
                <a:solidFill>
                  <a:schemeClr val="dk1"/>
                </a:solidFill>
              </a:rPr>
              <a:t>Modular</a:t>
            </a:r>
            <a:r>
              <a:rPr b="1" lang="en-IN" sz="2000">
                <a:solidFill>
                  <a:schemeClr val="dk1"/>
                </a:solidFill>
              </a:rPr>
              <a:t> Data Center is:</a:t>
            </a:r>
            <a:endParaRPr b="1" sz="2000">
              <a:solidFill>
                <a:schemeClr val="dk1"/>
              </a:solidFill>
            </a:endParaRPr>
          </a:p>
          <a:p>
            <a:pPr indent="-355600" lvl="0" marL="457200" rtl="0" algn="l">
              <a:lnSpc>
                <a:spcPct val="150000"/>
              </a:lnSpc>
              <a:spcBef>
                <a:spcPts val="1800"/>
              </a:spcBef>
              <a:spcAft>
                <a:spcPts val="0"/>
              </a:spcAft>
              <a:buClr>
                <a:schemeClr val="dk1"/>
              </a:buClr>
              <a:buSzPts val="2000"/>
              <a:buChar char="●"/>
            </a:pPr>
            <a:r>
              <a:rPr lang="en-IN" sz="2000">
                <a:solidFill>
                  <a:schemeClr val="dk1"/>
                </a:solidFill>
              </a:rPr>
              <a:t>Made of </a:t>
            </a:r>
            <a:r>
              <a:rPr b="1" lang="en-IN" sz="2000">
                <a:solidFill>
                  <a:schemeClr val="dk1"/>
                </a:solidFill>
                <a:highlight>
                  <a:srgbClr val="FFFF00"/>
                </a:highlight>
              </a:rPr>
              <a:t>prefabricated modules</a:t>
            </a:r>
            <a:r>
              <a:rPr lang="en-IN" sz="2000">
                <a:solidFill>
                  <a:schemeClr val="dk1"/>
                </a:solidFill>
              </a:rPr>
              <a:t> that are built in a </a:t>
            </a:r>
            <a:r>
              <a:rPr b="1" lang="en-IN" sz="2000">
                <a:solidFill>
                  <a:schemeClr val="dk1"/>
                </a:solidFill>
                <a:highlight>
                  <a:srgbClr val="FFFF00"/>
                </a:highlight>
              </a:rPr>
              <a:t>factory environment</a:t>
            </a:r>
            <a:r>
              <a:rPr lang="en-IN" sz="2000">
                <a:solidFill>
                  <a:schemeClr val="dk1"/>
                </a:solidFill>
                <a:highlight>
                  <a:srgbClr val="FFFF00"/>
                </a:highlight>
              </a:rPr>
              <a:t>.</a:t>
            </a:r>
            <a:endParaRPr sz="2000">
              <a:solidFill>
                <a:schemeClr val="dk1"/>
              </a:solidFill>
              <a:highlight>
                <a:srgbClr val="FFFF00"/>
              </a:highlight>
            </a:endParaRPr>
          </a:p>
          <a:p>
            <a:pPr indent="-355600" lvl="0" marL="457200" rtl="0" algn="l">
              <a:lnSpc>
                <a:spcPct val="150000"/>
              </a:lnSpc>
              <a:spcBef>
                <a:spcPts val="1800"/>
              </a:spcBef>
              <a:spcAft>
                <a:spcPts val="0"/>
              </a:spcAft>
              <a:buClr>
                <a:schemeClr val="dk1"/>
              </a:buClr>
              <a:buSzPts val="2000"/>
              <a:buChar char="●"/>
            </a:pPr>
            <a:r>
              <a:rPr lang="en-IN" sz="2000">
                <a:solidFill>
                  <a:schemeClr val="dk1"/>
                </a:solidFill>
              </a:rPr>
              <a:t>Modules include</a:t>
            </a:r>
            <a:r>
              <a:rPr b="1" lang="en-IN" sz="2000">
                <a:solidFill>
                  <a:schemeClr val="dk1"/>
                </a:solidFill>
              </a:rPr>
              <a:t> </a:t>
            </a:r>
            <a:r>
              <a:rPr b="1" lang="en-IN" sz="2000">
                <a:solidFill>
                  <a:schemeClr val="dk1"/>
                </a:solidFill>
                <a:highlight>
                  <a:srgbClr val="FFFF00"/>
                </a:highlight>
              </a:rPr>
              <a:t>structure, power, cooling, and security elements </a:t>
            </a:r>
            <a:r>
              <a:rPr lang="en-IN" sz="2000">
                <a:solidFill>
                  <a:schemeClr val="dk1"/>
                </a:solidFill>
              </a:rPr>
              <a:t>integrated and tested before shipping.</a:t>
            </a:r>
            <a:endParaRPr sz="2000">
              <a:solidFill>
                <a:schemeClr val="dk1"/>
              </a:solidFill>
            </a:endParaRPr>
          </a:p>
          <a:p>
            <a:pPr indent="-355600" lvl="0" marL="457200" rtl="0" algn="l">
              <a:lnSpc>
                <a:spcPct val="150000"/>
              </a:lnSpc>
              <a:spcBef>
                <a:spcPts val="1800"/>
              </a:spcBef>
              <a:spcAft>
                <a:spcPts val="0"/>
              </a:spcAft>
              <a:buClr>
                <a:schemeClr val="dk1"/>
              </a:buClr>
              <a:buSzPts val="2000"/>
              <a:buChar char="●"/>
            </a:pPr>
            <a:r>
              <a:rPr lang="en-IN" sz="2000">
                <a:solidFill>
                  <a:schemeClr val="dk1"/>
                </a:solidFill>
              </a:rPr>
              <a:t>Delivered to site and assembled with </a:t>
            </a:r>
            <a:r>
              <a:rPr b="1" lang="en-IN" sz="2000">
                <a:solidFill>
                  <a:schemeClr val="dk1"/>
                </a:solidFill>
                <a:highlight>
                  <a:srgbClr val="FFFF00"/>
                </a:highlight>
              </a:rPr>
              <a:t>minimal on-site construction</a:t>
            </a:r>
            <a:r>
              <a:rPr lang="en-IN" sz="2000">
                <a:solidFill>
                  <a:schemeClr val="dk1"/>
                </a:solidFill>
              </a:rPr>
              <a:t>.</a:t>
            </a:r>
            <a:endParaRPr sz="2000">
              <a:solidFill>
                <a:schemeClr val="dk1"/>
              </a:solidFill>
            </a:endParaRPr>
          </a:p>
          <a:p>
            <a:pPr indent="-355600" lvl="0" marL="457200" rtl="0" algn="l">
              <a:lnSpc>
                <a:spcPct val="150000"/>
              </a:lnSpc>
              <a:spcBef>
                <a:spcPts val="1800"/>
              </a:spcBef>
              <a:spcAft>
                <a:spcPts val="1000"/>
              </a:spcAft>
              <a:buClr>
                <a:schemeClr val="dk1"/>
              </a:buClr>
              <a:buSzPts val="2000"/>
              <a:buChar char="●"/>
            </a:pPr>
            <a:r>
              <a:rPr lang="en-IN" sz="2000">
                <a:solidFill>
                  <a:schemeClr val="dk1"/>
                </a:solidFill>
              </a:rPr>
              <a:t>Allows </a:t>
            </a:r>
            <a:r>
              <a:rPr b="1" lang="en-IN" sz="2000">
                <a:solidFill>
                  <a:schemeClr val="dk1"/>
                </a:solidFill>
                <a:highlight>
                  <a:srgbClr val="FFFF00"/>
                </a:highlight>
              </a:rPr>
              <a:t>capacity to be added in phases</a:t>
            </a:r>
            <a:r>
              <a:rPr lang="en-IN" sz="2000">
                <a:solidFill>
                  <a:schemeClr val="dk1"/>
                </a:solidFill>
              </a:rPr>
              <a:t>, rather than all at once.</a:t>
            </a:r>
            <a:endParaRPr sz="20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bcc4197594_0_22"/>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587" name="Google Shape;587;g3bcc4197594_0_22"/>
          <p:cNvPicPr preferRelativeResize="0"/>
          <p:nvPr/>
        </p:nvPicPr>
        <p:blipFill>
          <a:blip r:embed="rId3">
            <a:alphaModFix/>
          </a:blip>
          <a:stretch>
            <a:fillRect/>
          </a:stretch>
        </p:blipFill>
        <p:spPr>
          <a:xfrm>
            <a:off x="873927" y="1452000"/>
            <a:ext cx="6914897" cy="4525500"/>
          </a:xfrm>
          <a:prstGeom prst="rect">
            <a:avLst/>
          </a:prstGeom>
          <a:noFill/>
          <a:ln cap="flat" cmpd="sng" w="9525">
            <a:solidFill>
              <a:schemeClr val="dk1"/>
            </a:solidFill>
            <a:prstDash val="solid"/>
            <a:round/>
            <a:headEnd len="sm" w="sm" type="none"/>
            <a:tailEnd len="sm" w="sm" type="none"/>
          </a:ln>
        </p:spPr>
      </p:pic>
      <p:sp>
        <p:nvSpPr>
          <p:cNvPr id="588" name="Google Shape;588;g3bcc4197594_0_22"/>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900">
                <a:solidFill>
                  <a:srgbClr val="FF0000"/>
                </a:solidFill>
              </a:rPr>
              <a:t>6. Modular Data Center</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bcc4197594_0_3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595" name="Google Shape;595;g3bcc4197594_0_31"/>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800">
                <a:solidFill>
                  <a:srgbClr val="FF0000"/>
                </a:solidFill>
              </a:rPr>
              <a:t>Difference between Traditional and Modular Data Center</a:t>
            </a:r>
            <a:endParaRPr b="0" i="0" sz="2900" u="none" cap="none" strike="noStrike">
              <a:solidFill>
                <a:srgbClr val="000000"/>
              </a:solidFill>
              <a:latin typeface="Arial"/>
              <a:ea typeface="Arial"/>
              <a:cs typeface="Arial"/>
              <a:sym typeface="Arial"/>
            </a:endParaRPr>
          </a:p>
        </p:txBody>
      </p:sp>
      <p:pic>
        <p:nvPicPr>
          <p:cNvPr id="596" name="Google Shape;596;g3bcc4197594_0_31"/>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597" name="Google Shape;597;g3bcc4197594_0_31"/>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598" name="Google Shape;598;g3bcc4197594_0_31"/>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599" name="Google Shape;599;g3bcc4197594_0_31"/>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graphicFrame>
        <p:nvGraphicFramePr>
          <p:cNvPr id="600" name="Google Shape;600;g3bcc4197594_0_31"/>
          <p:cNvGraphicFramePr/>
          <p:nvPr/>
        </p:nvGraphicFramePr>
        <p:xfrm>
          <a:off x="863175" y="1237625"/>
          <a:ext cx="3000000" cy="3000000"/>
        </p:xfrm>
        <a:graphic>
          <a:graphicData uri="http://schemas.openxmlformats.org/drawingml/2006/table">
            <a:tbl>
              <a:tblPr>
                <a:noFill/>
                <a:tableStyleId>{6125A502-1D04-4CF7-B8BF-D3690062694B}</a:tableStyleId>
              </a:tblPr>
              <a:tblGrid>
                <a:gridCol w="1692950"/>
                <a:gridCol w="2750700"/>
                <a:gridCol w="2700100"/>
              </a:tblGrid>
              <a:tr h="190500">
                <a:tc>
                  <a:txBody>
                    <a:bodyPr/>
                    <a:lstStyle/>
                    <a:p>
                      <a:pPr indent="0" lvl="0" marL="0" rtl="0" algn="ctr">
                        <a:lnSpc>
                          <a:spcPct val="115000"/>
                        </a:lnSpc>
                        <a:spcBef>
                          <a:spcPts val="0"/>
                        </a:spcBef>
                        <a:spcAft>
                          <a:spcPts val="0"/>
                        </a:spcAft>
                        <a:buNone/>
                      </a:pPr>
                      <a:r>
                        <a:rPr b="1" lang="en-IN"/>
                        <a:t>Aspect</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t>Traditional DC</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t>Modular DC</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Deployment Time</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Long (years)</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Weeks to months</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Upfront Cost</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High</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Lower and incremental</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Scalability</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Requires major construction</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Add modules as needed</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Flexibility</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Rigid</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Highly adaptable</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Mobility</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Fixed</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Can be relocated</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spcBef>
                          <a:spcPts val="0"/>
                        </a:spcBef>
                        <a:spcAft>
                          <a:spcPts val="0"/>
                        </a:spcAft>
                        <a:buNone/>
                      </a:pPr>
                      <a:r>
                        <a:rPr lang="en-IN" sz="1500"/>
                        <a:t>Energy efficiency &amp; cooling</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Cooling systems are designed for peak load, often leading to </a:t>
                      </a:r>
                      <a:r>
                        <a:rPr b="1" lang="en-IN" sz="1500">
                          <a:highlight>
                            <a:srgbClr val="FFFF00"/>
                          </a:highlight>
                        </a:rPr>
                        <a:t>overcooling and higher energy consumption. </a:t>
                      </a:r>
                      <a:r>
                        <a:rPr lang="en-IN" sz="1500"/>
                        <a:t>Retrofitting new cooling technologies is difficult and expensive.</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IN" sz="1500"/>
                        <a:t>Cooling is </a:t>
                      </a:r>
                      <a:r>
                        <a:rPr b="1" lang="en-IN" sz="1500">
                          <a:highlight>
                            <a:srgbClr val="FFFF00"/>
                          </a:highlight>
                        </a:rPr>
                        <a:t>optimized per module</a:t>
                      </a:r>
                      <a:r>
                        <a:rPr lang="en-IN" sz="1500"/>
                        <a:t>, closely matching IT load. Easier adoption of modern cooling techniques results in better energy efficiency</a:t>
                      </a:r>
                      <a:endParaRPr sz="1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bcc4197594_0_5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07" name="Google Shape;607;g3bcc4197594_0_58"/>
          <p:cNvSpPr/>
          <p:nvPr/>
        </p:nvSpPr>
        <p:spPr>
          <a:xfrm>
            <a:off x="495600" y="2494550"/>
            <a:ext cx="8152800" cy="16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1" lang="en-IN" sz="2800">
                <a:solidFill>
                  <a:srgbClr val="FF0000"/>
                </a:solidFill>
              </a:rPr>
              <a:t>7. Changes to improve traditional 3 tier Data Center Architecture-  from looped switched technologies to Spanning Tree</a:t>
            </a:r>
            <a:endParaRPr b="0" i="1" sz="2900" u="none" cap="none" strike="noStrike">
              <a:solidFill>
                <a:srgbClr val="000000"/>
              </a:solidFill>
              <a:latin typeface="Arial"/>
              <a:ea typeface="Arial"/>
              <a:cs typeface="Arial"/>
              <a:sym typeface="Arial"/>
            </a:endParaRPr>
          </a:p>
        </p:txBody>
      </p:sp>
      <p:pic>
        <p:nvPicPr>
          <p:cNvPr id="608" name="Google Shape;608;g3bcc4197594_0_5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09" name="Google Shape;609;g3bcc4197594_0_5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10" name="Google Shape;610;g3bcc4197594_0_5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11" name="Google Shape;611;g3bcc4197594_0_5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bcc4197594_0_116"/>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18" name="Google Shape;618;g3bcc4197594_0_116"/>
          <p:cNvSpPr/>
          <p:nvPr/>
        </p:nvSpPr>
        <p:spPr>
          <a:xfrm>
            <a:off x="533575" y="343901"/>
            <a:ext cx="8152800" cy="68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800">
                <a:solidFill>
                  <a:srgbClr val="FF0000"/>
                </a:solidFill>
              </a:rPr>
              <a:t>LAN with no redundant links</a:t>
            </a:r>
            <a:endParaRPr b="0" i="0" sz="2900" u="none" cap="none" strike="noStrike">
              <a:solidFill>
                <a:srgbClr val="000000"/>
              </a:solidFill>
              <a:latin typeface="Arial"/>
              <a:ea typeface="Arial"/>
              <a:cs typeface="Arial"/>
              <a:sym typeface="Arial"/>
            </a:endParaRPr>
          </a:p>
        </p:txBody>
      </p:sp>
      <p:pic>
        <p:nvPicPr>
          <p:cNvPr id="619" name="Google Shape;619;g3bcc4197594_0_116"/>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20" name="Google Shape;620;g3bcc4197594_0_116"/>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21" name="Google Shape;621;g3bcc4197594_0_116"/>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22" name="Google Shape;622;g3bcc4197594_0_116"/>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623" name="Google Shape;623;g3bcc4197594_0_116" title="lan-with-no-redundant-links.gif"/>
          <p:cNvPicPr preferRelativeResize="0"/>
          <p:nvPr/>
        </p:nvPicPr>
        <p:blipFill>
          <a:blip r:embed="rId7">
            <a:alphaModFix/>
          </a:blip>
          <a:stretch>
            <a:fillRect/>
          </a:stretch>
        </p:blipFill>
        <p:spPr>
          <a:xfrm>
            <a:off x="1145025" y="1185101"/>
            <a:ext cx="6594063" cy="459457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bcc4197594_0_69"/>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30" name="Google Shape;630;g3bcc4197594_0_69"/>
          <p:cNvSpPr/>
          <p:nvPr/>
        </p:nvSpPr>
        <p:spPr>
          <a:xfrm>
            <a:off x="533575" y="343901"/>
            <a:ext cx="8152800" cy="68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800">
                <a:solidFill>
                  <a:srgbClr val="FF0000"/>
                </a:solidFill>
              </a:rPr>
              <a:t>Problem 1- Ethernet loops (Broadcast storms)</a:t>
            </a:r>
            <a:endParaRPr b="0" i="0" sz="2900" u="none" cap="none" strike="noStrike">
              <a:solidFill>
                <a:srgbClr val="000000"/>
              </a:solidFill>
              <a:latin typeface="Arial"/>
              <a:ea typeface="Arial"/>
              <a:cs typeface="Arial"/>
              <a:sym typeface="Arial"/>
            </a:endParaRPr>
          </a:p>
        </p:txBody>
      </p:sp>
      <p:pic>
        <p:nvPicPr>
          <p:cNvPr id="631" name="Google Shape;631;g3bcc4197594_0_69"/>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32" name="Google Shape;632;g3bcc4197594_0_69"/>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33" name="Google Shape;633;g3bcc4197594_0_69"/>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34" name="Google Shape;634;g3bcc4197594_0_69"/>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635" name="Google Shape;635;g3bcc4197594_0_69" title="redundant-lan-without-stp.gif"/>
          <p:cNvPicPr preferRelativeResize="0"/>
          <p:nvPr/>
        </p:nvPicPr>
        <p:blipFill>
          <a:blip r:embed="rId7">
            <a:alphaModFix/>
          </a:blip>
          <a:stretch>
            <a:fillRect/>
          </a:stretch>
        </p:blipFill>
        <p:spPr>
          <a:xfrm>
            <a:off x="1054775" y="1032701"/>
            <a:ext cx="6596230" cy="459457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bcc4197594_0_82"/>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42" name="Google Shape;642;g3bcc4197594_0_82"/>
          <p:cNvSpPr/>
          <p:nvPr/>
        </p:nvSpPr>
        <p:spPr>
          <a:xfrm>
            <a:off x="533575" y="343901"/>
            <a:ext cx="8152800" cy="68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800">
                <a:solidFill>
                  <a:srgbClr val="FF0000"/>
                </a:solidFill>
              </a:rPr>
              <a:t>Problem</a:t>
            </a:r>
            <a:r>
              <a:rPr b="1" lang="en-IN" sz="2800">
                <a:solidFill>
                  <a:srgbClr val="FF0000"/>
                </a:solidFill>
              </a:rPr>
              <a:t> 1- </a:t>
            </a:r>
            <a:r>
              <a:rPr b="1" lang="en-IN" sz="2800">
                <a:solidFill>
                  <a:srgbClr val="FF0000"/>
                </a:solidFill>
              </a:rPr>
              <a:t>Ethernet loops (Broadcast storms)</a:t>
            </a:r>
            <a:endParaRPr b="0" i="0" sz="2900" u="none" cap="none" strike="noStrike">
              <a:solidFill>
                <a:srgbClr val="000000"/>
              </a:solidFill>
              <a:latin typeface="Arial"/>
              <a:ea typeface="Arial"/>
              <a:cs typeface="Arial"/>
              <a:sym typeface="Arial"/>
            </a:endParaRPr>
          </a:p>
        </p:txBody>
      </p:sp>
      <p:pic>
        <p:nvPicPr>
          <p:cNvPr id="643" name="Google Shape;643;g3bcc4197594_0_82"/>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44" name="Google Shape;644;g3bcc4197594_0_82"/>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45" name="Google Shape;645;g3bcc4197594_0_82"/>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46" name="Google Shape;646;g3bcc4197594_0_82"/>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647" name="Google Shape;647;g3bcc4197594_0_82"/>
          <p:cNvSpPr txBox="1"/>
          <p:nvPr/>
        </p:nvSpPr>
        <p:spPr>
          <a:xfrm>
            <a:off x="428300" y="1173075"/>
            <a:ext cx="8028900" cy="129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dk1"/>
                </a:solidFill>
                <a:highlight>
                  <a:srgbClr val="FFFFFF"/>
                </a:highlight>
              </a:rPr>
              <a:t>This happens when a BUM (broadcast, unknown-unicast, and multicast) frame loops around the switches indefinitely. A broadcast storm keeps going until a link is oversaturated and fails or a switch crashes because of a high CPU usage.</a:t>
            </a:r>
            <a:endParaRPr sz="1800">
              <a:solidFill>
                <a:schemeClr val="dk1"/>
              </a:solidFill>
            </a:endParaRPr>
          </a:p>
        </p:txBody>
      </p:sp>
      <p:pic>
        <p:nvPicPr>
          <p:cNvPr id="648" name="Google Shape;648;g3bcc4197594_0_82" title="redundant-lan-without-stp.gif"/>
          <p:cNvPicPr preferRelativeResize="0"/>
          <p:nvPr/>
        </p:nvPicPr>
        <p:blipFill>
          <a:blip r:embed="rId7">
            <a:alphaModFix/>
          </a:blip>
          <a:stretch>
            <a:fillRect/>
          </a:stretch>
        </p:blipFill>
        <p:spPr>
          <a:xfrm>
            <a:off x="1886175" y="2606450"/>
            <a:ext cx="5113128" cy="35615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bcc4197594_0_10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55" name="Google Shape;655;g3bcc4197594_0_104"/>
          <p:cNvSpPr/>
          <p:nvPr/>
        </p:nvSpPr>
        <p:spPr>
          <a:xfrm>
            <a:off x="533575" y="343901"/>
            <a:ext cx="8152800" cy="68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800">
                <a:solidFill>
                  <a:srgbClr val="FF0000"/>
                </a:solidFill>
              </a:rPr>
              <a:t>Ethernet loops (Broadcast storms)</a:t>
            </a:r>
            <a:endParaRPr b="0" i="0" sz="2900" u="none" cap="none" strike="noStrike">
              <a:solidFill>
                <a:srgbClr val="000000"/>
              </a:solidFill>
              <a:latin typeface="Arial"/>
              <a:ea typeface="Arial"/>
              <a:cs typeface="Arial"/>
              <a:sym typeface="Arial"/>
            </a:endParaRPr>
          </a:p>
        </p:txBody>
      </p:sp>
      <p:pic>
        <p:nvPicPr>
          <p:cNvPr id="656" name="Google Shape;656;g3bcc4197594_0_104"/>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57" name="Google Shape;657;g3bcc4197594_0_104"/>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58" name="Google Shape;658;g3bcc4197594_0_104"/>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59" name="Google Shape;659;g3bcc4197594_0_104"/>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660" name="Google Shape;660;g3bcc4197594_0_104"/>
          <p:cNvSpPr txBox="1"/>
          <p:nvPr/>
        </p:nvSpPr>
        <p:spPr>
          <a:xfrm>
            <a:off x="292950" y="1493513"/>
            <a:ext cx="3336600" cy="4063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rgbClr val="3B3B3B"/>
              </a:buClr>
              <a:buSzPts val="1400"/>
              <a:buChar char="-"/>
            </a:pPr>
            <a:r>
              <a:rPr lang="en-IN">
                <a:solidFill>
                  <a:srgbClr val="3B3B3B"/>
                </a:solidFill>
                <a:highlight>
                  <a:srgbClr val="FFFFFF"/>
                </a:highlight>
              </a:rPr>
              <a:t>SW1 receives a broadcast frame on the link SW1-SW2, it sends a copy out all its ports (to SW3 and to PC1) except the incoming interface (link SW1-SW2);</a:t>
            </a:r>
            <a:endParaRPr>
              <a:solidFill>
                <a:srgbClr val="3B3B3B"/>
              </a:solidFill>
              <a:highlight>
                <a:srgbClr val="FFFFFF"/>
              </a:highlight>
            </a:endParaRPr>
          </a:p>
          <a:p>
            <a:pPr indent="-317500" lvl="0" marL="457200" rtl="0" algn="l">
              <a:spcBef>
                <a:spcPts val="0"/>
              </a:spcBef>
              <a:spcAft>
                <a:spcPts val="0"/>
              </a:spcAft>
              <a:buClr>
                <a:srgbClr val="3B3B3B"/>
              </a:buClr>
              <a:buSzPts val="1400"/>
              <a:buChar char="-"/>
            </a:pPr>
            <a:r>
              <a:rPr lang="en-IN">
                <a:solidFill>
                  <a:srgbClr val="3B3B3B"/>
                </a:solidFill>
                <a:highlight>
                  <a:srgbClr val="FFFFFF"/>
                </a:highlight>
              </a:rPr>
              <a:t>SW3 gets the broadcast frame and applies the same logic. It sends a copy out all its ports except the one the frame came in.</a:t>
            </a:r>
            <a:endParaRPr>
              <a:solidFill>
                <a:srgbClr val="3B3B3B"/>
              </a:solidFill>
              <a:highlight>
                <a:srgbClr val="FFFFFF"/>
              </a:highlight>
            </a:endParaRPr>
          </a:p>
          <a:p>
            <a:pPr indent="-317500" lvl="0" marL="457200" rtl="0" algn="l">
              <a:spcBef>
                <a:spcPts val="0"/>
              </a:spcBef>
              <a:spcAft>
                <a:spcPts val="0"/>
              </a:spcAft>
              <a:buClr>
                <a:srgbClr val="3B3B3B"/>
              </a:buClr>
              <a:buSzPts val="1400"/>
              <a:buChar char="-"/>
            </a:pPr>
            <a:r>
              <a:rPr lang="en-IN">
                <a:solidFill>
                  <a:srgbClr val="3B3B3B"/>
                </a:solidFill>
                <a:highlight>
                  <a:srgbClr val="FFFFFF"/>
                </a:highlight>
              </a:rPr>
              <a:t>So it sends the broadcast to SW2 and PC3.</a:t>
            </a:r>
            <a:endParaRPr>
              <a:solidFill>
                <a:srgbClr val="3B3B3B"/>
              </a:solidFill>
              <a:highlight>
                <a:srgbClr val="FFFFFF"/>
              </a:highlight>
            </a:endParaRPr>
          </a:p>
          <a:p>
            <a:pPr indent="-317500" lvl="0" marL="457200" rtl="0" algn="l">
              <a:spcBef>
                <a:spcPts val="0"/>
              </a:spcBef>
              <a:spcAft>
                <a:spcPts val="0"/>
              </a:spcAft>
              <a:buClr>
                <a:srgbClr val="3B3B3B"/>
              </a:buClr>
              <a:buSzPts val="1400"/>
              <a:buChar char="-"/>
            </a:pPr>
            <a:r>
              <a:rPr lang="en-IN">
                <a:solidFill>
                  <a:srgbClr val="3B3B3B"/>
                </a:solidFill>
                <a:highlight>
                  <a:srgbClr val="FFFFFF"/>
                </a:highlight>
              </a:rPr>
              <a:t>SW2 gets the frame, it sends a copy out all its ports except the incoming link SW3-SW2. So it sends the broadcast to SW1 and PC2.</a:t>
            </a:r>
            <a:endParaRPr>
              <a:solidFill>
                <a:srgbClr val="3B3B3B"/>
              </a:solidFill>
              <a:highlight>
                <a:srgbClr val="FFFFFF"/>
              </a:highlight>
            </a:endParaRPr>
          </a:p>
          <a:p>
            <a:pPr indent="0" lvl="0" marL="0" rtl="0" algn="l">
              <a:spcBef>
                <a:spcPts val="0"/>
              </a:spcBef>
              <a:spcAft>
                <a:spcPts val="0"/>
              </a:spcAft>
              <a:buNone/>
            </a:pPr>
            <a:r>
              <a:rPr b="1" i="1" lang="en-IN">
                <a:solidFill>
                  <a:srgbClr val="FF0000"/>
                </a:solidFill>
                <a:highlight>
                  <a:srgbClr val="FFFFFF"/>
                </a:highlight>
              </a:rPr>
              <a:t>And the process repeats and goes on indefinitely.</a:t>
            </a:r>
            <a:endParaRPr b="1" i="1">
              <a:solidFill>
                <a:srgbClr val="FF0000"/>
              </a:solidFill>
              <a:highlight>
                <a:srgbClr val="FFFFFF"/>
              </a:highlight>
            </a:endParaRPr>
          </a:p>
        </p:txBody>
      </p:sp>
      <p:pic>
        <p:nvPicPr>
          <p:cNvPr id="661" name="Google Shape;661;g3bcc4197594_0_104" title="redundant-lan-without-stp.gif"/>
          <p:cNvPicPr preferRelativeResize="0"/>
          <p:nvPr/>
        </p:nvPicPr>
        <p:blipFill>
          <a:blip r:embed="rId7">
            <a:alphaModFix/>
          </a:blip>
          <a:stretch>
            <a:fillRect/>
          </a:stretch>
        </p:blipFill>
        <p:spPr>
          <a:xfrm>
            <a:off x="3764900" y="1493525"/>
            <a:ext cx="5113128" cy="35615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bcc4197594_0_12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68" name="Google Shape;668;g3bcc4197594_0_128"/>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Problem 2- </a:t>
            </a:r>
            <a:r>
              <a:rPr b="1" lang="en-IN" sz="2400">
                <a:solidFill>
                  <a:srgbClr val="FF0000"/>
                </a:solidFill>
              </a:rPr>
              <a:t>The storm causes another problem called MAC table instability.</a:t>
            </a:r>
            <a:endParaRPr b="0" i="0" sz="2500" u="none" cap="none" strike="noStrike">
              <a:solidFill>
                <a:srgbClr val="000000"/>
              </a:solidFill>
              <a:latin typeface="Arial"/>
              <a:ea typeface="Arial"/>
              <a:cs typeface="Arial"/>
              <a:sym typeface="Arial"/>
            </a:endParaRPr>
          </a:p>
        </p:txBody>
      </p:sp>
      <p:pic>
        <p:nvPicPr>
          <p:cNvPr id="669" name="Google Shape;669;g3bcc4197594_0_12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70" name="Google Shape;670;g3bcc4197594_0_12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71" name="Google Shape;671;g3bcc4197594_0_12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72" name="Google Shape;672;g3bcc4197594_0_12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673" name="Google Shape;673;g3bcc4197594_0_128"/>
          <p:cNvSpPr txBox="1"/>
          <p:nvPr/>
        </p:nvSpPr>
        <p:spPr>
          <a:xfrm>
            <a:off x="443350" y="1288300"/>
            <a:ext cx="8028900" cy="129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dk1"/>
                </a:solidFill>
                <a:highlight>
                  <a:srgbClr val="FFFFFF"/>
                </a:highlight>
              </a:rPr>
              <a:t>When a switch receives a frame, it creates an entry in the MAC address table for the source address and the incoming port. But in case of a broadcast storm, multiple copies of the same frame loop around and the switch receives it on multiple interfaces.</a:t>
            </a:r>
            <a:endParaRPr sz="1800">
              <a:solidFill>
                <a:schemeClr val="dk1"/>
              </a:solidFill>
            </a:endParaRPr>
          </a:p>
        </p:txBody>
      </p:sp>
      <p:pic>
        <p:nvPicPr>
          <p:cNvPr id="674" name="Google Shape;674;g3bcc4197594_0_128"/>
          <p:cNvPicPr preferRelativeResize="0"/>
          <p:nvPr/>
        </p:nvPicPr>
        <p:blipFill>
          <a:blip r:embed="rId7">
            <a:alphaModFix/>
          </a:blip>
          <a:stretch>
            <a:fillRect/>
          </a:stretch>
        </p:blipFill>
        <p:spPr>
          <a:xfrm>
            <a:off x="152400" y="2733700"/>
            <a:ext cx="3747825" cy="1451575"/>
          </a:xfrm>
          <a:prstGeom prst="rect">
            <a:avLst/>
          </a:prstGeom>
          <a:noFill/>
          <a:ln cap="flat" cmpd="sng" w="9525">
            <a:solidFill>
              <a:schemeClr val="dk1"/>
            </a:solidFill>
            <a:prstDash val="solid"/>
            <a:round/>
            <a:headEnd len="sm" w="sm" type="none"/>
            <a:tailEnd len="sm" w="sm" type="none"/>
          </a:ln>
        </p:spPr>
      </p:pic>
      <p:pic>
        <p:nvPicPr>
          <p:cNvPr id="675" name="Google Shape;675;g3bcc4197594_0_128"/>
          <p:cNvPicPr preferRelativeResize="0"/>
          <p:nvPr/>
        </p:nvPicPr>
        <p:blipFill>
          <a:blip r:embed="rId8">
            <a:alphaModFix/>
          </a:blip>
          <a:stretch>
            <a:fillRect/>
          </a:stretch>
        </p:blipFill>
        <p:spPr>
          <a:xfrm>
            <a:off x="4393275" y="2733700"/>
            <a:ext cx="3676775" cy="1382100"/>
          </a:xfrm>
          <a:prstGeom prst="rect">
            <a:avLst/>
          </a:prstGeom>
          <a:noFill/>
          <a:ln cap="flat" cmpd="sng" w="9525">
            <a:solidFill>
              <a:schemeClr val="dk1"/>
            </a:solidFill>
            <a:prstDash val="solid"/>
            <a:round/>
            <a:headEnd len="sm" w="sm" type="none"/>
            <a:tailEnd len="sm" w="sm" type="none"/>
          </a:ln>
        </p:spPr>
      </p:pic>
      <p:pic>
        <p:nvPicPr>
          <p:cNvPr id="676" name="Google Shape;676;g3bcc4197594_0_128"/>
          <p:cNvPicPr preferRelativeResize="0"/>
          <p:nvPr/>
        </p:nvPicPr>
        <p:blipFill>
          <a:blip r:embed="rId9">
            <a:alphaModFix/>
          </a:blip>
          <a:stretch>
            <a:fillRect/>
          </a:stretch>
        </p:blipFill>
        <p:spPr>
          <a:xfrm>
            <a:off x="1851600" y="4337675"/>
            <a:ext cx="4293619" cy="18423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bcc4197594_0_14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83" name="Google Shape;683;g3bcc4197594_0_143"/>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Problem 2- The storm causes another problem called MAC table instability.</a:t>
            </a:r>
            <a:endParaRPr b="0" i="0" sz="2500" u="none" cap="none" strike="noStrike">
              <a:solidFill>
                <a:srgbClr val="000000"/>
              </a:solidFill>
              <a:latin typeface="Arial"/>
              <a:ea typeface="Arial"/>
              <a:cs typeface="Arial"/>
              <a:sym typeface="Arial"/>
            </a:endParaRPr>
          </a:p>
        </p:txBody>
      </p:sp>
      <p:pic>
        <p:nvPicPr>
          <p:cNvPr id="684" name="Google Shape;684;g3bcc4197594_0_143"/>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685" name="Google Shape;685;g3bcc4197594_0_143"/>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686" name="Google Shape;686;g3bcc4197594_0_143"/>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687" name="Google Shape;687;g3bcc4197594_0_143"/>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688" name="Google Shape;688;g3bcc4197594_0_143"/>
          <p:cNvSpPr txBox="1"/>
          <p:nvPr/>
        </p:nvSpPr>
        <p:spPr>
          <a:xfrm>
            <a:off x="443350" y="1288300"/>
            <a:ext cx="8028900" cy="1293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800">
                <a:solidFill>
                  <a:schemeClr val="dk1"/>
                </a:solidFill>
                <a:highlight>
                  <a:srgbClr val="FFFFFF"/>
                </a:highlight>
              </a:rPr>
              <a:t>When a switch receives a frame, it creates an entry in the MAC address table for the source address and the incoming port. But in case of a broadcast storm, multiple copies of the same frame loop around and the switch receives it on multiple interfaces.</a:t>
            </a:r>
            <a:endParaRPr sz="1800">
              <a:solidFill>
                <a:schemeClr val="dk1"/>
              </a:solidFill>
            </a:endParaRPr>
          </a:p>
        </p:txBody>
      </p:sp>
      <p:pic>
        <p:nvPicPr>
          <p:cNvPr id="689" name="Google Shape;689;g3bcc4197594_0_143"/>
          <p:cNvPicPr preferRelativeResize="0"/>
          <p:nvPr/>
        </p:nvPicPr>
        <p:blipFill>
          <a:blip r:embed="rId7">
            <a:alphaModFix/>
          </a:blip>
          <a:stretch>
            <a:fillRect/>
          </a:stretch>
        </p:blipFill>
        <p:spPr>
          <a:xfrm>
            <a:off x="152400" y="2733700"/>
            <a:ext cx="3747825" cy="1451575"/>
          </a:xfrm>
          <a:prstGeom prst="rect">
            <a:avLst/>
          </a:prstGeom>
          <a:noFill/>
          <a:ln cap="flat" cmpd="sng" w="9525">
            <a:solidFill>
              <a:schemeClr val="dk1"/>
            </a:solidFill>
            <a:prstDash val="solid"/>
            <a:round/>
            <a:headEnd len="sm" w="sm" type="none"/>
            <a:tailEnd len="sm" w="sm" type="none"/>
          </a:ln>
        </p:spPr>
      </p:pic>
      <p:pic>
        <p:nvPicPr>
          <p:cNvPr id="690" name="Google Shape;690;g3bcc4197594_0_143"/>
          <p:cNvPicPr preferRelativeResize="0"/>
          <p:nvPr/>
        </p:nvPicPr>
        <p:blipFill>
          <a:blip r:embed="rId8">
            <a:alphaModFix/>
          </a:blip>
          <a:stretch>
            <a:fillRect/>
          </a:stretch>
        </p:blipFill>
        <p:spPr>
          <a:xfrm>
            <a:off x="4393275" y="2733700"/>
            <a:ext cx="3676775" cy="1382100"/>
          </a:xfrm>
          <a:prstGeom prst="rect">
            <a:avLst/>
          </a:prstGeom>
          <a:noFill/>
          <a:ln cap="flat" cmpd="sng" w="9525">
            <a:solidFill>
              <a:schemeClr val="dk1"/>
            </a:solidFill>
            <a:prstDash val="solid"/>
            <a:round/>
            <a:headEnd len="sm" w="sm" type="none"/>
            <a:tailEnd len="sm" w="sm" type="none"/>
          </a:ln>
        </p:spPr>
      </p:pic>
      <p:pic>
        <p:nvPicPr>
          <p:cNvPr id="691" name="Google Shape;691;g3bcc4197594_0_143"/>
          <p:cNvPicPr preferRelativeResize="0"/>
          <p:nvPr/>
        </p:nvPicPr>
        <p:blipFill>
          <a:blip r:embed="rId9">
            <a:alphaModFix/>
          </a:blip>
          <a:stretch>
            <a:fillRect/>
          </a:stretch>
        </p:blipFill>
        <p:spPr>
          <a:xfrm>
            <a:off x="1851600" y="4337675"/>
            <a:ext cx="4293619" cy="18423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bcc4197594_0_15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698" name="Google Shape;698;g3bcc4197594_0_157"/>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Problem 3- </a:t>
            </a:r>
            <a:r>
              <a:rPr b="1" lang="en-IN" sz="2400">
                <a:solidFill>
                  <a:srgbClr val="FF0000"/>
                </a:solidFill>
              </a:rPr>
              <a:t>End devices receive multiple copies of the same frame.</a:t>
            </a:r>
            <a:endParaRPr b="0" i="0" sz="2500" u="none" cap="none" strike="noStrike">
              <a:solidFill>
                <a:srgbClr val="000000"/>
              </a:solidFill>
              <a:latin typeface="Arial"/>
              <a:ea typeface="Arial"/>
              <a:cs typeface="Arial"/>
              <a:sym typeface="Arial"/>
            </a:endParaRPr>
          </a:p>
        </p:txBody>
      </p:sp>
      <p:pic>
        <p:nvPicPr>
          <p:cNvPr id="699" name="Google Shape;699;g3bcc4197594_0_157"/>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00" name="Google Shape;700;g3bcc4197594_0_157"/>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01" name="Google Shape;701;g3bcc4197594_0_157"/>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02" name="Google Shape;702;g3bcc4197594_0_157"/>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703" name="Google Shape;703;g3bcc4197594_0_157"/>
          <p:cNvSpPr txBox="1"/>
          <p:nvPr/>
        </p:nvSpPr>
        <p:spPr>
          <a:xfrm>
            <a:off x="428325" y="2136000"/>
            <a:ext cx="8028900" cy="203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chemeClr val="dk1"/>
                </a:solidFill>
                <a:highlight>
                  <a:srgbClr val="FFFFFF"/>
                </a:highlight>
              </a:rPr>
              <a:t>The last issue that occurs in a case of a loop is that end clients receive multiple copies of the looping frames over and over again while the broadcast storm is active. </a:t>
            </a:r>
            <a:endParaRPr sz="2000">
              <a:solidFill>
                <a:schemeClr val="dk1"/>
              </a:solidFill>
              <a:highlight>
                <a:srgbClr val="FFFFFF"/>
              </a:highlight>
            </a:endParaRPr>
          </a:p>
          <a:p>
            <a:pPr indent="0" lvl="0" marL="0" rtl="0" algn="l">
              <a:spcBef>
                <a:spcPts val="0"/>
              </a:spcBef>
              <a:spcAft>
                <a:spcPts val="0"/>
              </a:spcAft>
              <a:buNone/>
            </a:pPr>
            <a:r>
              <a:t/>
            </a:r>
            <a:endParaRPr sz="2000">
              <a:solidFill>
                <a:schemeClr val="dk1"/>
              </a:solidFill>
              <a:highlight>
                <a:srgbClr val="FFFFFF"/>
              </a:highlight>
            </a:endParaRPr>
          </a:p>
          <a:p>
            <a:pPr indent="0" lvl="0" marL="0" rtl="0" algn="l">
              <a:spcBef>
                <a:spcPts val="0"/>
              </a:spcBef>
              <a:spcAft>
                <a:spcPts val="0"/>
              </a:spcAft>
              <a:buNone/>
            </a:pPr>
            <a:r>
              <a:rPr lang="en-IN" sz="2000">
                <a:solidFill>
                  <a:schemeClr val="dk1"/>
                </a:solidFill>
                <a:highlight>
                  <a:srgbClr val="FFFFFF"/>
                </a:highlight>
              </a:rPr>
              <a:t>As a result, </a:t>
            </a:r>
            <a:r>
              <a:rPr b="1" lang="en-IN" sz="2000">
                <a:solidFill>
                  <a:schemeClr val="dk1"/>
                </a:solidFill>
                <a:highlight>
                  <a:srgbClr val="FFFF00"/>
                </a:highlight>
              </a:rPr>
              <a:t>end clients may experience high CPU, and critical applications may starve of resources and fail.</a:t>
            </a:r>
            <a:endParaRPr b="1" sz="2000">
              <a:solidFill>
                <a:schemeClr val="dk1"/>
              </a:solidFill>
              <a:highlight>
                <a:srgbClr val="FFFF00"/>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3bcc4197594_0_172"/>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10" name="Google Shape;710;g3bcc4197594_0_172"/>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Solution- Spanning Tree Topology</a:t>
            </a:r>
            <a:endParaRPr b="0" i="0" sz="2500" u="none" cap="none" strike="noStrike">
              <a:solidFill>
                <a:srgbClr val="000000"/>
              </a:solidFill>
              <a:latin typeface="Arial"/>
              <a:ea typeface="Arial"/>
              <a:cs typeface="Arial"/>
              <a:sym typeface="Arial"/>
            </a:endParaRPr>
          </a:p>
        </p:txBody>
      </p:sp>
      <p:pic>
        <p:nvPicPr>
          <p:cNvPr id="711" name="Google Shape;711;g3bcc4197594_0_172"/>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12" name="Google Shape;712;g3bcc4197594_0_172"/>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13" name="Google Shape;713;g3bcc4197594_0_172"/>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14" name="Google Shape;714;g3bcc4197594_0_172"/>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715" name="Google Shape;715;g3bcc4197594_0_172"/>
          <p:cNvSpPr txBox="1"/>
          <p:nvPr/>
        </p:nvSpPr>
        <p:spPr>
          <a:xfrm>
            <a:off x="458400" y="1128350"/>
            <a:ext cx="8028900" cy="80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rgbClr val="3B3B3B"/>
                </a:solidFill>
                <a:highlight>
                  <a:srgbClr val="FFFFFF"/>
                </a:highlight>
              </a:rPr>
              <a:t>Spanning-Tree prevents loops by breaking the </a:t>
            </a:r>
            <a:r>
              <a:rPr b="1" lang="en-IN" sz="2000">
                <a:solidFill>
                  <a:srgbClr val="FF0000"/>
                </a:solidFill>
                <a:highlight>
                  <a:srgbClr val="FFFFFF"/>
                </a:highlight>
              </a:rPr>
              <a:t>redundant physical topology into a logical loop-free one.</a:t>
            </a:r>
            <a:endParaRPr b="1" sz="2000">
              <a:solidFill>
                <a:srgbClr val="FF0000"/>
              </a:solidFill>
            </a:endParaRPr>
          </a:p>
        </p:txBody>
      </p:sp>
      <p:sp>
        <p:nvSpPr>
          <p:cNvPr id="716" name="Google Shape;716;g3bcc4197594_0_172"/>
          <p:cNvSpPr txBox="1"/>
          <p:nvPr/>
        </p:nvSpPr>
        <p:spPr>
          <a:xfrm>
            <a:off x="458400" y="2244838"/>
            <a:ext cx="8028900" cy="3321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900">
                <a:solidFill>
                  <a:schemeClr val="dk1"/>
                </a:solidFill>
                <a:highlight>
                  <a:srgbClr val="FFFFFF"/>
                </a:highlight>
              </a:rPr>
              <a:t>When </a:t>
            </a:r>
            <a:r>
              <a:rPr b="1" lang="en-IN" sz="1900">
                <a:solidFill>
                  <a:schemeClr val="dk1"/>
                </a:solidFill>
                <a:highlight>
                  <a:srgbClr val="FFFFFF"/>
                </a:highlight>
              </a:rPr>
              <a:t>Spanning-Tree is enabled on a switch</a:t>
            </a:r>
            <a:r>
              <a:rPr lang="en-IN" sz="1900">
                <a:solidFill>
                  <a:schemeClr val="dk1"/>
                </a:solidFill>
                <a:highlight>
                  <a:srgbClr val="FFFFFF"/>
                </a:highlight>
              </a:rPr>
              <a:t> (it is by default on all Cisco switches), it controls the state of every switch port and places each one in either a forwarding or a blocking state where:</a:t>
            </a:r>
            <a:endParaRPr sz="1900">
              <a:solidFill>
                <a:schemeClr val="dk1"/>
              </a:solidFill>
              <a:highlight>
                <a:srgbClr val="FFFFFF"/>
              </a:highlight>
            </a:endParaRPr>
          </a:p>
          <a:p>
            <a:pPr indent="-349250" lvl="0" marL="457200" rtl="0" algn="l">
              <a:lnSpc>
                <a:spcPct val="115000"/>
              </a:lnSpc>
              <a:spcBef>
                <a:spcPts val="1200"/>
              </a:spcBef>
              <a:spcAft>
                <a:spcPts val="0"/>
              </a:spcAft>
              <a:buClr>
                <a:schemeClr val="dk1"/>
              </a:buClr>
              <a:buSzPts val="1900"/>
              <a:buFont typeface="Arial"/>
              <a:buChar char="●"/>
            </a:pPr>
            <a:r>
              <a:rPr b="1" lang="en-IN" sz="1900">
                <a:solidFill>
                  <a:schemeClr val="dk1"/>
                </a:solidFill>
                <a:highlight>
                  <a:srgbClr val="FFFFFF"/>
                </a:highlight>
              </a:rPr>
              <a:t>Ports in forwarding state </a:t>
            </a:r>
            <a:r>
              <a:rPr lang="en-IN" sz="1900">
                <a:solidFill>
                  <a:schemeClr val="dk1"/>
                </a:solidFill>
                <a:highlight>
                  <a:srgbClr val="FFFFFF"/>
                </a:highlight>
              </a:rPr>
              <a:t>send and receive frames and act as normal switch interface. In our examples, these ports are shown in green.</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Font typeface="Arial"/>
              <a:buChar char="●"/>
            </a:pPr>
            <a:r>
              <a:rPr b="1" lang="en-IN" sz="1900">
                <a:solidFill>
                  <a:schemeClr val="dk1"/>
                </a:solidFill>
                <a:highlight>
                  <a:srgbClr val="FFFFFF"/>
                </a:highlight>
              </a:rPr>
              <a:t>Ports in blocking state</a:t>
            </a:r>
            <a:r>
              <a:rPr lang="en-IN" sz="1900">
                <a:solidFill>
                  <a:schemeClr val="dk1"/>
                </a:solidFill>
                <a:highlight>
                  <a:srgbClr val="FFFFFF"/>
                </a:highlight>
              </a:rPr>
              <a:t> do not process any frames except for Spanning-Tree messages and do not learn MAC addresses. In the examples, these ports are shown in orange.</a:t>
            </a:r>
            <a:endParaRPr sz="1900">
              <a:solidFill>
                <a:schemeClr val="dk1"/>
              </a:solidFill>
              <a:highlight>
                <a:srgbClr val="FFFFFF"/>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bcc4197594_0_19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23" name="Google Shape;723;g3bcc4197594_0_194"/>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Solution- Spanning Tree Topology</a:t>
            </a:r>
            <a:endParaRPr b="0" i="0" sz="2500" u="none" cap="none" strike="noStrike">
              <a:solidFill>
                <a:srgbClr val="000000"/>
              </a:solidFill>
              <a:latin typeface="Arial"/>
              <a:ea typeface="Arial"/>
              <a:cs typeface="Arial"/>
              <a:sym typeface="Arial"/>
            </a:endParaRPr>
          </a:p>
        </p:txBody>
      </p:sp>
      <p:pic>
        <p:nvPicPr>
          <p:cNvPr id="724" name="Google Shape;724;g3bcc4197594_0_194"/>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25" name="Google Shape;725;g3bcc4197594_0_194"/>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26" name="Google Shape;726;g3bcc4197594_0_194"/>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27" name="Google Shape;727;g3bcc4197594_0_194"/>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728" name="Google Shape;728;g3bcc4197594_0_194"/>
          <p:cNvPicPr preferRelativeResize="0"/>
          <p:nvPr/>
        </p:nvPicPr>
        <p:blipFill>
          <a:blip r:embed="rId7">
            <a:alphaModFix/>
          </a:blip>
          <a:stretch>
            <a:fillRect/>
          </a:stretch>
        </p:blipFill>
        <p:spPr>
          <a:xfrm>
            <a:off x="800866" y="1288301"/>
            <a:ext cx="7618222" cy="396307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bcc4197594_0_20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35" name="Google Shape;735;g3bcc4197594_0_208"/>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Solution- Spanning Tree Topology</a:t>
            </a:r>
            <a:endParaRPr b="0" i="0" sz="2500" u="none" cap="none" strike="noStrike">
              <a:solidFill>
                <a:srgbClr val="000000"/>
              </a:solidFill>
              <a:latin typeface="Arial"/>
              <a:ea typeface="Arial"/>
              <a:cs typeface="Arial"/>
              <a:sym typeface="Arial"/>
            </a:endParaRPr>
          </a:p>
        </p:txBody>
      </p:sp>
      <p:pic>
        <p:nvPicPr>
          <p:cNvPr id="736" name="Google Shape;736;g3bcc4197594_0_20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37" name="Google Shape;737;g3bcc4197594_0_20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38" name="Google Shape;738;g3bcc4197594_0_20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39" name="Google Shape;739;g3bcc4197594_0_20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740" name="Google Shape;740;g3bcc4197594_0_208"/>
          <p:cNvPicPr preferRelativeResize="0"/>
          <p:nvPr/>
        </p:nvPicPr>
        <p:blipFill>
          <a:blip r:embed="rId7">
            <a:alphaModFix/>
          </a:blip>
          <a:stretch>
            <a:fillRect/>
          </a:stretch>
        </p:blipFill>
        <p:spPr>
          <a:xfrm>
            <a:off x="137350" y="1368150"/>
            <a:ext cx="8740950" cy="39400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cc4197594_0_22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47" name="Google Shape;747;g3bcc4197594_0_220"/>
          <p:cNvSpPr/>
          <p:nvPr/>
        </p:nvSpPr>
        <p:spPr>
          <a:xfrm>
            <a:off x="533575" y="343900"/>
            <a:ext cx="8152800" cy="944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rgbClr val="FF0000"/>
                </a:solidFill>
              </a:rPr>
              <a:t>Issues with </a:t>
            </a:r>
            <a:r>
              <a:rPr b="1" lang="en-IN" sz="2400">
                <a:solidFill>
                  <a:srgbClr val="FF0000"/>
                </a:solidFill>
              </a:rPr>
              <a:t>Spanning Tree Topology</a:t>
            </a:r>
            <a:endParaRPr b="0" i="0" sz="2500" u="none" cap="none" strike="noStrike">
              <a:solidFill>
                <a:srgbClr val="000000"/>
              </a:solidFill>
              <a:latin typeface="Arial"/>
              <a:ea typeface="Arial"/>
              <a:cs typeface="Arial"/>
              <a:sym typeface="Arial"/>
            </a:endParaRPr>
          </a:p>
        </p:txBody>
      </p:sp>
      <p:pic>
        <p:nvPicPr>
          <p:cNvPr id="748" name="Google Shape;748;g3bcc4197594_0_22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49" name="Google Shape;749;g3bcc4197594_0_22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50" name="Google Shape;750;g3bcc4197594_0_22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51" name="Google Shape;751;g3bcc4197594_0_22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
        <p:nvSpPr>
          <p:cNvPr id="752" name="Google Shape;752;g3bcc4197594_0_220"/>
          <p:cNvSpPr txBox="1"/>
          <p:nvPr/>
        </p:nvSpPr>
        <p:spPr>
          <a:xfrm>
            <a:off x="436150" y="2000250"/>
            <a:ext cx="79758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i="1" lang="en-IN" sz="1800">
                <a:solidFill>
                  <a:srgbClr val="FF0000"/>
                </a:solidFill>
              </a:rPr>
              <a:t>“Spanning Tree solves the loop problem by blocking links, but this leads to </a:t>
            </a:r>
            <a:r>
              <a:rPr b="1" i="1" lang="en-IN" sz="1800">
                <a:solidFill>
                  <a:srgbClr val="FF0000"/>
                </a:solidFill>
                <a:highlight>
                  <a:srgbClr val="FFFF00"/>
                </a:highlight>
              </a:rPr>
              <a:t>poor bandwidth utilization</a:t>
            </a:r>
            <a:r>
              <a:rPr b="1" i="1" lang="en-IN" sz="1800">
                <a:solidFill>
                  <a:srgbClr val="FF0000"/>
                </a:solidFill>
              </a:rPr>
              <a:t>, scalability issues, and slow recovery. To overcome these limitations, modern data centers move away from large Layer-2 domains and adopt multipath topologies such as </a:t>
            </a:r>
            <a:r>
              <a:rPr b="1" i="1" lang="en-IN" sz="1800">
                <a:solidFill>
                  <a:srgbClr val="FF0000"/>
                </a:solidFill>
                <a:highlight>
                  <a:srgbClr val="FFFF00"/>
                </a:highlight>
              </a:rPr>
              <a:t>Fat-Tree and BCube</a:t>
            </a:r>
            <a:r>
              <a:rPr b="1" i="1" lang="en-IN" sz="1800">
                <a:solidFill>
                  <a:srgbClr val="FF0000"/>
                </a:solidFill>
              </a:rPr>
              <a:t>.”</a:t>
            </a:r>
            <a:endParaRPr b="1" i="1" sz="180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bced218d8f_0_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59" name="Google Shape;759;g3bced218d8f_0_8"/>
          <p:cNvSpPr/>
          <p:nvPr/>
        </p:nvSpPr>
        <p:spPr>
          <a:xfrm>
            <a:off x="495600" y="2494550"/>
            <a:ext cx="8152800" cy="16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1" lang="en-IN" sz="2800">
                <a:solidFill>
                  <a:srgbClr val="FF0000"/>
                </a:solidFill>
              </a:rPr>
              <a:t>8</a:t>
            </a:r>
            <a:r>
              <a:rPr b="1" i="1" lang="en-IN" sz="2800">
                <a:solidFill>
                  <a:srgbClr val="FF0000"/>
                </a:solidFill>
              </a:rPr>
              <a:t>. Changes to improve traditional 3 tier Data Center Architecture-  Leaf Spine Architecture (New Architecture)</a:t>
            </a:r>
            <a:endParaRPr b="0" i="1" sz="2900" u="none" cap="none" strike="noStrike">
              <a:solidFill>
                <a:srgbClr val="000000"/>
              </a:solidFill>
              <a:latin typeface="Arial"/>
              <a:ea typeface="Arial"/>
              <a:cs typeface="Arial"/>
              <a:sym typeface="Arial"/>
            </a:endParaRPr>
          </a:p>
        </p:txBody>
      </p:sp>
      <p:pic>
        <p:nvPicPr>
          <p:cNvPr id="760" name="Google Shape;760;g3bced218d8f_0_8"/>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761" name="Google Shape;761;g3bced218d8f_0_8"/>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762" name="Google Shape;762;g3bced218d8f_0_8"/>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763" name="Google Shape;763;g3bced218d8f_0_8"/>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bcf12ddd78_0_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770" name="Google Shape;770;g3bcf12ddd78_0_3"/>
          <p:cNvSpPr/>
          <p:nvPr/>
        </p:nvSpPr>
        <p:spPr>
          <a:xfrm>
            <a:off x="153600" y="238625"/>
            <a:ext cx="8845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Basic DCN (Data Center Network) Architecture- </a:t>
            </a:r>
            <a:r>
              <a:rPr b="1" i="1" lang="en-IN" sz="1700">
                <a:solidFill>
                  <a:srgbClr val="FF0000"/>
                </a:solidFill>
              </a:rPr>
              <a:t>traditional 3-tier data-center network with a shared Layer-2 domain</a:t>
            </a:r>
            <a:endParaRPr b="0" i="1" sz="1700" u="none" cap="none" strike="noStrike">
              <a:solidFill>
                <a:srgbClr val="000000"/>
              </a:solidFill>
              <a:latin typeface="Arial"/>
              <a:ea typeface="Arial"/>
              <a:cs typeface="Arial"/>
              <a:sym typeface="Arial"/>
            </a:endParaRPr>
          </a:p>
        </p:txBody>
      </p:sp>
      <p:pic>
        <p:nvPicPr>
          <p:cNvPr id="771" name="Google Shape;771;g3bcf12ddd78_0_3"/>
          <p:cNvPicPr preferRelativeResize="0"/>
          <p:nvPr/>
        </p:nvPicPr>
        <p:blipFill>
          <a:blip r:embed="rId3">
            <a:alphaModFix/>
          </a:blip>
          <a:stretch>
            <a:fillRect/>
          </a:stretch>
        </p:blipFill>
        <p:spPr>
          <a:xfrm>
            <a:off x="802440" y="1383950"/>
            <a:ext cx="7167135" cy="4727225"/>
          </a:xfrm>
          <a:prstGeom prst="rect">
            <a:avLst/>
          </a:prstGeom>
          <a:noFill/>
          <a:ln cap="flat" cmpd="sng" w="9525">
            <a:solidFill>
              <a:schemeClr val="dk1"/>
            </a:solidFill>
            <a:prstDash val="solid"/>
            <a:round/>
            <a:headEnd len="sm" w="sm" type="none"/>
            <a:tailEnd len="sm" w="sm" type="none"/>
          </a:ln>
        </p:spPr>
      </p:pic>
      <p:sp>
        <p:nvSpPr>
          <p:cNvPr id="772" name="Google Shape;772;g3bcf12ddd78_0_3"/>
          <p:cNvSpPr txBox="1"/>
          <p:nvPr/>
        </p:nvSpPr>
        <p:spPr>
          <a:xfrm>
            <a:off x="676325" y="5175625"/>
            <a:ext cx="9894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rgbClr val="FF0000"/>
                </a:solidFill>
              </a:rPr>
              <a:t>Server A</a:t>
            </a:r>
            <a:endParaRPr b="1">
              <a:solidFill>
                <a:srgbClr val="FF0000"/>
              </a:solidFill>
            </a:endParaRPr>
          </a:p>
        </p:txBody>
      </p:sp>
      <p:sp>
        <p:nvSpPr>
          <p:cNvPr id="773" name="Google Shape;773;g3bcf12ddd78_0_3"/>
          <p:cNvSpPr txBox="1"/>
          <p:nvPr/>
        </p:nvSpPr>
        <p:spPr>
          <a:xfrm>
            <a:off x="2421675" y="6356525"/>
            <a:ext cx="9894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rgbClr val="FF0000"/>
                </a:solidFill>
              </a:rPr>
              <a:t>Server B</a:t>
            </a:r>
            <a:endParaRPr b="1">
              <a:solidFill>
                <a:srgbClr val="FF0000"/>
              </a:solidFill>
            </a:endParaRPr>
          </a:p>
        </p:txBody>
      </p:sp>
      <p:sp>
        <p:nvSpPr>
          <p:cNvPr id="774" name="Google Shape;774;g3bcf12ddd78_0_3"/>
          <p:cNvSpPr/>
          <p:nvPr/>
        </p:nvSpPr>
        <p:spPr>
          <a:xfrm rot="5406968">
            <a:off x="2367923" y="5906141"/>
            <a:ext cx="1184102" cy="71400"/>
          </a:xfrm>
          <a:prstGeom prst="rightArrow">
            <a:avLst>
              <a:gd fmla="val 50000" name="adj1"/>
              <a:gd fmla="val 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g3bcf12ddd78_0_3"/>
          <p:cNvSpPr/>
          <p:nvPr/>
        </p:nvSpPr>
        <p:spPr>
          <a:xfrm rot="6968">
            <a:off x="578973" y="5176816"/>
            <a:ext cx="1184102" cy="71400"/>
          </a:xfrm>
          <a:prstGeom prst="rightArrow">
            <a:avLst>
              <a:gd fmla="val 50000" name="adj1"/>
              <a:gd fmla="val 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bcf12ddd78_0_1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782" name="Google Shape;782;g3bcf12ddd78_0_15"/>
          <p:cNvPicPr preferRelativeResize="0"/>
          <p:nvPr/>
        </p:nvPicPr>
        <p:blipFill>
          <a:blip r:embed="rId3">
            <a:alphaModFix/>
          </a:blip>
          <a:stretch>
            <a:fillRect/>
          </a:stretch>
        </p:blipFill>
        <p:spPr>
          <a:xfrm>
            <a:off x="88525" y="627438"/>
            <a:ext cx="2457450" cy="1047750"/>
          </a:xfrm>
          <a:prstGeom prst="rect">
            <a:avLst/>
          </a:prstGeom>
          <a:noFill/>
          <a:ln cap="flat" cmpd="sng" w="9525">
            <a:solidFill>
              <a:schemeClr val="dk1"/>
            </a:solidFill>
            <a:prstDash val="solid"/>
            <a:round/>
            <a:headEnd len="sm" w="sm" type="none"/>
            <a:tailEnd len="sm" w="sm" type="none"/>
          </a:ln>
        </p:spPr>
      </p:pic>
      <p:pic>
        <p:nvPicPr>
          <p:cNvPr id="783" name="Google Shape;783;g3bcf12ddd78_0_15"/>
          <p:cNvPicPr preferRelativeResize="0"/>
          <p:nvPr/>
        </p:nvPicPr>
        <p:blipFill>
          <a:blip r:embed="rId4">
            <a:alphaModFix/>
          </a:blip>
          <a:stretch>
            <a:fillRect/>
          </a:stretch>
        </p:blipFill>
        <p:spPr>
          <a:xfrm>
            <a:off x="2013575" y="1243888"/>
            <a:ext cx="4191000" cy="1000125"/>
          </a:xfrm>
          <a:prstGeom prst="rect">
            <a:avLst/>
          </a:prstGeom>
          <a:noFill/>
          <a:ln cap="flat" cmpd="sng" w="9525">
            <a:solidFill>
              <a:schemeClr val="dk1"/>
            </a:solidFill>
            <a:prstDash val="solid"/>
            <a:round/>
            <a:headEnd len="sm" w="sm" type="none"/>
            <a:tailEnd len="sm" w="sm" type="none"/>
          </a:ln>
        </p:spPr>
      </p:pic>
      <p:pic>
        <p:nvPicPr>
          <p:cNvPr id="784" name="Google Shape;784;g3bcf12ddd78_0_15"/>
          <p:cNvPicPr preferRelativeResize="0"/>
          <p:nvPr/>
        </p:nvPicPr>
        <p:blipFill>
          <a:blip r:embed="rId5">
            <a:alphaModFix/>
          </a:blip>
          <a:stretch>
            <a:fillRect/>
          </a:stretch>
        </p:blipFill>
        <p:spPr>
          <a:xfrm>
            <a:off x="2032625" y="2314038"/>
            <a:ext cx="2419350" cy="876300"/>
          </a:xfrm>
          <a:prstGeom prst="rect">
            <a:avLst/>
          </a:prstGeom>
          <a:noFill/>
          <a:ln cap="flat" cmpd="sng" w="9525">
            <a:solidFill>
              <a:schemeClr val="dk1"/>
            </a:solidFill>
            <a:prstDash val="solid"/>
            <a:round/>
            <a:headEnd len="sm" w="sm" type="none"/>
            <a:tailEnd len="sm" w="sm" type="none"/>
          </a:ln>
        </p:spPr>
      </p:pic>
      <p:pic>
        <p:nvPicPr>
          <p:cNvPr id="785" name="Google Shape;785;g3bcf12ddd78_0_15"/>
          <p:cNvPicPr preferRelativeResize="0"/>
          <p:nvPr/>
        </p:nvPicPr>
        <p:blipFill>
          <a:blip r:embed="rId6">
            <a:alphaModFix/>
          </a:blip>
          <a:stretch>
            <a:fillRect/>
          </a:stretch>
        </p:blipFill>
        <p:spPr>
          <a:xfrm>
            <a:off x="2032625" y="3260363"/>
            <a:ext cx="1695450" cy="628650"/>
          </a:xfrm>
          <a:prstGeom prst="rect">
            <a:avLst/>
          </a:prstGeom>
          <a:noFill/>
          <a:ln cap="flat" cmpd="sng" w="9525">
            <a:solidFill>
              <a:schemeClr val="dk1"/>
            </a:solidFill>
            <a:prstDash val="solid"/>
            <a:round/>
            <a:headEnd len="sm" w="sm" type="none"/>
            <a:tailEnd len="sm" w="sm" type="none"/>
          </a:ln>
        </p:spPr>
      </p:pic>
      <p:pic>
        <p:nvPicPr>
          <p:cNvPr id="786" name="Google Shape;786;g3bcf12ddd78_0_15"/>
          <p:cNvPicPr preferRelativeResize="0"/>
          <p:nvPr/>
        </p:nvPicPr>
        <p:blipFill>
          <a:blip r:embed="rId7">
            <a:alphaModFix/>
          </a:blip>
          <a:stretch>
            <a:fillRect/>
          </a:stretch>
        </p:blipFill>
        <p:spPr>
          <a:xfrm>
            <a:off x="2051675" y="3959038"/>
            <a:ext cx="1657350" cy="1123950"/>
          </a:xfrm>
          <a:prstGeom prst="rect">
            <a:avLst/>
          </a:prstGeom>
          <a:noFill/>
          <a:ln cap="flat" cmpd="sng" w="9525">
            <a:solidFill>
              <a:schemeClr val="dk1"/>
            </a:solidFill>
            <a:prstDash val="solid"/>
            <a:round/>
            <a:headEnd len="sm" w="sm" type="none"/>
            <a:tailEnd len="sm" w="sm" type="none"/>
          </a:ln>
        </p:spPr>
      </p:pic>
      <p:pic>
        <p:nvPicPr>
          <p:cNvPr id="787" name="Google Shape;787;g3bcf12ddd78_0_15"/>
          <p:cNvPicPr preferRelativeResize="0"/>
          <p:nvPr/>
        </p:nvPicPr>
        <p:blipFill>
          <a:blip r:embed="rId8">
            <a:alphaModFix/>
          </a:blip>
          <a:stretch>
            <a:fillRect/>
          </a:stretch>
        </p:blipFill>
        <p:spPr>
          <a:xfrm>
            <a:off x="2051675" y="5153013"/>
            <a:ext cx="1143000" cy="1704975"/>
          </a:xfrm>
          <a:prstGeom prst="rect">
            <a:avLst/>
          </a:prstGeom>
          <a:noFill/>
          <a:ln cap="flat" cmpd="sng" w="9525">
            <a:solidFill>
              <a:schemeClr val="dk1"/>
            </a:solidFill>
            <a:prstDash val="solid"/>
            <a:round/>
            <a:headEnd len="sm" w="sm" type="none"/>
            <a:tailEnd len="sm" w="sm" type="none"/>
          </a:ln>
        </p:spPr>
      </p:pic>
      <p:sp>
        <p:nvSpPr>
          <p:cNvPr id="788" name="Google Shape;788;g3bcf12ddd78_0_15"/>
          <p:cNvSpPr txBox="1"/>
          <p:nvPr/>
        </p:nvSpPr>
        <p:spPr>
          <a:xfrm>
            <a:off x="5935775" y="217975"/>
            <a:ext cx="3000000" cy="708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sz="1700"/>
              <a:t>STEP-BY-STEP ARP FLOW (UP &amp; DOWN)</a:t>
            </a:r>
            <a:endParaRPr b="1" sz="1700"/>
          </a:p>
        </p:txBody>
      </p:sp>
      <p:pic>
        <p:nvPicPr>
          <p:cNvPr id="789" name="Google Shape;789;g3bcf12ddd78_0_15"/>
          <p:cNvPicPr preferRelativeResize="0"/>
          <p:nvPr/>
        </p:nvPicPr>
        <p:blipFill>
          <a:blip r:embed="rId9">
            <a:alphaModFix/>
          </a:blip>
          <a:stretch>
            <a:fillRect/>
          </a:stretch>
        </p:blipFill>
        <p:spPr>
          <a:xfrm>
            <a:off x="4135678" y="3691500"/>
            <a:ext cx="4320197" cy="2849475"/>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bcf12ddd78_0_54"/>
          <p:cNvSpPr txBox="1"/>
          <p:nvPr>
            <p:ph type="title"/>
          </p:nvPr>
        </p:nvSpPr>
        <p:spPr>
          <a:xfrm>
            <a:off x="457200" y="274680"/>
            <a:ext cx="8229300" cy="114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796" name="Google Shape;796;g3bcf12ddd78_0_54"/>
          <p:cNvSpPr txBox="1"/>
          <p:nvPr>
            <p:ph idx="1" type="body"/>
          </p:nvPr>
        </p:nvSpPr>
        <p:spPr>
          <a:xfrm>
            <a:off x="457200" y="1600200"/>
            <a:ext cx="8229300" cy="4525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97" name="Google Shape;797;g3bcf12ddd78_0_5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798" name="Google Shape;798;g3bcf12ddd78_0_54"/>
          <p:cNvPicPr preferRelativeResize="0"/>
          <p:nvPr/>
        </p:nvPicPr>
        <p:blipFill>
          <a:blip r:embed="rId3">
            <a:alphaModFix/>
          </a:blip>
          <a:stretch>
            <a:fillRect/>
          </a:stretch>
        </p:blipFill>
        <p:spPr>
          <a:xfrm>
            <a:off x="669138" y="104775"/>
            <a:ext cx="7000875" cy="66484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3bced218d8f_0_4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05" name="Google Shape;805;g3bced218d8f_0_41"/>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Leaf Spine Architecture</a:t>
            </a:r>
            <a:endParaRPr b="0" i="1" sz="1700" u="none" cap="none" strike="noStrike">
              <a:solidFill>
                <a:srgbClr val="000000"/>
              </a:solidFill>
              <a:latin typeface="Arial"/>
              <a:ea typeface="Arial"/>
              <a:cs typeface="Arial"/>
              <a:sym typeface="Arial"/>
            </a:endParaRPr>
          </a:p>
        </p:txBody>
      </p:sp>
      <p:sp>
        <p:nvSpPr>
          <p:cNvPr id="806" name="Google Shape;806;g3bced218d8f_0_41"/>
          <p:cNvSpPr/>
          <p:nvPr/>
        </p:nvSpPr>
        <p:spPr>
          <a:xfrm>
            <a:off x="1112785"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pic>
        <p:nvPicPr>
          <p:cNvPr id="807" name="Google Shape;807;g3bced218d8f_0_41"/>
          <p:cNvPicPr preferRelativeResize="0"/>
          <p:nvPr/>
        </p:nvPicPr>
        <p:blipFill>
          <a:blip r:embed="rId3">
            <a:alphaModFix/>
          </a:blip>
          <a:stretch>
            <a:fillRect/>
          </a:stretch>
        </p:blipFill>
        <p:spPr>
          <a:xfrm>
            <a:off x="943925" y="1478525"/>
            <a:ext cx="6800850" cy="4171950"/>
          </a:xfrm>
          <a:prstGeom prst="rect">
            <a:avLst/>
          </a:prstGeom>
          <a:noFill/>
          <a:ln cap="flat" cmpd="sng" w="9525">
            <a:solidFill>
              <a:schemeClr val="dk1"/>
            </a:solidFill>
            <a:prstDash val="solid"/>
            <a:round/>
            <a:headEnd len="sm" w="sm" type="none"/>
            <a:tailEnd len="sm" w="sm" type="none"/>
          </a:ln>
        </p:spPr>
      </p:pic>
      <p:sp>
        <p:nvSpPr>
          <p:cNvPr id="808" name="Google Shape;808;g3bced218d8f_0_41"/>
          <p:cNvSpPr/>
          <p:nvPr/>
        </p:nvSpPr>
        <p:spPr>
          <a:xfrm>
            <a:off x="2029885"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sp>
        <p:nvSpPr>
          <p:cNvPr id="809" name="Google Shape;809;g3bced218d8f_0_41"/>
          <p:cNvSpPr/>
          <p:nvPr/>
        </p:nvSpPr>
        <p:spPr>
          <a:xfrm>
            <a:off x="2946985"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sp>
        <p:nvSpPr>
          <p:cNvPr id="810" name="Google Shape;810;g3bced218d8f_0_41"/>
          <p:cNvSpPr/>
          <p:nvPr/>
        </p:nvSpPr>
        <p:spPr>
          <a:xfrm>
            <a:off x="3843773"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sp>
        <p:nvSpPr>
          <p:cNvPr id="811" name="Google Shape;811;g3bced218d8f_0_41"/>
          <p:cNvSpPr/>
          <p:nvPr/>
        </p:nvSpPr>
        <p:spPr>
          <a:xfrm>
            <a:off x="4760873"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sp>
        <p:nvSpPr>
          <p:cNvPr id="812" name="Google Shape;812;g3bced218d8f_0_41"/>
          <p:cNvSpPr/>
          <p:nvPr/>
        </p:nvSpPr>
        <p:spPr>
          <a:xfrm>
            <a:off x="5812098" y="5650475"/>
            <a:ext cx="808500" cy="36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IN" sz="1200"/>
              <a:t>Rack of servers</a:t>
            </a:r>
            <a:endParaRPr b="1" sz="1200"/>
          </a:p>
        </p:txBody>
      </p:sp>
      <p:sp>
        <p:nvSpPr>
          <p:cNvPr id="813" name="Google Shape;813;g3bced218d8f_0_41"/>
          <p:cNvSpPr txBox="1"/>
          <p:nvPr/>
        </p:nvSpPr>
        <p:spPr>
          <a:xfrm>
            <a:off x="153600" y="1056375"/>
            <a:ext cx="1648200" cy="1391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IN">
                <a:solidFill>
                  <a:schemeClr val="dk1"/>
                </a:solidFill>
              </a:rPr>
              <a:t>In most leaf–spine designs: The ToR switch </a:t>
            </a:r>
            <a:r>
              <a:rPr b="1" i="1" lang="en-IN">
                <a:solidFill>
                  <a:schemeClr val="dk1"/>
                </a:solidFill>
              </a:rPr>
              <a:t>is</a:t>
            </a:r>
            <a:r>
              <a:rPr b="1" lang="en-IN">
                <a:solidFill>
                  <a:schemeClr val="dk1"/>
                </a:solidFill>
              </a:rPr>
              <a:t> the Leaf switch.</a:t>
            </a:r>
            <a:endParaRPr b="1">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bced218d8f_0_2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20" name="Google Shape;820;g3bced218d8f_0_28"/>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Leaf Spine Architecture</a:t>
            </a:r>
            <a:endParaRPr b="0" i="1" sz="1700" u="none" cap="none" strike="noStrike">
              <a:solidFill>
                <a:srgbClr val="000000"/>
              </a:solidFill>
              <a:latin typeface="Arial"/>
              <a:ea typeface="Arial"/>
              <a:cs typeface="Arial"/>
              <a:sym typeface="Arial"/>
            </a:endParaRPr>
          </a:p>
        </p:txBody>
      </p:sp>
      <p:sp>
        <p:nvSpPr>
          <p:cNvPr id="821" name="Google Shape;821;g3bced218d8f_0_28"/>
          <p:cNvSpPr txBox="1"/>
          <p:nvPr/>
        </p:nvSpPr>
        <p:spPr>
          <a:xfrm>
            <a:off x="657475" y="1607663"/>
            <a:ext cx="8028900" cy="3167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Font typeface="Arial"/>
              <a:buChar char="●"/>
            </a:pPr>
            <a:r>
              <a:rPr lang="en-IN" sz="1900">
                <a:solidFill>
                  <a:schemeClr val="dk1"/>
                </a:solidFill>
                <a:highlight>
                  <a:srgbClr val="FFFFFF"/>
                </a:highlight>
              </a:rPr>
              <a:t>The spine-leaf architecture is also known as a </a:t>
            </a:r>
            <a:r>
              <a:rPr b="1" lang="en-IN" sz="1900">
                <a:solidFill>
                  <a:srgbClr val="FF0000"/>
                </a:solidFill>
                <a:highlight>
                  <a:srgbClr val="FFFFFF"/>
                </a:highlight>
              </a:rPr>
              <a:t>Clos architecture </a:t>
            </a:r>
            <a:r>
              <a:rPr lang="en-IN" sz="1900">
                <a:solidFill>
                  <a:schemeClr val="dk1"/>
                </a:solidFill>
                <a:highlight>
                  <a:srgbClr val="FFFFFF"/>
                </a:highlight>
              </a:rPr>
              <a:t>(named after </a:t>
            </a:r>
            <a:r>
              <a:rPr b="1" lang="en-IN" sz="1900">
                <a:solidFill>
                  <a:schemeClr val="dk1"/>
                </a:solidFill>
                <a:highlight>
                  <a:srgbClr val="FFFFFF"/>
                </a:highlight>
              </a:rPr>
              <a:t>Charles Clos</a:t>
            </a:r>
            <a:r>
              <a:rPr lang="en-IN" sz="1900">
                <a:solidFill>
                  <a:schemeClr val="dk1"/>
                </a:solidFill>
                <a:highlight>
                  <a:srgbClr val="FFFFFF"/>
                </a:highlight>
              </a:rPr>
              <a:t>, a </a:t>
            </a:r>
            <a:r>
              <a:rPr b="1" lang="en-IN" sz="1900">
                <a:solidFill>
                  <a:schemeClr val="dk1"/>
                </a:solidFill>
                <a:highlight>
                  <a:srgbClr val="FFFFFF"/>
                </a:highlight>
              </a:rPr>
              <a:t>researcher at Bell</a:t>
            </a:r>
            <a:r>
              <a:rPr lang="en-IN" sz="1900">
                <a:solidFill>
                  <a:schemeClr val="dk1"/>
                </a:solidFill>
                <a:highlight>
                  <a:srgbClr val="FFFFFF"/>
                </a:highlight>
              </a:rPr>
              <a:t> Laboratories in the 1950s) where </a:t>
            </a:r>
            <a:r>
              <a:rPr b="1" lang="en-IN" sz="1900">
                <a:solidFill>
                  <a:schemeClr val="dk1"/>
                </a:solidFill>
                <a:highlight>
                  <a:srgbClr val="FFFFFF"/>
                </a:highlight>
              </a:rPr>
              <a:t>every leaf switch</a:t>
            </a:r>
            <a:r>
              <a:rPr lang="en-IN" sz="1900">
                <a:solidFill>
                  <a:schemeClr val="dk1"/>
                </a:solidFill>
                <a:highlight>
                  <a:srgbClr val="FFFFFF"/>
                </a:highlight>
              </a:rPr>
              <a:t> is connected to</a:t>
            </a:r>
            <a:r>
              <a:rPr b="1" lang="en-IN" sz="1900">
                <a:solidFill>
                  <a:schemeClr val="dk1"/>
                </a:solidFill>
                <a:highlight>
                  <a:srgbClr val="FFFF00"/>
                </a:highlight>
              </a:rPr>
              <a:t> each of the spine switch in a full-mesh topology.</a:t>
            </a:r>
            <a:r>
              <a:rPr lang="en-IN" sz="1900">
                <a:solidFill>
                  <a:schemeClr val="dk1"/>
                </a:solidFill>
                <a:highlight>
                  <a:srgbClr val="FFFFFF"/>
                </a:highlight>
              </a:rPr>
              <a:t> </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Font typeface="Arial"/>
              <a:buChar char="●"/>
            </a:pPr>
            <a:r>
              <a:rPr lang="en-IN" sz="1900">
                <a:solidFill>
                  <a:schemeClr val="dk1"/>
                </a:solidFill>
                <a:highlight>
                  <a:srgbClr val="FFFFFF"/>
                </a:highlight>
              </a:rPr>
              <a:t>The spine-leaf mesh can be implemented using either </a:t>
            </a:r>
            <a:r>
              <a:rPr b="1" lang="en-IN" sz="1900">
                <a:solidFill>
                  <a:schemeClr val="dk1"/>
                </a:solidFill>
                <a:highlight>
                  <a:srgbClr val="FFFF00"/>
                </a:highlight>
              </a:rPr>
              <a:t>Layer 2 or 3 technologies (routers and switches)</a:t>
            </a:r>
            <a:r>
              <a:rPr lang="en-IN" sz="1900">
                <a:solidFill>
                  <a:schemeClr val="dk1"/>
                </a:solidFill>
                <a:highlight>
                  <a:srgbClr val="FFFFFF"/>
                </a:highlight>
              </a:rPr>
              <a:t> depending on the capabilities available in the networking switches.</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Font typeface="Roboto"/>
              <a:buChar char="●"/>
            </a:pPr>
            <a:r>
              <a:rPr b="1" lang="en-IN" sz="1900">
                <a:solidFill>
                  <a:schemeClr val="dk1"/>
                </a:solidFill>
                <a:highlight>
                  <a:srgbClr val="FFFFFF"/>
                </a:highlight>
              </a:rPr>
              <a:t>Redundant connections to each spine</a:t>
            </a:r>
            <a:r>
              <a:rPr lang="en-IN" sz="1900">
                <a:solidFill>
                  <a:schemeClr val="dk1"/>
                </a:solidFill>
                <a:highlight>
                  <a:srgbClr val="FFFFFF"/>
                </a:highlight>
              </a:rPr>
              <a:t> </a:t>
            </a:r>
            <a:r>
              <a:rPr b="1" lang="en-IN" sz="1900">
                <a:solidFill>
                  <a:schemeClr val="dk1"/>
                </a:solidFill>
                <a:highlight>
                  <a:srgbClr val="FFFFFF"/>
                </a:highlight>
              </a:rPr>
              <a:t>minimizes the risk of </a:t>
            </a:r>
            <a:r>
              <a:rPr lang="en-IN" sz="1900">
                <a:solidFill>
                  <a:schemeClr val="dk1"/>
                </a:solidFill>
                <a:highlight>
                  <a:srgbClr val="FFFFFF"/>
                </a:highlight>
              </a:rPr>
              <a:t>overloading the links on the spine-leaf fabric</a:t>
            </a:r>
            <a:endParaRPr sz="1900">
              <a:solidFill>
                <a:schemeClr val="dk1"/>
              </a:solidFill>
              <a:highlight>
                <a:srgbClr val="FFFFFF"/>
              </a:high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3bcf12ddd78_0_36"/>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828" name="Google Shape;828;g3bcf12ddd78_0_36"/>
          <p:cNvPicPr preferRelativeResize="0"/>
          <p:nvPr/>
        </p:nvPicPr>
        <p:blipFill>
          <a:blip r:embed="rId3">
            <a:alphaModFix/>
          </a:blip>
          <a:stretch>
            <a:fillRect/>
          </a:stretch>
        </p:blipFill>
        <p:spPr>
          <a:xfrm>
            <a:off x="51875" y="952325"/>
            <a:ext cx="3600450" cy="990600"/>
          </a:xfrm>
          <a:prstGeom prst="rect">
            <a:avLst/>
          </a:prstGeom>
          <a:noFill/>
          <a:ln cap="flat" cmpd="sng" w="9525">
            <a:solidFill>
              <a:schemeClr val="dk1"/>
            </a:solidFill>
            <a:prstDash val="solid"/>
            <a:round/>
            <a:headEnd len="sm" w="sm" type="none"/>
            <a:tailEnd len="sm" w="sm" type="none"/>
          </a:ln>
        </p:spPr>
      </p:pic>
      <p:pic>
        <p:nvPicPr>
          <p:cNvPr id="829" name="Google Shape;829;g3bcf12ddd78_0_36"/>
          <p:cNvPicPr preferRelativeResize="0"/>
          <p:nvPr/>
        </p:nvPicPr>
        <p:blipFill>
          <a:blip r:embed="rId4">
            <a:alphaModFix/>
          </a:blip>
          <a:stretch>
            <a:fillRect/>
          </a:stretch>
        </p:blipFill>
        <p:spPr>
          <a:xfrm>
            <a:off x="3556350" y="1126225"/>
            <a:ext cx="2466975" cy="1114425"/>
          </a:xfrm>
          <a:prstGeom prst="rect">
            <a:avLst/>
          </a:prstGeom>
          <a:noFill/>
          <a:ln cap="flat" cmpd="sng" w="9525">
            <a:solidFill>
              <a:schemeClr val="dk1"/>
            </a:solidFill>
            <a:prstDash val="solid"/>
            <a:round/>
            <a:headEnd len="sm" w="sm" type="none"/>
            <a:tailEnd len="sm" w="sm" type="none"/>
          </a:ln>
        </p:spPr>
      </p:pic>
      <p:sp>
        <p:nvSpPr>
          <p:cNvPr id="830" name="Google Shape;830;g3bcf12ddd78_0_36"/>
          <p:cNvSpPr txBox="1"/>
          <p:nvPr/>
        </p:nvSpPr>
        <p:spPr>
          <a:xfrm>
            <a:off x="3556350" y="2402313"/>
            <a:ext cx="538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600">
                <a:solidFill>
                  <a:srgbClr val="FF0000"/>
                </a:solidFill>
              </a:rPr>
              <a:t> What if destination server is in another rack?</a:t>
            </a:r>
            <a:endParaRPr b="1" sz="1600">
              <a:solidFill>
                <a:srgbClr val="FF0000"/>
              </a:solidFill>
            </a:endParaRPr>
          </a:p>
        </p:txBody>
      </p:sp>
      <p:pic>
        <p:nvPicPr>
          <p:cNvPr id="831" name="Google Shape;831;g3bcf12ddd78_0_36"/>
          <p:cNvPicPr preferRelativeResize="0"/>
          <p:nvPr/>
        </p:nvPicPr>
        <p:blipFill>
          <a:blip r:embed="rId5">
            <a:alphaModFix/>
          </a:blip>
          <a:stretch>
            <a:fillRect/>
          </a:stretch>
        </p:blipFill>
        <p:spPr>
          <a:xfrm>
            <a:off x="3556350" y="2833425"/>
            <a:ext cx="2257425" cy="352425"/>
          </a:xfrm>
          <a:prstGeom prst="rect">
            <a:avLst/>
          </a:prstGeom>
          <a:noFill/>
          <a:ln cap="flat" cmpd="sng" w="9525">
            <a:solidFill>
              <a:schemeClr val="dk1"/>
            </a:solidFill>
            <a:prstDash val="solid"/>
            <a:round/>
            <a:headEnd len="sm" w="sm" type="none"/>
            <a:tailEnd len="sm" w="sm" type="none"/>
          </a:ln>
        </p:spPr>
      </p:pic>
      <p:pic>
        <p:nvPicPr>
          <p:cNvPr id="832" name="Google Shape;832;g3bcf12ddd78_0_36"/>
          <p:cNvPicPr preferRelativeResize="0"/>
          <p:nvPr/>
        </p:nvPicPr>
        <p:blipFill>
          <a:blip r:embed="rId6">
            <a:alphaModFix/>
          </a:blip>
          <a:stretch>
            <a:fillRect/>
          </a:stretch>
        </p:blipFill>
        <p:spPr>
          <a:xfrm>
            <a:off x="3556350" y="3292813"/>
            <a:ext cx="1238250" cy="1095375"/>
          </a:xfrm>
          <a:prstGeom prst="rect">
            <a:avLst/>
          </a:prstGeom>
          <a:noFill/>
          <a:ln cap="flat" cmpd="sng" w="9525">
            <a:solidFill>
              <a:schemeClr val="dk1"/>
            </a:solidFill>
            <a:prstDash val="solid"/>
            <a:round/>
            <a:headEnd len="sm" w="sm" type="none"/>
            <a:tailEnd len="sm" w="sm" type="none"/>
          </a:ln>
        </p:spPr>
      </p:pic>
      <p:sp>
        <p:nvSpPr>
          <p:cNvPr id="833" name="Google Shape;833;g3bcf12ddd78_0_36"/>
          <p:cNvSpPr txBox="1"/>
          <p:nvPr/>
        </p:nvSpPr>
        <p:spPr>
          <a:xfrm>
            <a:off x="6259125" y="2826962"/>
            <a:ext cx="2962200" cy="169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a:t>In a modern leaf–spine architecture, a leaf switch behaves like a router when communicating with the spine, and forwarding decisions are based on IP addresses rather than MAC flooding.</a:t>
            </a:r>
            <a:endParaRPr/>
          </a:p>
        </p:txBody>
      </p:sp>
      <p:sp>
        <p:nvSpPr>
          <p:cNvPr id="834" name="Google Shape;834;g3bcf12ddd78_0_36"/>
          <p:cNvSpPr/>
          <p:nvPr/>
        </p:nvSpPr>
        <p:spPr>
          <a:xfrm>
            <a:off x="5891100" y="2942575"/>
            <a:ext cx="290700" cy="134100"/>
          </a:xfrm>
          <a:prstGeom prst="right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35" name="Google Shape;835;g3bcf12ddd78_0_36"/>
          <p:cNvPicPr preferRelativeResize="0"/>
          <p:nvPr/>
        </p:nvPicPr>
        <p:blipFill>
          <a:blip r:embed="rId7">
            <a:alphaModFix/>
          </a:blip>
          <a:stretch>
            <a:fillRect/>
          </a:stretch>
        </p:blipFill>
        <p:spPr>
          <a:xfrm>
            <a:off x="3197352" y="4718699"/>
            <a:ext cx="3487347" cy="2139300"/>
          </a:xfrm>
          <a:prstGeom prst="rect">
            <a:avLst/>
          </a:prstGeom>
          <a:noFill/>
          <a:ln cap="flat" cmpd="sng" w="9525">
            <a:solidFill>
              <a:schemeClr val="dk1"/>
            </a:solidFill>
            <a:prstDash val="solid"/>
            <a:round/>
            <a:headEnd len="sm" w="sm" type="none"/>
            <a:tailEnd len="sm" w="sm" type="none"/>
          </a:ln>
        </p:spPr>
      </p:pic>
      <p:sp>
        <p:nvSpPr>
          <p:cNvPr id="836" name="Google Shape;836;g3bcf12ddd78_0_36"/>
          <p:cNvSpPr txBox="1"/>
          <p:nvPr/>
        </p:nvSpPr>
        <p:spPr>
          <a:xfrm>
            <a:off x="352100" y="2826950"/>
            <a:ext cx="3000000" cy="708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sz="1700"/>
              <a:t>STEP-BY-STEP </a:t>
            </a:r>
            <a:r>
              <a:rPr b="1" lang="en-IN" sz="1700"/>
              <a:t>Traffic</a:t>
            </a:r>
            <a:r>
              <a:rPr b="1" lang="en-IN" sz="1700"/>
              <a:t> Flow</a:t>
            </a:r>
            <a:endParaRPr b="1"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bcf12ddd78_0_6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43" name="Google Shape;843;g3bcf12ddd78_0_64"/>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Leaf Spine Architecture Advantages</a:t>
            </a:r>
            <a:endParaRPr b="0" i="1" sz="1700" u="none" cap="none" strike="noStrike">
              <a:solidFill>
                <a:srgbClr val="000000"/>
              </a:solidFill>
              <a:latin typeface="Arial"/>
              <a:ea typeface="Arial"/>
              <a:cs typeface="Arial"/>
              <a:sym typeface="Arial"/>
            </a:endParaRPr>
          </a:p>
        </p:txBody>
      </p:sp>
      <p:sp>
        <p:nvSpPr>
          <p:cNvPr id="844" name="Google Shape;844;g3bcf12ddd78_0_64"/>
          <p:cNvSpPr txBox="1"/>
          <p:nvPr/>
        </p:nvSpPr>
        <p:spPr>
          <a:xfrm>
            <a:off x="657475" y="1607663"/>
            <a:ext cx="8028900" cy="3321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IN" sz="1900">
                <a:solidFill>
                  <a:schemeClr val="dk1"/>
                </a:solidFill>
                <a:highlight>
                  <a:srgbClr val="FFFFFF"/>
                </a:highlight>
              </a:rPr>
              <a:t>The spine-leaf architecture is optimized for </a:t>
            </a:r>
            <a:r>
              <a:rPr b="1" lang="en-IN" sz="1900">
                <a:solidFill>
                  <a:schemeClr val="dk1"/>
                </a:solidFill>
                <a:highlight>
                  <a:srgbClr val="FFFF00"/>
                </a:highlight>
              </a:rPr>
              <a:t>east-west traffic</a:t>
            </a:r>
            <a:r>
              <a:rPr lang="en-IN" sz="1900">
                <a:solidFill>
                  <a:schemeClr val="dk1"/>
                </a:solidFill>
                <a:highlight>
                  <a:srgbClr val="FFFFFF"/>
                </a:highlight>
              </a:rPr>
              <a:t> that is required by most software defined solutions. The advantages of this approach are:</a:t>
            </a:r>
            <a:endParaRPr sz="1900">
              <a:solidFill>
                <a:schemeClr val="dk1"/>
              </a:solidFill>
              <a:highlight>
                <a:srgbClr val="FFFFFF"/>
              </a:highlight>
            </a:endParaRPr>
          </a:p>
          <a:p>
            <a:pPr indent="-349250" lvl="0" marL="457200" rtl="0" algn="l">
              <a:lnSpc>
                <a:spcPct val="115000"/>
              </a:lnSpc>
              <a:spcBef>
                <a:spcPts val="1200"/>
              </a:spcBef>
              <a:spcAft>
                <a:spcPts val="0"/>
              </a:spcAft>
              <a:buClr>
                <a:schemeClr val="dk1"/>
              </a:buClr>
              <a:buSzPts val="1900"/>
              <a:buFont typeface="Roboto"/>
              <a:buChar char="●"/>
            </a:pPr>
            <a:r>
              <a:rPr lang="en-IN" sz="1900">
                <a:solidFill>
                  <a:schemeClr val="dk1"/>
                </a:solidFill>
                <a:highlight>
                  <a:srgbClr val="FFFFFF"/>
                </a:highlight>
              </a:rPr>
              <a:t> All interconnections are used and there is </a:t>
            </a:r>
            <a:r>
              <a:rPr b="1" lang="en-IN" sz="1900">
                <a:solidFill>
                  <a:schemeClr val="dk1"/>
                </a:solidFill>
                <a:highlight>
                  <a:srgbClr val="FFFF00"/>
                </a:highlight>
              </a:rPr>
              <a:t>no need for STP to block loops</a:t>
            </a:r>
            <a:endParaRPr b="1" sz="1900">
              <a:solidFill>
                <a:schemeClr val="dk1"/>
              </a:solidFill>
              <a:highlight>
                <a:srgbClr val="FFFF00"/>
              </a:highlight>
            </a:endParaRPr>
          </a:p>
          <a:p>
            <a:pPr indent="-349250" lvl="0" marL="457200" rtl="0" algn="l">
              <a:lnSpc>
                <a:spcPct val="115000"/>
              </a:lnSpc>
              <a:spcBef>
                <a:spcPts val="0"/>
              </a:spcBef>
              <a:spcAft>
                <a:spcPts val="0"/>
              </a:spcAft>
              <a:buClr>
                <a:schemeClr val="dk1"/>
              </a:buClr>
              <a:buSzPts val="1900"/>
              <a:buFont typeface="Roboto"/>
              <a:buChar char="●"/>
            </a:pPr>
            <a:r>
              <a:rPr lang="en-IN" sz="1900">
                <a:solidFill>
                  <a:schemeClr val="dk1"/>
                </a:solidFill>
                <a:highlight>
                  <a:srgbClr val="FFFFFF"/>
                </a:highlight>
              </a:rPr>
              <a:t>All </a:t>
            </a:r>
            <a:r>
              <a:rPr b="1" lang="en-IN" sz="1900">
                <a:solidFill>
                  <a:schemeClr val="dk1"/>
                </a:solidFill>
                <a:highlight>
                  <a:srgbClr val="FFFF00"/>
                </a:highlight>
              </a:rPr>
              <a:t>east-west traffic</a:t>
            </a:r>
            <a:r>
              <a:rPr lang="en-IN" sz="1900">
                <a:solidFill>
                  <a:schemeClr val="dk1"/>
                </a:solidFill>
                <a:highlight>
                  <a:srgbClr val="FFFFFF"/>
                </a:highlight>
              </a:rPr>
              <a:t> is </a:t>
            </a:r>
            <a:r>
              <a:rPr b="1" lang="en-IN" sz="1900">
                <a:solidFill>
                  <a:schemeClr val="dk1"/>
                </a:solidFill>
                <a:highlight>
                  <a:srgbClr val="FFFF00"/>
                </a:highlight>
              </a:rPr>
              <a:t>equidistant </a:t>
            </a:r>
            <a:r>
              <a:rPr lang="en-IN" sz="1900">
                <a:solidFill>
                  <a:schemeClr val="dk1"/>
                </a:solidFill>
                <a:highlight>
                  <a:srgbClr val="FFFFFF"/>
                </a:highlight>
              </a:rPr>
              <a:t>so traffic flow has deterministic latency</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Font typeface="Roboto"/>
              <a:buChar char="●"/>
            </a:pPr>
            <a:r>
              <a:rPr lang="en-IN" sz="1900">
                <a:solidFill>
                  <a:schemeClr val="dk1"/>
                </a:solidFill>
                <a:highlight>
                  <a:srgbClr val="FFFFFF"/>
                </a:highlight>
              </a:rPr>
              <a:t> </a:t>
            </a:r>
            <a:r>
              <a:rPr b="1" lang="en-IN" sz="1900">
                <a:solidFill>
                  <a:schemeClr val="dk1"/>
                </a:solidFill>
                <a:highlight>
                  <a:srgbClr val="FFFF00"/>
                </a:highlight>
              </a:rPr>
              <a:t>Switch configuration</a:t>
            </a:r>
            <a:r>
              <a:rPr lang="en-IN" sz="1900">
                <a:solidFill>
                  <a:schemeClr val="dk1"/>
                </a:solidFill>
                <a:highlight>
                  <a:srgbClr val="FFFFFF"/>
                </a:highlight>
              </a:rPr>
              <a:t> is </a:t>
            </a:r>
            <a:r>
              <a:rPr b="1" lang="en-IN" sz="1900">
                <a:solidFill>
                  <a:schemeClr val="dk1"/>
                </a:solidFill>
                <a:highlight>
                  <a:srgbClr val="FFFF00"/>
                </a:highlight>
              </a:rPr>
              <a:t>fixed </a:t>
            </a:r>
            <a:r>
              <a:rPr lang="en-IN" sz="1900">
                <a:solidFill>
                  <a:schemeClr val="dk1"/>
                </a:solidFill>
                <a:highlight>
                  <a:srgbClr val="FFFFFF"/>
                </a:highlight>
              </a:rPr>
              <a:t>so that no network changes are required for a dynamic server environment</a:t>
            </a:r>
            <a:endParaRPr sz="1900">
              <a:solidFill>
                <a:schemeClr val="dk1"/>
              </a:solidFill>
              <a:highlight>
                <a:srgbClr val="FFFFFF"/>
              </a:high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g3bcf12ddd78_0_7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51" name="Google Shape;851;g3bcf12ddd78_0_71"/>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Leaf Spine Architecture Disadvantages</a:t>
            </a:r>
            <a:endParaRPr b="0" i="1" sz="1700" u="none" cap="none" strike="noStrike">
              <a:solidFill>
                <a:srgbClr val="000000"/>
              </a:solidFill>
              <a:latin typeface="Arial"/>
              <a:ea typeface="Arial"/>
              <a:cs typeface="Arial"/>
              <a:sym typeface="Arial"/>
            </a:endParaRPr>
          </a:p>
        </p:txBody>
      </p:sp>
      <p:sp>
        <p:nvSpPr>
          <p:cNvPr id="852" name="Google Shape;852;g3bcf12ddd78_0_71"/>
          <p:cNvSpPr txBox="1"/>
          <p:nvPr/>
        </p:nvSpPr>
        <p:spPr>
          <a:xfrm>
            <a:off x="657475" y="1607663"/>
            <a:ext cx="8028900" cy="362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AutoNum type="arabicPeriod"/>
            </a:pPr>
            <a:r>
              <a:rPr b="1" lang="en-IN" sz="1900">
                <a:highlight>
                  <a:srgbClr val="FFFF00"/>
                </a:highlight>
              </a:rPr>
              <a:t>Amount of cables and network equipment</a:t>
            </a:r>
            <a:r>
              <a:rPr lang="en-IN" sz="1900">
                <a:solidFill>
                  <a:schemeClr val="dk1"/>
                </a:solidFill>
                <a:highlight>
                  <a:srgbClr val="FFFFFF"/>
                </a:highlight>
              </a:rPr>
              <a:t> required to scale the bandwidth since </a:t>
            </a:r>
            <a:r>
              <a:rPr b="1" lang="en-IN" sz="1900">
                <a:solidFill>
                  <a:schemeClr val="dk1"/>
                </a:solidFill>
                <a:highlight>
                  <a:srgbClr val="FFFFFF"/>
                </a:highlight>
              </a:rPr>
              <a:t>each leaf </a:t>
            </a:r>
            <a:r>
              <a:rPr lang="en-IN" sz="1900">
                <a:solidFill>
                  <a:schemeClr val="dk1"/>
                </a:solidFill>
                <a:highlight>
                  <a:srgbClr val="FFFFFF"/>
                </a:highlight>
              </a:rPr>
              <a:t>must be </a:t>
            </a:r>
            <a:r>
              <a:rPr b="1" lang="en-IN" sz="1900">
                <a:solidFill>
                  <a:schemeClr val="dk1"/>
                </a:solidFill>
                <a:highlight>
                  <a:srgbClr val="FFFFFF"/>
                </a:highlight>
              </a:rPr>
              <a:t>connected to every spine device</a:t>
            </a:r>
            <a:r>
              <a:rPr lang="en-IN" sz="1900">
                <a:solidFill>
                  <a:schemeClr val="dk1"/>
                </a:solidFill>
                <a:highlight>
                  <a:srgbClr val="FFFFFF"/>
                </a:highlight>
              </a:rPr>
              <a:t>.</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AutoNum type="arabicPeriod"/>
            </a:pPr>
            <a:r>
              <a:rPr lang="en-IN" sz="1900">
                <a:solidFill>
                  <a:schemeClr val="dk1"/>
                </a:solidFill>
                <a:highlight>
                  <a:srgbClr val="FFFFFF"/>
                </a:highlight>
              </a:rPr>
              <a:t>Limited spine </a:t>
            </a:r>
            <a:r>
              <a:rPr lang="en-IN" sz="1900">
                <a:solidFill>
                  <a:schemeClr val="dk1"/>
                </a:solidFill>
                <a:highlight>
                  <a:srgbClr val="FFFFFF"/>
                </a:highlight>
              </a:rPr>
              <a:t>ports can lead to limited switch connections - further can limit no. of hosts</a:t>
            </a:r>
            <a:endParaRPr sz="1900">
              <a:solidFill>
                <a:schemeClr val="dk1"/>
              </a:solidFill>
              <a:highlight>
                <a:srgbClr val="FFFFFF"/>
              </a:highlight>
            </a:endParaRPr>
          </a:p>
          <a:p>
            <a:pPr indent="-349250" lvl="0" marL="457200" rtl="0" algn="l">
              <a:lnSpc>
                <a:spcPct val="115000"/>
              </a:lnSpc>
              <a:spcBef>
                <a:spcPts val="0"/>
              </a:spcBef>
              <a:spcAft>
                <a:spcPts val="0"/>
              </a:spcAft>
              <a:buClr>
                <a:schemeClr val="dk1"/>
              </a:buClr>
              <a:buSzPts val="1900"/>
              <a:buAutoNum type="arabicPeriod"/>
            </a:pPr>
            <a:r>
              <a:rPr b="1" lang="en-IN" sz="1900">
                <a:solidFill>
                  <a:schemeClr val="dk1"/>
                </a:solidFill>
                <a:highlight>
                  <a:srgbClr val="FFFF00"/>
                </a:highlight>
              </a:rPr>
              <a:t>Oversubscription situation needs to be checked-</a:t>
            </a:r>
            <a:endParaRPr sz="1900">
              <a:solidFill>
                <a:schemeClr val="dk1"/>
              </a:solidFill>
              <a:highlight>
                <a:srgbClr val="FFFFFF"/>
              </a:highlight>
            </a:endParaRPr>
          </a:p>
          <a:p>
            <a:pPr indent="0" lvl="0" marL="0" rtl="0" algn="l">
              <a:lnSpc>
                <a:spcPct val="115000"/>
              </a:lnSpc>
              <a:spcBef>
                <a:spcPts val="1200"/>
              </a:spcBef>
              <a:spcAft>
                <a:spcPts val="0"/>
              </a:spcAft>
              <a:buNone/>
            </a:pPr>
            <a:r>
              <a:rPr lang="en-IN" sz="1900">
                <a:solidFill>
                  <a:schemeClr val="dk1"/>
                </a:solidFill>
                <a:highlight>
                  <a:srgbClr val="FFFFFF"/>
                </a:highlight>
              </a:rPr>
              <a:t>      Example- Leaf has 10 servers × 10 Gbps = 100 Gbps</a:t>
            </a:r>
            <a:endParaRPr sz="1900">
              <a:solidFill>
                <a:schemeClr val="dk1"/>
              </a:solidFill>
              <a:highlight>
                <a:srgbClr val="FFFFFF"/>
              </a:highlight>
            </a:endParaRPr>
          </a:p>
          <a:p>
            <a:pPr indent="0" lvl="0" marL="0" rtl="0" algn="l">
              <a:lnSpc>
                <a:spcPct val="115000"/>
              </a:lnSpc>
              <a:spcBef>
                <a:spcPts val="1200"/>
              </a:spcBef>
              <a:spcAft>
                <a:spcPts val="0"/>
              </a:spcAft>
              <a:buNone/>
            </a:pPr>
            <a:r>
              <a:rPr lang="en-IN" sz="1900">
                <a:solidFill>
                  <a:schemeClr val="dk1"/>
                </a:solidFill>
                <a:highlight>
                  <a:srgbClr val="FFFFFF"/>
                </a:highlight>
              </a:rPr>
              <a:t>                      Leaf uplinks to spine = 20 Gbps</a:t>
            </a:r>
            <a:endParaRPr sz="1900">
              <a:solidFill>
                <a:schemeClr val="dk1"/>
              </a:solidFill>
              <a:highlight>
                <a:srgbClr val="FFFFFF"/>
              </a:highlight>
            </a:endParaRPr>
          </a:p>
          <a:p>
            <a:pPr indent="0" lvl="0" marL="0" rtl="0" algn="l">
              <a:lnSpc>
                <a:spcPct val="115000"/>
              </a:lnSpc>
              <a:spcBef>
                <a:spcPts val="1200"/>
              </a:spcBef>
              <a:spcAft>
                <a:spcPts val="1200"/>
              </a:spcAft>
              <a:buNone/>
            </a:pPr>
            <a:r>
              <a:rPr lang="en-IN" sz="1900">
                <a:solidFill>
                  <a:schemeClr val="dk1"/>
                </a:solidFill>
                <a:highlight>
                  <a:srgbClr val="FFFFFF"/>
                </a:highlight>
              </a:rPr>
              <a:t>                      Oversubscription = 100 : 20 = 5 : 1</a:t>
            </a:r>
            <a:endParaRPr sz="1900">
              <a:solidFill>
                <a:schemeClr val="dk1"/>
              </a:solidFill>
              <a:highlight>
                <a:srgbClr val="FFFFFF"/>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7" name="Shape 857"/>
        <p:cNvGrpSpPr/>
        <p:nvPr/>
      </p:nvGrpSpPr>
      <p:grpSpPr>
        <a:xfrm>
          <a:off x="0" y="0"/>
          <a:ext cx="0" cy="0"/>
          <a:chOff x="0" y="0"/>
          <a:chExt cx="0" cy="0"/>
        </a:xfrm>
      </p:grpSpPr>
      <p:sp>
        <p:nvSpPr>
          <p:cNvPr id="858" name="Google Shape;858;g3c2c8891362_0_8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59" name="Google Shape;859;g3c2c8891362_0_84"/>
          <p:cNvSpPr/>
          <p:nvPr/>
        </p:nvSpPr>
        <p:spPr>
          <a:xfrm>
            <a:off x="495600" y="238629"/>
            <a:ext cx="8152800" cy="99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8. Network Topologies of Data Center</a:t>
            </a:r>
            <a:endParaRPr b="0" i="0" sz="3000" u="none" cap="none" strike="noStrike">
              <a:solidFill>
                <a:srgbClr val="000000"/>
              </a:solidFill>
              <a:latin typeface="Arial"/>
              <a:ea typeface="Arial"/>
              <a:cs typeface="Arial"/>
              <a:sym typeface="Arial"/>
            </a:endParaRPr>
          </a:p>
        </p:txBody>
      </p:sp>
      <p:pic>
        <p:nvPicPr>
          <p:cNvPr id="860" name="Google Shape;860;g3c2c8891362_0_84"/>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861" name="Google Shape;861;g3c2c8891362_0_84"/>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862" name="Google Shape;862;g3c2c8891362_0_84"/>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863" name="Google Shape;863;g3c2c8891362_0_84"/>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pic>
        <p:nvPicPr>
          <p:cNvPr id="864" name="Google Shape;864;g3c2c8891362_0_84"/>
          <p:cNvPicPr preferRelativeResize="0"/>
          <p:nvPr/>
        </p:nvPicPr>
        <p:blipFill>
          <a:blip r:embed="rId7">
            <a:alphaModFix/>
          </a:blip>
          <a:stretch>
            <a:fillRect/>
          </a:stretch>
        </p:blipFill>
        <p:spPr>
          <a:xfrm>
            <a:off x="0" y="1634637"/>
            <a:ext cx="9143999" cy="35887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bcf12ddd78_0_8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71" name="Google Shape;871;g3bcf12ddd78_0_80"/>
          <p:cNvSpPr/>
          <p:nvPr/>
        </p:nvSpPr>
        <p:spPr>
          <a:xfrm>
            <a:off x="495600" y="2494550"/>
            <a:ext cx="8152800" cy="16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1" lang="en-IN" sz="2800">
                <a:solidFill>
                  <a:srgbClr val="FF0000"/>
                </a:solidFill>
              </a:rPr>
              <a:t>9</a:t>
            </a:r>
            <a:r>
              <a:rPr b="1" i="1" lang="en-IN" sz="2800">
                <a:solidFill>
                  <a:srgbClr val="FF0000"/>
                </a:solidFill>
              </a:rPr>
              <a:t>. FAT TREE TOPOLOGY</a:t>
            </a:r>
            <a:endParaRPr b="0" i="1" sz="2900" u="none" cap="none" strike="noStrike">
              <a:solidFill>
                <a:srgbClr val="000000"/>
              </a:solidFill>
              <a:latin typeface="Arial"/>
              <a:ea typeface="Arial"/>
              <a:cs typeface="Arial"/>
              <a:sym typeface="Arial"/>
            </a:endParaRPr>
          </a:p>
        </p:txBody>
      </p:sp>
      <p:pic>
        <p:nvPicPr>
          <p:cNvPr id="872" name="Google Shape;872;g3bcf12ddd78_0_8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873" name="Google Shape;873;g3bcf12ddd78_0_8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874" name="Google Shape;874;g3bcf12ddd78_0_8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875" name="Google Shape;875;g3bcf12ddd78_0_8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cf12ddd78_0_90"/>
          <p:cNvSpPr txBox="1"/>
          <p:nvPr>
            <p:ph type="title"/>
          </p:nvPr>
        </p:nvSpPr>
        <p:spPr>
          <a:xfrm>
            <a:off x="457200" y="274680"/>
            <a:ext cx="8229300" cy="114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882" name="Google Shape;882;g3bcf12ddd78_0_90"/>
          <p:cNvSpPr txBox="1"/>
          <p:nvPr>
            <p:ph idx="1" type="body"/>
          </p:nvPr>
        </p:nvSpPr>
        <p:spPr>
          <a:xfrm>
            <a:off x="457200" y="1600200"/>
            <a:ext cx="8229300" cy="4525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83" name="Google Shape;883;g3bcf12ddd78_0_9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884" name="Google Shape;884;g3bcf12ddd78_0_90"/>
          <p:cNvPicPr preferRelativeResize="0"/>
          <p:nvPr/>
        </p:nvPicPr>
        <p:blipFill>
          <a:blip r:embed="rId3">
            <a:alphaModFix/>
          </a:blip>
          <a:stretch>
            <a:fillRect/>
          </a:stretch>
        </p:blipFill>
        <p:spPr>
          <a:xfrm>
            <a:off x="0" y="7829"/>
            <a:ext cx="9144000" cy="684234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c68390414e_0_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891" name="Google Shape;891;g3c68390414e_0_0"/>
          <p:cNvSpPr/>
          <p:nvPr/>
        </p:nvSpPr>
        <p:spPr>
          <a:xfrm>
            <a:off x="495600" y="2494550"/>
            <a:ext cx="8152800" cy="16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1" lang="en-IN" sz="2800">
                <a:solidFill>
                  <a:srgbClr val="FF0000"/>
                </a:solidFill>
              </a:rPr>
              <a:t>QUICK SUMMARY</a:t>
            </a:r>
            <a:endParaRPr b="0" i="1" sz="2900" u="none" cap="none" strike="noStrike">
              <a:solidFill>
                <a:srgbClr val="000000"/>
              </a:solidFill>
              <a:latin typeface="Arial"/>
              <a:ea typeface="Arial"/>
              <a:cs typeface="Arial"/>
              <a:sym typeface="Arial"/>
            </a:endParaRPr>
          </a:p>
        </p:txBody>
      </p:sp>
      <p:pic>
        <p:nvPicPr>
          <p:cNvPr id="892" name="Google Shape;892;g3c68390414e_0_0"/>
          <p:cNvPicPr preferRelativeResize="0"/>
          <p:nvPr/>
        </p:nvPicPr>
        <p:blipFill rotWithShape="1">
          <a:blip r:embed="rId3">
            <a:alphaModFix/>
          </a:blip>
          <a:srcRect b="0" l="0" r="0" t="0"/>
          <a:stretch/>
        </p:blipFill>
        <p:spPr>
          <a:xfrm>
            <a:off x="-33480" y="6492960"/>
            <a:ext cx="9177120" cy="385560"/>
          </a:xfrm>
          <a:prstGeom prst="rect">
            <a:avLst/>
          </a:prstGeom>
          <a:noFill/>
          <a:ln>
            <a:noFill/>
          </a:ln>
        </p:spPr>
      </p:pic>
      <p:pic>
        <p:nvPicPr>
          <p:cNvPr id="893" name="Google Shape;893;g3c68390414e_0_0"/>
          <p:cNvPicPr preferRelativeResize="0"/>
          <p:nvPr/>
        </p:nvPicPr>
        <p:blipFill rotWithShape="1">
          <a:blip r:embed="rId4">
            <a:alphaModFix/>
          </a:blip>
          <a:srcRect b="0" l="0" r="0" t="0"/>
          <a:stretch/>
        </p:blipFill>
        <p:spPr>
          <a:xfrm>
            <a:off x="-33480" y="6332400"/>
            <a:ext cx="6998761" cy="175680"/>
          </a:xfrm>
          <a:prstGeom prst="rect">
            <a:avLst/>
          </a:prstGeom>
          <a:noFill/>
          <a:ln>
            <a:noFill/>
          </a:ln>
        </p:spPr>
      </p:pic>
      <p:pic>
        <p:nvPicPr>
          <p:cNvPr descr="A picture containing drawing&#10;&#10;Description automatically generated" id="894" name="Google Shape;894;g3c68390414e_0_0"/>
          <p:cNvPicPr preferRelativeResize="0"/>
          <p:nvPr/>
        </p:nvPicPr>
        <p:blipFill rotWithShape="1">
          <a:blip r:embed="rId5">
            <a:alphaModFix/>
          </a:blip>
          <a:srcRect b="0" l="0" r="0" t="0"/>
          <a:stretch/>
        </p:blipFill>
        <p:spPr>
          <a:xfrm>
            <a:off x="0" y="5932075"/>
            <a:ext cx="1699200" cy="424440"/>
          </a:xfrm>
          <a:prstGeom prst="rect">
            <a:avLst/>
          </a:prstGeom>
          <a:noFill/>
          <a:ln>
            <a:noFill/>
          </a:ln>
        </p:spPr>
      </p:pic>
      <p:pic>
        <p:nvPicPr>
          <p:cNvPr descr="A close up of a sign&#10;&#10;Description automatically generated" id="895" name="Google Shape;895;g3c68390414e_0_0"/>
          <p:cNvPicPr preferRelativeResize="0"/>
          <p:nvPr/>
        </p:nvPicPr>
        <p:blipFill rotWithShape="1">
          <a:blip r:embed="rId6">
            <a:alphaModFix/>
          </a:blip>
          <a:srcRect b="0" l="0" r="0" t="0"/>
          <a:stretch/>
        </p:blipFill>
        <p:spPr>
          <a:xfrm>
            <a:off x="8307720" y="5907970"/>
            <a:ext cx="654840" cy="42444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c68390414e_0_3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902" name="Google Shape;902;g3c68390414e_0_35"/>
          <p:cNvPicPr preferRelativeResize="0"/>
          <p:nvPr/>
        </p:nvPicPr>
        <p:blipFill>
          <a:blip r:embed="rId3">
            <a:alphaModFix/>
          </a:blip>
          <a:stretch>
            <a:fillRect/>
          </a:stretch>
        </p:blipFill>
        <p:spPr>
          <a:xfrm>
            <a:off x="533850" y="681325"/>
            <a:ext cx="8215299" cy="1553575"/>
          </a:xfrm>
          <a:prstGeom prst="rect">
            <a:avLst/>
          </a:prstGeom>
          <a:noFill/>
          <a:ln cap="flat" cmpd="sng" w="9525">
            <a:solidFill>
              <a:schemeClr val="dk1"/>
            </a:solidFill>
            <a:prstDash val="solid"/>
            <a:round/>
            <a:headEnd len="sm" w="sm" type="none"/>
            <a:tailEnd len="sm" w="sm" type="none"/>
          </a:ln>
        </p:spPr>
      </p:pic>
      <p:pic>
        <p:nvPicPr>
          <p:cNvPr id="903" name="Google Shape;903;g3c68390414e_0_35"/>
          <p:cNvPicPr preferRelativeResize="0"/>
          <p:nvPr/>
        </p:nvPicPr>
        <p:blipFill>
          <a:blip r:embed="rId4">
            <a:alphaModFix/>
          </a:blip>
          <a:stretch>
            <a:fillRect/>
          </a:stretch>
        </p:blipFill>
        <p:spPr>
          <a:xfrm>
            <a:off x="533850" y="2791951"/>
            <a:ext cx="8076301" cy="3294825"/>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g3c68390414e_0_4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910" name="Google Shape;910;g3c68390414e_0_47"/>
          <p:cNvPicPr preferRelativeResize="0"/>
          <p:nvPr/>
        </p:nvPicPr>
        <p:blipFill>
          <a:blip r:embed="rId3">
            <a:alphaModFix/>
          </a:blip>
          <a:stretch>
            <a:fillRect/>
          </a:stretch>
        </p:blipFill>
        <p:spPr>
          <a:xfrm>
            <a:off x="152400" y="152400"/>
            <a:ext cx="8839199" cy="4096870"/>
          </a:xfrm>
          <a:prstGeom prst="rect">
            <a:avLst/>
          </a:prstGeom>
          <a:noFill/>
          <a:ln cap="flat" cmpd="sng" w="9525">
            <a:solidFill>
              <a:schemeClr val="dk1"/>
            </a:solidFill>
            <a:prstDash val="solid"/>
            <a:round/>
            <a:headEnd len="sm" w="sm" type="none"/>
            <a:tailEnd len="sm" w="sm" type="none"/>
          </a:ln>
        </p:spPr>
      </p:pic>
      <p:pic>
        <p:nvPicPr>
          <p:cNvPr id="911" name="Google Shape;911;g3c68390414e_0_47"/>
          <p:cNvPicPr preferRelativeResize="0"/>
          <p:nvPr/>
        </p:nvPicPr>
        <p:blipFill>
          <a:blip r:embed="rId4">
            <a:alphaModFix/>
          </a:blip>
          <a:stretch>
            <a:fillRect/>
          </a:stretch>
        </p:blipFill>
        <p:spPr>
          <a:xfrm>
            <a:off x="152400" y="4401676"/>
            <a:ext cx="8839200" cy="2176079"/>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c68390414e_0_6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18" name="Google Shape;918;g3c68390414e_0_63"/>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Specifications</a:t>
            </a:r>
            <a:endParaRPr b="0" i="1" sz="1700" u="none" cap="none" strike="noStrike">
              <a:solidFill>
                <a:srgbClr val="000000"/>
              </a:solidFill>
              <a:latin typeface="Arial"/>
              <a:ea typeface="Arial"/>
              <a:cs typeface="Arial"/>
              <a:sym typeface="Arial"/>
            </a:endParaRPr>
          </a:p>
        </p:txBody>
      </p:sp>
      <p:sp>
        <p:nvSpPr>
          <p:cNvPr id="919" name="Google Shape;919;g3c68390414e_0_63"/>
          <p:cNvSpPr txBox="1"/>
          <p:nvPr/>
        </p:nvSpPr>
        <p:spPr>
          <a:xfrm>
            <a:off x="657475" y="1630074"/>
            <a:ext cx="8028900" cy="4596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highlight>
                  <a:srgbClr val="FFFFFF"/>
                </a:highlight>
              </a:rPr>
              <a:t>The datacenter network is run by a </a:t>
            </a:r>
            <a:r>
              <a:rPr b="1" lang="en-IN" sz="2100">
                <a:solidFill>
                  <a:srgbClr val="FF0000"/>
                </a:solidFill>
                <a:highlight>
                  <a:srgbClr val="FFFFFF"/>
                </a:highlight>
              </a:rPr>
              <a:t>single organization</a:t>
            </a:r>
            <a:endParaRPr b="1" sz="2100">
              <a:solidFill>
                <a:srgbClr val="FF0000"/>
              </a:solidFill>
              <a:highlight>
                <a:srgbClr val="FFFFFF"/>
              </a:highlight>
            </a:endParaRPr>
          </a:p>
          <a:p>
            <a:pPr indent="-361950" lvl="0" marL="457200" rtl="0" algn="l">
              <a:lnSpc>
                <a:spcPct val="115000"/>
              </a:lnSpc>
              <a:spcBef>
                <a:spcPts val="0"/>
              </a:spcBef>
              <a:spcAft>
                <a:spcPts val="0"/>
              </a:spcAft>
              <a:buClr>
                <a:schemeClr val="dk1"/>
              </a:buClr>
              <a:buSzPts val="2100"/>
              <a:buAutoNum type="arabicPeriod"/>
            </a:pPr>
            <a:r>
              <a:rPr b="1" lang="en-IN" sz="2100">
                <a:solidFill>
                  <a:srgbClr val="FF0000"/>
                </a:solidFill>
                <a:highlight>
                  <a:srgbClr val="FFFFFF"/>
                </a:highlight>
              </a:rPr>
              <a:t>Custom hardware or softwar</a:t>
            </a:r>
            <a:r>
              <a:rPr b="1" lang="en-IN" sz="2100">
                <a:solidFill>
                  <a:srgbClr val="FF0000"/>
                </a:solidFill>
                <a:highlight>
                  <a:srgbClr val="FFFFFF"/>
                </a:highlight>
              </a:rPr>
              <a:t>e</a:t>
            </a:r>
            <a:r>
              <a:rPr lang="en-IN" sz="2100">
                <a:solidFill>
                  <a:schemeClr val="dk1"/>
                </a:solidFill>
                <a:highlight>
                  <a:srgbClr val="FFFFFF"/>
                </a:highlight>
              </a:rPr>
              <a:t> can be implemented</a:t>
            </a:r>
            <a:endParaRPr sz="2100">
              <a:solidFill>
                <a:schemeClr val="dk1"/>
              </a:solidFill>
              <a:highlight>
                <a:srgbClr val="FFFFFF"/>
              </a:highlight>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highlight>
                  <a:srgbClr val="FFFFFF"/>
                </a:highlight>
              </a:rPr>
              <a:t>Datacenters are </a:t>
            </a:r>
            <a:r>
              <a:rPr b="1" lang="en-IN" sz="2100">
                <a:solidFill>
                  <a:srgbClr val="FF0000"/>
                </a:solidFill>
                <a:highlight>
                  <a:srgbClr val="FFFFFF"/>
                </a:highlight>
              </a:rPr>
              <a:t>homogeneous</a:t>
            </a:r>
            <a:r>
              <a:rPr lang="en-IN" sz="2100">
                <a:solidFill>
                  <a:schemeClr val="dk1"/>
                </a:solidFill>
                <a:highlight>
                  <a:srgbClr val="FFFFFF"/>
                </a:highlight>
              </a:rPr>
              <a:t>, where every server and switch is built and operated exactly the same.</a:t>
            </a:r>
            <a:endParaRPr sz="2100">
              <a:solidFill>
                <a:schemeClr val="dk1"/>
              </a:solidFill>
              <a:highlight>
                <a:srgbClr val="FFFFFF"/>
              </a:highlight>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highlight>
                  <a:srgbClr val="FFFFFF"/>
                </a:highlight>
              </a:rPr>
              <a:t>some computers might be newer than others, but in a datacenter, every computer is usually part of the same generation, and the </a:t>
            </a:r>
            <a:r>
              <a:rPr b="1" lang="en-IN" sz="2100">
                <a:solidFill>
                  <a:srgbClr val="FF0000"/>
                </a:solidFill>
                <a:highlight>
                  <a:srgbClr val="FFFFFF"/>
                </a:highlight>
              </a:rPr>
              <a:t>entire datacenter is upgraded at the same time</a:t>
            </a:r>
            <a:r>
              <a:rPr lang="en-IN" sz="2100">
                <a:solidFill>
                  <a:schemeClr val="dk1"/>
                </a:solidFill>
                <a:highlight>
                  <a:srgbClr val="FFFFFF"/>
                </a:highlight>
              </a:rPr>
              <a:t>.</a:t>
            </a:r>
            <a:endParaRPr sz="2100">
              <a:solidFill>
                <a:schemeClr val="dk1"/>
              </a:solidFill>
              <a:highlight>
                <a:srgbClr val="FFFFFF"/>
              </a:highlight>
            </a:endParaRPr>
          </a:p>
          <a:p>
            <a:pPr indent="-361950" lvl="0" marL="457200" rtl="0" algn="l">
              <a:lnSpc>
                <a:spcPct val="115000"/>
              </a:lnSpc>
              <a:spcBef>
                <a:spcPts val="0"/>
              </a:spcBef>
              <a:spcAft>
                <a:spcPts val="0"/>
              </a:spcAft>
              <a:buClr>
                <a:schemeClr val="dk1"/>
              </a:buClr>
              <a:buSzPts val="2100"/>
              <a:buAutoNum type="arabicPeriod"/>
            </a:pPr>
            <a:r>
              <a:rPr lang="en-IN" sz="2100">
                <a:solidFill>
                  <a:schemeClr val="dk1"/>
                </a:solidFill>
                <a:highlight>
                  <a:srgbClr val="FFFFFF"/>
                </a:highlight>
              </a:rPr>
              <a:t>datacenter network exists in a </a:t>
            </a:r>
            <a:r>
              <a:rPr b="1" lang="en-IN" sz="2100">
                <a:solidFill>
                  <a:srgbClr val="FF0000"/>
                </a:solidFill>
                <a:highlight>
                  <a:srgbClr val="FFFFFF"/>
                </a:highlight>
              </a:rPr>
              <a:t>single physical location</a:t>
            </a:r>
            <a:r>
              <a:rPr lang="en-IN" sz="2100">
                <a:solidFill>
                  <a:schemeClr val="dk1"/>
                </a:solidFill>
                <a:highlight>
                  <a:srgbClr val="FFFFFF"/>
                </a:highlight>
              </a:rPr>
              <a:t>, so organization doesn’t have to think about </a:t>
            </a:r>
            <a:r>
              <a:rPr b="1" lang="en-IN" sz="2100">
                <a:solidFill>
                  <a:srgbClr val="FF0000"/>
                </a:solidFill>
                <a:highlight>
                  <a:srgbClr val="FFFFFF"/>
                </a:highlight>
              </a:rPr>
              <a:t>long-distance links like undersea cables</a:t>
            </a:r>
            <a:r>
              <a:rPr lang="en-IN" sz="2100">
                <a:solidFill>
                  <a:schemeClr val="dk1"/>
                </a:solidFill>
                <a:highlight>
                  <a:srgbClr val="FFFFFF"/>
                </a:highlight>
              </a:rPr>
              <a:t>. Within that single location, organization has to support extremely </a:t>
            </a:r>
            <a:r>
              <a:rPr b="1" lang="en-IN" sz="2100">
                <a:solidFill>
                  <a:srgbClr val="FF0000"/>
                </a:solidFill>
                <a:highlight>
                  <a:srgbClr val="FFFFFF"/>
                </a:highlight>
              </a:rPr>
              <a:t>high bandwidth</a:t>
            </a:r>
            <a:r>
              <a:rPr lang="en-IN" sz="2100">
                <a:solidFill>
                  <a:schemeClr val="dk1"/>
                </a:solidFill>
                <a:highlight>
                  <a:srgbClr val="FFFFFF"/>
                </a:highlight>
              </a:rPr>
              <a:t>.</a:t>
            </a:r>
            <a:endParaRPr sz="2100">
              <a:solidFill>
                <a:schemeClr val="dk1"/>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c68390414e_0_7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26" name="Google Shape;926;g3c68390414e_0_74"/>
          <p:cNvSpPr/>
          <p:nvPr/>
        </p:nvSpPr>
        <p:spPr>
          <a:xfrm>
            <a:off x="1491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600">
                <a:solidFill>
                  <a:srgbClr val="FF0000"/>
                </a:solidFill>
              </a:rPr>
              <a:t>Request from end user for a web page- How packet will be routed</a:t>
            </a:r>
            <a:endParaRPr b="0" i="1" sz="1300" u="none" cap="none" strike="noStrike">
              <a:solidFill>
                <a:srgbClr val="000000"/>
              </a:solidFill>
              <a:latin typeface="Arial"/>
              <a:ea typeface="Arial"/>
              <a:cs typeface="Arial"/>
              <a:sym typeface="Arial"/>
            </a:endParaRPr>
          </a:p>
        </p:txBody>
      </p:sp>
      <p:pic>
        <p:nvPicPr>
          <p:cNvPr id="927" name="Google Shape;927;g3c68390414e_0_74"/>
          <p:cNvPicPr preferRelativeResize="0"/>
          <p:nvPr/>
        </p:nvPicPr>
        <p:blipFill>
          <a:blip r:embed="rId3">
            <a:alphaModFix/>
          </a:blip>
          <a:stretch>
            <a:fillRect/>
          </a:stretch>
        </p:blipFill>
        <p:spPr>
          <a:xfrm>
            <a:off x="152400" y="1489738"/>
            <a:ext cx="8839204" cy="2757935"/>
          </a:xfrm>
          <a:prstGeom prst="rect">
            <a:avLst/>
          </a:prstGeom>
          <a:noFill/>
          <a:ln cap="flat" cmpd="sng" w="9525">
            <a:solidFill>
              <a:schemeClr val="dk1"/>
            </a:solidFill>
            <a:prstDash val="solid"/>
            <a:round/>
            <a:headEnd len="sm" w="sm" type="none"/>
            <a:tailEnd len="sm" w="sm" type="none"/>
          </a:ln>
        </p:spPr>
      </p:pic>
      <p:sp>
        <p:nvSpPr>
          <p:cNvPr id="928" name="Google Shape;928;g3c68390414e_0_74"/>
          <p:cNvSpPr txBox="1"/>
          <p:nvPr/>
        </p:nvSpPr>
        <p:spPr>
          <a:xfrm>
            <a:off x="153600" y="4885775"/>
            <a:ext cx="8684700" cy="1354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IN" sz="1900">
                <a:solidFill>
                  <a:schemeClr val="dk1"/>
                </a:solidFill>
                <a:highlight>
                  <a:srgbClr val="FFFFFF"/>
                </a:highlight>
              </a:rPr>
              <a:t>I</a:t>
            </a:r>
            <a:r>
              <a:rPr b="1" i="1" lang="en-IN" sz="1900">
                <a:solidFill>
                  <a:schemeClr val="dk1"/>
                </a:solidFill>
                <a:highlight>
                  <a:srgbClr val="FFFFFF"/>
                </a:highlight>
              </a:rPr>
              <a:t>f you requested a Facebook feed, different servers might need to work together to combine ads, photos, posts, etc. It wouldn’t be practical if every server had to know everything about Facebook to process your request by itself.</a:t>
            </a:r>
            <a:endParaRPr b="1" i="1" sz="1900">
              <a:solidFill>
                <a:schemeClr val="dk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g3c68390414e_0_8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pic>
        <p:nvPicPr>
          <p:cNvPr id="935" name="Google Shape;935;g3c68390414e_0_88"/>
          <p:cNvPicPr preferRelativeResize="0"/>
          <p:nvPr/>
        </p:nvPicPr>
        <p:blipFill>
          <a:blip r:embed="rId3">
            <a:alphaModFix/>
          </a:blip>
          <a:stretch>
            <a:fillRect/>
          </a:stretch>
        </p:blipFill>
        <p:spPr>
          <a:xfrm>
            <a:off x="152400" y="1237613"/>
            <a:ext cx="8839204" cy="2757935"/>
          </a:xfrm>
          <a:prstGeom prst="rect">
            <a:avLst/>
          </a:prstGeom>
          <a:noFill/>
          <a:ln cap="flat" cmpd="sng" w="9525">
            <a:solidFill>
              <a:schemeClr val="dk1"/>
            </a:solidFill>
            <a:prstDash val="solid"/>
            <a:round/>
            <a:headEnd len="sm" w="sm" type="none"/>
            <a:tailEnd len="sm" w="sm" type="none"/>
          </a:ln>
        </p:spPr>
      </p:pic>
      <p:sp>
        <p:nvSpPr>
          <p:cNvPr id="936" name="Google Shape;936;g3c68390414e_0_88"/>
          <p:cNvSpPr txBox="1"/>
          <p:nvPr/>
        </p:nvSpPr>
        <p:spPr>
          <a:xfrm>
            <a:off x="229650" y="4197125"/>
            <a:ext cx="8684700" cy="2524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Char char="●"/>
            </a:pPr>
            <a:r>
              <a:rPr b="1" i="1" lang="en-IN" sz="1900">
                <a:solidFill>
                  <a:schemeClr val="dk1"/>
                </a:solidFill>
                <a:highlight>
                  <a:srgbClr val="FFFFFF"/>
                </a:highlight>
              </a:rPr>
              <a:t>In order for the different servers to coordinate, the </a:t>
            </a:r>
            <a:r>
              <a:rPr b="1" i="1" lang="en-IN" sz="1900">
                <a:solidFill>
                  <a:srgbClr val="FF0000"/>
                </a:solidFill>
                <a:highlight>
                  <a:srgbClr val="FFFFFF"/>
                </a:highlight>
              </a:rPr>
              <a:t>first server triggers many backend requests</a:t>
            </a:r>
            <a:r>
              <a:rPr b="1" i="1" lang="en-IN" sz="1900">
                <a:solidFill>
                  <a:schemeClr val="dk1"/>
                </a:solidFill>
                <a:highlight>
                  <a:srgbClr val="FFFFFF"/>
                </a:highlight>
              </a:rPr>
              <a:t> to collect all the information needed in your request. </a:t>
            </a:r>
            <a:endParaRPr b="1" i="1" sz="1900">
              <a:solidFill>
                <a:schemeClr val="dk1"/>
              </a:solidFill>
              <a:highlight>
                <a:srgbClr val="FFFFFF"/>
              </a:highlight>
            </a:endParaRPr>
          </a:p>
          <a:p>
            <a:pPr indent="-349250" lvl="0" marL="457200" rtl="0" algn="l">
              <a:spcBef>
                <a:spcPts val="0"/>
              </a:spcBef>
              <a:spcAft>
                <a:spcPts val="0"/>
              </a:spcAft>
              <a:buClr>
                <a:schemeClr val="dk1"/>
              </a:buClr>
              <a:buSzPts val="1900"/>
              <a:buChar char="●"/>
            </a:pPr>
            <a:r>
              <a:rPr b="1" i="1" lang="en-IN" sz="1900">
                <a:solidFill>
                  <a:schemeClr val="dk1"/>
                </a:solidFill>
                <a:highlight>
                  <a:srgbClr val="FFFFFF"/>
                </a:highlight>
              </a:rPr>
              <a:t>A single user request could trigger hundreds of backend requests (</a:t>
            </a:r>
            <a:r>
              <a:rPr b="1" i="1" lang="en-IN" sz="1900">
                <a:solidFill>
                  <a:srgbClr val="FF0000"/>
                </a:solidFill>
                <a:highlight>
                  <a:srgbClr val="FFFFFF"/>
                </a:highlight>
              </a:rPr>
              <a:t>521 on average, per a 2013 Facebook paper</a:t>
            </a:r>
            <a:r>
              <a:rPr b="1" i="1" lang="en-IN" sz="1900">
                <a:solidFill>
                  <a:schemeClr val="dk1"/>
                </a:solidFill>
                <a:highlight>
                  <a:srgbClr val="FFFFFF"/>
                </a:highlight>
              </a:rPr>
              <a:t>) before the response can be sent back to the user. </a:t>
            </a:r>
            <a:endParaRPr b="1" i="1" sz="1900">
              <a:solidFill>
                <a:schemeClr val="dk1"/>
              </a:solidFill>
              <a:highlight>
                <a:srgbClr val="FFFFFF"/>
              </a:highlight>
            </a:endParaRPr>
          </a:p>
          <a:p>
            <a:pPr indent="-349250" lvl="0" marL="457200" rtl="0" algn="l">
              <a:spcBef>
                <a:spcPts val="0"/>
              </a:spcBef>
              <a:spcAft>
                <a:spcPts val="0"/>
              </a:spcAft>
              <a:buClr>
                <a:schemeClr val="dk1"/>
              </a:buClr>
              <a:buSzPts val="1900"/>
              <a:buChar char="●"/>
            </a:pPr>
            <a:r>
              <a:rPr b="1" i="1" lang="en-IN" sz="1900">
                <a:solidFill>
                  <a:schemeClr val="dk1"/>
                </a:solidFill>
                <a:highlight>
                  <a:srgbClr val="FFFFFF"/>
                </a:highlight>
              </a:rPr>
              <a:t>In general, there’s significantly </a:t>
            </a:r>
            <a:r>
              <a:rPr b="1" i="1" lang="en-IN" sz="1900">
                <a:solidFill>
                  <a:srgbClr val="FF0000"/>
                </a:solidFill>
                <a:highlight>
                  <a:srgbClr val="FFFFFF"/>
                </a:highlight>
              </a:rPr>
              <a:t>more backend traffic between servers</a:t>
            </a:r>
            <a:r>
              <a:rPr b="1" i="1" lang="en-IN" sz="1900">
                <a:solidFill>
                  <a:schemeClr val="dk1"/>
                </a:solidFill>
                <a:highlight>
                  <a:srgbClr val="FFFFFF"/>
                </a:highlight>
              </a:rPr>
              <a:t>, and the </a:t>
            </a:r>
            <a:r>
              <a:rPr b="1" i="1" lang="en-IN" sz="1900">
                <a:solidFill>
                  <a:srgbClr val="FF0000"/>
                </a:solidFill>
                <a:highlight>
                  <a:srgbClr val="FFFFFF"/>
                </a:highlight>
              </a:rPr>
              <a:t>external traffic with the user is very small in comparison</a:t>
            </a:r>
            <a:r>
              <a:rPr b="1" i="1" lang="en-IN" sz="1900">
                <a:solidFill>
                  <a:schemeClr val="dk1"/>
                </a:solidFill>
                <a:highlight>
                  <a:srgbClr val="FFFFFF"/>
                </a:highlight>
              </a:rPr>
              <a:t>.</a:t>
            </a:r>
            <a:endParaRPr b="1" i="1" sz="1900">
              <a:solidFill>
                <a:schemeClr val="dk1"/>
              </a:solidFill>
            </a:endParaRPr>
          </a:p>
        </p:txBody>
      </p:sp>
      <p:sp>
        <p:nvSpPr>
          <p:cNvPr id="937" name="Google Shape;937;g3c68390414e_0_88"/>
          <p:cNvSpPr/>
          <p:nvPr/>
        </p:nvSpPr>
        <p:spPr>
          <a:xfrm>
            <a:off x="1491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2200">
                <a:solidFill>
                  <a:srgbClr val="FF0000"/>
                </a:solidFill>
              </a:rPr>
              <a:t>Request from end user for a web page- How packet will be routed</a:t>
            </a:r>
            <a:endParaRPr b="0" i="1" sz="9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c68390414e_0_1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44" name="Google Shape;944;g3c68390414e_0_10"/>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Traffic Flow</a:t>
            </a:r>
            <a:endParaRPr b="0" i="1" sz="1700" u="none" cap="none" strike="noStrike">
              <a:solidFill>
                <a:srgbClr val="000000"/>
              </a:solidFill>
              <a:latin typeface="Arial"/>
              <a:ea typeface="Arial"/>
              <a:cs typeface="Arial"/>
              <a:sym typeface="Arial"/>
            </a:endParaRPr>
          </a:p>
        </p:txBody>
      </p:sp>
      <p:pic>
        <p:nvPicPr>
          <p:cNvPr id="945" name="Google Shape;945;g3c68390414e_0_10"/>
          <p:cNvPicPr preferRelativeResize="0"/>
          <p:nvPr/>
        </p:nvPicPr>
        <p:blipFill>
          <a:blip r:embed="rId3">
            <a:alphaModFix/>
          </a:blip>
          <a:stretch>
            <a:fillRect/>
          </a:stretch>
        </p:blipFill>
        <p:spPr>
          <a:xfrm>
            <a:off x="2302975" y="1405750"/>
            <a:ext cx="4250092" cy="5315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3c68390414e_0_99"/>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52" name="Google Shape;952;g3c68390414e_0_99"/>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Racks</a:t>
            </a:r>
            <a:endParaRPr b="0" i="1" sz="1700" u="none" cap="none" strike="noStrike">
              <a:solidFill>
                <a:srgbClr val="000000"/>
              </a:solidFill>
              <a:latin typeface="Arial"/>
              <a:ea typeface="Arial"/>
              <a:cs typeface="Arial"/>
              <a:sym typeface="Arial"/>
            </a:endParaRPr>
          </a:p>
        </p:txBody>
      </p:sp>
      <p:pic>
        <p:nvPicPr>
          <p:cNvPr id="953" name="Google Shape;953;g3c68390414e_0_99"/>
          <p:cNvPicPr preferRelativeResize="0"/>
          <p:nvPr/>
        </p:nvPicPr>
        <p:blipFill>
          <a:blip r:embed="rId3">
            <a:alphaModFix/>
          </a:blip>
          <a:stretch>
            <a:fillRect/>
          </a:stretch>
        </p:blipFill>
        <p:spPr>
          <a:xfrm>
            <a:off x="2102225" y="1237625"/>
            <a:ext cx="5619750" cy="52482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g3c68390414e_0_114"/>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60" name="Google Shape;960;g3c68390414e_0_114"/>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Racks</a:t>
            </a:r>
            <a:endParaRPr b="0" i="1" sz="1700" u="none" cap="none" strike="noStrike">
              <a:solidFill>
                <a:srgbClr val="000000"/>
              </a:solidFill>
              <a:latin typeface="Arial"/>
              <a:ea typeface="Arial"/>
              <a:cs typeface="Arial"/>
              <a:sym typeface="Arial"/>
            </a:endParaRPr>
          </a:p>
        </p:txBody>
      </p:sp>
      <p:pic>
        <p:nvPicPr>
          <p:cNvPr id="961" name="Google Shape;961;g3c68390414e_0_114"/>
          <p:cNvPicPr preferRelativeResize="0"/>
          <p:nvPr/>
        </p:nvPicPr>
        <p:blipFill>
          <a:blip r:embed="rId3">
            <a:alphaModFix/>
          </a:blip>
          <a:stretch>
            <a:fillRect/>
          </a:stretch>
        </p:blipFill>
        <p:spPr>
          <a:xfrm>
            <a:off x="1885775" y="1237625"/>
            <a:ext cx="5372426" cy="5315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c68390414e_0_123"/>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68" name="Google Shape;968;g3c68390414e_0_123"/>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Communication between </a:t>
            </a:r>
            <a:r>
              <a:rPr b="1" lang="en-IN" sz="3000">
                <a:solidFill>
                  <a:srgbClr val="FF0000"/>
                </a:solidFill>
              </a:rPr>
              <a:t>Racks</a:t>
            </a:r>
            <a:endParaRPr b="0" i="1" sz="1700" u="none" cap="none" strike="noStrike">
              <a:solidFill>
                <a:srgbClr val="000000"/>
              </a:solidFill>
              <a:latin typeface="Arial"/>
              <a:ea typeface="Arial"/>
              <a:cs typeface="Arial"/>
              <a:sym typeface="Arial"/>
            </a:endParaRPr>
          </a:p>
        </p:txBody>
      </p:sp>
      <p:pic>
        <p:nvPicPr>
          <p:cNvPr id="969" name="Google Shape;969;g3c68390414e_0_123"/>
          <p:cNvPicPr preferRelativeResize="0"/>
          <p:nvPr/>
        </p:nvPicPr>
        <p:blipFill>
          <a:blip r:embed="rId3">
            <a:alphaModFix/>
          </a:blip>
          <a:stretch>
            <a:fillRect/>
          </a:stretch>
        </p:blipFill>
        <p:spPr>
          <a:xfrm>
            <a:off x="1855700" y="1405750"/>
            <a:ext cx="5643916" cy="5315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g3c68390414e_0_13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76" name="Google Shape;976;g3c68390414e_0_131"/>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Possible </a:t>
            </a:r>
            <a:r>
              <a:rPr b="1" lang="en-IN" sz="3000">
                <a:solidFill>
                  <a:srgbClr val="FF0000"/>
                </a:solidFill>
              </a:rPr>
              <a:t>Network</a:t>
            </a:r>
            <a:r>
              <a:rPr b="1" lang="en-IN" sz="3000">
                <a:solidFill>
                  <a:srgbClr val="FF0000"/>
                </a:solidFill>
              </a:rPr>
              <a:t> Connections</a:t>
            </a:r>
            <a:endParaRPr b="0" i="1" sz="1700" u="none" cap="none" strike="noStrike">
              <a:solidFill>
                <a:srgbClr val="000000"/>
              </a:solidFill>
              <a:latin typeface="Arial"/>
              <a:ea typeface="Arial"/>
              <a:cs typeface="Arial"/>
              <a:sym typeface="Arial"/>
            </a:endParaRPr>
          </a:p>
        </p:txBody>
      </p:sp>
      <p:pic>
        <p:nvPicPr>
          <p:cNvPr id="977" name="Google Shape;977;g3c68390414e_0_131"/>
          <p:cNvPicPr preferRelativeResize="0"/>
          <p:nvPr/>
        </p:nvPicPr>
        <p:blipFill>
          <a:blip r:embed="rId3">
            <a:alphaModFix/>
          </a:blip>
          <a:stretch>
            <a:fillRect/>
          </a:stretch>
        </p:blipFill>
        <p:spPr>
          <a:xfrm>
            <a:off x="652200" y="1432600"/>
            <a:ext cx="7641400" cy="2738675"/>
          </a:xfrm>
          <a:prstGeom prst="rect">
            <a:avLst/>
          </a:prstGeom>
          <a:noFill/>
          <a:ln cap="flat" cmpd="sng" w="9525">
            <a:solidFill>
              <a:schemeClr val="dk1"/>
            </a:solidFill>
            <a:prstDash val="solid"/>
            <a:round/>
            <a:headEnd len="sm" w="sm" type="none"/>
            <a:tailEnd len="sm" w="sm" type="none"/>
          </a:ln>
        </p:spPr>
      </p:pic>
      <p:sp>
        <p:nvSpPr>
          <p:cNvPr id="978" name="Google Shape;978;g3c68390414e_0_131"/>
          <p:cNvSpPr txBox="1"/>
          <p:nvPr/>
        </p:nvSpPr>
        <p:spPr>
          <a:xfrm>
            <a:off x="533400" y="4366250"/>
            <a:ext cx="3893100" cy="126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rgbClr val="FF0000"/>
                </a:solidFill>
                <a:highlight>
                  <a:srgbClr val="FFFFFF"/>
                </a:highlight>
              </a:rPr>
              <a:t>L</a:t>
            </a:r>
            <a:r>
              <a:rPr b="1" lang="en-IN">
                <a:solidFill>
                  <a:srgbClr val="FF0000"/>
                </a:solidFill>
                <a:highlight>
                  <a:srgbClr val="FFFFFF"/>
                </a:highlight>
              </a:rPr>
              <a:t>eft network</a:t>
            </a:r>
            <a:r>
              <a:rPr lang="en-IN">
                <a:solidFill>
                  <a:srgbClr val="4A464E"/>
                </a:solidFill>
                <a:highlight>
                  <a:srgbClr val="FFFFFF"/>
                </a:highlight>
              </a:rPr>
              <a:t> is more connected: We have to cut more links to disconnect the network. This indicates that there are lots of </a:t>
            </a:r>
            <a:r>
              <a:rPr b="1" lang="en-IN">
                <a:solidFill>
                  <a:srgbClr val="FF0000"/>
                </a:solidFill>
                <a:highlight>
                  <a:srgbClr val="FFFFFF"/>
                </a:highlight>
              </a:rPr>
              <a:t>redundant links</a:t>
            </a:r>
            <a:r>
              <a:rPr lang="en-IN">
                <a:solidFill>
                  <a:srgbClr val="4A464E"/>
                </a:solidFill>
                <a:highlight>
                  <a:srgbClr val="FFFFFF"/>
                </a:highlight>
              </a:rPr>
              <a:t>, which allows us to run many simultaneous high-bandwidth connections. </a:t>
            </a:r>
            <a:endParaRPr sz="1600"/>
          </a:p>
        </p:txBody>
      </p:sp>
      <p:sp>
        <p:nvSpPr>
          <p:cNvPr id="979" name="Google Shape;979;g3c68390414e_0_131"/>
          <p:cNvSpPr txBox="1"/>
          <p:nvPr/>
        </p:nvSpPr>
        <p:spPr>
          <a:xfrm>
            <a:off x="4858525" y="4366250"/>
            <a:ext cx="3594600" cy="126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200">
                <a:solidFill>
                  <a:srgbClr val="4A464E"/>
                </a:solidFill>
                <a:highlight>
                  <a:srgbClr val="FFFFFF"/>
                </a:highlight>
                <a:latin typeface="Roboto"/>
                <a:ea typeface="Roboto"/>
                <a:cs typeface="Roboto"/>
                <a:sym typeface="Roboto"/>
              </a:rPr>
              <a:t> </a:t>
            </a:r>
            <a:r>
              <a:rPr b="1" lang="en-IN">
                <a:solidFill>
                  <a:srgbClr val="FF0000"/>
                </a:solidFill>
                <a:highlight>
                  <a:srgbClr val="FFFFFF"/>
                </a:highlight>
                <a:latin typeface="Roboto"/>
                <a:ea typeface="Roboto"/>
                <a:cs typeface="Roboto"/>
                <a:sym typeface="Roboto"/>
              </a:rPr>
              <a:t>Right network </a:t>
            </a:r>
            <a:r>
              <a:rPr lang="en-IN">
                <a:solidFill>
                  <a:srgbClr val="4A464E"/>
                </a:solidFill>
                <a:highlight>
                  <a:srgbClr val="FFFFFF"/>
                </a:highlight>
                <a:latin typeface="Roboto"/>
                <a:ea typeface="Roboto"/>
                <a:cs typeface="Roboto"/>
                <a:sym typeface="Roboto"/>
              </a:rPr>
              <a:t>is less connected is to say: We only have to usr the </a:t>
            </a:r>
            <a:r>
              <a:rPr b="1" lang="en-IN">
                <a:solidFill>
                  <a:srgbClr val="FF0000"/>
                </a:solidFill>
                <a:highlight>
                  <a:srgbClr val="FFFFFF"/>
                </a:highlight>
                <a:latin typeface="Roboto"/>
                <a:ea typeface="Roboto"/>
                <a:cs typeface="Roboto"/>
                <a:sym typeface="Roboto"/>
              </a:rPr>
              <a:t>2-5 link </a:t>
            </a:r>
            <a:r>
              <a:rPr lang="en-IN">
                <a:solidFill>
                  <a:srgbClr val="4A464E"/>
                </a:solidFill>
                <a:highlight>
                  <a:srgbClr val="FFFFFF"/>
                </a:highlight>
                <a:latin typeface="Roboto"/>
                <a:ea typeface="Roboto"/>
                <a:cs typeface="Roboto"/>
                <a:sym typeface="Roboto"/>
              </a:rPr>
              <a:t>to connect the network, which indicates the existence of a bottleneck that prevents simultaneous high-bandwidth connections.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g3c68390414e_0_145"/>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86" name="Google Shape;986;g3c68390414e_0_145"/>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Bisection Bandwidth</a:t>
            </a:r>
            <a:endParaRPr b="0" i="1" sz="1700" u="none" cap="none" strike="noStrike">
              <a:solidFill>
                <a:srgbClr val="000000"/>
              </a:solidFill>
              <a:latin typeface="Arial"/>
              <a:ea typeface="Arial"/>
              <a:cs typeface="Arial"/>
              <a:sym typeface="Arial"/>
            </a:endParaRPr>
          </a:p>
        </p:txBody>
      </p:sp>
      <p:pic>
        <p:nvPicPr>
          <p:cNvPr id="987" name="Google Shape;987;g3c68390414e_0_145"/>
          <p:cNvPicPr preferRelativeResize="0"/>
          <p:nvPr/>
        </p:nvPicPr>
        <p:blipFill>
          <a:blip r:embed="rId3">
            <a:alphaModFix/>
          </a:blip>
          <a:stretch>
            <a:fillRect/>
          </a:stretch>
        </p:blipFill>
        <p:spPr>
          <a:xfrm>
            <a:off x="417825" y="1237625"/>
            <a:ext cx="8581576" cy="2674675"/>
          </a:xfrm>
          <a:prstGeom prst="rect">
            <a:avLst/>
          </a:prstGeom>
          <a:noFill/>
          <a:ln cap="flat" cmpd="sng" w="9525">
            <a:solidFill>
              <a:schemeClr val="dk1"/>
            </a:solidFill>
            <a:prstDash val="solid"/>
            <a:round/>
            <a:headEnd len="sm" w="sm" type="none"/>
            <a:tailEnd len="sm" w="sm" type="none"/>
          </a:ln>
        </p:spPr>
      </p:pic>
      <p:sp>
        <p:nvSpPr>
          <p:cNvPr id="988" name="Google Shape;988;g3c68390414e_0_145"/>
          <p:cNvSpPr txBox="1"/>
          <p:nvPr/>
        </p:nvSpPr>
        <p:spPr>
          <a:xfrm>
            <a:off x="212550" y="4272600"/>
            <a:ext cx="8734500" cy="1950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Char char="●"/>
            </a:pPr>
            <a:r>
              <a:rPr lang="en-IN" sz="1700">
                <a:solidFill>
                  <a:schemeClr val="dk1"/>
                </a:solidFill>
                <a:highlight>
                  <a:srgbClr val="FFFFFF"/>
                </a:highlight>
              </a:rPr>
              <a:t>W</a:t>
            </a:r>
            <a:r>
              <a:rPr lang="en-IN" sz="1700">
                <a:solidFill>
                  <a:schemeClr val="dk1"/>
                </a:solidFill>
                <a:highlight>
                  <a:srgbClr val="FFFFFF"/>
                </a:highlight>
              </a:rPr>
              <a:t>ay to quantify how connected a network is.</a:t>
            </a:r>
            <a:endParaRPr sz="1700">
              <a:solidFill>
                <a:schemeClr val="dk1"/>
              </a:solidFill>
              <a:highlight>
                <a:srgbClr val="FFFFFF"/>
              </a:highlight>
            </a:endParaRPr>
          </a:p>
          <a:p>
            <a:pPr indent="-336550" lvl="0" marL="457200" rtl="0" algn="l">
              <a:lnSpc>
                <a:spcPct val="115000"/>
              </a:lnSpc>
              <a:spcBef>
                <a:spcPts val="0"/>
              </a:spcBef>
              <a:spcAft>
                <a:spcPts val="0"/>
              </a:spcAft>
              <a:buClr>
                <a:schemeClr val="dk1"/>
              </a:buClr>
              <a:buSzPts val="1700"/>
              <a:buChar char="●"/>
            </a:pPr>
            <a:r>
              <a:rPr lang="en-IN" sz="1700">
                <a:solidFill>
                  <a:schemeClr val="dk1"/>
                </a:solidFill>
                <a:highlight>
                  <a:srgbClr val="FFFFFF"/>
                </a:highlight>
              </a:rPr>
              <a:t> To compute bisection bandwidth, we compute the </a:t>
            </a:r>
            <a:r>
              <a:rPr b="1" i="1" lang="en-IN" sz="1700">
                <a:solidFill>
                  <a:schemeClr val="dk1"/>
                </a:solidFill>
                <a:highlight>
                  <a:srgbClr val="FFFFFF"/>
                </a:highlight>
              </a:rPr>
              <a:t>number of links we need to remove in order to partition the network into two disconnected halves of equal size</a:t>
            </a:r>
            <a:r>
              <a:rPr lang="en-IN" sz="1700">
                <a:solidFill>
                  <a:schemeClr val="dk1"/>
                </a:solidFill>
                <a:highlight>
                  <a:srgbClr val="FFFFFF"/>
                </a:highlight>
              </a:rPr>
              <a:t>.</a:t>
            </a:r>
            <a:endParaRPr sz="1700">
              <a:solidFill>
                <a:schemeClr val="dk1"/>
              </a:solidFill>
              <a:highlight>
                <a:srgbClr val="FFFFFF"/>
              </a:highlight>
            </a:endParaRPr>
          </a:p>
          <a:p>
            <a:pPr indent="-336550" lvl="0" marL="457200" rtl="0" algn="l">
              <a:lnSpc>
                <a:spcPct val="115000"/>
              </a:lnSpc>
              <a:spcBef>
                <a:spcPts val="0"/>
              </a:spcBef>
              <a:spcAft>
                <a:spcPts val="0"/>
              </a:spcAft>
              <a:buClr>
                <a:schemeClr val="dk1"/>
              </a:buClr>
              <a:buSzPts val="1700"/>
              <a:buChar char="●"/>
            </a:pPr>
            <a:r>
              <a:rPr lang="en-IN" sz="1700">
                <a:solidFill>
                  <a:schemeClr val="dk1"/>
                </a:solidFill>
                <a:highlight>
                  <a:srgbClr val="FFFFFF"/>
                </a:highlight>
              </a:rPr>
              <a:t>The bisection bandwidth is the </a:t>
            </a:r>
            <a:r>
              <a:rPr b="1" i="1" lang="en-IN" sz="1700">
                <a:solidFill>
                  <a:schemeClr val="dk1"/>
                </a:solidFill>
                <a:highlight>
                  <a:srgbClr val="FFFFFF"/>
                </a:highlight>
              </a:rPr>
              <a:t>sum of the bandwidths on the links that we cut.</a:t>
            </a:r>
            <a:endParaRPr b="1" i="1" sz="1700">
              <a:solidFill>
                <a:schemeClr val="dk1"/>
              </a:solidFill>
              <a:highlight>
                <a:srgbClr val="FFFFFF"/>
              </a:highlight>
            </a:endParaRPr>
          </a:p>
          <a:p>
            <a:pPr indent="-336550" lvl="0" marL="457200" rtl="0" algn="l">
              <a:lnSpc>
                <a:spcPct val="115000"/>
              </a:lnSpc>
              <a:spcBef>
                <a:spcPts val="0"/>
              </a:spcBef>
              <a:spcAft>
                <a:spcPts val="0"/>
              </a:spcAft>
              <a:buClr>
                <a:schemeClr val="dk1"/>
              </a:buClr>
              <a:buSzPts val="1700"/>
              <a:buChar char="●"/>
            </a:pPr>
            <a:r>
              <a:rPr lang="en-IN" sz="1700">
                <a:solidFill>
                  <a:schemeClr val="dk1"/>
                </a:solidFill>
                <a:highlight>
                  <a:srgbClr val="FFFFFF"/>
                </a:highlight>
              </a:rPr>
              <a:t>The </a:t>
            </a:r>
            <a:r>
              <a:rPr b="1" i="1" lang="en-IN" sz="1700">
                <a:solidFill>
                  <a:schemeClr val="dk1"/>
                </a:solidFill>
                <a:highlight>
                  <a:srgbClr val="FFFFFF"/>
                </a:highlight>
              </a:rPr>
              <a:t>most-connected network has full bisection bandwidth.</a:t>
            </a:r>
            <a:endParaRPr b="1" i="1" sz="1700">
              <a:solidFill>
                <a:schemeClr val="dk1"/>
              </a:solidFill>
              <a:highlight>
                <a:srgbClr val="FFFFFF"/>
              </a:highligh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g3c68390414e_0_18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995" name="Google Shape;995;g3c68390414e_0_180"/>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Topologies</a:t>
            </a:r>
            <a:endParaRPr b="0" i="1" sz="1700" u="none" cap="none" strike="noStrike">
              <a:solidFill>
                <a:srgbClr val="000000"/>
              </a:solidFill>
              <a:latin typeface="Arial"/>
              <a:ea typeface="Arial"/>
              <a:cs typeface="Arial"/>
              <a:sym typeface="Arial"/>
            </a:endParaRPr>
          </a:p>
        </p:txBody>
      </p:sp>
      <p:pic>
        <p:nvPicPr>
          <p:cNvPr id="996" name="Google Shape;996;g3c68390414e_0_180"/>
          <p:cNvPicPr preferRelativeResize="0"/>
          <p:nvPr/>
        </p:nvPicPr>
        <p:blipFill>
          <a:blip r:embed="rId3">
            <a:alphaModFix/>
          </a:blip>
          <a:stretch>
            <a:fillRect/>
          </a:stretch>
        </p:blipFill>
        <p:spPr>
          <a:xfrm>
            <a:off x="1727463" y="1303929"/>
            <a:ext cx="5698062" cy="3450925"/>
          </a:xfrm>
          <a:prstGeom prst="rect">
            <a:avLst/>
          </a:prstGeom>
          <a:noFill/>
          <a:ln cap="flat" cmpd="sng" w="9525">
            <a:solidFill>
              <a:schemeClr val="dk1"/>
            </a:solidFill>
            <a:prstDash val="solid"/>
            <a:round/>
            <a:headEnd len="sm" w="sm" type="none"/>
            <a:tailEnd len="sm" w="sm" type="none"/>
          </a:ln>
        </p:spPr>
      </p:pic>
      <p:sp>
        <p:nvSpPr>
          <p:cNvPr id="997" name="Google Shape;997;g3c68390414e_0_180"/>
          <p:cNvSpPr txBox="1"/>
          <p:nvPr/>
        </p:nvSpPr>
        <p:spPr>
          <a:xfrm>
            <a:off x="1629850" y="5028125"/>
            <a:ext cx="5982300" cy="1662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n-IN" sz="1600">
                <a:solidFill>
                  <a:schemeClr val="dk1"/>
                </a:solidFill>
                <a:highlight>
                  <a:srgbClr val="FFFFFF"/>
                </a:highlight>
              </a:rPr>
              <a:t>O</a:t>
            </a:r>
            <a:r>
              <a:rPr b="1" lang="en-IN" sz="1600">
                <a:solidFill>
                  <a:schemeClr val="dk1"/>
                </a:solidFill>
                <a:highlight>
                  <a:srgbClr val="FFFFFF"/>
                </a:highlight>
              </a:rPr>
              <a:t>ne physical port for every rack</a:t>
            </a:r>
            <a:r>
              <a:rPr lang="en-IN" sz="1600">
                <a:solidFill>
                  <a:schemeClr val="dk1"/>
                </a:solidFill>
                <a:highlight>
                  <a:srgbClr val="FFFFFF"/>
                </a:highlight>
              </a:rPr>
              <a:t> (potentially up to 2500 p</a:t>
            </a:r>
            <a:r>
              <a:rPr lang="en-IN" sz="1600">
                <a:solidFill>
                  <a:schemeClr val="dk1"/>
                </a:solidFill>
                <a:highlight>
                  <a:srgbClr val="FFFFFF"/>
                </a:highlight>
              </a:rPr>
              <a:t>orts). </a:t>
            </a:r>
            <a:endParaRPr sz="1600">
              <a:solidFill>
                <a:schemeClr val="dk1"/>
              </a:solidFill>
              <a:highlight>
                <a:srgbClr val="FFFFFF"/>
              </a:highlight>
            </a:endParaRPr>
          </a:p>
          <a:p>
            <a:pPr indent="-330200" lvl="0" marL="457200" rtl="0" algn="l">
              <a:spcBef>
                <a:spcPts val="0"/>
              </a:spcBef>
              <a:spcAft>
                <a:spcPts val="0"/>
              </a:spcAft>
              <a:buClr>
                <a:schemeClr val="dk1"/>
              </a:buClr>
              <a:buSzPts val="1600"/>
              <a:buChar char="●"/>
            </a:pPr>
            <a:r>
              <a:rPr lang="en-IN" sz="1600">
                <a:solidFill>
                  <a:schemeClr val="dk1"/>
                </a:solidFill>
                <a:highlight>
                  <a:srgbClr val="FFFFFF"/>
                </a:highlight>
              </a:rPr>
              <a:t>number of external ports - </a:t>
            </a:r>
            <a:r>
              <a:rPr b="1" lang="en-IN" sz="1600">
                <a:solidFill>
                  <a:schemeClr val="dk1"/>
                </a:solidFill>
                <a:highlight>
                  <a:srgbClr val="FFFFFF"/>
                </a:highlight>
              </a:rPr>
              <a:t>radix of the switch</a:t>
            </a:r>
            <a:endParaRPr b="1" sz="1600">
              <a:solidFill>
                <a:schemeClr val="dk1"/>
              </a:solidFill>
              <a:highlight>
                <a:srgbClr val="FFFFFF"/>
              </a:highlight>
            </a:endParaRPr>
          </a:p>
          <a:p>
            <a:pPr indent="-330200" lvl="0" marL="457200" rtl="0" algn="l">
              <a:spcBef>
                <a:spcPts val="0"/>
              </a:spcBef>
              <a:spcAft>
                <a:spcPts val="0"/>
              </a:spcAft>
              <a:buClr>
                <a:schemeClr val="dk1"/>
              </a:buClr>
              <a:buSzPts val="1600"/>
              <a:buChar char="●"/>
            </a:pPr>
            <a:r>
              <a:rPr lang="en-IN" sz="1600">
                <a:solidFill>
                  <a:schemeClr val="dk1"/>
                </a:solidFill>
                <a:highlight>
                  <a:srgbClr val="FFFFFF"/>
                </a:highlight>
              </a:rPr>
              <a:t>switch would need to have </a:t>
            </a:r>
            <a:r>
              <a:rPr b="1" lang="en-IN" sz="1600">
                <a:solidFill>
                  <a:schemeClr val="dk1"/>
                </a:solidFill>
                <a:highlight>
                  <a:srgbClr val="FFFFFF"/>
                </a:highlight>
              </a:rPr>
              <a:t>enormous capacity</a:t>
            </a:r>
            <a:r>
              <a:rPr lang="en-IN" sz="1600">
                <a:solidFill>
                  <a:schemeClr val="dk1"/>
                </a:solidFill>
                <a:highlight>
                  <a:srgbClr val="FFFFFF"/>
                </a:highlight>
              </a:rPr>
              <a:t> (potentially petabits per second) to support all the racks. </a:t>
            </a:r>
            <a:endParaRPr sz="1600">
              <a:solidFill>
                <a:schemeClr val="dk1"/>
              </a:solidFill>
              <a:highlight>
                <a:srgbClr val="FFFFFF"/>
              </a:highlight>
            </a:endParaRPr>
          </a:p>
          <a:p>
            <a:pPr indent="-330200" lvl="0" marL="457200" rtl="0" algn="l">
              <a:spcBef>
                <a:spcPts val="0"/>
              </a:spcBef>
              <a:spcAft>
                <a:spcPts val="0"/>
              </a:spcAft>
              <a:buClr>
                <a:schemeClr val="dk1"/>
              </a:buClr>
              <a:buSzPts val="1600"/>
              <a:buChar char="●"/>
            </a:pPr>
            <a:r>
              <a:rPr lang="en-IN" sz="1600">
                <a:solidFill>
                  <a:schemeClr val="dk1"/>
                </a:solidFill>
                <a:highlight>
                  <a:srgbClr val="FFFFFF"/>
                </a:highlight>
              </a:rPr>
              <a:t>This switch is impractical to build</a:t>
            </a:r>
            <a:endParaRPr sz="1600">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c68390414e_0_197"/>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04" name="Google Shape;1004;g3c68390414e_0_197"/>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Topologies</a:t>
            </a:r>
            <a:endParaRPr b="0" i="1" sz="1700" u="none" cap="none" strike="noStrike">
              <a:solidFill>
                <a:srgbClr val="000000"/>
              </a:solidFill>
              <a:latin typeface="Arial"/>
              <a:ea typeface="Arial"/>
              <a:cs typeface="Arial"/>
              <a:sym typeface="Arial"/>
            </a:endParaRPr>
          </a:p>
        </p:txBody>
      </p:sp>
      <p:sp>
        <p:nvSpPr>
          <p:cNvPr id="1005" name="Google Shape;1005;g3c68390414e_0_197"/>
          <p:cNvSpPr txBox="1"/>
          <p:nvPr/>
        </p:nvSpPr>
        <p:spPr>
          <a:xfrm>
            <a:off x="349775" y="5325700"/>
            <a:ext cx="4267200" cy="969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700">
                <a:solidFill>
                  <a:schemeClr val="dk1"/>
                </a:solidFill>
                <a:highlight>
                  <a:srgbClr val="FFFFFF"/>
                </a:highlight>
              </a:rPr>
              <a:t>The bisection bandwidth is lower. A single link is the bottleneck between the two halves of the tree.</a:t>
            </a:r>
            <a:endParaRPr sz="1900">
              <a:solidFill>
                <a:schemeClr val="dk1"/>
              </a:solidFill>
            </a:endParaRPr>
          </a:p>
        </p:txBody>
      </p:sp>
      <p:pic>
        <p:nvPicPr>
          <p:cNvPr id="1006" name="Google Shape;1006;g3c68390414e_0_197"/>
          <p:cNvPicPr preferRelativeResize="0"/>
          <p:nvPr/>
        </p:nvPicPr>
        <p:blipFill>
          <a:blip r:embed="rId3">
            <a:alphaModFix/>
          </a:blip>
          <a:stretch>
            <a:fillRect/>
          </a:stretch>
        </p:blipFill>
        <p:spPr>
          <a:xfrm>
            <a:off x="372263" y="1311000"/>
            <a:ext cx="4222225" cy="3941329"/>
          </a:xfrm>
          <a:prstGeom prst="rect">
            <a:avLst/>
          </a:prstGeom>
          <a:noFill/>
          <a:ln cap="flat" cmpd="sng" w="9525">
            <a:solidFill>
              <a:schemeClr val="dk1"/>
            </a:solidFill>
            <a:prstDash val="solid"/>
            <a:round/>
            <a:headEnd len="sm" w="sm" type="none"/>
            <a:tailEnd len="sm" w="sm" type="none"/>
          </a:ln>
        </p:spPr>
      </p:pic>
      <p:pic>
        <p:nvPicPr>
          <p:cNvPr id="1007" name="Google Shape;1007;g3c68390414e_0_197"/>
          <p:cNvPicPr preferRelativeResize="0"/>
          <p:nvPr/>
        </p:nvPicPr>
        <p:blipFill>
          <a:blip r:embed="rId4">
            <a:alphaModFix/>
          </a:blip>
          <a:stretch>
            <a:fillRect/>
          </a:stretch>
        </p:blipFill>
        <p:spPr>
          <a:xfrm>
            <a:off x="4746888" y="1390025"/>
            <a:ext cx="4244714" cy="3231803"/>
          </a:xfrm>
          <a:prstGeom prst="rect">
            <a:avLst/>
          </a:prstGeom>
          <a:noFill/>
          <a:ln cap="flat" cmpd="sng" w="9525">
            <a:solidFill>
              <a:schemeClr val="dk1"/>
            </a:solidFill>
            <a:prstDash val="solid"/>
            <a:round/>
            <a:headEnd len="sm" w="sm" type="none"/>
            <a:tailEnd len="sm" w="sm" type="none"/>
          </a:ln>
        </p:spPr>
      </p:pic>
      <p:sp>
        <p:nvSpPr>
          <p:cNvPr id="1008" name="Google Shape;1008;g3c68390414e_0_197"/>
          <p:cNvSpPr txBox="1"/>
          <p:nvPr/>
        </p:nvSpPr>
        <p:spPr>
          <a:xfrm>
            <a:off x="4746900" y="5252325"/>
            <a:ext cx="4267200" cy="1169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600">
                <a:solidFill>
                  <a:schemeClr val="dk1"/>
                </a:solidFill>
                <a:highlight>
                  <a:srgbClr val="FFFFFF"/>
                </a:highlight>
              </a:rPr>
              <a:t>four lower links are 100 Gbps, and the two higher links are 300 Gbps, then we’ve removed the bottleneck and restored full bisection bandwidth.</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3c68390414e_1_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15" name="Google Shape;1015;g3c68390414e_1_0"/>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Data Center Topologies Issues</a:t>
            </a:r>
            <a:endParaRPr b="0" i="1" sz="1700" u="none" cap="none" strike="noStrike">
              <a:solidFill>
                <a:srgbClr val="000000"/>
              </a:solidFill>
              <a:latin typeface="Arial"/>
              <a:ea typeface="Arial"/>
              <a:cs typeface="Arial"/>
              <a:sym typeface="Arial"/>
            </a:endParaRPr>
          </a:p>
        </p:txBody>
      </p:sp>
      <p:sp>
        <p:nvSpPr>
          <p:cNvPr id="1016" name="Google Shape;1016;g3c68390414e_1_0"/>
          <p:cNvSpPr txBox="1"/>
          <p:nvPr/>
        </p:nvSpPr>
        <p:spPr>
          <a:xfrm>
            <a:off x="688050" y="1860175"/>
            <a:ext cx="7776900" cy="277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61950" lvl="0" marL="457200" rtl="0" algn="l">
              <a:spcBef>
                <a:spcPts val="0"/>
              </a:spcBef>
              <a:spcAft>
                <a:spcPts val="0"/>
              </a:spcAft>
              <a:buSzPts val="2100"/>
              <a:buAutoNum type="arabicPeriod"/>
            </a:pPr>
            <a:r>
              <a:rPr b="1" i="1" lang="en-IN" sz="2100">
                <a:solidFill>
                  <a:srgbClr val="FF0000"/>
                </a:solidFill>
                <a:highlight>
                  <a:srgbClr val="FFFFFF"/>
                </a:highlight>
              </a:rPr>
              <a:t>C</a:t>
            </a:r>
            <a:r>
              <a:rPr b="1" i="1" lang="en-IN" sz="2100">
                <a:solidFill>
                  <a:srgbClr val="FF0000"/>
                </a:solidFill>
                <a:highlight>
                  <a:srgbClr val="FFFFFF"/>
                </a:highlight>
              </a:rPr>
              <a:t>ustom-built switches</a:t>
            </a:r>
            <a:r>
              <a:rPr i="1" lang="en-IN" sz="2100">
                <a:solidFill>
                  <a:schemeClr val="dk1"/>
                </a:solidFill>
                <a:highlight>
                  <a:srgbClr val="FFFFFF"/>
                </a:highlight>
              </a:rPr>
              <a:t>- </a:t>
            </a:r>
            <a:r>
              <a:rPr i="1" lang="en-IN" sz="2100">
                <a:solidFill>
                  <a:schemeClr val="dk1"/>
                </a:solidFill>
                <a:highlight>
                  <a:srgbClr val="FFFFFF"/>
                </a:highlight>
              </a:rPr>
              <a:t> </a:t>
            </a:r>
            <a:r>
              <a:rPr b="1" i="1" lang="en-IN" sz="2100">
                <a:solidFill>
                  <a:srgbClr val="FF0000"/>
                </a:solidFill>
                <a:highlight>
                  <a:srgbClr val="FFFFFF"/>
                </a:highlight>
              </a:rPr>
              <a:t>high bandwidth or radix</a:t>
            </a:r>
            <a:r>
              <a:rPr i="1" lang="en-IN" sz="2100">
                <a:solidFill>
                  <a:schemeClr val="dk1"/>
                </a:solidFill>
                <a:highlight>
                  <a:srgbClr val="FFFFFF"/>
                </a:highlight>
              </a:rPr>
              <a:t>. These switches are still </a:t>
            </a:r>
            <a:r>
              <a:rPr b="1" i="1" lang="en-IN" sz="2100">
                <a:solidFill>
                  <a:srgbClr val="FF0000"/>
                </a:solidFill>
                <a:highlight>
                  <a:srgbClr val="FFFFFF"/>
                </a:highlight>
              </a:rPr>
              <a:t>expensive to build</a:t>
            </a:r>
            <a:r>
              <a:rPr i="1" lang="en-IN" sz="2100">
                <a:solidFill>
                  <a:schemeClr val="dk1"/>
                </a:solidFill>
                <a:highlight>
                  <a:srgbClr val="FFFFFF"/>
                </a:highlight>
              </a:rPr>
              <a:t>. </a:t>
            </a:r>
            <a:endParaRPr i="1" sz="2100">
              <a:solidFill>
                <a:schemeClr val="dk1"/>
              </a:solidFill>
              <a:highlight>
                <a:srgbClr val="FFFFFF"/>
              </a:highlight>
            </a:endParaRPr>
          </a:p>
          <a:p>
            <a:pPr indent="-361950" lvl="0" marL="457200" rtl="0" algn="l">
              <a:spcBef>
                <a:spcPts val="0"/>
              </a:spcBef>
              <a:spcAft>
                <a:spcPts val="0"/>
              </a:spcAft>
              <a:buSzPts val="2100"/>
              <a:buAutoNum type="arabicPeriod"/>
            </a:pPr>
            <a:r>
              <a:rPr i="1" lang="en-IN" sz="2100">
                <a:solidFill>
                  <a:schemeClr val="dk1"/>
                </a:solidFill>
                <a:highlight>
                  <a:srgbClr val="FFFFFF"/>
                </a:highlight>
              </a:rPr>
              <a:t>design a topology that gives </a:t>
            </a:r>
            <a:r>
              <a:rPr b="1" i="1" lang="en-IN" sz="2100">
                <a:solidFill>
                  <a:srgbClr val="FF0000"/>
                </a:solidFill>
                <a:highlight>
                  <a:srgbClr val="FFFFFF"/>
                </a:highlight>
              </a:rPr>
              <a:t>high bisection bandwidth, using cheap commodity elements</a:t>
            </a:r>
            <a:r>
              <a:rPr i="1" lang="en-IN" sz="2100">
                <a:solidFill>
                  <a:schemeClr val="dk1"/>
                </a:solidFill>
                <a:highlight>
                  <a:srgbClr val="FFFFFF"/>
                </a:highlight>
              </a:rPr>
              <a:t>? </a:t>
            </a:r>
            <a:endParaRPr i="1" sz="2100">
              <a:solidFill>
                <a:schemeClr val="dk1"/>
              </a:solidFill>
              <a:highlight>
                <a:srgbClr val="FFFFFF"/>
              </a:highlight>
            </a:endParaRPr>
          </a:p>
          <a:p>
            <a:pPr indent="-361950" lvl="0" marL="457200" rtl="0" algn="l">
              <a:spcBef>
                <a:spcPts val="0"/>
              </a:spcBef>
              <a:spcAft>
                <a:spcPts val="0"/>
              </a:spcAft>
              <a:buSzPts val="2100"/>
              <a:buAutoNum type="arabicPeriod"/>
            </a:pPr>
            <a:r>
              <a:rPr i="1" lang="en-IN" sz="2100">
                <a:solidFill>
                  <a:schemeClr val="dk1"/>
                </a:solidFill>
                <a:highlight>
                  <a:srgbClr val="FFFFFF"/>
                </a:highlight>
              </a:rPr>
              <a:t>Use a large number of </a:t>
            </a:r>
            <a:r>
              <a:rPr b="1" i="1" lang="en-IN" sz="2100">
                <a:solidFill>
                  <a:srgbClr val="FF0000"/>
                </a:solidFill>
                <a:highlight>
                  <a:srgbClr val="FFFFFF"/>
                </a:highlight>
              </a:rPr>
              <a:t>cheap off-the-shelf switches</a:t>
            </a:r>
            <a:r>
              <a:rPr i="1" lang="en-IN" sz="2100">
                <a:solidFill>
                  <a:schemeClr val="dk1"/>
                </a:solidFill>
                <a:highlight>
                  <a:srgbClr val="FFFFFF"/>
                </a:highlight>
              </a:rPr>
              <a:t>, where </a:t>
            </a:r>
            <a:r>
              <a:rPr b="1" i="1" lang="en-IN" sz="2100">
                <a:solidFill>
                  <a:srgbClr val="FF0000"/>
                </a:solidFill>
                <a:highlight>
                  <a:srgbClr val="FFFFFF"/>
                </a:highlight>
              </a:rPr>
              <a:t>all the switches have the same number of ports</a:t>
            </a:r>
            <a:r>
              <a:rPr i="1" lang="en-IN" sz="2100">
                <a:solidFill>
                  <a:schemeClr val="dk1"/>
                </a:solidFill>
                <a:highlight>
                  <a:srgbClr val="FFFFFF"/>
                </a:highlight>
              </a:rPr>
              <a:t>, </a:t>
            </a:r>
            <a:r>
              <a:rPr b="1" i="1" lang="en-IN" sz="2100">
                <a:solidFill>
                  <a:srgbClr val="FF0000"/>
                </a:solidFill>
                <a:highlight>
                  <a:srgbClr val="FFFFFF"/>
                </a:highlight>
              </a:rPr>
              <a:t>each switch has a low number of ports</a:t>
            </a:r>
            <a:r>
              <a:rPr i="1" lang="en-IN" sz="2100">
                <a:solidFill>
                  <a:schemeClr val="dk1"/>
                </a:solidFill>
                <a:highlight>
                  <a:srgbClr val="FFFFFF"/>
                </a:highlight>
              </a:rPr>
              <a:t>, and </a:t>
            </a:r>
            <a:r>
              <a:rPr b="1" i="1" lang="en-IN" sz="2100">
                <a:solidFill>
                  <a:srgbClr val="FF0000"/>
                </a:solidFill>
                <a:highlight>
                  <a:srgbClr val="FFFFFF"/>
                </a:highlight>
              </a:rPr>
              <a:t>all link speeds are the same.</a:t>
            </a:r>
            <a:endParaRPr b="1" i="1" sz="2100">
              <a:solidFill>
                <a:srgbClr val="FF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c68390414e_1_39"/>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23" name="Google Shape;1023;g3c68390414e_1_39"/>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000"/>
              <a:buFont typeface="Arial"/>
              <a:buNone/>
            </a:pPr>
            <a:r>
              <a:rPr b="1" lang="en-IN" sz="3000">
                <a:solidFill>
                  <a:srgbClr val="FF0000"/>
                </a:solidFill>
              </a:rPr>
              <a:t>Clos Networks</a:t>
            </a:r>
            <a:endParaRPr i="1" sz="1700">
              <a:solidFill>
                <a:schemeClr val="dk1"/>
              </a:solidFill>
            </a:endParaRPr>
          </a:p>
          <a:p>
            <a:pPr indent="0" lvl="0" marL="0" marR="0" rtl="0" algn="ctr">
              <a:lnSpc>
                <a:spcPct val="100000"/>
              </a:lnSpc>
              <a:spcBef>
                <a:spcPts val="0"/>
              </a:spcBef>
              <a:spcAft>
                <a:spcPts val="0"/>
              </a:spcAft>
              <a:buClr>
                <a:srgbClr val="000000"/>
              </a:buClr>
              <a:buSzPts val="3000"/>
              <a:buFont typeface="Arial"/>
              <a:buNone/>
            </a:pPr>
            <a:r>
              <a:t/>
            </a:r>
            <a:endParaRPr b="1" sz="3000">
              <a:solidFill>
                <a:srgbClr val="FF0000"/>
              </a:solidFill>
            </a:endParaRPr>
          </a:p>
        </p:txBody>
      </p:sp>
      <p:sp>
        <p:nvSpPr>
          <p:cNvPr id="1024" name="Google Shape;1024;g3c68390414e_1_39"/>
          <p:cNvSpPr txBox="1"/>
          <p:nvPr/>
        </p:nvSpPr>
        <p:spPr>
          <a:xfrm>
            <a:off x="688050" y="1860175"/>
            <a:ext cx="7776900" cy="3417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In a classic Clos network, all the racks on the left send data to the racks on the right. </a:t>
            </a:r>
            <a:endParaRPr sz="2100">
              <a:solidFill>
                <a:schemeClr val="dk1"/>
              </a:solidFill>
              <a:highlight>
                <a:srgbClr val="FFFFFF"/>
              </a:highlight>
            </a:endParaRPr>
          </a:p>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In datacenters, racks can both send and receive data, so instead of having a separate layer of senders and recipients, we can have a single layer with all the racks (acting as either sender or recipient). </a:t>
            </a:r>
            <a:endParaRPr sz="2100">
              <a:solidFill>
                <a:schemeClr val="dk1"/>
              </a:solidFill>
              <a:highlight>
                <a:srgbClr val="FFFFFF"/>
              </a:highlight>
            </a:endParaRPr>
          </a:p>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Then, data travels along one of the many paths deeper into the network, and then back out to reach the recipient. This result is called a </a:t>
            </a:r>
            <a:r>
              <a:rPr b="1" lang="en-IN" sz="2100">
                <a:solidFill>
                  <a:srgbClr val="FF0000"/>
                </a:solidFill>
                <a:highlight>
                  <a:srgbClr val="FFFFFF"/>
                </a:highlight>
              </a:rPr>
              <a:t>folded Clos network</a:t>
            </a:r>
            <a:r>
              <a:rPr lang="en-IN" sz="2100">
                <a:solidFill>
                  <a:schemeClr val="dk1"/>
                </a:solidFill>
                <a:highlight>
                  <a:srgbClr val="FFFFFF"/>
                </a:highlight>
              </a:rPr>
              <a:t>, because we’ve </a:t>
            </a:r>
            <a:r>
              <a:rPr b="1" lang="en-IN" sz="2100">
                <a:solidFill>
                  <a:srgbClr val="FF0000"/>
                </a:solidFill>
                <a:highlight>
                  <a:srgbClr val="FFFFFF"/>
                </a:highlight>
              </a:rPr>
              <a:t>“folded” the sender and recipient layers into one.</a:t>
            </a:r>
            <a:endParaRPr b="1" sz="2100">
              <a:solidFill>
                <a:srgbClr val="FF0000"/>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c68390414e_1_1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31" name="Google Shape;1031;g3c68390414e_1_11"/>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Clos Networks</a:t>
            </a:r>
            <a:endParaRPr b="0" i="1" sz="1700" u="none" cap="none" strike="noStrike">
              <a:solidFill>
                <a:srgbClr val="000000"/>
              </a:solidFill>
              <a:latin typeface="Arial"/>
              <a:ea typeface="Arial"/>
              <a:cs typeface="Arial"/>
              <a:sym typeface="Arial"/>
            </a:endParaRPr>
          </a:p>
        </p:txBody>
      </p:sp>
      <p:pic>
        <p:nvPicPr>
          <p:cNvPr id="1032" name="Google Shape;1032;g3c68390414e_1_11"/>
          <p:cNvPicPr preferRelativeResize="0"/>
          <p:nvPr/>
        </p:nvPicPr>
        <p:blipFill>
          <a:blip r:embed="rId3">
            <a:alphaModFix/>
          </a:blip>
          <a:stretch>
            <a:fillRect/>
          </a:stretch>
        </p:blipFill>
        <p:spPr>
          <a:xfrm>
            <a:off x="152400" y="1390025"/>
            <a:ext cx="8830525" cy="481409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c68390414e_1_2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39" name="Google Shape;1039;g3c68390414e_1_20"/>
          <p:cNvSpPr/>
          <p:nvPr/>
        </p:nvSpPr>
        <p:spPr>
          <a:xfrm>
            <a:off x="1491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Clos Networks</a:t>
            </a:r>
            <a:endParaRPr b="0" i="1" sz="1700" u="none" cap="none" strike="noStrike">
              <a:solidFill>
                <a:srgbClr val="000000"/>
              </a:solidFill>
              <a:latin typeface="Arial"/>
              <a:ea typeface="Arial"/>
              <a:cs typeface="Arial"/>
              <a:sym typeface="Arial"/>
            </a:endParaRPr>
          </a:p>
        </p:txBody>
      </p:sp>
      <p:pic>
        <p:nvPicPr>
          <p:cNvPr id="1040" name="Google Shape;1040;g3c68390414e_1_20"/>
          <p:cNvPicPr preferRelativeResize="0"/>
          <p:nvPr/>
        </p:nvPicPr>
        <p:blipFill>
          <a:blip r:embed="rId3">
            <a:alphaModFix/>
          </a:blip>
          <a:stretch>
            <a:fillRect/>
          </a:stretch>
        </p:blipFill>
        <p:spPr>
          <a:xfrm>
            <a:off x="156900" y="1591725"/>
            <a:ext cx="8839204" cy="2520554"/>
          </a:xfrm>
          <a:prstGeom prst="rect">
            <a:avLst/>
          </a:prstGeom>
          <a:noFill/>
          <a:ln cap="flat" cmpd="sng" w="9525">
            <a:solidFill>
              <a:schemeClr val="dk1"/>
            </a:solidFill>
            <a:prstDash val="solid"/>
            <a:round/>
            <a:headEnd len="sm" w="sm" type="none"/>
            <a:tailEnd len="sm" w="sm" type="none"/>
          </a:ln>
        </p:spPr>
      </p:pic>
      <p:pic>
        <p:nvPicPr>
          <p:cNvPr id="1041" name="Google Shape;1041;g3c68390414e_1_20"/>
          <p:cNvPicPr preferRelativeResize="0"/>
          <p:nvPr/>
        </p:nvPicPr>
        <p:blipFill>
          <a:blip r:embed="rId4">
            <a:alphaModFix/>
          </a:blip>
          <a:stretch>
            <a:fillRect/>
          </a:stretch>
        </p:blipFill>
        <p:spPr>
          <a:xfrm rot="-5400000">
            <a:off x="6367500" y="4509399"/>
            <a:ext cx="2894575" cy="2100325"/>
          </a:xfrm>
          <a:prstGeom prst="rect">
            <a:avLst/>
          </a:prstGeom>
          <a:noFill/>
          <a:ln>
            <a:noFill/>
          </a:ln>
        </p:spPr>
      </p:pic>
      <p:sp>
        <p:nvSpPr>
          <p:cNvPr id="1042" name="Google Shape;1042;g3c68390414e_1_20"/>
          <p:cNvSpPr/>
          <p:nvPr/>
        </p:nvSpPr>
        <p:spPr>
          <a:xfrm>
            <a:off x="5925475" y="3736500"/>
            <a:ext cx="627600" cy="12999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c68390414e_1_46"/>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49" name="Google Shape;1049;g3c68390414e_1_46"/>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000"/>
              <a:buFont typeface="Arial"/>
              <a:buNone/>
            </a:pPr>
            <a:r>
              <a:rPr b="1" lang="en-IN" sz="3000">
                <a:solidFill>
                  <a:srgbClr val="FF0000"/>
                </a:solidFill>
              </a:rPr>
              <a:t>Fat-Tree Clos Topology</a:t>
            </a:r>
            <a:endParaRPr i="1" sz="1700">
              <a:solidFill>
                <a:schemeClr val="dk1"/>
              </a:solidFill>
            </a:endParaRPr>
          </a:p>
          <a:p>
            <a:pPr indent="0" lvl="0" marL="0" marR="0" rtl="0" algn="ctr">
              <a:lnSpc>
                <a:spcPct val="100000"/>
              </a:lnSpc>
              <a:spcBef>
                <a:spcPts val="0"/>
              </a:spcBef>
              <a:spcAft>
                <a:spcPts val="0"/>
              </a:spcAft>
              <a:buClr>
                <a:srgbClr val="000000"/>
              </a:buClr>
              <a:buSzPts val="3000"/>
              <a:buFont typeface="Arial"/>
              <a:buNone/>
            </a:pPr>
            <a:r>
              <a:t/>
            </a:r>
            <a:endParaRPr b="1" sz="3000">
              <a:solidFill>
                <a:srgbClr val="FF0000"/>
              </a:solidFill>
            </a:endParaRPr>
          </a:p>
        </p:txBody>
      </p:sp>
      <p:sp>
        <p:nvSpPr>
          <p:cNvPr id="1050" name="Google Shape;1050;g3c68390414e_1_46"/>
          <p:cNvSpPr txBox="1"/>
          <p:nvPr/>
        </p:nvSpPr>
        <p:spPr>
          <a:xfrm>
            <a:off x="688050" y="1860175"/>
            <a:ext cx="7776900" cy="3417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In a classic Clos network, all the racks on the left send data to the racks on the right. </a:t>
            </a:r>
            <a:endParaRPr sz="2100">
              <a:solidFill>
                <a:schemeClr val="dk1"/>
              </a:solidFill>
              <a:highlight>
                <a:srgbClr val="FFFFFF"/>
              </a:highlight>
            </a:endParaRPr>
          </a:p>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In datacenters, racks can both send and receive data, so instead of having a separate layer of senders and recipients, we can have a single layer with all the racks (acting as either sender or recipient). </a:t>
            </a:r>
            <a:endParaRPr sz="2100">
              <a:solidFill>
                <a:schemeClr val="dk1"/>
              </a:solidFill>
              <a:highlight>
                <a:srgbClr val="FFFFFF"/>
              </a:highlight>
            </a:endParaRPr>
          </a:p>
          <a:p>
            <a:pPr indent="-361950" lvl="0" marL="457200" rtl="0" algn="l">
              <a:spcBef>
                <a:spcPts val="0"/>
              </a:spcBef>
              <a:spcAft>
                <a:spcPts val="0"/>
              </a:spcAft>
              <a:buClr>
                <a:schemeClr val="dk1"/>
              </a:buClr>
              <a:buSzPts val="2100"/>
              <a:buAutoNum type="arabicPeriod"/>
            </a:pPr>
            <a:r>
              <a:rPr lang="en-IN" sz="2100">
                <a:solidFill>
                  <a:schemeClr val="dk1"/>
                </a:solidFill>
                <a:highlight>
                  <a:srgbClr val="FFFFFF"/>
                </a:highlight>
              </a:rPr>
              <a:t>Then, data travels along one of the many paths deeper into the network, and then back out to reach the recipient. This result is called a </a:t>
            </a:r>
            <a:r>
              <a:rPr b="1" lang="en-IN" sz="2100">
                <a:solidFill>
                  <a:srgbClr val="FF0000"/>
                </a:solidFill>
                <a:highlight>
                  <a:srgbClr val="FFFFFF"/>
                </a:highlight>
              </a:rPr>
              <a:t>folded Clos network</a:t>
            </a:r>
            <a:r>
              <a:rPr lang="en-IN" sz="2100">
                <a:solidFill>
                  <a:schemeClr val="dk1"/>
                </a:solidFill>
                <a:highlight>
                  <a:srgbClr val="FFFFFF"/>
                </a:highlight>
              </a:rPr>
              <a:t>, because we’ve </a:t>
            </a:r>
            <a:r>
              <a:rPr b="1" lang="en-IN" sz="2100">
                <a:solidFill>
                  <a:srgbClr val="FF0000"/>
                </a:solidFill>
                <a:highlight>
                  <a:srgbClr val="FFFFFF"/>
                </a:highlight>
              </a:rPr>
              <a:t>“folded” the sender and recipient layers into one.</a:t>
            </a:r>
            <a:endParaRPr b="1" sz="2100">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c68390414e_0_170"/>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57" name="Google Shape;1057;g3c68390414e_0_170"/>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Oversubscription Ratio</a:t>
            </a:r>
            <a:endParaRPr b="0" i="1" sz="1700" u="none" cap="none" strike="noStrike">
              <a:solidFill>
                <a:srgbClr val="000000"/>
              </a:solidFill>
              <a:latin typeface="Arial"/>
              <a:ea typeface="Arial"/>
              <a:cs typeface="Arial"/>
              <a:sym typeface="Arial"/>
            </a:endParaRPr>
          </a:p>
        </p:txBody>
      </p:sp>
      <p:pic>
        <p:nvPicPr>
          <p:cNvPr id="1058" name="Google Shape;1058;g3c68390414e_0_170"/>
          <p:cNvPicPr preferRelativeResize="0"/>
          <p:nvPr/>
        </p:nvPicPr>
        <p:blipFill>
          <a:blip r:embed="rId3">
            <a:alphaModFix/>
          </a:blip>
          <a:stretch>
            <a:fillRect/>
          </a:stretch>
        </p:blipFill>
        <p:spPr>
          <a:xfrm>
            <a:off x="5493381" y="4597969"/>
            <a:ext cx="3506025" cy="1964069"/>
          </a:xfrm>
          <a:prstGeom prst="rect">
            <a:avLst/>
          </a:prstGeom>
          <a:noFill/>
          <a:ln cap="flat" cmpd="sng" w="9525">
            <a:solidFill>
              <a:schemeClr val="dk1"/>
            </a:solidFill>
            <a:prstDash val="solid"/>
            <a:round/>
            <a:headEnd len="sm" w="sm" type="none"/>
            <a:tailEnd len="sm" w="sm" type="none"/>
          </a:ln>
        </p:spPr>
      </p:pic>
      <p:sp>
        <p:nvSpPr>
          <p:cNvPr id="1059" name="Google Shape;1059;g3c68390414e_0_170"/>
          <p:cNvSpPr txBox="1"/>
          <p:nvPr/>
        </p:nvSpPr>
        <p:spPr>
          <a:xfrm>
            <a:off x="401550" y="1457575"/>
            <a:ext cx="8349900" cy="314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218181"/>
              </a:lnSpc>
              <a:spcBef>
                <a:spcPts val="3200"/>
              </a:spcBef>
              <a:spcAft>
                <a:spcPts val="0"/>
              </a:spcAft>
              <a:buNone/>
            </a:pPr>
            <a:r>
              <a:rPr lang="en-IN" sz="1700">
                <a:solidFill>
                  <a:schemeClr val="dk1"/>
                </a:solidFill>
                <a:highlight>
                  <a:srgbClr val="FFFFFF"/>
                </a:highlight>
              </a:rPr>
              <a:t>I</a:t>
            </a:r>
            <a:r>
              <a:rPr lang="en-IN" sz="1700">
                <a:solidFill>
                  <a:schemeClr val="dk1"/>
                </a:solidFill>
                <a:highlight>
                  <a:srgbClr val="FFFFFF"/>
                </a:highlight>
              </a:rPr>
              <a:t>magine a </a:t>
            </a:r>
            <a:r>
              <a:rPr b="1" lang="en-IN" sz="1700">
                <a:solidFill>
                  <a:schemeClr val="dk1"/>
                </a:solidFill>
                <a:highlight>
                  <a:srgbClr val="FFFFFF"/>
                </a:highlight>
              </a:rPr>
              <a:t>Leaf switch with 48x10g ports</a:t>
            </a:r>
            <a:r>
              <a:rPr lang="en-IN" sz="1700">
                <a:solidFill>
                  <a:schemeClr val="dk1"/>
                </a:solidFill>
                <a:highlight>
                  <a:srgbClr val="FFFFFF"/>
                </a:highlight>
              </a:rPr>
              <a:t> for attaching </a:t>
            </a:r>
            <a:r>
              <a:rPr b="1" lang="en-IN" sz="1700">
                <a:solidFill>
                  <a:schemeClr val="dk1"/>
                </a:solidFill>
                <a:highlight>
                  <a:srgbClr val="FFFFFF"/>
                </a:highlight>
              </a:rPr>
              <a:t>endpoints giving 480Gb/s of port capacity</a:t>
            </a:r>
            <a:r>
              <a:rPr lang="en-IN" sz="1700">
                <a:solidFill>
                  <a:schemeClr val="dk1"/>
                </a:solidFill>
                <a:highlight>
                  <a:srgbClr val="FFFFFF"/>
                </a:highlight>
              </a:rPr>
              <a:t>. If this Leaf is connected to </a:t>
            </a:r>
            <a:r>
              <a:rPr b="1" lang="en-IN" sz="1700">
                <a:solidFill>
                  <a:schemeClr val="dk1"/>
                </a:solidFill>
                <a:highlight>
                  <a:srgbClr val="FFFFFF"/>
                </a:highlight>
              </a:rPr>
              <a:t>4 spine switches at 40Gb/s</a:t>
            </a:r>
            <a:r>
              <a:rPr lang="en-IN" sz="1700">
                <a:solidFill>
                  <a:schemeClr val="dk1"/>
                </a:solidFill>
                <a:highlight>
                  <a:srgbClr val="FFFFFF"/>
                </a:highlight>
              </a:rPr>
              <a:t> it will have a total </a:t>
            </a:r>
            <a:r>
              <a:rPr b="1" lang="en-IN" sz="1700">
                <a:solidFill>
                  <a:schemeClr val="dk1"/>
                </a:solidFill>
                <a:highlight>
                  <a:srgbClr val="FFFFFF"/>
                </a:highlight>
              </a:rPr>
              <a:t>uplink capacity of 160Gb/s</a:t>
            </a:r>
            <a:r>
              <a:rPr lang="en-IN" sz="1700">
                <a:solidFill>
                  <a:schemeClr val="dk1"/>
                </a:solidFill>
                <a:highlight>
                  <a:srgbClr val="FFFFFF"/>
                </a:highlight>
              </a:rPr>
              <a:t>. </a:t>
            </a:r>
            <a:endParaRPr sz="1700">
              <a:solidFill>
                <a:schemeClr val="dk1"/>
              </a:solidFill>
              <a:highlight>
                <a:srgbClr val="FFFFFF"/>
              </a:highlight>
            </a:endParaRPr>
          </a:p>
          <a:p>
            <a:pPr indent="0" lvl="0" marL="0" rtl="0" algn="l">
              <a:lnSpc>
                <a:spcPct val="218181"/>
              </a:lnSpc>
              <a:spcBef>
                <a:spcPts val="3200"/>
              </a:spcBef>
              <a:spcAft>
                <a:spcPts val="0"/>
              </a:spcAft>
              <a:buNone/>
            </a:pPr>
            <a:r>
              <a:rPr lang="en-IN" sz="1700">
                <a:solidFill>
                  <a:schemeClr val="dk1"/>
                </a:solidFill>
                <a:highlight>
                  <a:srgbClr val="FFFFFF"/>
                </a:highlight>
              </a:rPr>
              <a:t>So the</a:t>
            </a:r>
            <a:r>
              <a:rPr b="1" lang="en-IN" sz="1700">
                <a:solidFill>
                  <a:schemeClr val="dk1"/>
                </a:solidFill>
                <a:highlight>
                  <a:srgbClr val="FFFFFF"/>
                </a:highlight>
              </a:rPr>
              <a:t> oversubscription ratio is</a:t>
            </a:r>
            <a:r>
              <a:rPr lang="en-IN" sz="1700">
                <a:solidFill>
                  <a:schemeClr val="dk1"/>
                </a:solidFill>
                <a:highlight>
                  <a:srgbClr val="FFFFFF"/>
                </a:highlight>
              </a:rPr>
              <a:t>: </a:t>
            </a:r>
            <a:r>
              <a:rPr b="1" lang="en-IN" sz="1700">
                <a:solidFill>
                  <a:schemeClr val="dk1"/>
                </a:solidFill>
                <a:highlight>
                  <a:srgbClr val="FFFFFF"/>
                </a:highlight>
              </a:rPr>
              <a:t>480:160</a:t>
            </a:r>
            <a:r>
              <a:rPr lang="en-IN" sz="1700">
                <a:solidFill>
                  <a:schemeClr val="dk1"/>
                </a:solidFill>
                <a:highlight>
                  <a:srgbClr val="FFFFFF"/>
                </a:highlight>
              </a:rPr>
              <a:t> and dividing both sides by 160 we get </a:t>
            </a:r>
            <a:r>
              <a:rPr b="1" lang="en-IN" sz="1700">
                <a:solidFill>
                  <a:schemeClr val="dk1"/>
                </a:solidFill>
                <a:highlight>
                  <a:srgbClr val="FFFFFF"/>
                </a:highlight>
              </a:rPr>
              <a:t>3:1</a:t>
            </a:r>
            <a:r>
              <a:rPr lang="en-IN" sz="1700">
                <a:solidFill>
                  <a:schemeClr val="dk1"/>
                </a:solidFill>
                <a:highlight>
                  <a:srgbClr val="FFFFFF"/>
                </a:highlight>
              </a:rPr>
              <a:t>.</a:t>
            </a:r>
            <a:endParaRPr sz="1700">
              <a:solidFill>
                <a:schemeClr val="dk1"/>
              </a:solidFill>
              <a:highlight>
                <a:srgbClr val="FFFFFF"/>
              </a:highligh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c68390414e_0_161"/>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066" name="Google Shape;1066;g3c68390414e_0_161"/>
          <p:cNvSpPr/>
          <p:nvPr/>
        </p:nvSpPr>
        <p:spPr>
          <a:xfrm>
            <a:off x="153600" y="524525"/>
            <a:ext cx="8845800" cy="7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lang="en-IN" sz="3000">
                <a:solidFill>
                  <a:srgbClr val="FF0000"/>
                </a:solidFill>
              </a:rPr>
              <a:t>Oversubscription Ratio</a:t>
            </a:r>
            <a:endParaRPr b="0" i="1" sz="1700" u="none" cap="none" strike="noStrike">
              <a:solidFill>
                <a:srgbClr val="000000"/>
              </a:solidFill>
              <a:latin typeface="Arial"/>
              <a:ea typeface="Arial"/>
              <a:cs typeface="Arial"/>
              <a:sym typeface="Arial"/>
            </a:endParaRPr>
          </a:p>
        </p:txBody>
      </p:sp>
      <p:pic>
        <p:nvPicPr>
          <p:cNvPr id="1067" name="Google Shape;1067;g3c68390414e_0_161"/>
          <p:cNvPicPr preferRelativeResize="0"/>
          <p:nvPr/>
        </p:nvPicPr>
        <p:blipFill>
          <a:blip r:embed="rId3">
            <a:alphaModFix/>
          </a:blip>
          <a:stretch>
            <a:fillRect/>
          </a:stretch>
        </p:blipFill>
        <p:spPr>
          <a:xfrm>
            <a:off x="1065986" y="1709063"/>
            <a:ext cx="7454538" cy="417603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c68390414e_0_18"/>
          <p:cNvSpPr txBox="1"/>
          <p:nvPr>
            <p:ph type="title"/>
          </p:nvPr>
        </p:nvSpPr>
        <p:spPr>
          <a:xfrm>
            <a:off x="457200" y="274680"/>
            <a:ext cx="8229300" cy="114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074" name="Google Shape;1074;g3c68390414e_0_18"/>
          <p:cNvSpPr txBox="1"/>
          <p:nvPr>
            <p:ph idx="1" type="body"/>
          </p:nvPr>
        </p:nvSpPr>
        <p:spPr>
          <a:xfrm>
            <a:off x="457200" y="1600200"/>
            <a:ext cx="8229300" cy="4525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75" name="Google Shape;1075;g3c68390414e_0_18"/>
          <p:cNvSpPr txBox="1"/>
          <p:nvPr>
            <p:ph idx="12" type="sldNum"/>
          </p:nvPr>
        </p:nvSpPr>
        <p:spPr>
          <a:xfrm>
            <a:off x="6553080" y="6356520"/>
            <a:ext cx="2133300" cy="364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2023-02-09T09:07:05Z</dcterms:created>
  <dc:creator>Admin</dc:creator>
</cp:coreProperties>
</file>