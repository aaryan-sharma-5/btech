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2"/>
  </p:notesMasterIdLst>
  <p:sldIdLst>
    <p:sldId id="257" r:id="rId2"/>
    <p:sldId id="256" r:id="rId3"/>
    <p:sldId id="258" r:id="rId4"/>
    <p:sldId id="277" r:id="rId5"/>
    <p:sldId id="269" r:id="rId6"/>
    <p:sldId id="270" r:id="rId7"/>
    <p:sldId id="271" r:id="rId8"/>
    <p:sldId id="272" r:id="rId9"/>
    <p:sldId id="273" r:id="rId10"/>
    <p:sldId id="274" r:id="rId11"/>
    <p:sldId id="275" r:id="rId12"/>
    <p:sldId id="276" r:id="rId13"/>
    <p:sldId id="266" r:id="rId14"/>
    <p:sldId id="268"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3" r:id="rId29"/>
    <p:sldId id="294" r:id="rId30"/>
    <p:sldId id="295" r:id="rId31"/>
    <p:sldId id="296" r:id="rId32"/>
    <p:sldId id="291" r:id="rId33"/>
    <p:sldId id="292"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p:scale>
          <a:sx n="75" d="100"/>
          <a:sy n="75" d="100"/>
        </p:scale>
        <p:origin x="-280" y="2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470771-8074-4F66-AC64-A78C5510EAB9}" type="datetimeFigureOut">
              <a:rPr lang="en-IN" smtClean="0"/>
              <a:t>10-04-2026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DA3B92-C9F6-4DB8-9A2F-860A68F1CC5D}" type="slidenum">
              <a:rPr lang="en-IN" smtClean="0"/>
              <a:t>‹#›</a:t>
            </a:fld>
            <a:endParaRPr lang="en-IN"/>
          </a:p>
        </p:txBody>
      </p:sp>
    </p:spTree>
    <p:extLst>
      <p:ext uri="{BB962C8B-B14F-4D97-AF65-F5344CB8AC3E}">
        <p14:creationId xmlns:p14="http://schemas.microsoft.com/office/powerpoint/2010/main" val="2196519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477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857667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F213FC-66C6-4930-AAD8-6C0E37E6E5CB}"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964449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8F213FC-66C6-4930-AAD8-6C0E37E6E5CB}"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9380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8F213FC-66C6-4930-AAD8-6C0E37E6E5CB}"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44191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8F213FC-66C6-4930-AAD8-6C0E37E6E5CB}"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05004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F213FC-66C6-4930-AAD8-6C0E37E6E5CB}"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883206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1790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66152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33610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903187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213FC-66C6-4930-AAD8-6C0E37E6E5CB}" type="datetimeFigureOut">
              <a:rPr lang="en-US" smtClean="0"/>
              <a:t>4/10/2026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spTree>
    <p:extLst>
      <p:ext uri="{BB962C8B-B14F-4D97-AF65-F5344CB8AC3E}">
        <p14:creationId xmlns:p14="http://schemas.microsoft.com/office/powerpoint/2010/main" val="12624221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s://www.google.com/search?q=Availability&amp;sca_esv=bd7b89a16dc7985d&amp;sxsrf=ANbL-n64607jC9yX_p1TmONUcyZdhqvr5Q:1775024362219&amp;ei=6rjMaZ_5DK6XseMPle-fiAc&amp;biw=1280&amp;bih=585&amp;ved=2ahUKEwjM1teHgcyTAxX0RmwGHVRYFNIQgK4QegQIBBAF&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 Id="rId3" Type="http://schemas.openxmlformats.org/officeDocument/2006/relationships/image" Target="../media/image2.png"/><Relationship Id="rId7" Type="http://schemas.openxmlformats.org/officeDocument/2006/relationships/hyperlink" Target="https://www.google.com/search?q=Integrity&amp;sca_esv=bd7b89a16dc7985d&amp;sxsrf=ANbL-n64607jC9yX_p1TmONUcyZdhqvr5Q:1775024362219&amp;ei=6rjMaZ_5DK6XseMPle-fiAc&amp;biw=1280&amp;bih=585&amp;ved=2ahUKEwjM1teHgcyTAxX0RmwGHVRYFNIQgK4QegQIBBAD&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google.com/search?q=Confidentiality&amp;sca_esv=bd7b89a16dc7985d&amp;sxsrf=ANbL-n64607jC9yX_p1TmONUcyZdhqvr5Q:1775024362219&amp;ei=6rjMaZ_5DK6XseMPle-fiAc&amp;biw=1280&amp;bih=585&amp;ved=2ahUKEwjM1teHgcyTAxX0RmwGHVRYFNIQgK4QegQIBBAB&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hyperlink" Target="https://www.google.com/search?q=Non-repudiation&amp;sca_esv=bd7b89a16dc7985d&amp;sxsrf=ANbL-n64607jC9yX_p1TmONUcyZdhqvr5Q:1775024362219&amp;ei=6rjMaZ_5DK6XseMPle-fiAc&amp;biw=1280&amp;bih=585&amp;ved=2ahUKEwjM1teHgcyTAxX0RmwGHVRYFNIQgK4QegQIBBAJ&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q=SSH+(Secure+Shell)&amp;sca_esv=bd7b89a16dc7985d&amp;sxsrf=ANbL-n64607jC9yX_p1TmONUcyZdhqvr5Q:1775024362219&amp;ei=6rjMaZ_5DK6XseMPle-fiAc&amp;biw=1280&amp;bih=585&amp;ved=2ahUKEwjM1teHgcyTAxX0RmwGHVRYFNIQgK4QegQIBxAE&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 Id="rId7" Type="http://schemas.openxmlformats.org/officeDocument/2006/relationships/image" Target="../media/image4.jpeg"/><Relationship Id="rId2" Type="http://schemas.openxmlformats.org/officeDocument/2006/relationships/hyperlink" Target="https://www.google.com/search?q=IPsec+(Internet+Protocol+Security)&amp;sca_esv=bd7b89a16dc7985d&amp;sxsrf=ANbL-n64607jC9yX_p1TmONUcyZdhqvr5Q:1775024362219&amp;ei=6rjMaZ_5DK6XseMPle-fiAc&amp;biw=1280&amp;bih=585&amp;ved=2ahUKEwjM1teHgcyTAxX0RmwGHVRYFNIQgK4QegQIBxAC&amp;uact=5&amp;oq=Network+security+principles+and+protocols&amp;gs_lp=Egxnd3Mtd2l6LXNlcnAiKU5ldHdvcmsgc2VjdXJpdHkgcHJpbmNpcGxlcyBhbmQgcHJvdG9jb2xzMgYQABgWGB4yCxAAGIAEGIoFGIYDMggQABiABBiiBDIFEAAY7wUyBRAAGO8FMggQABiABBiiBEjWEFDiC1jiC3ABeAGQAQCYAb8CoAG_AqoBAzMtMbgBA8gBAPgBAfgBApgCAqAC0AKoAhPCAhYQABiABBiKBRhDGOcGGOoCGLQC2AEBwgIQEAAYAxiPARjqAhi0AtgBAsICEBAuGAMYjwEY6gIYtALYAQKYAwnxBb_GDhv4GmCQugYECAEYB7oGBggCEAEYCpIHBTEuMy0xoAeKBLIHAzMtMbgHxwLCBwMyLTLIBwyACAE&amp;sclient=gws-wiz-serp&amp;mstk=AUtExfBLWXakoxDNMlBUTEB5FMEfAGBVJxy82-BwbIVM0cUspFSpSicF886KJ0aW5RJt3WNE3NNtGmXnwmlxv1--kj2hD2ATPpjfs2tnWzl7-1pyW_Ax8BNpBEKiwQmbz8M6eOtgV9WXIOFRM4w6BA7FU9XuSfjiBdOW21lNcdT6G2C4MEVhPSDyW6laAMhcd66obtML&amp;csui=3"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baeldung.com/cs/eavesdropping-attack"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baeldung.com/ops/docker-securing-passwords" TargetMode="External"/><Relationship Id="rId4" Type="http://schemas.openxmlformats.org/officeDocument/2006/relationships/hyperlink" Target="https://www.baeldung.com/cs/security-mitm" TargetMode="External"/><Relationship Id="rId9"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baeldung.com/cs/dos-vs-ddos-attacks" TargetMode="External"/><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baeldung.com/cs/virus-vs-worm-vs-trojan#trojan"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baeldung.com/cs/cloud-public-vs-private-vs-hybrid" TargetMode="External"/><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www.baeldung.com/cs/cdn"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baeldung.com/cs/security-mitm" TargetMode="External"/><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baeldung.com/spring-prevent-xss"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baeldung.com/cs/ids-vs-ips#intrusion-detection-systems" TargetMode="External"/><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baeldung.com/java-access-control-models" TargetMode="External"/><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baeldung.com/cs/sql-injection" TargetMode="External"/><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baeldung.com/cs/cia-triad" TargetMode="External"/><Relationship Id="rId4" Type="http://schemas.openxmlformats.org/officeDocument/2006/relationships/hyperlink" Target="https://www.baeldung.com/cs/phishing-attacks" TargetMode="External"/><Relationship Id="rId9" Type="http://schemas.openxmlformats.org/officeDocument/2006/relationships/image" Target="../media/image4.jpeg"/></Relationships>
</file>

<file path=ppt/slides/_rels/slide1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baeldung.com/java-digital-signature" TargetMode="External"/><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baeldung.com/cs/firewalls-intro" TargetMode="External"/><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google.com/search?q=Discretionary+Access+Control+(DAC)&amp;biw=1280&amp;bih=585&amp;sca_esv=d105d924421eb947&amp;sxsrf=ANbL-n48a5I_N3PK-xP7D2iKYQy0bfBB2Q:1775472223692&amp;ei=X47Tabj1Kb2M2roP1sHe2Qg&amp;ved=2ahUKEwi2tYbEhdmTAxVz4DQHHYL_CMMQgK4QegYIAQgBEAE&amp;uact=5&amp;oq=Access+control+models&amp;gs_lp=Egxnd3Mtd2l6LXNlcnAiFUFjY2VzcyBjb250cm9sIG1vZGVsczILEAAYgAQYigUYkQIyCxAAGIAEGIoFGJECMgsQABiABBiKBRiRAjILEAAYgAQYigUYkQIyBRAAGIAEMgsQABiABBiKBRiRAjIFEAAYgAQyBRAAGIAEMgUQABiABDILEAAYgAQYigUYhgNIvw5Q2AhY2AhwAXgBkAEAmAHLAaABywGqAQMyLTG4AQPIAQD4AQH4AQKYAgKgAvIBqAIKwgIXEAAYgAQYigUYkQIY5wYY6gIYtALYAQHCAhAQABgDGI8BGOoCGLQC2AEBmAMT8QV-XvymCpzXOroGBAgBGAeSBwUxLjAuMaAHiwayBwMyLTG4B94BwgcDMy0yyAcjgAgB&amp;sclient=gws-wiz-serp" TargetMode="External"/><Relationship Id="rId7" Type="http://schemas.openxmlformats.org/officeDocument/2006/relationships/hyperlink" Target="https://www.google.com/search?q=Rule-Based+Access+Control+(RuBAC)&amp;biw=1280&amp;bih=585&amp;sca_esv=d105d924421eb947&amp;sxsrf=ANbL-n48a5I_N3PK-xP7D2iKYQy0bfBB2Q:1775472223692&amp;ei=X47Tabj1Kb2M2roP1sHe2Qg&amp;ved=2ahUKEwi2tYbEhdmTAxVz4DQHHYL_CMMQgK4QegYIAQgBEAk&amp;uact=5&amp;oq=Access+control+models&amp;gs_lp=Egxnd3Mtd2l6LXNlcnAiFUFjY2VzcyBjb250cm9sIG1vZGVsczILEAAYgAQYigUYkQIyCxAAGIAEGIoFGJECMgsQABiABBiKBRiRAjILEAAYgAQYigUYkQIyBRAAGIAEMgsQABiABBiKBRiRAjIFEAAYgAQyBRAAGIAEMgUQABiABDILEAAYgAQYigUYhgNIvw5Q2AhY2AhwAXgBkAEAmAHLAaABywGqAQMyLTG4AQPIAQD4AQH4AQKYAgKgAvIBqAIKwgIXEAAYgAQYigUYkQIY5wYY6gIYtALYAQHCAhAQABgDGI8BGOoCGLQC2AEBmAMT8QV-XvymCpzXOroGBAgBGAeSBwUxLjAuMaAHiwayBwMyLTG4B94BwgcDMy0yyAcjgAgB&amp;sclient=gws-wiz-serp"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google.com/search?q=Attribute-Based+Access+Control+(ABAC)&amp;biw=1280&amp;bih=585&amp;sca_esv=d105d924421eb947&amp;sxsrf=ANbL-n48a5I_N3PK-xP7D2iKYQy0bfBB2Q:1775472223692&amp;ei=X47Tabj1Kb2M2roP1sHe2Qg&amp;ved=2ahUKEwi2tYbEhdmTAxVz4DQHHYL_CMMQgK4QegYIAQgBEAc&amp;uact=5&amp;oq=Access+control+models&amp;gs_lp=Egxnd3Mtd2l6LXNlcnAiFUFjY2VzcyBjb250cm9sIG1vZGVsczILEAAYgAQYigUYkQIyCxAAGIAEGIoFGJECMgsQABiABBiKBRiRAjILEAAYgAQYigUYkQIyBRAAGIAEMgsQABiABBiKBRiRAjIFEAAYgAQyBRAAGIAEMgUQABiABDILEAAYgAQYigUYhgNIvw5Q2AhY2AhwAXgBkAEAmAHLAaABywGqAQMyLTG4AQPIAQD4AQH4AQKYAgKgAvIBqAIKwgIXEAAYgAQYigUYkQIY5wYY6gIYtALYAQHCAhAQABgDGI8BGOoCGLQC2AEBmAMT8QV-XvymCpzXOroGBAgBGAeSBwUxLjAuMaAHiwayBwMyLTG4B94BwgcDMy0yyAcjgAgB&amp;sclient=gws-wiz-serp" TargetMode="External"/><Relationship Id="rId11" Type="http://schemas.openxmlformats.org/officeDocument/2006/relationships/image" Target="../media/image4.jpeg"/><Relationship Id="rId5" Type="http://schemas.openxmlformats.org/officeDocument/2006/relationships/hyperlink" Target="https://www.google.com/search?q=Role-Based+Access+Control+(RBAC)&amp;biw=1280&amp;bih=585&amp;sca_esv=d105d924421eb947&amp;sxsrf=ANbL-n48a5I_N3PK-xP7D2iKYQy0bfBB2Q:1775472223692&amp;ei=X47Tabj1Kb2M2roP1sHe2Qg&amp;ved=2ahUKEwi2tYbEhdmTAxVz4DQHHYL_CMMQgK4QegYIAQgBEAU&amp;uact=5&amp;oq=Access+control+models&amp;gs_lp=Egxnd3Mtd2l6LXNlcnAiFUFjY2VzcyBjb250cm9sIG1vZGVsczILEAAYgAQYigUYkQIyCxAAGIAEGIoFGJECMgsQABiABBiKBRiRAjILEAAYgAQYigUYkQIyBRAAGIAEMgsQABiABBiKBRiRAjIFEAAYgAQyBRAAGIAEMgUQABiABDILEAAYgAQYigUYhgNIvw5Q2AhY2AhwAXgBkAEAmAHLAaABywGqAQMyLTG4AQPIAQD4AQH4AQKYAgKgAvIBqAIKwgIXEAAYgAQYigUYkQIY5wYY6gIYtALYAQHCAhAQABgDGI8BGOoCGLQC2AEBmAMT8QV-XvymCpzXOroGBAgBGAeSBwUxLjAuMaAHiwayBwMyLTG4B94BwgcDMy0yyAcjgAgB&amp;sclient=gws-wiz-serp" TargetMode="External"/><Relationship Id="rId10" Type="http://schemas.openxmlformats.org/officeDocument/2006/relationships/image" Target="../media/image3.png"/><Relationship Id="rId4" Type="http://schemas.openxmlformats.org/officeDocument/2006/relationships/hyperlink" Target="https://www.google.com/search?q=Mandatory+Access+Control+(MAC)&amp;biw=1280&amp;bih=585&amp;sca_esv=d105d924421eb947&amp;sxsrf=ANbL-n48a5I_N3PK-xP7D2iKYQy0bfBB2Q:1775472223692&amp;ei=X47Tabj1Kb2M2roP1sHe2Qg&amp;ved=2ahUKEwi2tYbEhdmTAxVz4DQHHYL_CMMQgK4QegYIAQgBEAM&amp;uact=5&amp;oq=Access+control+models&amp;gs_lp=Egxnd3Mtd2l6LXNlcnAiFUFjY2VzcyBjb250cm9sIG1vZGVsczILEAAYgAQYigUYkQIyCxAAGIAEGIoFGJECMgsQABiABBiKBRiRAjILEAAYgAQYigUYkQIyBRAAGIAEMgsQABiABBiKBRiRAjIFEAAYgAQyBRAAGIAEMgUQABiABDILEAAYgAQYigUYhgNIvw5Q2AhY2AhwAXgBkAEAmAHLAaABywGqAQMyLTG4AQPIAQD4AQH4AQKYAgKgAvIBqAIKwgIXEAAYgAQYigUYkQIY5wYY6gIYtALYAQHCAhAQABgDGI8BGOoCGLQC2AEBmAMT8QV-XvymCpzXOroGBAgBGAeSBwUxLjAuMaAHiwayBwMyLTG4B94BwgcDMy0yyAcjgAgB&amp;sclient=gws-wiz-serp" TargetMode="External"/><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hyperlink" Target="https://www.google.com/search?q=Malware/Ransomware&amp;biw=1280&amp;bih=585&amp;sca_esv=d105d924421eb947&amp;sxsrf=ANbL-n5wy1JCRtLLdAglxsO6O-QwZT_EKA:1775472692895&amp;ei=NJDTacuoNpG-0-kP6-_loQg&amp;ved=2ahUKEwiLhp7z-9qTAxUezzgGHftgEcIQgK4QegYIAQgBEA0&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13" Type="http://schemas.openxmlformats.org/officeDocument/2006/relationships/image" Target="../media/image4.jpeg"/><Relationship Id="rId3" Type="http://schemas.openxmlformats.org/officeDocument/2006/relationships/hyperlink" Target="https://www.google.com/search?q=Denial-of-Service+(DoS)+and+DDoS&amp;biw=1280&amp;bih=585&amp;sca_esv=d105d924421eb947&amp;sxsrf=ANbL-n5wy1JCRtLLdAglxsO6O-QwZT_EKA:1775472692895&amp;ei=NJDTacuoNpG-0-kP6-_loQg&amp;ved=2ahUKEwiLhp7z-9qTAxUezzgGHftgEcIQgK4QegYIAQgBEAM&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7" Type="http://schemas.openxmlformats.org/officeDocument/2006/relationships/hyperlink" Target="https://www.google.com/search?q=SQL+Injection+(SQLi)&amp;biw=1280&amp;bih=585&amp;sca_esv=d105d924421eb947&amp;sxsrf=ANbL-n5wy1JCRtLLdAglxsO6O-QwZT_EKA:1775472692895&amp;ei=NJDTacuoNpG-0-kP6-_loQg&amp;ved=2ahUKEwiLhp7z-9qTAxUezzgGHftgEcIQgK4QegYIAQgBEAs&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12"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google.com/search?q=IP+Spoofing&amp;biw=1280&amp;bih=585&amp;sca_esv=d105d924421eb947&amp;sxsrf=ANbL-n5wy1JCRtLLdAglxsO6O-QwZT_EKA:1775472692895&amp;ei=NJDTacuoNpG-0-kP6-_loQg&amp;ved=2ahUKEwiLhp7z-9qTAxUezzgGHftgEcIQgK4QegYIAQgBEAk&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11" Type="http://schemas.openxmlformats.org/officeDocument/2006/relationships/image" Target="../media/image2.png"/><Relationship Id="rId5" Type="http://schemas.openxmlformats.org/officeDocument/2006/relationships/hyperlink" Target="https://www.google.com/search?q=Packet+Sniffing&amp;biw=1280&amp;bih=585&amp;sca_esv=d105d924421eb947&amp;sxsrf=ANbL-n5wy1JCRtLLdAglxsO6O-QwZT_EKA:1775472692895&amp;ei=NJDTacuoNpG-0-kP6-_loQg&amp;ved=2ahUKEwiLhp7z-9qTAxUezzgGHftgEcIQgK4QegYIAQgBEAc&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10" Type="http://schemas.openxmlformats.org/officeDocument/2006/relationships/image" Target="../media/image1.png"/><Relationship Id="rId4" Type="http://schemas.openxmlformats.org/officeDocument/2006/relationships/hyperlink" Target="https://www.google.com/search?q=Man-in-the-Middle+(MITM)&amp;biw=1280&amp;bih=585&amp;sca_esv=d105d924421eb947&amp;sxsrf=ANbL-n5wy1JCRtLLdAglxsO6O-QwZT_EKA:1775472692895&amp;ei=NJDTacuoNpG-0-kP6-_loQg&amp;ved=2ahUKEwiLhp7z-9qTAxUezzgGHftgEcIQgK4QegYIAQgBEAU&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 Id="rId9" Type="http://schemas.openxmlformats.org/officeDocument/2006/relationships/hyperlink" Target="https://www.google.com/search?q=DNS+Spoofing/Poisoning&amp;biw=1280&amp;bih=585&amp;sca_esv=d105d924421eb947&amp;sxsrf=ANbL-n5wy1JCRtLLdAglxsO6O-QwZT_EKA:1775472692895&amp;ei=NJDTacuoNpG-0-kP6-_loQg&amp;ved=2ahUKEwiLhp7z-9qTAxUezzgGHftgEcIQgK4QegYIAQgBEA8&amp;uact=5&amp;oq=Network+based+attacks+&amp;gs_lp=Egxnd3Mtd2l6LXNlcnAiFk5ldHdvcmsgYmFzZWQgYXR0YWNrcyAyBRAAGIAEMgUQABiABDIGEAAYFhgeMgYQABgWGB4yBhAAGBYYHjIGEAAYFhgeMgkQABgWGB4YxwMyBhAAGBYYHjIGEAAYFhgeMgYQABgWGB5IihBQqwlYqwlwAXgBkAEAmAH2AaAB9gGqAQMyLTG4AQPIAQD4AQH4AQKYAgKgArICqAIKwgIXEAAYgAQYigUYkQIY5wYY6gIYtALYAQHCAhAQABgDGI8BGOoCGLQC2AEBmAMs8QUNhmocDXPoF7oGBAgBGAeSBwUxLjAuMaAHrQayBwMyLTG4B4YCwgcFMy0xLjHIByqACAE&amp;sclient=gws-wiz-serp"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radware.com/security/ddos-knowledge-center/ddospedia/dos-attack/" TargetMode="External"/><Relationship Id="rId7"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hyperlink" Target="https://www.google.com/search?q=Volumetric+Attacks&amp;sca_esv=0390fb9fead6b8d7&amp;sxsrf=ANbL-n7-nl6ONNynGUVWzc8A1gepGYk6PQ:1775541802527&amp;ei=Kp7UaaDaH_eC4-EPqruUaQ&amp;biw=1280&amp;bih=585&amp;oq=dos+attack&amp;gs_lp=Egxnd3Mtd2l6LXNlcnAiCmRvcyBhdHRhY2sqAggCMgoQABhHGNYEGLADMgoQABhHGNYEGLADMgoQABhHGNYEGLADMgoQABhHGNYEGLADMgoQABhHGNYEGLADMgoQABhHGNYEGLADMgoQABhHGNYEGLADMgoQABhHGNYEGLADMg0QABiABBiKBRhDGLADMg0QABiABBiKBRhDGLADSPMXUABYAHABeAGQAQCYAQCgAQCqAQC4AQHIAQCYAgGgAhCYAwCIBgGQBgqSBwExoAcAsgcAuAcAwgcDMy0xyAcKgAgB&amp;sclient=gws-wiz-serp&amp;ved=2ahUKEwiGxrmaltuTAxUoyzgGHQ0uGvoQgK4QegYIAQgBEAE" TargetMode="External"/><Relationship Id="rId7"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search?q=Protocol+Attacks&amp;sca_esv=0390fb9fead6b8d7&amp;sxsrf=ANbL-n7-nl6ONNynGUVWzc8A1gepGYk6PQ:1775541802527&amp;ei=Kp7UaaDaH_eC4-EPqruUaQ&amp;biw=1280&amp;bih=585&amp;oq=dos+attack&amp;gs_lp=Egxnd3Mtd2l6LXNlcnAiCmRvcyBhdHRhY2sqAggCMgoQABhHGNYEGLADMgoQABhHGNYEGLADMgoQABhHGNYEGLADMgoQABhHGNYEGLADMgoQABhHGNYEGLADMgoQABhHGNYEGLADMgoQABhHGNYEGLADMgoQABhHGNYEGLADMg0QABiABBiKBRhDGLADMg0QABiABBiKBRhDGLADSPMXUABYAHABeAGQAQCYAQCgAQCqAQC4AQHIAQCYAgGgAhCYAwCIBgGQBgqSBwExoAcAsgcAuAcAwgcDMy0xyAcKgAgB&amp;sclient=gws-wiz-serp&amp;ved=2ahUKEwiGxrmaltuTAxUoyzgGHQ0uGvoQgK4QegYIAQgBEAU" TargetMode="External"/><Relationship Id="rId7"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hyperlink" Target="https://www.google.com/search?q=Application+Layer+Attacks&amp;sca_esv=0390fb9fead6b8d7&amp;sxsrf=ANbL-n7-nl6ONNynGUVWzc8A1gepGYk6PQ:1775541802527&amp;ei=Kp7UaaDaH_eC4-EPqruUaQ&amp;biw=1280&amp;bih=585&amp;oq=dos+attack&amp;gs_lp=Egxnd3Mtd2l6LXNlcnAiCmRvcyBhdHRhY2sqAggCMgoQABhHGNYEGLADMgoQABhHGNYEGLADMgoQABhHGNYEGLADMgoQABhHGNYEGLADMgoQABhHGNYEGLADMgoQABhHGNYEGLADMgoQABhHGNYEGLADMgoQABhHGNYEGLADMg0QABiABBiKBRhDGLADMg0QABiABBiKBRhDGLADSPMXUABYAHABeAGQAQCYAQCgAQCqAQC4AQHIAQCYAgGgAhCYAwCIBgGQBgqSBwExoAcAsgcAuAcAwgcDMy0xyAcKgAgB&amp;sclient=gws-wiz-serp&amp;ved=2ahUKEwiGxrmaltuTAxUoyzgGHQ0uGvoQgK4QegYIAQgBEAo" TargetMode="External"/><Relationship Id="rId7"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hyperlink" Target="https://www.google.com/search?q=Deep+Packet+Inspection+%28DPI%29&amp;sca_esv=d36697531cc09700&amp;biw=1280&amp;bih=585&amp;sxsrf=ANbL-n5MTDJUC2ZgqSodfagYoVC-_HsBug%3A1776057937238&amp;ei=UX7cadGfDpHWvr0P_oKK-QQ&amp;ved=2ahUKEwiHqebzkeqTAxVoh68BHcH1A3MQgK4QegYIAQgBEAE&amp;uact=5&amp;oq=Next+Generation+Firewalls+%28NGFs%29&amp;gs_lp=Egxnd3Mtd2l6LXNlcnAiIE5leHQgR2VuZXJhdGlvbiBGaXJld2FsbHMgKE5HRnMpMgUQIRigAUjDHVC5A1jqF3ABeAGQAQCYAbUCoAHJFKoBCDAuMTQuMS4xuAEDyAEA-AEBmAIIoALgB8ICChAAGEcY1gQYsAPCAggQABiJBRiiBMICBRAAGO8FwgIIEAAYgAQYogSYAwCIBgGQBgiSBwMxLjegB5EysgcDMC43uAfaB8IHBTAuNi4yyAcVgAgB&amp;sclient=gws-wiz-serp" TargetMode="External"/><Relationship Id="rId3" Type="http://schemas.openxmlformats.org/officeDocument/2006/relationships/image" Target="../media/image1.png"/><Relationship Id="rId7" Type="http://schemas.openxmlformats.org/officeDocument/2006/relationships/hyperlink" Target="https://www.google.com/search?q=Intrusion+Prevention+System+%28IPS%29&amp;sca_esv=d36697531cc09700&amp;biw=1280&amp;bih=585&amp;sxsrf=ANbL-n5MTDJUC2ZgqSodfagYoVC-_HsBug%3A1776057937238&amp;ei=UX7cadGfDpHWvr0P_oKK-QQ&amp;ved=2ahUKEwiHqebzkeqTAxVoh68BHcH1A3MQgK4QegYIAQgAEAw&amp;uact=5&amp;oq=Next+Generation+Firewalls+%28NGFs%29&amp;gs_lp=Egxnd3Mtd2l6LXNlcnAiIE5leHQgR2VuZXJhdGlvbiBGaXJld2FsbHMgKE5HRnMpMgUQIRigAUjDHVC5A1jqF3ABeAGQAQCYAbUCoAHJFKoBCDAuMTQuMS4xuAEDyAEA-AEBmAIIoALgB8ICChAAGEcY1gQYsAPCAggQABiJBRiiBMICBRAAGO8FwgIIEAAYgAQYogSYAwCIBgGQBgiSBwMxLjegB5EysgcDMC43uAfaB8IHBTAuNi4yyAcVgAgB&amp;sclient=gws-wiz-serp"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www.google.com/search?q=Threat+Intelligence+Integration&amp;sca_esv=d36697531cc09700&amp;biw=1280&amp;bih=585&amp;sxsrf=ANbL-n5MTDJUC2ZgqSodfagYoVC-_HsBug%3A1776057937238&amp;ei=UX7cadGfDpHWvr0P_oKK-QQ&amp;ved=2ahUKEwiHqebzkeqTAxVoh68BHcH1A3MQgK4QegYIAQgBEAM&amp;uact=5&amp;oq=Next+Generation+Firewalls+%28NGFs%29&amp;gs_lp=Egxnd3Mtd2l6LXNlcnAiIE5leHQgR2VuZXJhdGlvbiBGaXJld2FsbHMgKE5HRnMpMgUQIRigAUjDHVC5A1jqF3ABeAGQAQCYAbUCoAHJFKoBCDAuMTQuMS4xuAEDyAEA-AEBmAIIoALgB8ICChAAGEcY1gQYsAPCAggQABiJBRiiBMICBRAAGO8FwgIIEAAYgAQYogSYAwCIBgGQBgiSBwMxLjegB5EysgcDMC43uAfaB8IHBTAuNi4yyAcVgAgB&amp;sclient=gws-wiz-serp"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xmlns="" id="{98058B23-DDE2-4F62-9A2E-46739C3C685F}"/>
              </a:ext>
            </a:extLst>
          </p:cNvPr>
          <p:cNvSpPr>
            <a:spLocks noGrp="1"/>
          </p:cNvSpPr>
          <p:nvPr>
            <p:ph type="title"/>
          </p:nvPr>
        </p:nvSpPr>
        <p:spPr/>
        <p:txBody>
          <a:bodyPr>
            <a:normAutofit/>
          </a:bodyPr>
          <a:lstStyle/>
          <a:p>
            <a:pPr algn="ctr"/>
            <a:r>
              <a:rPr lang="en-IN" b="1" dirty="0">
                <a:solidFill>
                  <a:srgbClr val="FF0000"/>
                </a:solidFill>
              </a:rPr>
              <a:t>Network Security </a:t>
            </a:r>
            <a:endParaRPr lang="en-US" b="1" dirty="0">
              <a:solidFill>
                <a:srgbClr val="FF0000"/>
              </a:solidFill>
            </a:endParaRPr>
          </a:p>
        </p:txBody>
      </p:sp>
      <p:sp>
        <p:nvSpPr>
          <p:cNvPr id="3" name="Subtitle 2">
            <a:extLst>
              <a:ext uri="{FF2B5EF4-FFF2-40B4-BE49-F238E27FC236}">
                <a16:creationId xmlns:a16="http://schemas.microsoft.com/office/drawing/2014/main" xmlns="" id="{6D9CEDE5-3115-42FB-90A3-0727B8EEECC0}"/>
              </a:ext>
            </a:extLst>
          </p:cNvPr>
          <p:cNvSpPr>
            <a:spLocks noGrp="1"/>
          </p:cNvSpPr>
          <p:nvPr>
            <p:ph idx="1"/>
          </p:nvPr>
        </p:nvSpPr>
        <p:spPr>
          <a:xfrm>
            <a:off x="838200" y="1825625"/>
            <a:ext cx="10515600" cy="4005196"/>
          </a:xfrm>
        </p:spPr>
        <p:txBody>
          <a:bodyPr>
            <a:normAutofit/>
          </a:bodyPr>
          <a:lstStyle/>
          <a:p>
            <a:pPr marL="0" indent="0" algn="ctr">
              <a:buNone/>
            </a:pPr>
            <a:r>
              <a:rPr lang="en-US" b="1" dirty="0" smtClean="0">
                <a:solidFill>
                  <a:schemeClr val="tx1">
                    <a:lumMod val="85000"/>
                    <a:lumOff val="15000"/>
                  </a:schemeClr>
                </a:solidFill>
                <a:latin typeface="Fira Sans" panose="020B0503050000020004" pitchFamily="34" charset="0"/>
                <a:ea typeface="Fira Sans" panose="020B0503050000020004" pitchFamily="34" charset="0"/>
              </a:rPr>
              <a:t>Chapter 4</a:t>
            </a:r>
            <a:endParaRPr lang="en-US" b="1" dirty="0">
              <a:solidFill>
                <a:schemeClr val="tx1">
                  <a:lumMod val="85000"/>
                  <a:lumOff val="15000"/>
                </a:schemeClr>
              </a:solidFill>
              <a:latin typeface="Fira Sans" panose="020B0503050000020004" pitchFamily="34" charset="0"/>
              <a:ea typeface="Fira Sans" panose="020B0503050000020004" pitchFamily="34" charset="0"/>
            </a:endParaRPr>
          </a:p>
        </p:txBody>
      </p:sp>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Tree>
    <p:extLst>
      <p:ext uri="{BB962C8B-B14F-4D97-AF65-F5344CB8AC3E}">
        <p14:creationId xmlns:p14="http://schemas.microsoft.com/office/powerpoint/2010/main" val="3966911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xmlns="" id="{98058B23-DDE2-4F62-9A2E-46739C3C685F}"/>
              </a:ext>
            </a:extLst>
          </p:cNvPr>
          <p:cNvSpPr>
            <a:spLocks noGrp="1"/>
          </p:cNvSpPr>
          <p:nvPr>
            <p:ph type="title"/>
          </p:nvPr>
        </p:nvSpPr>
        <p:spPr/>
        <p:txBody>
          <a:bodyPr>
            <a:normAutofit fontScale="90000"/>
          </a:bodyPr>
          <a:lstStyle/>
          <a:p>
            <a:pPr algn="ctr"/>
            <a:r>
              <a:rPr lang="en-IN" sz="3600" b="1" dirty="0">
                <a:solidFill>
                  <a:srgbClr val="FF0000"/>
                </a:solidFill>
              </a:rPr>
              <a:t>Network security principles </a:t>
            </a:r>
            <a:r>
              <a:rPr lang="en-US" sz="3600" b="1" dirty="0">
                <a:solidFill>
                  <a:schemeClr val="tx1">
                    <a:lumMod val="85000"/>
                    <a:lumOff val="15000"/>
                  </a:schemeClr>
                </a:solidFill>
                <a:latin typeface="Fira Sans" panose="020B0503050000020004" pitchFamily="34" charset="0"/>
                <a:ea typeface="Fira Sans" panose="020B0503050000020004" pitchFamily="34" charset="0"/>
              </a:rPr>
              <a:t/>
            </a:r>
            <a:br>
              <a:rPr lang="en-US" sz="3600" b="1" dirty="0">
                <a:solidFill>
                  <a:schemeClr val="tx1">
                    <a:lumMod val="85000"/>
                    <a:lumOff val="15000"/>
                  </a:schemeClr>
                </a:solidFill>
                <a:latin typeface="Fira Sans" panose="020B0503050000020004" pitchFamily="34" charset="0"/>
                <a:ea typeface="Fira Sans" panose="020B0503050000020004" pitchFamily="34" charset="0"/>
              </a:rPr>
            </a:br>
            <a:endParaRPr lang="en-US" sz="3600" dirty="0"/>
          </a:p>
        </p:txBody>
      </p:sp>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2" name="Rectangle 1"/>
          <p:cNvSpPr/>
          <p:nvPr/>
        </p:nvSpPr>
        <p:spPr>
          <a:xfrm>
            <a:off x="1132115" y="1293283"/>
            <a:ext cx="9877296" cy="3693319"/>
          </a:xfrm>
          <a:prstGeom prst="rect">
            <a:avLst/>
          </a:prstGeom>
        </p:spPr>
        <p:txBody>
          <a:bodyPr wrap="square">
            <a:spAutoFit/>
          </a:bodyPr>
          <a:lstStyle/>
          <a:p>
            <a:r>
              <a:rPr lang="en-US" sz="2600" b="1" dirty="0">
                <a:hlinkClick r:id="rId6"/>
              </a:rPr>
              <a:t>Confidentiality</a:t>
            </a:r>
            <a:r>
              <a:rPr lang="en-US" sz="2600" b="1" dirty="0"/>
              <a:t>:</a:t>
            </a:r>
            <a:r>
              <a:rPr lang="en-US" sz="2600" dirty="0"/>
              <a:t> Ensuring only authorized users access data.</a:t>
            </a:r>
          </a:p>
          <a:p>
            <a:r>
              <a:rPr lang="en-US" sz="2600" b="1" dirty="0">
                <a:hlinkClick r:id="rId7"/>
              </a:rPr>
              <a:t>Integrity</a:t>
            </a:r>
            <a:r>
              <a:rPr lang="en-US" sz="2600" b="1" dirty="0"/>
              <a:t>:</a:t>
            </a:r>
            <a:r>
              <a:rPr lang="en-US" sz="2600" dirty="0"/>
              <a:t> Maintaining data accuracy and preventing unauthorized alteration.</a:t>
            </a:r>
          </a:p>
          <a:p>
            <a:r>
              <a:rPr lang="en-US" sz="2600" b="1" dirty="0">
                <a:hlinkClick r:id="rId8"/>
              </a:rPr>
              <a:t>Availability</a:t>
            </a:r>
            <a:r>
              <a:rPr lang="en-US" sz="2600" b="1" dirty="0"/>
              <a:t>:</a:t>
            </a:r>
            <a:r>
              <a:rPr lang="en-US" sz="2600" dirty="0"/>
              <a:t> Ensuring consistent, reliable access to network resources.</a:t>
            </a:r>
          </a:p>
          <a:p>
            <a:r>
              <a:rPr lang="en-US" sz="2600" b="1" u="sng" dirty="0">
                <a:solidFill>
                  <a:srgbClr val="3333FF"/>
                </a:solidFill>
              </a:rPr>
              <a:t>Authentication:</a:t>
            </a:r>
            <a:r>
              <a:rPr lang="en-US" sz="2600" dirty="0">
                <a:solidFill>
                  <a:srgbClr val="3333FF"/>
                </a:solidFill>
              </a:rPr>
              <a:t> </a:t>
            </a:r>
            <a:r>
              <a:rPr lang="en-US" sz="2600" dirty="0"/>
              <a:t>Verifying the identity of users and devices.</a:t>
            </a:r>
          </a:p>
          <a:p>
            <a:r>
              <a:rPr lang="en-US" sz="2600" b="1" u="sng" dirty="0">
                <a:solidFill>
                  <a:srgbClr val="3333FF"/>
                </a:solidFill>
              </a:rPr>
              <a:t>Authorization/Access Control</a:t>
            </a:r>
            <a:r>
              <a:rPr lang="en-US" sz="2600" b="1" dirty="0">
                <a:solidFill>
                  <a:srgbClr val="3333FF"/>
                </a:solidFill>
              </a:rPr>
              <a:t>:</a:t>
            </a:r>
            <a:r>
              <a:rPr lang="en-US" sz="2600" dirty="0"/>
              <a:t> Limiting access to network resources based on roles.</a:t>
            </a:r>
          </a:p>
          <a:p>
            <a:r>
              <a:rPr lang="en-US" sz="2600" b="1" dirty="0">
                <a:hlinkClick r:id="rId9"/>
              </a:rPr>
              <a:t>Non-repudiation</a:t>
            </a:r>
            <a:r>
              <a:rPr lang="en-US" sz="2600" b="1" dirty="0"/>
              <a:t>:</a:t>
            </a:r>
            <a:r>
              <a:rPr lang="en-US" sz="2600" dirty="0"/>
              <a:t> Ensuring parties cannot deny their actions.</a:t>
            </a:r>
          </a:p>
          <a:p>
            <a:r>
              <a:rPr lang="en-US" sz="2600" b="1" u="sng" dirty="0">
                <a:solidFill>
                  <a:srgbClr val="3333FF"/>
                </a:solidFill>
              </a:rPr>
              <a:t>Zero Trust Model</a:t>
            </a:r>
            <a:r>
              <a:rPr lang="en-US" sz="2600" b="1" dirty="0">
                <a:solidFill>
                  <a:srgbClr val="3333FF"/>
                </a:solidFill>
              </a:rPr>
              <a:t>:</a:t>
            </a:r>
            <a:r>
              <a:rPr lang="en-US" sz="2600" dirty="0"/>
              <a:t> "Never trust, always verify" approach to security.</a:t>
            </a:r>
          </a:p>
        </p:txBody>
      </p:sp>
    </p:spTree>
    <p:extLst>
      <p:ext uri="{BB962C8B-B14F-4D97-AF65-F5344CB8AC3E}">
        <p14:creationId xmlns:p14="http://schemas.microsoft.com/office/powerpoint/2010/main" val="1855703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xmlns="" id="{98058B23-DDE2-4F62-9A2E-46739C3C685F}"/>
              </a:ext>
            </a:extLst>
          </p:cNvPr>
          <p:cNvSpPr>
            <a:spLocks noGrp="1"/>
          </p:cNvSpPr>
          <p:nvPr>
            <p:ph type="title"/>
          </p:nvPr>
        </p:nvSpPr>
        <p:spPr/>
        <p:txBody>
          <a:bodyPr>
            <a:normAutofit/>
          </a:bodyPr>
          <a:lstStyle/>
          <a:p>
            <a:pPr algn="ctr"/>
            <a:r>
              <a:rPr lang="en-IN" sz="3600" b="1" dirty="0">
                <a:solidFill>
                  <a:srgbClr val="FF0000"/>
                </a:solidFill>
              </a:rPr>
              <a:t>Network Security Protocols</a:t>
            </a:r>
            <a:endParaRPr lang="en-US" sz="3600" dirty="0">
              <a:solidFill>
                <a:srgbClr val="FF0000"/>
              </a:solidFill>
            </a:endParaRPr>
          </a:p>
        </p:txBody>
      </p:sp>
      <p:sp>
        <p:nvSpPr>
          <p:cNvPr id="3" name="Content Placeholder 2"/>
          <p:cNvSpPr>
            <a:spLocks noGrp="1"/>
          </p:cNvSpPr>
          <p:nvPr>
            <p:ph idx="1"/>
          </p:nvPr>
        </p:nvSpPr>
        <p:spPr>
          <a:xfrm>
            <a:off x="914400" y="1479483"/>
            <a:ext cx="10515600" cy="4351338"/>
          </a:xfrm>
        </p:spPr>
        <p:txBody>
          <a:bodyPr>
            <a:normAutofit fontScale="85000" lnSpcReduction="20000"/>
          </a:bodyPr>
          <a:lstStyle/>
          <a:p>
            <a:r>
              <a:rPr lang="en-IN" b="1" u="sng" dirty="0">
                <a:solidFill>
                  <a:srgbClr val="3333FF"/>
                </a:solidFill>
              </a:rPr>
              <a:t>SSL/TLS (Secure Sockets Layer/Transport Layer Security):</a:t>
            </a:r>
            <a:r>
              <a:rPr lang="en-IN" dirty="0">
                <a:solidFill>
                  <a:srgbClr val="3333FF"/>
                </a:solidFill>
              </a:rPr>
              <a:t> </a:t>
            </a:r>
            <a:r>
              <a:rPr lang="en-IN" dirty="0"/>
              <a:t>Secures web traffic (HTTPS) and encrypts data transmission.</a:t>
            </a:r>
          </a:p>
          <a:p>
            <a:r>
              <a:rPr lang="en-IN" b="1" dirty="0">
                <a:hlinkClick r:id="rId2"/>
              </a:rPr>
              <a:t>IPsec (Internet Protocol Security)</a:t>
            </a:r>
            <a:r>
              <a:rPr lang="en-IN" b="1" dirty="0"/>
              <a:t>:</a:t>
            </a:r>
            <a:r>
              <a:rPr lang="en-IN" dirty="0"/>
              <a:t> Secures communications across IP networks, frequently used for VPNs.</a:t>
            </a:r>
          </a:p>
          <a:p>
            <a:r>
              <a:rPr lang="en-IN" b="1" dirty="0">
                <a:hlinkClick r:id="rId3"/>
              </a:rPr>
              <a:t>SSH (Secure Shell)</a:t>
            </a:r>
            <a:r>
              <a:rPr lang="en-IN" b="1" dirty="0"/>
              <a:t>:</a:t>
            </a:r>
            <a:r>
              <a:rPr lang="en-IN" dirty="0"/>
              <a:t> Provides secure command-line access to remote servers.</a:t>
            </a:r>
          </a:p>
          <a:p>
            <a:r>
              <a:rPr lang="en-IN" b="1" u="sng" dirty="0">
                <a:solidFill>
                  <a:srgbClr val="3333FF"/>
                </a:solidFill>
              </a:rPr>
              <a:t>SFTP (Secure File Transfer Protocol):</a:t>
            </a:r>
            <a:r>
              <a:rPr lang="en-IN" dirty="0"/>
              <a:t> Transfers files securely over SSH.</a:t>
            </a:r>
          </a:p>
          <a:p>
            <a:r>
              <a:rPr lang="en-IN" b="1" u="sng" dirty="0">
                <a:solidFill>
                  <a:srgbClr val="3333FF"/>
                </a:solidFill>
              </a:rPr>
              <a:t>SNMP (Simple Network Management Protocol):</a:t>
            </a:r>
            <a:r>
              <a:rPr lang="en-IN" dirty="0"/>
              <a:t> Manages and monitors network devices securely.</a:t>
            </a:r>
          </a:p>
          <a:p>
            <a:r>
              <a:rPr lang="en-IN" b="1" u="sng" dirty="0">
                <a:solidFill>
                  <a:srgbClr val="3333FF"/>
                </a:solidFill>
              </a:rPr>
              <a:t>ICMP (Internet Control Message Protocol):</a:t>
            </a:r>
            <a:r>
              <a:rPr lang="en-IN" dirty="0"/>
              <a:t> Used for diagnostics, but must be secured against exploits</a:t>
            </a:r>
          </a:p>
          <a:p>
            <a:endParaRPr lang="en-IN" dirty="0"/>
          </a:p>
        </p:txBody>
      </p:sp>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4"/>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5"/>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Tree>
    <p:extLst>
      <p:ext uri="{BB962C8B-B14F-4D97-AF65-F5344CB8AC3E}">
        <p14:creationId xmlns:p14="http://schemas.microsoft.com/office/powerpoint/2010/main" val="4272317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xmlns="" id="{98058B23-DDE2-4F62-9A2E-46739C3C685F}"/>
              </a:ext>
            </a:extLst>
          </p:cNvPr>
          <p:cNvSpPr>
            <a:spLocks noGrp="1"/>
          </p:cNvSpPr>
          <p:nvPr>
            <p:ph type="title"/>
          </p:nvPr>
        </p:nvSpPr>
        <p:spPr/>
        <p:txBody>
          <a:bodyPr>
            <a:normAutofit/>
          </a:bodyPr>
          <a:lstStyle/>
          <a:p>
            <a:pPr algn="ctr"/>
            <a:endParaRPr lang="en-US" sz="3600" dirty="0">
              <a:solidFill>
                <a:srgbClr val="FF0000"/>
              </a:solidFill>
            </a:endParaRPr>
          </a:p>
        </p:txBody>
      </p:sp>
      <p:sp>
        <p:nvSpPr>
          <p:cNvPr id="3" name="Content Placeholder 2"/>
          <p:cNvSpPr>
            <a:spLocks noGrp="1"/>
          </p:cNvSpPr>
          <p:nvPr>
            <p:ph idx="1"/>
          </p:nvPr>
        </p:nvSpPr>
        <p:spPr>
          <a:xfrm>
            <a:off x="914400" y="1479483"/>
            <a:ext cx="10515600" cy="4351338"/>
          </a:xfrm>
        </p:spPr>
        <p:txBody>
          <a:bodyPr>
            <a:normAutofit/>
          </a:bodyPr>
          <a:lstStyle/>
          <a:p>
            <a:r>
              <a:rPr lang="en-US" dirty="0"/>
              <a:t>Threats to Network Communications </a:t>
            </a:r>
            <a:r>
              <a:rPr lang="en-US" dirty="0" smtClean="0"/>
              <a:t>– </a:t>
            </a:r>
          </a:p>
          <a:p>
            <a:pPr lvl="1"/>
            <a:r>
              <a:rPr lang="en-US" dirty="0" smtClean="0"/>
              <a:t>Interception</a:t>
            </a:r>
          </a:p>
          <a:p>
            <a:pPr lvl="1"/>
            <a:r>
              <a:rPr lang="en-US" dirty="0" smtClean="0"/>
              <a:t>Modification </a:t>
            </a:r>
          </a:p>
          <a:p>
            <a:pPr lvl="1"/>
            <a:r>
              <a:rPr lang="en-IN" dirty="0" smtClean="0"/>
              <a:t>Fabrication</a:t>
            </a:r>
          </a:p>
          <a:p>
            <a:pPr lvl="1"/>
            <a:r>
              <a:rPr lang="en-IN" dirty="0" smtClean="0"/>
              <a:t> Interruption</a:t>
            </a:r>
            <a:endParaRPr lang="en-IN" dirty="0"/>
          </a:p>
        </p:txBody>
      </p:sp>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Tree>
    <p:extLst>
      <p:ext uri="{BB962C8B-B14F-4D97-AF65-F5344CB8AC3E}">
        <p14:creationId xmlns:p14="http://schemas.microsoft.com/office/powerpoint/2010/main" val="254016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777240" y="206099"/>
            <a:ext cx="10515600" cy="893832"/>
          </a:xfrm>
          <a:prstGeom prst="rect">
            <a:avLst/>
          </a:prstGeom>
          <a:noFill/>
          <a:ln>
            <a:noFill/>
          </a:ln>
        </p:spPr>
        <p:txBody>
          <a:bodyPr spcFirstLastPara="1" wrap="square" lIns="91425" tIns="45700" rIns="91425" bIns="45700" anchor="ctr" anchorCtr="0">
            <a:normAutofit/>
          </a:bodyPr>
          <a:lstStyle/>
          <a:p>
            <a:pPr algn="ctr"/>
            <a:r>
              <a:rPr lang="en-IN" sz="3600" b="1" dirty="0">
                <a:solidFill>
                  <a:srgbClr val="FF0000"/>
                </a:solidFill>
              </a:rPr>
              <a:t>Interception</a:t>
            </a:r>
          </a:p>
        </p:txBody>
      </p:sp>
      <p:sp>
        <p:nvSpPr>
          <p:cNvPr id="136" name="Google Shape;136;p6"/>
          <p:cNvSpPr txBox="1">
            <a:spLocks noGrp="1"/>
          </p:cNvSpPr>
          <p:nvPr>
            <p:ph idx="1"/>
          </p:nvPr>
        </p:nvSpPr>
        <p:spPr>
          <a:xfrm>
            <a:off x="838200" y="1113183"/>
            <a:ext cx="10515600" cy="4717638"/>
          </a:xfrm>
          <a:prstGeom prst="rect">
            <a:avLst/>
          </a:prstGeom>
          <a:noFill/>
          <a:ln>
            <a:noFill/>
          </a:ln>
        </p:spPr>
        <p:txBody>
          <a:bodyPr spcFirstLastPara="1" wrap="square" lIns="91425" tIns="45700" rIns="91425" bIns="45700" anchor="t" anchorCtr="0">
            <a:normAutofit fontScale="92500" lnSpcReduction="10000"/>
          </a:bodyPr>
          <a:lstStyle/>
          <a:p>
            <a:pPr algn="just"/>
            <a:r>
              <a:rPr lang="en-US" dirty="0"/>
              <a:t>In the case of an interception attack, </a:t>
            </a:r>
            <a:r>
              <a:rPr lang="en-US" b="1" dirty="0"/>
              <a:t>a malicious actor can access private or confidential information with no legitimate authorization. </a:t>
            </a:r>
            <a:endParaRPr lang="en-US" b="1" dirty="0" smtClean="0"/>
          </a:p>
          <a:p>
            <a:pPr algn="just"/>
            <a:r>
              <a:rPr lang="en-US" b="1" dirty="0" smtClean="0">
                <a:hlinkClick r:id="rId3"/>
              </a:rPr>
              <a:t>Eavesdropping </a:t>
            </a:r>
            <a:r>
              <a:rPr lang="en-US" b="1" dirty="0">
                <a:hlinkClick r:id="rId3"/>
              </a:rPr>
              <a:t>attacks</a:t>
            </a:r>
            <a:r>
              <a:rPr lang="en-US" b="1" dirty="0"/>
              <a:t> are a typical example of this category of attack.</a:t>
            </a:r>
            <a:r>
              <a:rPr lang="en-US" dirty="0"/>
              <a:t> Namely, an intruder can refer to several techniques, such as packet sniffing and </a:t>
            </a:r>
            <a:r>
              <a:rPr lang="en-US" dirty="0">
                <a:hlinkClick r:id="rId4"/>
              </a:rPr>
              <a:t>man-in-the-middle (MITM)</a:t>
            </a:r>
            <a:r>
              <a:rPr lang="en-US" dirty="0"/>
              <a:t>.</a:t>
            </a:r>
          </a:p>
          <a:p>
            <a:pPr algn="just"/>
            <a:r>
              <a:rPr lang="en-US" dirty="0"/>
              <a:t>Generally, he aims to obtain critical information such as </a:t>
            </a:r>
            <a:r>
              <a:rPr lang="en-US" dirty="0">
                <a:hlinkClick r:id="rId5"/>
              </a:rPr>
              <a:t>passwords</a:t>
            </a:r>
            <a:r>
              <a:rPr lang="en-US" dirty="0"/>
              <a:t> and credit card numbers or to disturb data exchanges on the network. When effectively executed, it can be very hard to identify traces of the </a:t>
            </a:r>
            <a:r>
              <a:rPr lang="en-US" dirty="0" smtClean="0"/>
              <a:t>attack.</a:t>
            </a:r>
            <a:endParaRPr lang="en-US" dirty="0"/>
          </a:p>
          <a:p>
            <a:pPr marL="0" lvl="0" indent="0" algn="l" rtl="0">
              <a:lnSpc>
                <a:spcPct val="90000"/>
              </a:lnSpc>
              <a:spcBef>
                <a:spcPts val="0"/>
              </a:spcBef>
              <a:spcAft>
                <a:spcPts val="0"/>
              </a:spcAft>
              <a:buClr>
                <a:srgbClr val="262626"/>
              </a:buClr>
              <a:buSzPts val="2800"/>
              <a:buNone/>
            </a:pPr>
            <a:endParaRPr lang="en-US" b="1" dirty="0" smtClean="0">
              <a:solidFill>
                <a:srgbClr val="262626"/>
              </a:solidFill>
              <a:latin typeface="Calibri" panose="020F0502020204030204" pitchFamily="34" charset="0"/>
              <a:ea typeface="Fira Sans"/>
              <a:cs typeface="Fira Sans"/>
              <a:sym typeface="Fira Sans"/>
            </a:endParaRPr>
          </a:p>
          <a:p>
            <a:pPr indent="-457200">
              <a:spcBef>
                <a:spcPts val="0"/>
              </a:spcBef>
              <a:buClr>
                <a:srgbClr val="262626"/>
              </a:buClr>
              <a:buSzPts val="2800"/>
            </a:pP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6">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7">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8">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9">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298461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777240" y="206099"/>
            <a:ext cx="10515600" cy="893832"/>
          </a:xfrm>
          <a:prstGeom prst="rect">
            <a:avLst/>
          </a:prstGeom>
          <a:noFill/>
          <a:ln>
            <a:noFill/>
          </a:ln>
        </p:spPr>
        <p:txBody>
          <a:bodyPr spcFirstLastPara="1" wrap="square" lIns="91425" tIns="45700" rIns="91425" bIns="45700" anchor="ctr" anchorCtr="0">
            <a:normAutofit/>
          </a:bodyPr>
          <a:lstStyle/>
          <a:p>
            <a:pPr algn="ctr"/>
            <a:r>
              <a:rPr lang="en-IN" sz="3600" b="1" dirty="0">
                <a:solidFill>
                  <a:srgbClr val="FF0000"/>
                </a:solidFill>
              </a:rPr>
              <a:t>Interception</a:t>
            </a:r>
          </a:p>
        </p:txBody>
      </p:sp>
      <p:sp>
        <p:nvSpPr>
          <p:cNvPr id="136" name="Google Shape;136;p6"/>
          <p:cNvSpPr txBox="1">
            <a:spLocks noGrp="1"/>
          </p:cNvSpPr>
          <p:nvPr>
            <p:ph idx="1"/>
          </p:nvPr>
        </p:nvSpPr>
        <p:spPr>
          <a:xfrm>
            <a:off x="838200" y="1113183"/>
            <a:ext cx="10515600" cy="47176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2800"/>
              <a:buNone/>
            </a:pPr>
            <a:endParaRPr lang="en-US" b="1" dirty="0" smtClean="0">
              <a:solidFill>
                <a:srgbClr val="262626"/>
              </a:solidFill>
              <a:latin typeface="Calibri" panose="020F0502020204030204" pitchFamily="34" charset="0"/>
              <a:ea typeface="Fira Sans"/>
              <a:cs typeface="Fira Sans"/>
              <a:sym typeface="Fira Sans"/>
            </a:endParaRPr>
          </a:p>
          <a:p>
            <a:pPr indent="-457200">
              <a:spcBef>
                <a:spcPts val="0"/>
              </a:spcBef>
              <a:buClr>
                <a:srgbClr val="262626"/>
              </a:buClr>
              <a:buSzPts val="2800"/>
            </a:pP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1026"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6830" y="1363188"/>
            <a:ext cx="5091955" cy="3034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262170" y="2229780"/>
            <a:ext cx="4318745" cy="3539430"/>
          </a:xfrm>
          <a:prstGeom prst="rect">
            <a:avLst/>
          </a:prstGeom>
        </p:spPr>
        <p:txBody>
          <a:bodyPr wrap="square">
            <a:spAutoFit/>
          </a:bodyPr>
          <a:lstStyle/>
          <a:p>
            <a:pPr algn="just"/>
            <a:r>
              <a:rPr lang="en-US" sz="2800" b="1" dirty="0"/>
              <a:t>This category of attacks is mainly a threat to data confidentiality.</a:t>
            </a:r>
            <a:r>
              <a:rPr lang="en-US" sz="2800" dirty="0"/>
              <a:t> We can mitigate it by encrypting communications, avoiding untrusted Wi-Fi networks, and regularly updating our software.</a:t>
            </a:r>
            <a:endParaRPr lang="en-IN" sz="2800" dirty="0"/>
          </a:p>
        </p:txBody>
      </p:sp>
    </p:spTree>
    <p:extLst>
      <p:ext uri="{BB962C8B-B14F-4D97-AF65-F5344CB8AC3E}">
        <p14:creationId xmlns:p14="http://schemas.microsoft.com/office/powerpoint/2010/main" val="2692732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777240" y="206099"/>
            <a:ext cx="10515600" cy="893832"/>
          </a:xfrm>
          <a:prstGeom prst="rect">
            <a:avLst/>
          </a:prstGeom>
          <a:noFill/>
          <a:ln>
            <a:noFill/>
          </a:ln>
        </p:spPr>
        <p:txBody>
          <a:bodyPr spcFirstLastPara="1" wrap="square" lIns="91425" tIns="45700" rIns="91425" bIns="45700" anchor="ctr" anchorCtr="0">
            <a:normAutofit/>
          </a:bodyPr>
          <a:lstStyle/>
          <a:p>
            <a:pPr algn="ctr"/>
            <a:r>
              <a:rPr lang="en-IN" sz="3600" b="1" dirty="0">
                <a:solidFill>
                  <a:srgbClr val="FF0000"/>
                </a:solidFill>
              </a:rPr>
              <a:t>Interruption</a:t>
            </a:r>
          </a:p>
        </p:txBody>
      </p:sp>
      <p:sp>
        <p:nvSpPr>
          <p:cNvPr id="136" name="Google Shape;136;p6"/>
          <p:cNvSpPr txBox="1">
            <a:spLocks noGrp="1"/>
          </p:cNvSpPr>
          <p:nvPr>
            <p:ph idx="1"/>
          </p:nvPr>
        </p:nvSpPr>
        <p:spPr>
          <a:xfrm>
            <a:off x="838200" y="1113183"/>
            <a:ext cx="10515600" cy="4717638"/>
          </a:xfrm>
          <a:prstGeom prst="rect">
            <a:avLst/>
          </a:prstGeom>
          <a:noFill/>
          <a:ln>
            <a:noFill/>
          </a:ln>
        </p:spPr>
        <p:txBody>
          <a:bodyPr spcFirstLastPara="1" wrap="square" lIns="91425" tIns="45700" rIns="91425" bIns="45700" anchor="t" anchorCtr="0">
            <a:normAutofit fontScale="92500" lnSpcReduction="20000"/>
          </a:bodyPr>
          <a:lstStyle/>
          <a:p>
            <a:r>
              <a:rPr lang="en-US" b="1" dirty="0"/>
              <a:t>This form of attack manifests when a network service or a system asset is disrupted or destroyed</a:t>
            </a:r>
            <a:r>
              <a:rPr lang="en-US" b="1" dirty="0" smtClean="0"/>
              <a:t>:</a:t>
            </a:r>
            <a:r>
              <a:rPr lang="en-US" dirty="0"/>
              <a:t/>
            </a:r>
            <a:br>
              <a:rPr lang="en-US" dirty="0"/>
            </a:br>
            <a:r>
              <a:rPr lang="en-US" dirty="0" smtClean="0"/>
              <a:t>As </a:t>
            </a:r>
            <a:r>
              <a:rPr lang="en-US" dirty="0"/>
              <a:t>a result, legitimate users can no longer reach it, either permanently or temporarily.</a:t>
            </a:r>
          </a:p>
          <a:p>
            <a:r>
              <a:rPr lang="en-US" dirty="0"/>
              <a:t>For example, an attacker may steal or damage a hardware/software component. </a:t>
            </a:r>
            <a:r>
              <a:rPr lang="en-US" b="1" dirty="0"/>
              <a:t>He can also overwhelm a server host with requests so that it can’t respond, causing a </a:t>
            </a:r>
            <a:r>
              <a:rPr lang="en-US" b="1" dirty="0" err="1">
                <a:hlinkClick r:id="rId3"/>
              </a:rPr>
              <a:t>DoS</a:t>
            </a:r>
            <a:r>
              <a:rPr lang="en-US" b="1" dirty="0">
                <a:hlinkClick r:id="rId3"/>
              </a:rPr>
              <a:t> attack</a:t>
            </a:r>
            <a:r>
              <a:rPr lang="en-US" b="1" dirty="0" smtClean="0"/>
              <a:t>.</a:t>
            </a:r>
          </a:p>
          <a:p>
            <a:r>
              <a:rPr lang="en-US" dirty="0"/>
              <a:t> Another example is using malware, such as viruses or </a:t>
            </a:r>
            <a:r>
              <a:rPr lang="en-US" dirty="0" err="1">
                <a:hlinkClick r:id="rId4"/>
              </a:rPr>
              <a:t>trojans</a:t>
            </a:r>
            <a:r>
              <a:rPr lang="en-US" dirty="0"/>
              <a:t>, to delete data or disable a system’s functioning.</a:t>
            </a:r>
          </a:p>
          <a:p>
            <a:r>
              <a:rPr lang="en-US" b="1" dirty="0"/>
              <a:t>This type of attack is a threat to data availability.</a:t>
            </a:r>
            <a:endParaRPr lang="en-US" dirty="0"/>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5">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6">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7">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8">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2868084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777240" y="206099"/>
            <a:ext cx="10515600" cy="893832"/>
          </a:xfrm>
          <a:prstGeom prst="rect">
            <a:avLst/>
          </a:prstGeom>
          <a:noFill/>
          <a:ln>
            <a:noFill/>
          </a:ln>
        </p:spPr>
        <p:txBody>
          <a:bodyPr spcFirstLastPara="1" wrap="square" lIns="91425" tIns="45700" rIns="91425" bIns="45700" anchor="ctr" anchorCtr="0">
            <a:normAutofit/>
          </a:bodyPr>
          <a:lstStyle/>
          <a:p>
            <a:r>
              <a:rPr lang="en-IN" sz="3600" b="1" dirty="0">
                <a:solidFill>
                  <a:srgbClr val="FF0000"/>
                </a:solidFill>
              </a:rPr>
              <a:t>Interruption</a:t>
            </a:r>
          </a:p>
        </p:txBody>
      </p:sp>
      <p:sp>
        <p:nvSpPr>
          <p:cNvPr id="136" name="Google Shape;136;p6"/>
          <p:cNvSpPr txBox="1">
            <a:spLocks noGrp="1"/>
          </p:cNvSpPr>
          <p:nvPr>
            <p:ph idx="1"/>
          </p:nvPr>
        </p:nvSpPr>
        <p:spPr>
          <a:xfrm>
            <a:off x="838200" y="1113183"/>
            <a:ext cx="10515600" cy="47176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2800"/>
              <a:buNone/>
            </a:pPr>
            <a:endParaRPr lang="en-US" b="1" dirty="0" smtClean="0">
              <a:solidFill>
                <a:srgbClr val="262626"/>
              </a:solidFill>
              <a:latin typeface="Calibri" panose="020F0502020204030204" pitchFamily="34" charset="0"/>
              <a:ea typeface="Fira Sans"/>
              <a:cs typeface="Fira Sans"/>
              <a:sym typeface="Fira Sans"/>
            </a:endParaRPr>
          </a:p>
          <a:p>
            <a:pPr indent="-457200">
              <a:spcBef>
                <a:spcPts val="0"/>
              </a:spcBef>
              <a:buClr>
                <a:srgbClr val="262626"/>
              </a:buClr>
              <a:buSzPts val="2800"/>
            </a:pP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3074" name="Picture 2" descr="Interrup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3086" y="1526496"/>
            <a:ext cx="5149083" cy="3006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596743" y="1285697"/>
            <a:ext cx="3940628" cy="4154984"/>
          </a:xfrm>
          <a:prstGeom prst="rect">
            <a:avLst/>
          </a:prstGeom>
        </p:spPr>
        <p:txBody>
          <a:bodyPr wrap="square">
            <a:spAutoFit/>
          </a:bodyPr>
          <a:lstStyle/>
          <a:p>
            <a:r>
              <a:rPr lang="en-US" sz="2400" dirty="0"/>
              <a:t>To protect against interruption attacks, </a:t>
            </a:r>
            <a:r>
              <a:rPr lang="en-US" sz="2400" b="1" dirty="0"/>
              <a:t>we need appropriate precautions such as firewalls and system backups.</a:t>
            </a:r>
            <a:r>
              <a:rPr lang="en-US" sz="2400" dirty="0"/>
              <a:t> Moreover, we can use </a:t>
            </a:r>
            <a:r>
              <a:rPr lang="en-US" sz="2400" dirty="0">
                <a:hlinkClick r:id="rId8"/>
              </a:rPr>
              <a:t>cloud</a:t>
            </a:r>
            <a:r>
              <a:rPr lang="en-US" sz="2400" dirty="0"/>
              <a:t>-based solutions and </a:t>
            </a:r>
            <a:r>
              <a:rPr lang="en-US" sz="2400" dirty="0">
                <a:hlinkClick r:id="rId9"/>
              </a:rPr>
              <a:t>Content Delivery Networks (CDN)</a:t>
            </a:r>
            <a:r>
              <a:rPr lang="en-US" sz="2400" dirty="0"/>
              <a:t> to boost security against these attacks and keep our system and network operable.</a:t>
            </a:r>
            <a:endParaRPr lang="en-IN" sz="2400" dirty="0"/>
          </a:p>
        </p:txBody>
      </p:sp>
    </p:spTree>
    <p:extLst>
      <p:ext uri="{BB962C8B-B14F-4D97-AF65-F5344CB8AC3E}">
        <p14:creationId xmlns:p14="http://schemas.microsoft.com/office/powerpoint/2010/main" val="26406819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a:solidFill>
                  <a:srgbClr val="FF0000"/>
                </a:solidFill>
              </a:rPr>
              <a:t>Modification</a:t>
            </a:r>
            <a:br>
              <a:rPr lang="en-IN" b="1" dirty="0">
                <a:solidFill>
                  <a:srgbClr val="FF0000"/>
                </a:solidFill>
              </a:rPr>
            </a:br>
            <a:endParaRPr lang="en-IN" dirty="0">
              <a:solidFill>
                <a:srgbClr val="FF0000"/>
              </a:solidFill>
            </a:endParaRPr>
          </a:p>
        </p:txBody>
      </p:sp>
      <p:sp>
        <p:nvSpPr>
          <p:cNvPr id="136" name="Google Shape;136;p6"/>
          <p:cNvSpPr txBox="1">
            <a:spLocks noGrp="1"/>
          </p:cNvSpPr>
          <p:nvPr>
            <p:ph idx="1"/>
          </p:nvPr>
        </p:nvSpPr>
        <p:spPr>
          <a:xfrm>
            <a:off x="1045028" y="1600203"/>
            <a:ext cx="10537371" cy="4525963"/>
          </a:xfrm>
          <a:prstGeom prst="rect">
            <a:avLst/>
          </a:prstGeom>
          <a:noFill/>
          <a:ln>
            <a:noFill/>
          </a:ln>
        </p:spPr>
        <p:txBody>
          <a:bodyPr spcFirstLastPara="1" wrap="square" lIns="91425" tIns="45700" rIns="91425" bIns="45700" anchor="t" anchorCtr="0">
            <a:normAutofit/>
          </a:bodyPr>
          <a:lstStyle/>
          <a:p>
            <a:pPr marL="0" lvl="0" indent="0">
              <a:lnSpc>
                <a:spcPct val="90000"/>
              </a:lnSpc>
              <a:spcBef>
                <a:spcPts val="0"/>
              </a:spcBef>
              <a:buClr>
                <a:srgbClr val="262626"/>
              </a:buClr>
              <a:buSzPts val="2800"/>
              <a:buNone/>
            </a:pPr>
            <a:r>
              <a:rPr lang="en-US" b="1" dirty="0"/>
              <a:t>This one involves not only gaining access to the asset but also manipulating it</a:t>
            </a:r>
            <a:r>
              <a:rPr lang="en-US" b="1" dirty="0" smtClean="0"/>
              <a:t>:</a:t>
            </a:r>
          </a:p>
          <a:p>
            <a:pPr marL="0" lvl="0" indent="0">
              <a:lnSpc>
                <a:spcPct val="90000"/>
              </a:lnSpc>
              <a:spcBef>
                <a:spcPts val="0"/>
              </a:spcBef>
              <a:buClr>
                <a:srgbClr val="262626"/>
              </a:buClr>
              <a:buSzPts val="2800"/>
              <a:buNone/>
            </a:pPr>
            <a:r>
              <a:rPr lang="en-US" b="1" dirty="0"/>
              <a:t>The </a:t>
            </a:r>
            <a:r>
              <a:rPr lang="en-US" b="1" dirty="0">
                <a:hlinkClick r:id="rId3"/>
              </a:rPr>
              <a:t>man-in-the-middle attack (MITM)</a:t>
            </a:r>
            <a:r>
              <a:rPr lang="en-US" b="1" dirty="0"/>
              <a:t> is a notable example.</a:t>
            </a:r>
            <a:r>
              <a:rPr lang="en-US" dirty="0"/>
              <a:t> After intercepting data, the attacker can reconfigure the system hardware, remove a message in a network or modify its content. </a:t>
            </a:r>
            <a:r>
              <a:rPr lang="en-US" dirty="0">
                <a:hlinkClick r:id="rId4"/>
              </a:rPr>
              <a:t>Cross-Site Scripting (XSS)</a:t>
            </a:r>
            <a:r>
              <a:rPr lang="en-US" dirty="0"/>
              <a:t> attack is a second example where the hacker injects malicious script into a web application to alter its content or to obtain sensitive data illicitly.</a:t>
            </a:r>
            <a:endParaRPr lang="en-US" b="1" dirty="0" smtClean="0">
              <a:solidFill>
                <a:srgbClr val="262626"/>
              </a:solidFill>
              <a:latin typeface="Calibri" panose="020F0502020204030204" pitchFamily="34" charset="0"/>
              <a:ea typeface="Fira Sans"/>
              <a:cs typeface="Fira Sans"/>
              <a:sym typeface="Fira Sans"/>
            </a:endParaRPr>
          </a:p>
          <a:p>
            <a:pPr indent="-457200">
              <a:spcBef>
                <a:spcPts val="0"/>
              </a:spcBef>
              <a:buClr>
                <a:srgbClr val="262626"/>
              </a:buClr>
              <a:buSzPts val="2800"/>
            </a:pP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5">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6">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7">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8">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3463381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a:solidFill>
                  <a:srgbClr val="FF0000"/>
                </a:solidFill>
              </a:rPr>
              <a:t>Modification</a:t>
            </a:r>
            <a:br>
              <a:rPr lang="en-IN" b="1" dirty="0">
                <a:solidFill>
                  <a:srgbClr val="FF0000"/>
                </a:solidFill>
              </a:rPr>
            </a:br>
            <a:endParaRPr lang="en-IN" dirty="0">
              <a:solidFill>
                <a:srgbClr val="FF0000"/>
              </a:solidFill>
            </a:endParaRPr>
          </a:p>
        </p:txBody>
      </p:sp>
      <p:sp>
        <p:nvSpPr>
          <p:cNvPr id="136" name="Google Shape;136;p6"/>
          <p:cNvSpPr txBox="1">
            <a:spLocks noGrp="1"/>
          </p:cNvSpPr>
          <p:nvPr>
            <p:ph idx="1"/>
          </p:nvPr>
        </p:nvSpPr>
        <p:spPr>
          <a:xfrm>
            <a:off x="609600" y="1600204"/>
            <a:ext cx="5812971" cy="4230620"/>
          </a:xfrm>
          <a:prstGeom prst="rect">
            <a:avLst/>
          </a:prstGeom>
          <a:noFill/>
          <a:ln>
            <a:noFill/>
          </a:ln>
        </p:spPr>
        <p:txBody>
          <a:bodyPr spcFirstLastPara="1" wrap="square" lIns="91425" tIns="45700" rIns="91425" bIns="45700" anchor="t" anchorCtr="0">
            <a:normAutofit fontScale="77500" lnSpcReduction="20000"/>
          </a:bodyPr>
          <a:lstStyle/>
          <a:p>
            <a:r>
              <a:rPr lang="en-US" b="1" dirty="0"/>
              <a:t>Modification is primarily an attack on integrity.</a:t>
            </a:r>
            <a:r>
              <a:rPr lang="en-US" dirty="0"/>
              <a:t> However, it can also manifest as an attack on availability. For example, let’s say the target is a configuration file that controls how a service is delivered. When manipulating its content, that service will no longer be available.</a:t>
            </a:r>
          </a:p>
          <a:p>
            <a:r>
              <a:rPr lang="en-US" dirty="0"/>
              <a:t>We can implement several techniques to prevent a modification attack, including </a:t>
            </a:r>
            <a:r>
              <a:rPr lang="en-US" dirty="0">
                <a:hlinkClick r:id="rId3"/>
              </a:rPr>
              <a:t>Intrusion Detection Systems (IDS)</a:t>
            </a:r>
            <a:r>
              <a:rPr lang="en-US" dirty="0"/>
              <a:t>, data encryption, and </a:t>
            </a:r>
            <a:r>
              <a:rPr lang="en-US" dirty="0">
                <a:hlinkClick r:id="rId4"/>
              </a:rPr>
              <a:t>Access Controls</a:t>
            </a:r>
            <a:r>
              <a:rPr lang="en-US" dirty="0"/>
              <a:t>.</a:t>
            </a:r>
          </a:p>
          <a:p>
            <a:pPr indent="-457200">
              <a:spcBef>
                <a:spcPts val="0"/>
              </a:spcBef>
              <a:buClr>
                <a:srgbClr val="262626"/>
              </a:buClr>
              <a:buSzPts val="2800"/>
            </a:pP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5">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6">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7">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8">
            <a:alphaModFix/>
          </a:blip>
          <a:srcRect/>
          <a:stretch/>
        </p:blipFill>
        <p:spPr>
          <a:xfrm>
            <a:off x="777240" y="5828983"/>
            <a:ext cx="2655568" cy="663892"/>
          </a:xfrm>
          <a:prstGeom prst="rect">
            <a:avLst/>
          </a:prstGeom>
          <a:noFill/>
          <a:ln>
            <a:noFill/>
          </a:ln>
        </p:spPr>
      </p:pic>
      <p:pic>
        <p:nvPicPr>
          <p:cNvPr id="4098" name="Picture 2" descr="Modific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17428" y="1513114"/>
            <a:ext cx="5302429" cy="3927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938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a:solidFill>
                  <a:srgbClr val="FF0000"/>
                </a:solidFill>
              </a:rPr>
              <a:t>Fabrication</a:t>
            </a:r>
            <a:br>
              <a:rPr lang="en-IN" b="1" dirty="0">
                <a:solidFill>
                  <a:srgbClr val="FF0000"/>
                </a:solidFill>
              </a:rPr>
            </a:br>
            <a:endParaRPr lang="en-IN" dirty="0">
              <a:solidFill>
                <a:srgbClr val="FF0000"/>
              </a:solidFill>
            </a:endParaRPr>
          </a:p>
        </p:txBody>
      </p:sp>
      <p:sp>
        <p:nvSpPr>
          <p:cNvPr id="136" name="Google Shape;136;p6"/>
          <p:cNvSpPr txBox="1">
            <a:spLocks noGrp="1"/>
          </p:cNvSpPr>
          <p:nvPr>
            <p:ph idx="1"/>
          </p:nvPr>
        </p:nvSpPr>
        <p:spPr>
          <a:xfrm>
            <a:off x="1153886" y="1153887"/>
            <a:ext cx="10428514" cy="4972280"/>
          </a:xfrm>
          <a:prstGeom prst="rect">
            <a:avLst/>
          </a:prstGeom>
          <a:noFill/>
          <a:ln>
            <a:noFill/>
          </a:ln>
        </p:spPr>
        <p:txBody>
          <a:bodyPr spcFirstLastPara="1" wrap="square" lIns="91425" tIns="45700" rIns="91425" bIns="45700" anchor="t" anchorCtr="0">
            <a:normAutofit lnSpcReduction="10000"/>
          </a:bodyPr>
          <a:lstStyle/>
          <a:p>
            <a:pPr marL="0" lvl="0" indent="0">
              <a:lnSpc>
                <a:spcPct val="90000"/>
              </a:lnSpc>
              <a:spcBef>
                <a:spcPts val="0"/>
              </a:spcBef>
              <a:buClr>
                <a:srgbClr val="262626"/>
              </a:buClr>
              <a:buSzPts val="2800"/>
              <a:buNone/>
            </a:pPr>
            <a:r>
              <a:rPr lang="en-US" b="1" dirty="0"/>
              <a:t>Fabrication occurs when an intruder injects bogus data or creates a false trail in the system.</a:t>
            </a:r>
            <a:r>
              <a:rPr lang="en-US" dirty="0"/>
              <a:t> For example, a hacker can execute identity spoofing by creating a fake version of a legitimate user. Then, he can attempt to commit fraud or hijack a bank account</a:t>
            </a:r>
            <a:r>
              <a:rPr lang="en-US" dirty="0" smtClean="0"/>
              <a:t>:</a:t>
            </a:r>
          </a:p>
          <a:p>
            <a:r>
              <a:rPr lang="en-US" sz="2400" dirty="0"/>
              <a:t>Further, there are other techniques to carry out a fabrication attack, such as </a:t>
            </a:r>
            <a:r>
              <a:rPr lang="en-US" sz="2400" dirty="0">
                <a:hlinkClick r:id="rId3"/>
              </a:rPr>
              <a:t>SQL injection</a:t>
            </a:r>
            <a:r>
              <a:rPr lang="en-US" sz="2400" dirty="0"/>
              <a:t> and </a:t>
            </a:r>
            <a:r>
              <a:rPr lang="en-US" sz="2400" dirty="0">
                <a:hlinkClick r:id="rId4"/>
              </a:rPr>
              <a:t>phishing attacks</a:t>
            </a:r>
            <a:r>
              <a:rPr lang="en-US" sz="2400" dirty="0"/>
              <a:t>.</a:t>
            </a:r>
          </a:p>
          <a:p>
            <a:r>
              <a:rPr lang="en-US" sz="2400" b="1" dirty="0"/>
              <a:t>Fabrication attacks mainly affect data authentication. </a:t>
            </a:r>
            <a:r>
              <a:rPr lang="en-US" sz="2400" dirty="0"/>
              <a:t>That’s the case when the intruder creates a spoofing attack and impersonates a user’s identity or IP address. Meanwhile, </a:t>
            </a:r>
            <a:r>
              <a:rPr lang="en-US" sz="2400" b="1" dirty="0"/>
              <a:t>fabrication can also threaten the availability objective of the </a:t>
            </a:r>
            <a:r>
              <a:rPr lang="en-US" sz="2400" b="1" dirty="0">
                <a:hlinkClick r:id="rId5"/>
              </a:rPr>
              <a:t>CIA triad</a:t>
            </a:r>
            <a:r>
              <a:rPr lang="en-US" sz="2400" b="1" dirty="0"/>
              <a:t>;</a:t>
            </a:r>
            <a:r>
              <a:rPr lang="en-US" sz="2400" dirty="0"/>
              <a:t> for instance, injecting an overdose of traffic into a network can block a service.</a:t>
            </a: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6">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7">
            <a:alphaModFix/>
          </a:blip>
          <a:srcRect/>
          <a:stretch/>
        </p:blipFill>
        <p:spPr>
          <a:xfrm>
            <a:off x="582803"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8">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9">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4292939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smtClean="0">
                <a:solidFill>
                  <a:srgbClr val="FF0000"/>
                </a:solidFill>
              </a:rPr>
              <a:t>Fabrication</a:t>
            </a:r>
            <a:r>
              <a:rPr lang="en-IN" b="1" dirty="0">
                <a:solidFill>
                  <a:srgbClr val="FF0000"/>
                </a:solidFill>
              </a:rPr>
              <a:t/>
            </a:r>
            <a:br>
              <a:rPr lang="en-IN" b="1" dirty="0">
                <a:solidFill>
                  <a:srgbClr val="FF0000"/>
                </a:solidFill>
              </a:rPr>
            </a:br>
            <a:endParaRPr lang="en-IN" dirty="0">
              <a:solidFill>
                <a:srgbClr val="FF0000"/>
              </a:solidFill>
            </a:endParaRPr>
          </a:p>
        </p:txBody>
      </p:sp>
      <p:sp>
        <p:nvSpPr>
          <p:cNvPr id="136" name="Google Shape;136;p6"/>
          <p:cNvSpPr txBox="1">
            <a:spLocks noGrp="1"/>
          </p:cNvSpPr>
          <p:nvPr>
            <p:ph idx="1"/>
          </p:nvPr>
        </p:nvSpPr>
        <p:spPr>
          <a:xfrm>
            <a:off x="609600" y="1600204"/>
            <a:ext cx="5812971" cy="4230620"/>
          </a:xfrm>
          <a:prstGeom prst="rect">
            <a:avLst/>
          </a:prstGeom>
          <a:noFill/>
          <a:ln>
            <a:noFill/>
          </a:ln>
        </p:spPr>
        <p:txBody>
          <a:bodyPr spcFirstLastPara="1" wrap="square" lIns="91425" tIns="45700" rIns="91425" bIns="45700" anchor="t" anchorCtr="0">
            <a:normAutofit/>
          </a:bodyPr>
          <a:lstStyle/>
          <a:p>
            <a:r>
              <a:rPr lang="en-US" dirty="0"/>
              <a:t>We can mitigate fabrication attacks by using </a:t>
            </a:r>
            <a:r>
              <a:rPr lang="en-US" dirty="0">
                <a:hlinkClick r:id="rId3"/>
              </a:rPr>
              <a:t>digital signatures</a:t>
            </a:r>
            <a:r>
              <a:rPr lang="en-US" dirty="0"/>
              <a:t> and data encryption or by implementing </a:t>
            </a:r>
            <a:r>
              <a:rPr lang="en-US" dirty="0">
                <a:hlinkClick r:id="rId4"/>
              </a:rPr>
              <a:t>firewalls</a:t>
            </a:r>
            <a:r>
              <a:rPr lang="en-US" dirty="0"/>
              <a:t> in the network.</a:t>
            </a:r>
            <a:endParaRPr lang="en-US" sz="2400" dirty="0" smtClean="0">
              <a:solidFill>
                <a:srgbClr val="262626"/>
              </a:solidFill>
              <a:latin typeface="Calibri" panose="020F0502020204030204" pitchFamily="34" charset="0"/>
              <a:ea typeface="Fira Sans"/>
              <a:cs typeface="Fira Sans"/>
              <a:sym typeface="Fira Sans"/>
            </a:endParaRPr>
          </a:p>
          <a:p>
            <a:pPr marL="342900">
              <a:spcBef>
                <a:spcPts val="0"/>
              </a:spcBef>
              <a:buClr>
                <a:srgbClr val="262626"/>
              </a:buClr>
              <a:buSzPts val="2800"/>
            </a:pPr>
            <a:endParaRPr lang="en-US" sz="2400" dirty="0" smtClean="0">
              <a:solidFill>
                <a:srgbClr val="262626"/>
              </a:solidFill>
              <a:latin typeface="Fira Sans"/>
              <a:ea typeface="Fira Sans"/>
              <a:cs typeface="Fira Sans"/>
              <a:sym typeface="Fira Sans"/>
            </a:endParaRPr>
          </a:p>
          <a:p>
            <a:pPr marL="228600" lvl="0" indent="-228600" algn="l" rtl="0">
              <a:lnSpc>
                <a:spcPct val="90000"/>
              </a:lnSpc>
              <a:spcBef>
                <a:spcPts val="0"/>
              </a:spcBef>
              <a:spcAft>
                <a:spcPts val="0"/>
              </a:spcAft>
              <a:buClr>
                <a:srgbClr val="262626"/>
              </a:buClr>
              <a:buSzPts val="2800"/>
              <a:buChar char="•"/>
            </a:pPr>
            <a:endParaRPr dirty="0"/>
          </a:p>
        </p:txBody>
      </p:sp>
      <p:pic>
        <p:nvPicPr>
          <p:cNvPr id="137" name="Google Shape;137;p6"/>
          <p:cNvPicPr preferRelativeResize="0"/>
          <p:nvPr/>
        </p:nvPicPr>
        <p:blipFill rotWithShape="1">
          <a:blip r:embed="rId5">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6">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7">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8">
            <a:alphaModFix/>
          </a:blip>
          <a:srcRect/>
          <a:stretch/>
        </p:blipFill>
        <p:spPr>
          <a:xfrm>
            <a:off x="777240" y="5828983"/>
            <a:ext cx="2655568" cy="663892"/>
          </a:xfrm>
          <a:prstGeom prst="rect">
            <a:avLst/>
          </a:prstGeom>
          <a:noFill/>
          <a:ln>
            <a:noFill/>
          </a:ln>
        </p:spPr>
      </p:pic>
      <p:pic>
        <p:nvPicPr>
          <p:cNvPr id="6146" name="Picture 2" descr="Fabric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0722" y="1246799"/>
            <a:ext cx="5047293" cy="3564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2591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graphicFrame>
        <p:nvGraphicFramePr>
          <p:cNvPr id="3" name="Content Placeholder 2"/>
          <p:cNvGraphicFramePr>
            <a:graphicFrameLocks noGrp="1"/>
          </p:cNvGraphicFramePr>
          <p:nvPr>
            <p:ph idx="1"/>
            <p:extLst>
              <p:ext uri="{D42A27DB-BD31-4B8C-83A1-F6EECF244321}">
                <p14:modId xmlns:p14="http://schemas.microsoft.com/office/powerpoint/2010/main" val="2052804947"/>
              </p:ext>
            </p:extLst>
          </p:nvPr>
        </p:nvGraphicFramePr>
        <p:xfrm>
          <a:off x="2351315" y="90183"/>
          <a:ext cx="8412480" cy="5618480"/>
        </p:xfrm>
        <a:graphic>
          <a:graphicData uri="http://schemas.openxmlformats.org/drawingml/2006/table">
            <a:tbl>
              <a:tblPr firstRow="1" bandRow="1">
                <a:tableStyleId>{5C22544A-7EE6-4342-B048-85BDC9FD1C3A}</a:tableStyleId>
              </a:tblPr>
              <a:tblGrid>
                <a:gridCol w="2103120"/>
                <a:gridCol w="2103120"/>
                <a:gridCol w="2103120"/>
                <a:gridCol w="2103120"/>
              </a:tblGrid>
              <a:tr h="363469">
                <a:tc>
                  <a:txBody>
                    <a:bodyPr/>
                    <a:lstStyle/>
                    <a:p>
                      <a:pPr algn="ctr"/>
                      <a:r>
                        <a:rPr lang="en-IN" dirty="0">
                          <a:solidFill>
                            <a:srgbClr val="FFFFFF"/>
                          </a:solidFill>
                          <a:effectLst/>
                        </a:rPr>
                        <a:t>Attack Category</a:t>
                      </a:r>
                    </a:p>
                  </a:txBody>
                  <a:tcPr marL="76200" marR="76200" marT="76200" marB="76200" anchor="ctr"/>
                </a:tc>
                <a:tc>
                  <a:txBody>
                    <a:bodyPr/>
                    <a:lstStyle/>
                    <a:p>
                      <a:pPr algn="ctr"/>
                      <a:r>
                        <a:rPr lang="en-IN">
                          <a:solidFill>
                            <a:srgbClr val="FFFFFF"/>
                          </a:solidFill>
                          <a:effectLst/>
                        </a:rPr>
                        <a:t>Characteristics</a:t>
                      </a:r>
                    </a:p>
                  </a:txBody>
                  <a:tcPr marL="76200" marR="76200" marT="76200" marB="76200" anchor="ctr"/>
                </a:tc>
                <a:tc>
                  <a:txBody>
                    <a:bodyPr/>
                    <a:lstStyle/>
                    <a:p>
                      <a:pPr algn="ctr"/>
                      <a:r>
                        <a:rPr lang="en-IN">
                          <a:solidFill>
                            <a:srgbClr val="FFFFFF"/>
                          </a:solidFill>
                          <a:effectLst/>
                        </a:rPr>
                        <a:t>Examples</a:t>
                      </a:r>
                    </a:p>
                  </a:txBody>
                  <a:tcPr marL="76200" marR="76200" marT="76200" marB="76200" anchor="ctr"/>
                </a:tc>
                <a:tc>
                  <a:txBody>
                    <a:bodyPr/>
                    <a:lstStyle/>
                    <a:p>
                      <a:pPr algn="ctr"/>
                      <a:r>
                        <a:rPr lang="en-IN">
                          <a:solidFill>
                            <a:srgbClr val="FFFFFF"/>
                          </a:solidFill>
                          <a:effectLst/>
                        </a:rPr>
                        <a:t>Type</a:t>
                      </a:r>
                    </a:p>
                  </a:txBody>
                  <a:tcPr marL="76200" marR="76200" marT="76200" marB="76200" anchor="ctr"/>
                </a:tc>
              </a:tr>
              <a:tr h="1222380">
                <a:tc>
                  <a:txBody>
                    <a:bodyPr/>
                    <a:lstStyle/>
                    <a:p>
                      <a:pPr algn="l"/>
                      <a:r>
                        <a:rPr lang="en-IN">
                          <a:effectLst/>
                        </a:rPr>
                        <a:t>Interception</a:t>
                      </a:r>
                    </a:p>
                  </a:txBody>
                  <a:tcPr marL="31751" marR="31751" marT="31750" marB="31750" anchor="ctr"/>
                </a:tc>
                <a:tc>
                  <a:txBody>
                    <a:bodyPr/>
                    <a:lstStyle/>
                    <a:p>
                      <a:pPr algn="l"/>
                      <a:r>
                        <a:rPr lang="en-US">
                          <a:effectLst/>
                        </a:rPr>
                        <a:t>An unauthorized actor access a service or information shared between two legitimate users</a:t>
                      </a:r>
                    </a:p>
                  </a:txBody>
                  <a:tcPr marL="31751" marR="31751" marT="31750" marB="31750" anchor="ctr"/>
                </a:tc>
                <a:tc>
                  <a:txBody>
                    <a:bodyPr/>
                    <a:lstStyle/>
                    <a:p>
                      <a:pPr algn="l">
                        <a:buFont typeface="Arial"/>
                        <a:buChar char="•"/>
                      </a:pPr>
                      <a:r>
                        <a:rPr lang="en-IN">
                          <a:solidFill>
                            <a:srgbClr val="000000"/>
                          </a:solidFill>
                          <a:effectLst/>
                        </a:rPr>
                        <a:t>Eavesdropping</a:t>
                      </a:r>
                    </a:p>
                    <a:p>
                      <a:pPr algn="l">
                        <a:buFont typeface="Arial"/>
                        <a:buChar char="•"/>
                      </a:pPr>
                      <a:r>
                        <a:rPr lang="en-IN">
                          <a:solidFill>
                            <a:srgbClr val="000000"/>
                          </a:solidFill>
                          <a:effectLst/>
                        </a:rPr>
                        <a:t>Passwords attacks</a:t>
                      </a:r>
                    </a:p>
                    <a:p>
                      <a:pPr algn="l">
                        <a:buFont typeface="Arial"/>
                        <a:buChar char="•"/>
                      </a:pPr>
                      <a:r>
                        <a:rPr lang="en-IN">
                          <a:solidFill>
                            <a:srgbClr val="000000"/>
                          </a:solidFill>
                          <a:effectLst/>
                        </a:rPr>
                        <a:t>Packet sniffing</a:t>
                      </a:r>
                    </a:p>
                  </a:txBody>
                  <a:tcPr marL="31751" marR="31751" marT="31750" marB="31750" anchor="ctr"/>
                </a:tc>
                <a:tc>
                  <a:txBody>
                    <a:bodyPr/>
                    <a:lstStyle/>
                    <a:p>
                      <a:pPr algn="l"/>
                      <a:r>
                        <a:rPr lang="en-IN" dirty="0">
                          <a:effectLst/>
                        </a:rPr>
                        <a:t>Passive</a:t>
                      </a:r>
                    </a:p>
                  </a:txBody>
                  <a:tcPr marL="31751" marR="31751" marT="31750" marB="31750" anchor="ctr"/>
                </a:tc>
              </a:tr>
              <a:tr h="988722">
                <a:tc>
                  <a:txBody>
                    <a:bodyPr/>
                    <a:lstStyle/>
                    <a:p>
                      <a:pPr algn="l"/>
                      <a:r>
                        <a:rPr lang="en-IN">
                          <a:effectLst/>
                        </a:rPr>
                        <a:t>Interruption</a:t>
                      </a:r>
                    </a:p>
                  </a:txBody>
                  <a:tcPr marL="31751" marR="31751" marT="31750" marB="31750" anchor="ctr"/>
                </a:tc>
                <a:tc>
                  <a:txBody>
                    <a:bodyPr/>
                    <a:lstStyle/>
                    <a:p>
                      <a:pPr algn="l"/>
                      <a:r>
                        <a:rPr lang="en-US" dirty="0">
                          <a:effectLst/>
                        </a:rPr>
                        <a:t>An unauthorized actor disrupts a service or destroys hardware</a:t>
                      </a:r>
                    </a:p>
                  </a:txBody>
                  <a:tcPr marL="31751" marR="31751" marT="31750" marB="31750" anchor="ctr"/>
                </a:tc>
                <a:tc>
                  <a:txBody>
                    <a:bodyPr/>
                    <a:lstStyle/>
                    <a:p>
                      <a:pPr algn="l">
                        <a:buFont typeface="Arial"/>
                        <a:buChar char="•"/>
                      </a:pPr>
                      <a:r>
                        <a:rPr lang="en-IN">
                          <a:solidFill>
                            <a:srgbClr val="000000"/>
                          </a:solidFill>
                          <a:effectLst/>
                        </a:rPr>
                        <a:t>Hardware disruption</a:t>
                      </a:r>
                    </a:p>
                    <a:p>
                      <a:pPr algn="l">
                        <a:buFont typeface="Arial"/>
                        <a:buChar char="•"/>
                      </a:pPr>
                      <a:r>
                        <a:rPr lang="en-IN">
                          <a:solidFill>
                            <a:srgbClr val="000000"/>
                          </a:solidFill>
                          <a:effectLst/>
                        </a:rPr>
                        <a:t>Message corruption</a:t>
                      </a:r>
                    </a:p>
                    <a:p>
                      <a:pPr algn="l">
                        <a:buFont typeface="Arial"/>
                        <a:buChar char="•"/>
                      </a:pPr>
                      <a:r>
                        <a:rPr lang="en-IN">
                          <a:solidFill>
                            <a:srgbClr val="000000"/>
                          </a:solidFill>
                          <a:effectLst/>
                        </a:rPr>
                        <a:t>Denial of Service</a:t>
                      </a:r>
                    </a:p>
                    <a:p>
                      <a:pPr algn="l">
                        <a:buFont typeface="Arial"/>
                        <a:buChar char="•"/>
                      </a:pPr>
                      <a:r>
                        <a:rPr lang="en-IN">
                          <a:solidFill>
                            <a:srgbClr val="000000"/>
                          </a:solidFill>
                          <a:effectLst/>
                        </a:rPr>
                        <a:t>Malware</a:t>
                      </a:r>
                    </a:p>
                  </a:txBody>
                  <a:tcPr marL="31751" marR="31751" marT="31750" marB="31750" anchor="ctr"/>
                </a:tc>
                <a:tc>
                  <a:txBody>
                    <a:bodyPr/>
                    <a:lstStyle/>
                    <a:p>
                      <a:pPr algn="l"/>
                      <a:r>
                        <a:rPr lang="en-IN">
                          <a:effectLst/>
                        </a:rPr>
                        <a:t>Active</a:t>
                      </a:r>
                    </a:p>
                  </a:txBody>
                  <a:tcPr marL="31751" marR="31751" marT="31750" marB="31750" anchor="ctr"/>
                </a:tc>
              </a:tr>
              <a:tr h="1222380">
                <a:tc>
                  <a:txBody>
                    <a:bodyPr/>
                    <a:lstStyle/>
                    <a:p>
                      <a:pPr algn="l"/>
                      <a:r>
                        <a:rPr lang="en-IN">
                          <a:effectLst/>
                        </a:rPr>
                        <a:t>Modification</a:t>
                      </a:r>
                    </a:p>
                  </a:txBody>
                  <a:tcPr marL="31751" marR="31751" marT="31750" marB="31750" anchor="ctr"/>
                </a:tc>
                <a:tc>
                  <a:txBody>
                    <a:bodyPr/>
                    <a:lstStyle/>
                    <a:p>
                      <a:pPr algn="l"/>
                      <a:r>
                        <a:rPr lang="en-US">
                          <a:effectLst/>
                        </a:rPr>
                        <a:t>An unauthorized actor gains access to a service or data and tampers with the content</a:t>
                      </a:r>
                    </a:p>
                  </a:txBody>
                  <a:tcPr marL="31751" marR="31751" marT="31750" marB="31750" anchor="ctr"/>
                </a:tc>
                <a:tc>
                  <a:txBody>
                    <a:bodyPr/>
                    <a:lstStyle/>
                    <a:p>
                      <a:pPr algn="l">
                        <a:buFont typeface="Arial"/>
                        <a:buChar char="•"/>
                      </a:pPr>
                      <a:r>
                        <a:rPr lang="en-US">
                          <a:solidFill>
                            <a:srgbClr val="000000"/>
                          </a:solidFill>
                          <a:effectLst/>
                        </a:rPr>
                        <a:t>MITM attack</a:t>
                      </a:r>
                    </a:p>
                    <a:p>
                      <a:pPr algn="l">
                        <a:buFont typeface="Arial"/>
                        <a:buChar char="•"/>
                      </a:pPr>
                      <a:r>
                        <a:rPr lang="en-US">
                          <a:solidFill>
                            <a:srgbClr val="000000"/>
                          </a:solidFill>
                          <a:effectLst/>
                        </a:rPr>
                        <a:t>Cross-Site Scripting (XSS)</a:t>
                      </a:r>
                    </a:p>
                  </a:txBody>
                  <a:tcPr marL="31751" marR="31751" marT="31750" marB="31750" anchor="ctr"/>
                </a:tc>
                <a:tc>
                  <a:txBody>
                    <a:bodyPr/>
                    <a:lstStyle/>
                    <a:p>
                      <a:pPr algn="l"/>
                      <a:r>
                        <a:rPr lang="en-IN">
                          <a:effectLst/>
                        </a:rPr>
                        <a:t>Active</a:t>
                      </a:r>
                    </a:p>
                  </a:txBody>
                  <a:tcPr marL="31751" marR="31751" marT="31750" marB="31750" anchor="ctr"/>
                </a:tc>
              </a:tr>
              <a:tr h="988722">
                <a:tc>
                  <a:txBody>
                    <a:bodyPr/>
                    <a:lstStyle/>
                    <a:p>
                      <a:pPr algn="l"/>
                      <a:r>
                        <a:rPr lang="en-IN">
                          <a:effectLst/>
                        </a:rPr>
                        <a:t>Fabrication</a:t>
                      </a:r>
                    </a:p>
                  </a:txBody>
                  <a:tcPr marL="31751" marR="31751" marT="31750" marB="31750" anchor="ctr"/>
                </a:tc>
                <a:tc>
                  <a:txBody>
                    <a:bodyPr/>
                    <a:lstStyle/>
                    <a:p>
                      <a:pPr algn="l"/>
                      <a:r>
                        <a:rPr lang="en-US">
                          <a:effectLst/>
                        </a:rPr>
                        <a:t>An unauthorized actor inserts malicious data in the system</a:t>
                      </a:r>
                    </a:p>
                  </a:txBody>
                  <a:tcPr marL="31751" marR="31751" marT="31750" marB="31750" anchor="ctr"/>
                </a:tc>
                <a:tc>
                  <a:txBody>
                    <a:bodyPr/>
                    <a:lstStyle/>
                    <a:p>
                      <a:pPr algn="l">
                        <a:buFont typeface="Arial"/>
                        <a:buChar char="•"/>
                      </a:pPr>
                      <a:r>
                        <a:rPr lang="en-US">
                          <a:solidFill>
                            <a:srgbClr val="000000"/>
                          </a:solidFill>
                          <a:effectLst/>
                        </a:rPr>
                        <a:t>Spoofing</a:t>
                      </a:r>
                    </a:p>
                    <a:p>
                      <a:pPr algn="l">
                        <a:buFont typeface="Arial"/>
                        <a:buChar char="•"/>
                      </a:pPr>
                      <a:r>
                        <a:rPr lang="en-US">
                          <a:solidFill>
                            <a:srgbClr val="000000"/>
                          </a:solidFill>
                          <a:effectLst/>
                        </a:rPr>
                        <a:t>SQL Injection</a:t>
                      </a:r>
                    </a:p>
                    <a:p>
                      <a:pPr algn="l">
                        <a:buFont typeface="Arial"/>
                        <a:buChar char="•"/>
                      </a:pPr>
                      <a:r>
                        <a:rPr lang="en-US">
                          <a:solidFill>
                            <a:srgbClr val="000000"/>
                          </a:solidFill>
                          <a:effectLst/>
                        </a:rPr>
                        <a:t>Phishing</a:t>
                      </a:r>
                    </a:p>
                    <a:p>
                      <a:pPr algn="l">
                        <a:buFont typeface="Arial"/>
                        <a:buChar char="•"/>
                      </a:pPr>
                      <a:r>
                        <a:rPr lang="en-US">
                          <a:solidFill>
                            <a:srgbClr val="000000"/>
                          </a:solidFill>
                          <a:effectLst/>
                        </a:rPr>
                        <a:t>Replay attacks</a:t>
                      </a:r>
                    </a:p>
                  </a:txBody>
                  <a:tcPr marL="31751" marR="31751" marT="31750" marB="31750" anchor="ctr"/>
                </a:tc>
                <a:tc>
                  <a:txBody>
                    <a:bodyPr/>
                    <a:lstStyle/>
                    <a:p>
                      <a:pPr algn="l"/>
                      <a:r>
                        <a:rPr lang="en-IN" dirty="0">
                          <a:effectLst/>
                        </a:rPr>
                        <a:t>Active</a:t>
                      </a:r>
                    </a:p>
                  </a:txBody>
                  <a:tcPr marL="31751" marR="31751" marT="31750" marB="31750" anchor="ctr"/>
                </a:tc>
              </a:tr>
            </a:tbl>
          </a:graphicData>
        </a:graphic>
      </p:graphicFrame>
    </p:spTree>
    <p:extLst>
      <p:ext uri="{BB962C8B-B14F-4D97-AF65-F5344CB8AC3E}">
        <p14:creationId xmlns:p14="http://schemas.microsoft.com/office/powerpoint/2010/main" val="14009794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graphicFrame>
        <p:nvGraphicFramePr>
          <p:cNvPr id="3" name="Content Placeholder 2"/>
          <p:cNvGraphicFramePr>
            <a:graphicFrameLocks noGrp="1"/>
          </p:cNvGraphicFramePr>
          <p:nvPr>
            <p:ph idx="1"/>
            <p:extLst>
              <p:ext uri="{D42A27DB-BD31-4B8C-83A1-F6EECF244321}">
                <p14:modId xmlns:p14="http://schemas.microsoft.com/office/powerpoint/2010/main" val="1969913166"/>
              </p:ext>
            </p:extLst>
          </p:nvPr>
        </p:nvGraphicFramePr>
        <p:xfrm>
          <a:off x="2351317" y="90183"/>
          <a:ext cx="8077199" cy="5738802"/>
        </p:xfrm>
        <a:graphic>
          <a:graphicData uri="http://schemas.openxmlformats.org/drawingml/2006/table">
            <a:tbl>
              <a:tblPr firstRow="1" bandRow="1">
                <a:tableStyleId>{5C22544A-7EE6-4342-B048-85BDC9FD1C3A}</a:tableStyleId>
              </a:tblPr>
              <a:tblGrid>
                <a:gridCol w="2103120"/>
                <a:gridCol w="2103120"/>
                <a:gridCol w="3870959"/>
              </a:tblGrid>
              <a:tr h="505032">
                <a:tc>
                  <a:txBody>
                    <a:bodyPr/>
                    <a:lstStyle/>
                    <a:p>
                      <a:pPr algn="ctr"/>
                      <a:r>
                        <a:rPr lang="en-IN" dirty="0">
                          <a:solidFill>
                            <a:srgbClr val="FFFFFF"/>
                          </a:solidFill>
                          <a:effectLst/>
                        </a:rPr>
                        <a:t>Attack Category</a:t>
                      </a:r>
                    </a:p>
                  </a:txBody>
                  <a:tcPr marL="76200" marR="76200" marT="76200" marB="76200" anchor="ctr"/>
                </a:tc>
                <a:tc>
                  <a:txBody>
                    <a:bodyPr/>
                    <a:lstStyle/>
                    <a:p>
                      <a:pPr algn="ctr"/>
                      <a:r>
                        <a:rPr lang="en-IN">
                          <a:solidFill>
                            <a:srgbClr val="FFFFFF"/>
                          </a:solidFill>
                          <a:effectLst/>
                        </a:rPr>
                        <a:t>CIA Triad</a:t>
                      </a:r>
                    </a:p>
                  </a:txBody>
                  <a:tcPr marL="76200" marR="76200" marT="76200" marB="76200" anchor="ctr"/>
                </a:tc>
                <a:tc>
                  <a:txBody>
                    <a:bodyPr/>
                    <a:lstStyle/>
                    <a:p>
                      <a:pPr algn="ctr"/>
                      <a:r>
                        <a:rPr lang="en-IN">
                          <a:solidFill>
                            <a:srgbClr val="FFFFFF"/>
                          </a:solidFill>
                          <a:effectLst/>
                        </a:rPr>
                        <a:t>Mitigation Techniques</a:t>
                      </a:r>
                    </a:p>
                  </a:txBody>
                  <a:tcPr marL="76200" marR="76200" marT="76200" marB="76200" anchor="ctr"/>
                </a:tc>
              </a:tr>
              <a:tr h="1446712">
                <a:tc>
                  <a:txBody>
                    <a:bodyPr/>
                    <a:lstStyle/>
                    <a:p>
                      <a:pPr algn="l"/>
                      <a:r>
                        <a:rPr lang="en-IN">
                          <a:effectLst/>
                        </a:rPr>
                        <a:t>Interception</a:t>
                      </a:r>
                    </a:p>
                  </a:txBody>
                  <a:tcPr marL="31751" marR="31751" marT="31750" marB="31750" anchor="ctr"/>
                </a:tc>
                <a:tc>
                  <a:txBody>
                    <a:bodyPr/>
                    <a:lstStyle/>
                    <a:p>
                      <a:pPr algn="l"/>
                      <a:r>
                        <a:rPr lang="en-IN">
                          <a:effectLst/>
                        </a:rPr>
                        <a:t>Confidentiality</a:t>
                      </a:r>
                    </a:p>
                  </a:txBody>
                  <a:tcPr marL="31751" marR="31751" marT="31750" marB="31750" anchor="ctr"/>
                </a:tc>
                <a:tc>
                  <a:txBody>
                    <a:bodyPr/>
                    <a:lstStyle/>
                    <a:p>
                      <a:pPr algn="l">
                        <a:buFont typeface="Arial"/>
                        <a:buChar char="•"/>
                      </a:pPr>
                      <a:r>
                        <a:rPr lang="en-US">
                          <a:solidFill>
                            <a:srgbClr val="000000"/>
                          </a:solidFill>
                          <a:effectLst/>
                        </a:rPr>
                        <a:t>Encrypt transferred data</a:t>
                      </a:r>
                    </a:p>
                    <a:p>
                      <a:pPr algn="l">
                        <a:buFont typeface="Arial"/>
                        <a:buChar char="•"/>
                      </a:pPr>
                      <a:r>
                        <a:rPr lang="en-US">
                          <a:solidFill>
                            <a:srgbClr val="000000"/>
                          </a:solidFill>
                          <a:effectLst/>
                        </a:rPr>
                        <a:t>Use trusted wifi-networks</a:t>
                      </a:r>
                    </a:p>
                    <a:p>
                      <a:pPr algn="l">
                        <a:buFont typeface="Arial"/>
                        <a:buChar char="•"/>
                      </a:pPr>
                      <a:r>
                        <a:rPr lang="en-US">
                          <a:solidFill>
                            <a:srgbClr val="000000"/>
                          </a:solidFill>
                          <a:effectLst/>
                        </a:rPr>
                        <a:t>Regular update of the software (OS, applications, passwords, etc.)</a:t>
                      </a:r>
                    </a:p>
                  </a:txBody>
                  <a:tcPr marL="31751" marR="31751" marT="31750" marB="31750" anchor="ctr"/>
                </a:tc>
              </a:tr>
              <a:tr h="1170173">
                <a:tc>
                  <a:txBody>
                    <a:bodyPr/>
                    <a:lstStyle/>
                    <a:p>
                      <a:pPr algn="l"/>
                      <a:r>
                        <a:rPr lang="en-IN">
                          <a:effectLst/>
                        </a:rPr>
                        <a:t>Interruption</a:t>
                      </a:r>
                    </a:p>
                  </a:txBody>
                  <a:tcPr marL="31751" marR="31751" marT="31750" marB="31750" anchor="ctr"/>
                </a:tc>
                <a:tc>
                  <a:txBody>
                    <a:bodyPr/>
                    <a:lstStyle/>
                    <a:p>
                      <a:pPr algn="l"/>
                      <a:r>
                        <a:rPr lang="en-IN">
                          <a:effectLst/>
                        </a:rPr>
                        <a:t>Availability</a:t>
                      </a:r>
                    </a:p>
                  </a:txBody>
                  <a:tcPr marL="31751" marR="31751" marT="31750" marB="31750" anchor="ctr"/>
                </a:tc>
                <a:tc>
                  <a:txBody>
                    <a:bodyPr/>
                    <a:lstStyle/>
                    <a:p>
                      <a:pPr algn="l">
                        <a:buFont typeface="Arial"/>
                        <a:buChar char="•"/>
                      </a:pPr>
                      <a:r>
                        <a:rPr lang="en-IN">
                          <a:solidFill>
                            <a:srgbClr val="000000"/>
                          </a:solidFill>
                          <a:effectLst/>
                        </a:rPr>
                        <a:t>Firewalls</a:t>
                      </a:r>
                    </a:p>
                    <a:p>
                      <a:pPr algn="l">
                        <a:buFont typeface="Arial"/>
                        <a:buChar char="•"/>
                      </a:pPr>
                      <a:r>
                        <a:rPr lang="en-IN">
                          <a:solidFill>
                            <a:srgbClr val="000000"/>
                          </a:solidFill>
                          <a:effectLst/>
                        </a:rPr>
                        <a:t>System backups</a:t>
                      </a:r>
                    </a:p>
                    <a:p>
                      <a:pPr algn="l">
                        <a:buFont typeface="Arial"/>
                        <a:buChar char="•"/>
                      </a:pPr>
                      <a:r>
                        <a:rPr lang="en-IN">
                          <a:solidFill>
                            <a:srgbClr val="000000"/>
                          </a:solidFill>
                          <a:effectLst/>
                        </a:rPr>
                        <a:t>CDN</a:t>
                      </a:r>
                    </a:p>
                  </a:txBody>
                  <a:tcPr marL="31751" marR="31751" marT="31750" marB="31750" anchor="ctr"/>
                </a:tc>
              </a:tr>
              <a:tr h="1446712">
                <a:tc>
                  <a:txBody>
                    <a:bodyPr/>
                    <a:lstStyle/>
                    <a:p>
                      <a:pPr algn="l"/>
                      <a:r>
                        <a:rPr lang="en-IN">
                          <a:effectLst/>
                        </a:rPr>
                        <a:t>Modification</a:t>
                      </a:r>
                    </a:p>
                  </a:txBody>
                  <a:tcPr marL="31751" marR="31751" marT="31750" marB="31750" anchor="ctr"/>
                </a:tc>
                <a:tc>
                  <a:txBody>
                    <a:bodyPr/>
                    <a:lstStyle/>
                    <a:p>
                      <a:pPr algn="l"/>
                      <a:r>
                        <a:rPr lang="en-IN">
                          <a:effectLst/>
                        </a:rPr>
                        <a:t>Integrity and Availability</a:t>
                      </a:r>
                    </a:p>
                  </a:txBody>
                  <a:tcPr marL="31751" marR="31751" marT="31750" marB="31750" anchor="ctr"/>
                </a:tc>
                <a:tc>
                  <a:txBody>
                    <a:bodyPr/>
                    <a:lstStyle/>
                    <a:p>
                      <a:pPr algn="l">
                        <a:buFont typeface="Arial"/>
                        <a:buChar char="•"/>
                      </a:pPr>
                      <a:r>
                        <a:rPr lang="en-US">
                          <a:solidFill>
                            <a:srgbClr val="000000"/>
                          </a:solidFill>
                          <a:effectLst/>
                        </a:rPr>
                        <a:t>Intrusion Detection Systems (IDS)</a:t>
                      </a:r>
                    </a:p>
                    <a:p>
                      <a:pPr algn="l">
                        <a:buFont typeface="Arial"/>
                        <a:buChar char="•"/>
                      </a:pPr>
                      <a:r>
                        <a:rPr lang="en-US">
                          <a:solidFill>
                            <a:srgbClr val="000000"/>
                          </a:solidFill>
                          <a:effectLst/>
                        </a:rPr>
                        <a:t>Data Encryption</a:t>
                      </a:r>
                    </a:p>
                    <a:p>
                      <a:pPr algn="l">
                        <a:buFont typeface="Arial"/>
                        <a:buChar char="•"/>
                      </a:pPr>
                      <a:r>
                        <a:rPr lang="en-US">
                          <a:solidFill>
                            <a:srgbClr val="000000"/>
                          </a:solidFill>
                          <a:effectLst/>
                        </a:rPr>
                        <a:t>Access Controls</a:t>
                      </a:r>
                    </a:p>
                  </a:txBody>
                  <a:tcPr marL="31751" marR="31751" marT="31750" marB="31750" anchor="ctr"/>
                </a:tc>
              </a:tr>
              <a:tr h="1170173">
                <a:tc>
                  <a:txBody>
                    <a:bodyPr/>
                    <a:lstStyle/>
                    <a:p>
                      <a:pPr algn="l"/>
                      <a:r>
                        <a:rPr lang="en-IN">
                          <a:effectLst/>
                        </a:rPr>
                        <a:t>Fabrication</a:t>
                      </a:r>
                    </a:p>
                  </a:txBody>
                  <a:tcPr marL="31751" marR="31751" marT="31750" marB="31750" anchor="ctr"/>
                </a:tc>
                <a:tc>
                  <a:txBody>
                    <a:bodyPr/>
                    <a:lstStyle/>
                    <a:p>
                      <a:pPr algn="l"/>
                      <a:r>
                        <a:rPr lang="en-IN">
                          <a:effectLst/>
                        </a:rPr>
                        <a:t>Authentication and Availability</a:t>
                      </a:r>
                    </a:p>
                  </a:txBody>
                  <a:tcPr marL="31751" marR="31751" marT="31750" marB="31750" anchor="ctr"/>
                </a:tc>
                <a:tc>
                  <a:txBody>
                    <a:bodyPr/>
                    <a:lstStyle/>
                    <a:p>
                      <a:pPr algn="l">
                        <a:buFont typeface="Arial"/>
                        <a:buChar char="•"/>
                      </a:pPr>
                      <a:r>
                        <a:rPr lang="en-IN" dirty="0">
                          <a:solidFill>
                            <a:srgbClr val="000000"/>
                          </a:solidFill>
                          <a:effectLst/>
                        </a:rPr>
                        <a:t>Firewalls</a:t>
                      </a:r>
                    </a:p>
                    <a:p>
                      <a:pPr algn="l">
                        <a:buFont typeface="Arial"/>
                        <a:buChar char="•"/>
                      </a:pPr>
                      <a:r>
                        <a:rPr lang="en-IN" dirty="0">
                          <a:solidFill>
                            <a:srgbClr val="000000"/>
                          </a:solidFill>
                          <a:effectLst/>
                        </a:rPr>
                        <a:t>Digital signatures</a:t>
                      </a:r>
                    </a:p>
                  </a:txBody>
                  <a:tcPr marL="31751" marR="31751" marT="31750" marB="31750" anchor="ctr"/>
                </a:tc>
              </a:tr>
            </a:tbl>
          </a:graphicData>
        </a:graphic>
      </p:graphicFrame>
    </p:spTree>
    <p:extLst>
      <p:ext uri="{BB962C8B-B14F-4D97-AF65-F5344CB8AC3E}">
        <p14:creationId xmlns:p14="http://schemas.microsoft.com/office/powerpoint/2010/main" val="7487081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b="1" dirty="0">
                <a:solidFill>
                  <a:srgbClr val="FF0000"/>
                </a:solidFill>
              </a:rPr>
              <a:t>Securing communication</a:t>
            </a: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a:bodyPr>
          <a:lstStyle/>
          <a:p>
            <a:r>
              <a:rPr lang="en-IN" dirty="0"/>
              <a:t>Securing communication over networks involves protecting data confidentiality, integrity, and authenticity. The primary mechanisms for this are </a:t>
            </a:r>
            <a:r>
              <a:rPr lang="en-IN" b="1" dirty="0"/>
              <a:t>SSL/TLS</a:t>
            </a:r>
            <a:r>
              <a:rPr lang="en-IN" dirty="0"/>
              <a:t> (Transport Layer Security), </a:t>
            </a:r>
            <a:r>
              <a:rPr lang="en-IN" b="1" dirty="0" err="1"/>
              <a:t>IPSec</a:t>
            </a:r>
            <a:r>
              <a:rPr lang="en-IN" dirty="0"/>
              <a:t> (Internet Protocol Security), and </a:t>
            </a:r>
            <a:r>
              <a:rPr lang="en-IN" b="1" dirty="0"/>
              <a:t>HTTPS</a:t>
            </a:r>
            <a:r>
              <a:rPr lang="en-IN" dirty="0"/>
              <a:t> (</a:t>
            </a:r>
            <a:r>
              <a:rPr lang="en-IN" dirty="0" err="1"/>
              <a:t>HyperText</a:t>
            </a:r>
            <a:r>
              <a:rPr lang="en-IN" dirty="0"/>
              <a:t> Transfer Protocol Secure), which apply cryptographic protocols to web browsing and network traffic</a:t>
            </a: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0713974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FF0000"/>
                </a:solidFill>
              </a:rPr>
              <a:t>SSL/TLS </a:t>
            </a:r>
            <a:r>
              <a:rPr lang="en-US" b="1" dirty="0">
                <a:solidFill>
                  <a:srgbClr val="FF0000"/>
                </a:solidFill>
              </a:rPr>
              <a:t>(Secure Sockets Layer/Transport Layer Security) </a:t>
            </a:r>
            <a:br>
              <a:rPr lang="en-US" b="1" dirty="0">
                <a:solidFill>
                  <a:srgbClr val="FF0000"/>
                </a:solidFill>
              </a:rPr>
            </a:br>
            <a:endParaRPr lang="en-IN" b="1" dirty="0">
              <a:solidFill>
                <a:srgbClr val="FF0000"/>
              </a:solidFill>
            </a:endParaRP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55000" lnSpcReduction="20000"/>
          </a:bodyPr>
          <a:lstStyle/>
          <a:p>
            <a:r>
              <a:rPr lang="en-US" sz="4500" dirty="0" smtClean="0"/>
              <a:t>SSL/TLS </a:t>
            </a:r>
            <a:r>
              <a:rPr lang="en-US" sz="4500" dirty="0"/>
              <a:t>provides secure communication over networks, primarily for web traffic. While SSL was the predecessor, TLS is the modern standard. </a:t>
            </a:r>
            <a:endParaRPr lang="en-US" sz="4500" dirty="0" smtClean="0"/>
          </a:p>
          <a:p>
            <a:r>
              <a:rPr lang="en-US" sz="4500" b="1" dirty="0" smtClean="0"/>
              <a:t>Layer </a:t>
            </a:r>
            <a:r>
              <a:rPr lang="en-US" sz="4500" b="1" dirty="0"/>
              <a:t>of Operation:</a:t>
            </a:r>
            <a:r>
              <a:rPr lang="en-US" sz="4500" dirty="0"/>
              <a:t> Operates between the Transport Layer (TCP) and Application Layer.</a:t>
            </a:r>
          </a:p>
          <a:p>
            <a:r>
              <a:rPr lang="en-US" sz="4500" b="1" dirty="0"/>
              <a:t>Architecture:</a:t>
            </a:r>
            <a:endParaRPr lang="en-US" sz="4500" dirty="0"/>
          </a:p>
          <a:p>
            <a:pPr lvl="1"/>
            <a:r>
              <a:rPr lang="en-US" sz="3800" b="1" dirty="0"/>
              <a:t>Handshake Protocol:</a:t>
            </a:r>
            <a:r>
              <a:rPr lang="en-US" sz="3800" dirty="0"/>
              <a:t> Allows authentication and negotiation of encryption algorithms and keys before data transfer</a:t>
            </a:r>
            <a:r>
              <a:rPr lang="en-US" sz="3800" dirty="0" smtClean="0"/>
              <a:t>.</a:t>
            </a:r>
          </a:p>
          <a:p>
            <a:pPr marL="457200" lvl="1" indent="0">
              <a:buNone/>
            </a:pPr>
            <a:endParaRPr lang="en-US" sz="3800" dirty="0" smtClean="0"/>
          </a:p>
          <a:p>
            <a:pPr lvl="1"/>
            <a:r>
              <a:rPr lang="en-US" sz="3800" b="1" dirty="0" smtClean="0"/>
              <a:t>Record </a:t>
            </a:r>
            <a:r>
              <a:rPr lang="en-US" sz="3800" b="1" dirty="0"/>
              <a:t>Protocol:</a:t>
            </a:r>
            <a:r>
              <a:rPr lang="en-US" sz="3800" dirty="0"/>
              <a:t> Takes application data, fragments it, compresses it, appends a Message Authentication Code (MAC), encrypts it, and transmits it</a:t>
            </a:r>
            <a:r>
              <a:rPr lang="en-US" sz="3800" dirty="0" smtClean="0"/>
              <a:t>.</a:t>
            </a:r>
          </a:p>
          <a:p>
            <a:pPr marL="457200" lvl="1" indent="0">
              <a:buNone/>
            </a:pPr>
            <a:endParaRPr lang="en-US" sz="3800" dirty="0"/>
          </a:p>
          <a:p>
            <a:pPr lvl="1"/>
            <a:r>
              <a:rPr lang="en-US" sz="3800" b="1" dirty="0"/>
              <a:t>Alert Protocol:</a:t>
            </a:r>
            <a:r>
              <a:rPr lang="en-US" sz="3800" dirty="0"/>
              <a:t> Handles errors and connection closures.</a:t>
            </a:r>
          </a:p>
          <a:p>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9864291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FF0000"/>
                </a:solidFill>
              </a:rPr>
              <a:t>SSL/TLS </a:t>
            </a:r>
            <a:r>
              <a:rPr lang="en-US" b="1" dirty="0">
                <a:solidFill>
                  <a:srgbClr val="FF0000"/>
                </a:solidFill>
              </a:rPr>
              <a:t>(Secure Sockets Layer/Transport Layer Security) </a:t>
            </a:r>
            <a:br>
              <a:rPr lang="en-US" b="1" dirty="0">
                <a:solidFill>
                  <a:srgbClr val="FF0000"/>
                </a:solidFill>
              </a:rPr>
            </a:br>
            <a:endParaRPr lang="en-IN" b="1" dirty="0">
              <a:solidFill>
                <a:srgbClr val="FF0000"/>
              </a:solidFill>
            </a:endParaRP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85000" lnSpcReduction="20000"/>
          </a:bodyPr>
          <a:lstStyle/>
          <a:p>
            <a:r>
              <a:rPr lang="en-US" b="1" dirty="0"/>
              <a:t>Workflow</a:t>
            </a:r>
            <a:r>
              <a:rPr lang="en-US" b="1" dirty="0" smtClean="0"/>
              <a:t>:</a:t>
            </a:r>
          </a:p>
          <a:p>
            <a:r>
              <a:rPr lang="en-US" b="1" dirty="0" smtClean="0"/>
              <a:t>Client </a:t>
            </a:r>
            <a:r>
              <a:rPr lang="en-US" b="1" dirty="0"/>
              <a:t>Hello:</a:t>
            </a:r>
            <a:r>
              <a:rPr lang="en-US" dirty="0"/>
              <a:t> Client sends supported TLS versions and cipher suites.</a:t>
            </a:r>
          </a:p>
          <a:p>
            <a:r>
              <a:rPr lang="en-US" b="1" dirty="0"/>
              <a:t>Server Hello &amp; Certificate:</a:t>
            </a:r>
            <a:r>
              <a:rPr lang="en-US" dirty="0"/>
              <a:t> Server selects algorithms, sends its digital certificate (containing public key), and "Server Hello Done".</a:t>
            </a:r>
          </a:p>
          <a:p>
            <a:r>
              <a:rPr lang="en-US" b="1" dirty="0"/>
              <a:t>Key Exchange:</a:t>
            </a:r>
            <a:r>
              <a:rPr lang="en-US" dirty="0"/>
              <a:t> Client verifies the certificate, generates a pre-master secret, encrypts it with the server’s public key, and sends it.</a:t>
            </a:r>
          </a:p>
          <a:p>
            <a:r>
              <a:rPr lang="en-US" b="1" dirty="0"/>
              <a:t>Session Key Generation:</a:t>
            </a:r>
            <a:r>
              <a:rPr lang="en-US" dirty="0"/>
              <a:t> Both parties generate symmetric session keys from the pre-master secret.</a:t>
            </a:r>
          </a:p>
          <a:p>
            <a:r>
              <a:rPr lang="en-US" b="1" dirty="0"/>
              <a:t>Finished:</a:t>
            </a:r>
            <a:r>
              <a:rPr lang="en-US" dirty="0"/>
              <a:t> Both send a "finished" message, confirming subsequent data is encrypted.</a:t>
            </a:r>
          </a:p>
          <a:p>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8611517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IN" b="1" dirty="0">
                <a:solidFill>
                  <a:srgbClr val="FF0000"/>
                </a:solidFill>
              </a:rPr>
              <a:t>HTTPS (</a:t>
            </a:r>
            <a:r>
              <a:rPr lang="en-IN" b="1" dirty="0" err="1">
                <a:solidFill>
                  <a:srgbClr val="FF0000"/>
                </a:solidFill>
              </a:rPr>
              <a:t>HyperText</a:t>
            </a:r>
            <a:r>
              <a:rPr lang="en-IN" b="1" dirty="0">
                <a:solidFill>
                  <a:srgbClr val="FF0000"/>
                </a:solidFill>
              </a:rPr>
              <a:t> Transfer Protocol Secure)</a:t>
            </a: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92500" lnSpcReduction="10000"/>
          </a:bodyPr>
          <a:lstStyle/>
          <a:p>
            <a:r>
              <a:rPr lang="en-IN" dirty="0"/>
              <a:t>HTTPS is not a distinct protocol, but rather HTTP running on top of an SSL/TLS encrypted connection. </a:t>
            </a:r>
          </a:p>
          <a:p>
            <a:r>
              <a:rPr lang="en-IN" b="1" dirty="0"/>
              <a:t>Layer of Operation:</a:t>
            </a:r>
            <a:r>
              <a:rPr lang="en-IN" dirty="0"/>
              <a:t> Application Layer.</a:t>
            </a:r>
          </a:p>
          <a:p>
            <a:r>
              <a:rPr lang="en-IN" b="1" dirty="0"/>
              <a:t>Architecture:</a:t>
            </a:r>
            <a:r>
              <a:rPr lang="en-IN" dirty="0"/>
              <a:t> HTTPS = HTTP + SSL/TLS.</a:t>
            </a:r>
          </a:p>
          <a:p>
            <a:pPr lvl="1"/>
            <a:r>
              <a:rPr lang="en-IN" b="1" dirty="0"/>
              <a:t>Port:</a:t>
            </a:r>
            <a:r>
              <a:rPr lang="en-IN" dirty="0"/>
              <a:t> Operates on port 443 (HTTP uses 80).</a:t>
            </a:r>
          </a:p>
          <a:p>
            <a:pPr lvl="1"/>
            <a:r>
              <a:rPr lang="en-IN" b="1" dirty="0"/>
              <a:t>Certificate Authority (CA):</a:t>
            </a:r>
            <a:r>
              <a:rPr lang="en-IN" dirty="0"/>
              <a:t> Issues certificates to verify server identity.</a:t>
            </a:r>
          </a:p>
          <a:p>
            <a:pPr marL="0" indent="0">
              <a:buNone/>
            </a:pPr>
            <a:r>
              <a:rPr lang="en-IN" dirty="0"/>
              <a:t/>
            </a:r>
            <a:br>
              <a:rPr lang="en-IN" dirty="0"/>
            </a:b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2235387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IN" b="1" dirty="0">
                <a:solidFill>
                  <a:srgbClr val="FF0000"/>
                </a:solidFill>
              </a:rPr>
              <a:t>HTTPS (</a:t>
            </a:r>
            <a:r>
              <a:rPr lang="en-IN" b="1" dirty="0" err="1">
                <a:solidFill>
                  <a:srgbClr val="FF0000"/>
                </a:solidFill>
              </a:rPr>
              <a:t>HyperText</a:t>
            </a:r>
            <a:r>
              <a:rPr lang="en-IN" b="1" dirty="0">
                <a:solidFill>
                  <a:srgbClr val="FF0000"/>
                </a:solidFill>
              </a:rPr>
              <a:t> Transfer Protocol Secure)</a:t>
            </a: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92500"/>
          </a:bodyPr>
          <a:lstStyle/>
          <a:p>
            <a:pPr marL="0" indent="0">
              <a:buNone/>
            </a:pPr>
            <a:r>
              <a:rPr lang="en-US" b="1" dirty="0" smtClean="0"/>
              <a:t>Workflow:</a:t>
            </a:r>
          </a:p>
          <a:p>
            <a:pPr marL="0" indent="0">
              <a:buNone/>
            </a:pPr>
            <a:r>
              <a:rPr lang="en-US" b="1" dirty="0" smtClean="0"/>
              <a:t>Connection </a:t>
            </a:r>
            <a:r>
              <a:rPr lang="en-US" b="1" dirty="0"/>
              <a:t>Request:</a:t>
            </a:r>
            <a:r>
              <a:rPr lang="en-US" dirty="0"/>
              <a:t> Client requests to connect to a website (e.g., https://example.com).</a:t>
            </a:r>
          </a:p>
          <a:p>
            <a:r>
              <a:rPr lang="en-US" b="1" dirty="0"/>
              <a:t>TLS Handshake:</a:t>
            </a:r>
            <a:r>
              <a:rPr lang="en-US" dirty="0"/>
              <a:t> The browser and server perform the TLS </a:t>
            </a:r>
            <a:r>
              <a:rPr lang="en-US" dirty="0" smtClean="0"/>
              <a:t>handshake to </a:t>
            </a:r>
            <a:r>
              <a:rPr lang="en-US" dirty="0"/>
              <a:t>verify the certificate and establish session keys.</a:t>
            </a:r>
          </a:p>
          <a:p>
            <a:r>
              <a:rPr lang="en-US" b="1" dirty="0"/>
              <a:t>Secure Transmission:</a:t>
            </a:r>
            <a:r>
              <a:rPr lang="en-US" dirty="0"/>
              <a:t> Once established, all HTTP data (requests/responses) is encrypted by the TLS Record Protocol and sent securely</a:t>
            </a:r>
          </a:p>
          <a:p>
            <a:pPr marL="0" indent="0">
              <a:buNone/>
            </a:pP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4404604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IN" b="1" dirty="0" err="1" smtClean="0">
                <a:solidFill>
                  <a:srgbClr val="FF0000"/>
                </a:solidFill>
              </a:rPr>
              <a:t>IPSec</a:t>
            </a:r>
            <a:r>
              <a:rPr lang="en-IN" b="1" dirty="0" smtClean="0">
                <a:solidFill>
                  <a:srgbClr val="FF0000"/>
                </a:solidFill>
              </a:rPr>
              <a:t> </a:t>
            </a:r>
            <a:r>
              <a:rPr lang="en-IN" b="1" dirty="0">
                <a:solidFill>
                  <a:srgbClr val="FF0000"/>
                </a:solidFill>
              </a:rPr>
              <a:t>(Internet Protocol Security) </a:t>
            </a: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70000" lnSpcReduction="20000"/>
          </a:bodyPr>
          <a:lstStyle/>
          <a:p>
            <a:r>
              <a:rPr lang="en-US" dirty="0" err="1"/>
              <a:t>IPSec</a:t>
            </a:r>
            <a:r>
              <a:rPr lang="en-US" dirty="0"/>
              <a:t> is a suite of protocols that secures IP communications by authenticating and encrypting each packet</a:t>
            </a:r>
            <a:r>
              <a:rPr lang="en-US" dirty="0" smtClean="0"/>
              <a:t>.</a:t>
            </a:r>
          </a:p>
          <a:p>
            <a:r>
              <a:rPr lang="en-US" dirty="0" smtClean="0"/>
              <a:t> </a:t>
            </a:r>
            <a:r>
              <a:rPr lang="en-US" b="1" dirty="0" smtClean="0"/>
              <a:t>Layer </a:t>
            </a:r>
            <a:r>
              <a:rPr lang="en-US" b="1" dirty="0"/>
              <a:t>of Operation:</a:t>
            </a:r>
            <a:r>
              <a:rPr lang="en-US" dirty="0"/>
              <a:t> Network Layer (Layer 3).</a:t>
            </a:r>
          </a:p>
          <a:p>
            <a:r>
              <a:rPr lang="en-US" b="1" dirty="0"/>
              <a:t>Architecture:</a:t>
            </a:r>
            <a:endParaRPr lang="en-US" dirty="0"/>
          </a:p>
          <a:p>
            <a:pPr lvl="1"/>
            <a:r>
              <a:rPr lang="en-US" b="1" dirty="0"/>
              <a:t>Authentication Header (AH):</a:t>
            </a:r>
            <a:r>
              <a:rPr lang="en-US" dirty="0"/>
              <a:t> Provides data integrity and authentication but no encryption.</a:t>
            </a:r>
          </a:p>
          <a:p>
            <a:pPr lvl="1"/>
            <a:r>
              <a:rPr lang="en-US" b="1" dirty="0"/>
              <a:t>Encapsulating Security Payload (ESP):</a:t>
            </a:r>
            <a:r>
              <a:rPr lang="en-US" dirty="0"/>
              <a:t> Provides confidentiality (encryption), authentication, and integrity.</a:t>
            </a:r>
          </a:p>
          <a:p>
            <a:pPr lvl="1"/>
            <a:r>
              <a:rPr lang="en-US" b="1" dirty="0"/>
              <a:t>Security Association (SA):</a:t>
            </a:r>
            <a:r>
              <a:rPr lang="en-US" dirty="0"/>
              <a:t> Establishes shared security parameters (keys, algorithms) between peers.</a:t>
            </a:r>
          </a:p>
          <a:p>
            <a:pPr lvl="1"/>
            <a:r>
              <a:rPr lang="en-US" b="1" dirty="0"/>
              <a:t>Internet Key Exchange (IKE):</a:t>
            </a:r>
            <a:r>
              <a:rPr lang="en-US" dirty="0"/>
              <a:t> Manages key exchange and negotiates SAs.</a:t>
            </a:r>
          </a:p>
          <a:p>
            <a:r>
              <a:rPr lang="en-US" dirty="0"/>
              <a:t/>
            </a:r>
            <a:br>
              <a:rPr lang="en-US" dirty="0"/>
            </a:b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25905086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IN" b="1" dirty="0" err="1" smtClean="0">
                <a:solidFill>
                  <a:srgbClr val="FF0000"/>
                </a:solidFill>
              </a:rPr>
              <a:t>IPSec</a:t>
            </a:r>
            <a:r>
              <a:rPr lang="en-IN" b="1" dirty="0" smtClean="0">
                <a:solidFill>
                  <a:srgbClr val="FF0000"/>
                </a:solidFill>
              </a:rPr>
              <a:t> </a:t>
            </a:r>
            <a:r>
              <a:rPr lang="en-IN" b="1" dirty="0">
                <a:solidFill>
                  <a:srgbClr val="FF0000"/>
                </a:solidFill>
              </a:rPr>
              <a:t>(Internet Protocol Security) </a:t>
            </a: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fontScale="77500" lnSpcReduction="20000"/>
          </a:bodyPr>
          <a:lstStyle/>
          <a:p>
            <a:r>
              <a:rPr lang="en-US" b="1" dirty="0"/>
              <a:t>Modes of Operation:</a:t>
            </a:r>
            <a:endParaRPr lang="en-US" dirty="0"/>
          </a:p>
          <a:p>
            <a:pPr lvl="1"/>
            <a:r>
              <a:rPr lang="en-US" b="1" dirty="0"/>
              <a:t>Transport Mode:</a:t>
            </a:r>
            <a:r>
              <a:rPr lang="en-US" dirty="0"/>
              <a:t> Encrypts only the payload of the IP packet; used for end-to-end communication.</a:t>
            </a:r>
          </a:p>
          <a:p>
            <a:pPr lvl="1"/>
            <a:r>
              <a:rPr lang="en-US" b="1" dirty="0"/>
              <a:t>Tunnel Mode:</a:t>
            </a:r>
            <a:r>
              <a:rPr lang="en-US" dirty="0"/>
              <a:t> Encrypts the entire IP packet (header + payload) and encapsulates it in a new packet; used for VPNs.</a:t>
            </a:r>
          </a:p>
          <a:p>
            <a:r>
              <a:rPr lang="en-US" b="1" dirty="0"/>
              <a:t>Workflow:</a:t>
            </a:r>
            <a:endParaRPr lang="en-US" dirty="0"/>
          </a:p>
          <a:p>
            <a:pPr lvl="1"/>
            <a:r>
              <a:rPr lang="en-US" b="1" dirty="0"/>
              <a:t>IKE Phase 1:</a:t>
            </a:r>
            <a:r>
              <a:rPr lang="en-US" dirty="0"/>
              <a:t> Peers negotiate security policies and establish a secure channel (IKE SA).</a:t>
            </a:r>
          </a:p>
          <a:p>
            <a:pPr lvl="1"/>
            <a:r>
              <a:rPr lang="en-US" b="1" dirty="0"/>
              <a:t>IKE Phase 2:</a:t>
            </a:r>
            <a:r>
              <a:rPr lang="en-US" dirty="0"/>
              <a:t> Using the secure channel, peers negotiate </a:t>
            </a:r>
            <a:r>
              <a:rPr lang="en-US" dirty="0" err="1"/>
              <a:t>IPSec</a:t>
            </a:r>
            <a:r>
              <a:rPr lang="en-US" dirty="0"/>
              <a:t> SAs for the actual data transfer (ESP or AH).</a:t>
            </a:r>
          </a:p>
          <a:p>
            <a:pPr lvl="1"/>
            <a:r>
              <a:rPr lang="en-US" b="1" dirty="0"/>
              <a:t>Data Transmission:</a:t>
            </a:r>
            <a:r>
              <a:rPr lang="en-US" dirty="0"/>
              <a:t> Data is encapsulated (ESP/AH), encrypted, and transmitted.</a:t>
            </a:r>
          </a:p>
          <a:p>
            <a:pPr lvl="1"/>
            <a:r>
              <a:rPr lang="en-US" b="1" dirty="0"/>
              <a:t>Termination:</a:t>
            </a:r>
            <a:r>
              <a:rPr lang="en-US" dirty="0"/>
              <a:t> The </a:t>
            </a:r>
            <a:r>
              <a:rPr lang="en-US" dirty="0" err="1"/>
              <a:t>IPSec</a:t>
            </a:r>
            <a:r>
              <a:rPr lang="en-US" dirty="0"/>
              <a:t> tunnel is closed when data transfer is finished or the SA expires.</a:t>
            </a:r>
          </a:p>
          <a:p>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3856433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solidFill>
                  <a:srgbClr val="FF0000"/>
                </a:solidFill>
              </a:rPr>
              <a:t>Authentication mechanisms</a:t>
            </a:r>
            <a:r>
              <a:rPr lang="en-US" b="1" dirty="0" smtClean="0">
                <a:solidFill>
                  <a:srgbClr val="FF0000"/>
                </a:solidFill>
              </a:rPr>
              <a:t/>
            </a:r>
            <a:br>
              <a:rPr lang="en-US" b="1" dirty="0" smtClean="0">
                <a:solidFill>
                  <a:srgbClr val="FF0000"/>
                </a:solidFill>
              </a:rPr>
            </a:br>
            <a:endParaRPr lang="en-IN" b="1" dirty="0">
              <a:solidFill>
                <a:srgbClr val="FF0000"/>
              </a:solidFill>
            </a:endParaRPr>
          </a:p>
        </p:txBody>
      </p:sp>
      <p:sp>
        <p:nvSpPr>
          <p:cNvPr id="136" name="Google Shape;136;p6"/>
          <p:cNvSpPr txBox="1">
            <a:spLocks noGrp="1"/>
          </p:cNvSpPr>
          <p:nvPr>
            <p:ph idx="1"/>
          </p:nvPr>
        </p:nvSpPr>
        <p:spPr>
          <a:xfrm>
            <a:off x="1077686" y="1600204"/>
            <a:ext cx="10047514" cy="4230620"/>
          </a:xfrm>
          <a:prstGeom prst="rect">
            <a:avLst/>
          </a:prstGeom>
          <a:noFill/>
          <a:ln>
            <a:noFill/>
          </a:ln>
        </p:spPr>
        <p:txBody>
          <a:bodyPr spcFirstLastPara="1" wrap="square" lIns="91425" tIns="45700" rIns="91425" bIns="45700" anchor="t" anchorCtr="0">
            <a:normAutofit/>
          </a:bodyPr>
          <a:lstStyle/>
          <a:p>
            <a:r>
              <a:rPr lang="en-US" dirty="0"/>
              <a:t>Authentication mechanisms verify user identity to secure access to systems, ranging from traditional passwords to advanced, multi-layered approaches. </a:t>
            </a:r>
            <a:endParaRPr lang="en-US" dirty="0" smtClean="0"/>
          </a:p>
          <a:p>
            <a:r>
              <a:rPr lang="en-US" dirty="0" smtClean="0"/>
              <a:t>Key </a:t>
            </a:r>
            <a:r>
              <a:rPr lang="en-US" dirty="0"/>
              <a:t>methods include </a:t>
            </a:r>
            <a:r>
              <a:rPr lang="en-US" b="1" dirty="0"/>
              <a:t>knowledge-based passwords</a:t>
            </a:r>
            <a:r>
              <a:rPr lang="en-US" dirty="0"/>
              <a:t>, </a:t>
            </a:r>
            <a:r>
              <a:rPr lang="en-US" b="1" dirty="0"/>
              <a:t>biological-based</a:t>
            </a:r>
            <a:r>
              <a:rPr lang="en-US" dirty="0"/>
              <a:t> biometrics (fingerprints, facial recognition), and </a:t>
            </a:r>
            <a:r>
              <a:rPr lang="en-US" b="1" dirty="0"/>
              <a:t>2FA</a:t>
            </a:r>
            <a:r>
              <a:rPr lang="en-US" dirty="0"/>
              <a:t>, which requires two different factors, such as a password plus a temporary token</a:t>
            </a: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32800536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Access control models</a:t>
            </a:r>
            <a:endParaRPr lang="en-IN" b="1" dirty="0">
              <a:solidFill>
                <a:srgbClr val="FF0000"/>
              </a:solidFill>
            </a:endParaRPr>
          </a:p>
        </p:txBody>
      </p:sp>
      <p:sp>
        <p:nvSpPr>
          <p:cNvPr id="136" name="Google Shape;136;p6"/>
          <p:cNvSpPr txBox="1">
            <a:spLocks noGrp="1"/>
          </p:cNvSpPr>
          <p:nvPr>
            <p:ph idx="1"/>
          </p:nvPr>
        </p:nvSpPr>
        <p:spPr>
          <a:xfrm>
            <a:off x="979714" y="1600204"/>
            <a:ext cx="10591800" cy="4230620"/>
          </a:xfrm>
          <a:prstGeom prst="rect">
            <a:avLst/>
          </a:prstGeom>
          <a:noFill/>
          <a:ln>
            <a:noFill/>
          </a:ln>
        </p:spPr>
        <p:txBody>
          <a:bodyPr spcFirstLastPara="1" wrap="square" lIns="91425" tIns="45700" rIns="91425" bIns="45700" anchor="t" anchorCtr="0">
            <a:normAutofit fontScale="92500"/>
          </a:bodyPr>
          <a:lstStyle/>
          <a:p>
            <a:r>
              <a:rPr lang="en-US" dirty="0"/>
              <a:t>Access control models define how systems identify, authenticate, and authorize users to secure resources, with key </a:t>
            </a:r>
            <a:r>
              <a:rPr lang="en-US" dirty="0" smtClean="0"/>
              <a:t>types:</a:t>
            </a:r>
          </a:p>
          <a:p>
            <a:pPr lvl="1"/>
            <a:r>
              <a:rPr lang="en-US" dirty="0"/>
              <a:t> Discretionary Access Control (DAC), </a:t>
            </a:r>
            <a:endParaRPr lang="en-US" dirty="0" smtClean="0"/>
          </a:p>
          <a:p>
            <a:pPr lvl="1"/>
            <a:r>
              <a:rPr lang="en-US" dirty="0" smtClean="0"/>
              <a:t>Mandatory </a:t>
            </a:r>
            <a:r>
              <a:rPr lang="en-US" dirty="0"/>
              <a:t>Access Control (MAC), </a:t>
            </a:r>
            <a:endParaRPr lang="en-US" dirty="0" smtClean="0"/>
          </a:p>
          <a:p>
            <a:pPr lvl="1"/>
            <a:r>
              <a:rPr lang="en-US" dirty="0" smtClean="0"/>
              <a:t>Role-Based </a:t>
            </a:r>
            <a:r>
              <a:rPr lang="en-US" dirty="0"/>
              <a:t>Access Control (RBAC), </a:t>
            </a:r>
            <a:endParaRPr lang="en-US" dirty="0" smtClean="0"/>
          </a:p>
          <a:p>
            <a:pPr lvl="1"/>
            <a:r>
              <a:rPr lang="en-US" dirty="0" smtClean="0"/>
              <a:t>Attribute-Based </a:t>
            </a:r>
            <a:r>
              <a:rPr lang="en-US" dirty="0"/>
              <a:t>Access Control (ABAC). </a:t>
            </a:r>
            <a:endParaRPr lang="en-US" dirty="0" smtClean="0"/>
          </a:p>
          <a:p>
            <a:r>
              <a:rPr lang="en-US" dirty="0" smtClean="0"/>
              <a:t>These </a:t>
            </a:r>
            <a:r>
              <a:rPr lang="en-US" dirty="0"/>
              <a:t>models manage access via owner discretion, security labels, job functions, or dynamic attributes</a:t>
            </a: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8982258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6" name="Google Shape;136;p6"/>
          <p:cNvSpPr txBox="1">
            <a:spLocks noGrp="1"/>
          </p:cNvSpPr>
          <p:nvPr>
            <p:ph idx="1"/>
          </p:nvPr>
        </p:nvSpPr>
        <p:spPr>
          <a:xfrm>
            <a:off x="979714" y="402771"/>
            <a:ext cx="10591800" cy="5428053"/>
          </a:xfrm>
          <a:prstGeom prst="rect">
            <a:avLst/>
          </a:prstGeom>
          <a:noFill/>
          <a:ln>
            <a:noFill/>
          </a:ln>
        </p:spPr>
        <p:txBody>
          <a:bodyPr spcFirstLastPara="1" wrap="square" lIns="91425" tIns="45700" rIns="91425" bIns="45700" anchor="t" anchorCtr="0">
            <a:normAutofit fontScale="85000" lnSpcReduction="10000"/>
          </a:bodyPr>
          <a:lstStyle/>
          <a:p>
            <a:r>
              <a:rPr lang="en-US" b="1" dirty="0">
                <a:hlinkClick r:id="rId3"/>
              </a:rPr>
              <a:t>Discretionary Access Control (DAC)</a:t>
            </a:r>
            <a:r>
              <a:rPr lang="en-US" b="1" dirty="0"/>
              <a:t>:</a:t>
            </a:r>
            <a:r>
              <a:rPr lang="en-US" dirty="0"/>
              <a:t> Access is controlled by the resource owner. It is flexible but less secure, suitable for small environments.</a:t>
            </a:r>
          </a:p>
          <a:p>
            <a:r>
              <a:rPr lang="en-US" b="1" dirty="0">
                <a:hlinkClick r:id="rId4"/>
              </a:rPr>
              <a:t>Mandatory Access Control (MAC)</a:t>
            </a:r>
            <a:r>
              <a:rPr lang="en-US" b="1" dirty="0"/>
              <a:t>:</a:t>
            </a:r>
            <a:r>
              <a:rPr lang="en-US" dirty="0"/>
              <a:t> A centralized authority enforces access based on security levels and labels, often used in government or military settings.</a:t>
            </a:r>
          </a:p>
          <a:p>
            <a:r>
              <a:rPr lang="en-US" b="1" dirty="0">
                <a:hlinkClick r:id="rId5"/>
              </a:rPr>
              <a:t>Role-Based Access Control (RBAC)</a:t>
            </a:r>
            <a:r>
              <a:rPr lang="en-US" b="1" dirty="0"/>
              <a:t>:</a:t>
            </a:r>
            <a:r>
              <a:rPr lang="en-US" dirty="0"/>
              <a:t> Permissions are assigned based on job roles within an organization, simplifying large-scale management.</a:t>
            </a:r>
          </a:p>
          <a:p>
            <a:r>
              <a:rPr lang="en-US" b="1" dirty="0">
                <a:hlinkClick r:id="rId6"/>
              </a:rPr>
              <a:t>Attribute-Based Access Control (ABAC)</a:t>
            </a:r>
            <a:r>
              <a:rPr lang="en-US" b="1" dirty="0"/>
              <a:t>:</a:t>
            </a:r>
            <a:r>
              <a:rPr lang="en-US" dirty="0"/>
              <a:t> A highly flexible model that uses dynamic policies based on user, resource, and environment attributes.</a:t>
            </a:r>
          </a:p>
          <a:p>
            <a:r>
              <a:rPr lang="en-US" b="1" dirty="0">
                <a:hlinkClick r:id="rId7"/>
              </a:rPr>
              <a:t>Rule-Based Access Control (</a:t>
            </a:r>
            <a:r>
              <a:rPr lang="en-US" b="1" dirty="0" err="1">
                <a:hlinkClick r:id="rId7"/>
              </a:rPr>
              <a:t>RuBAC</a:t>
            </a:r>
            <a:r>
              <a:rPr lang="en-US" b="1" dirty="0">
                <a:hlinkClick r:id="rId7"/>
              </a:rPr>
              <a:t>)</a:t>
            </a:r>
            <a:r>
              <a:rPr lang="en-US" b="1" dirty="0"/>
              <a:t>:</a:t>
            </a:r>
            <a:r>
              <a:rPr lang="en-US" dirty="0"/>
              <a:t> Access is granted based on specific, predefined rules, such as time-of-day restrictions.</a:t>
            </a:r>
          </a:p>
          <a:p>
            <a:endParaRPr dirty="0"/>
          </a:p>
        </p:txBody>
      </p:sp>
      <p:pic>
        <p:nvPicPr>
          <p:cNvPr id="137" name="Google Shape;137;p6"/>
          <p:cNvPicPr preferRelativeResize="0"/>
          <p:nvPr/>
        </p:nvPicPr>
        <p:blipFill rotWithShape="1">
          <a:blip r:embed="rId8">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9">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10">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11">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37740746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Access control models</a:t>
            </a:r>
            <a:endParaRPr lang="en-IN" b="1" dirty="0">
              <a:solidFill>
                <a:srgbClr val="FF0000"/>
              </a:solidFill>
            </a:endParaRPr>
          </a:p>
        </p:txBody>
      </p:sp>
      <p:sp>
        <p:nvSpPr>
          <p:cNvPr id="136" name="Google Shape;136;p6"/>
          <p:cNvSpPr txBox="1">
            <a:spLocks noGrp="1"/>
          </p:cNvSpPr>
          <p:nvPr>
            <p:ph idx="1"/>
          </p:nvPr>
        </p:nvSpPr>
        <p:spPr>
          <a:xfrm>
            <a:off x="979714" y="1600204"/>
            <a:ext cx="10591800" cy="4230620"/>
          </a:xfrm>
          <a:prstGeom prst="rect">
            <a:avLst/>
          </a:prstGeom>
          <a:noFill/>
          <a:ln>
            <a:noFill/>
          </a:ln>
        </p:spPr>
        <p:txBody>
          <a:bodyPr spcFirstLastPara="1" wrap="square" lIns="91425" tIns="45700" rIns="91425" bIns="45700" anchor="t" anchorCtr="0">
            <a:normAutofit fontScale="92500"/>
          </a:bodyPr>
          <a:lstStyle/>
          <a:p>
            <a:r>
              <a:rPr lang="en-US" dirty="0"/>
              <a:t>Access control models define how systems identify, authenticate, and authorize users to secure resources, with key </a:t>
            </a:r>
            <a:r>
              <a:rPr lang="en-US" dirty="0" smtClean="0"/>
              <a:t>types:</a:t>
            </a:r>
          </a:p>
          <a:p>
            <a:pPr lvl="1"/>
            <a:r>
              <a:rPr lang="en-US" dirty="0"/>
              <a:t> Discretionary Access Control (DAC), </a:t>
            </a:r>
            <a:endParaRPr lang="en-US" dirty="0" smtClean="0"/>
          </a:p>
          <a:p>
            <a:pPr lvl="1"/>
            <a:r>
              <a:rPr lang="en-US" dirty="0" smtClean="0"/>
              <a:t>Mandatory </a:t>
            </a:r>
            <a:r>
              <a:rPr lang="en-US" dirty="0"/>
              <a:t>Access Control (MAC), </a:t>
            </a:r>
            <a:endParaRPr lang="en-US" dirty="0" smtClean="0"/>
          </a:p>
          <a:p>
            <a:pPr lvl="1"/>
            <a:r>
              <a:rPr lang="en-US" dirty="0" smtClean="0"/>
              <a:t>Role-Based </a:t>
            </a:r>
            <a:r>
              <a:rPr lang="en-US" dirty="0"/>
              <a:t>Access Control (RBAC), </a:t>
            </a:r>
            <a:endParaRPr lang="en-US" dirty="0" smtClean="0"/>
          </a:p>
          <a:p>
            <a:pPr lvl="1"/>
            <a:r>
              <a:rPr lang="en-US" dirty="0" smtClean="0"/>
              <a:t>Attribute-Based </a:t>
            </a:r>
            <a:r>
              <a:rPr lang="en-US" dirty="0"/>
              <a:t>Access Control (ABAC). </a:t>
            </a:r>
            <a:endParaRPr lang="en-US" dirty="0" smtClean="0"/>
          </a:p>
          <a:p>
            <a:r>
              <a:rPr lang="en-US" dirty="0" smtClean="0"/>
              <a:t>These </a:t>
            </a:r>
            <a:r>
              <a:rPr lang="en-US" dirty="0"/>
              <a:t>models manage access via owner discretion, security labels, job functions, or dynamic attributes</a:t>
            </a:r>
            <a:endParaRPr dirty="0"/>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24991804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a:solidFill>
                  <a:srgbClr val="FF0000"/>
                </a:solidFill>
              </a:rPr>
              <a:t>Network-based attacks</a:t>
            </a:r>
          </a:p>
        </p:txBody>
      </p:sp>
      <p:sp>
        <p:nvSpPr>
          <p:cNvPr id="136" name="Google Shape;136;p6"/>
          <p:cNvSpPr txBox="1">
            <a:spLocks noGrp="1"/>
          </p:cNvSpPr>
          <p:nvPr>
            <p:ph idx="1"/>
          </p:nvPr>
        </p:nvSpPr>
        <p:spPr>
          <a:xfrm>
            <a:off x="979714" y="1600204"/>
            <a:ext cx="10591800" cy="4230620"/>
          </a:xfrm>
          <a:prstGeom prst="rect">
            <a:avLst/>
          </a:prstGeom>
          <a:noFill/>
          <a:ln>
            <a:noFill/>
          </a:ln>
        </p:spPr>
        <p:txBody>
          <a:bodyPr spcFirstLastPara="1" wrap="square" lIns="91425" tIns="45700" rIns="91425" bIns="45700" anchor="t" anchorCtr="0">
            <a:normAutofit fontScale="70000" lnSpcReduction="20000"/>
          </a:bodyPr>
          <a:lstStyle/>
          <a:p>
            <a:r>
              <a:rPr lang="en-US" b="1" dirty="0">
                <a:hlinkClick r:id="rId3"/>
              </a:rPr>
              <a:t>Denial-of-Service (</a:t>
            </a:r>
            <a:r>
              <a:rPr lang="en-US" b="1" dirty="0" err="1">
                <a:hlinkClick r:id="rId3"/>
              </a:rPr>
              <a:t>DoS</a:t>
            </a:r>
            <a:r>
              <a:rPr lang="en-US" b="1" dirty="0">
                <a:hlinkClick r:id="rId3"/>
              </a:rPr>
              <a:t>) and </a:t>
            </a:r>
            <a:r>
              <a:rPr lang="en-US" b="1" dirty="0" err="1">
                <a:hlinkClick r:id="rId3"/>
              </a:rPr>
              <a:t>DDoS</a:t>
            </a:r>
            <a:r>
              <a:rPr lang="en-US" b="1" dirty="0"/>
              <a:t>:</a:t>
            </a:r>
            <a:r>
              <a:rPr lang="en-US" dirty="0"/>
              <a:t> Attackers flood systems with traffic, disrupting availability.</a:t>
            </a:r>
          </a:p>
          <a:p>
            <a:r>
              <a:rPr lang="en-US" b="1" dirty="0">
                <a:hlinkClick r:id="rId4"/>
              </a:rPr>
              <a:t>Man-in-the-Middle (MITM)</a:t>
            </a:r>
            <a:r>
              <a:rPr lang="en-US" b="1" dirty="0"/>
              <a:t>:</a:t>
            </a:r>
            <a:r>
              <a:rPr lang="en-US" dirty="0"/>
              <a:t> Attackers secretly intercept or alter communication between two parties.</a:t>
            </a:r>
          </a:p>
          <a:p>
            <a:r>
              <a:rPr lang="en-US" b="1" dirty="0">
                <a:hlinkClick r:id="rId5"/>
              </a:rPr>
              <a:t>Packet Sniffing</a:t>
            </a:r>
            <a:r>
              <a:rPr lang="en-US" b="1" dirty="0"/>
              <a:t>:</a:t>
            </a:r>
            <a:r>
              <a:rPr lang="en-US" dirty="0"/>
              <a:t> Capturing data as it moves through the network to steal credentials.</a:t>
            </a:r>
          </a:p>
          <a:p>
            <a:r>
              <a:rPr lang="en-US" b="1" dirty="0">
                <a:hlinkClick r:id="rId6"/>
              </a:rPr>
              <a:t>IP Spoofing</a:t>
            </a:r>
            <a:r>
              <a:rPr lang="en-US" b="1" dirty="0"/>
              <a:t>:</a:t>
            </a:r>
            <a:r>
              <a:rPr lang="en-US" dirty="0"/>
              <a:t> Creating packets with a fake source address to impersonate a trusted host.</a:t>
            </a:r>
          </a:p>
          <a:p>
            <a:r>
              <a:rPr lang="en-US" b="1" dirty="0">
                <a:hlinkClick r:id="rId7"/>
              </a:rPr>
              <a:t>SQL Injection (</a:t>
            </a:r>
            <a:r>
              <a:rPr lang="en-US" b="1" dirty="0" err="1">
                <a:hlinkClick r:id="rId7"/>
              </a:rPr>
              <a:t>SQLi</a:t>
            </a:r>
            <a:r>
              <a:rPr lang="en-US" b="1" dirty="0">
                <a:hlinkClick r:id="rId7"/>
              </a:rPr>
              <a:t>)</a:t>
            </a:r>
            <a:r>
              <a:rPr lang="en-US" b="1" dirty="0"/>
              <a:t>:</a:t>
            </a:r>
            <a:r>
              <a:rPr lang="en-US" dirty="0"/>
              <a:t> Inserting malicious SQL code into input fields to query or alter databases.</a:t>
            </a:r>
          </a:p>
          <a:p>
            <a:r>
              <a:rPr lang="en-US" b="1" dirty="0">
                <a:hlinkClick r:id="rId8"/>
              </a:rPr>
              <a:t>Malware/</a:t>
            </a:r>
            <a:r>
              <a:rPr lang="en-US" b="1" dirty="0" err="1">
                <a:hlinkClick r:id="rId8"/>
              </a:rPr>
              <a:t>Ransomware</a:t>
            </a:r>
            <a:r>
              <a:rPr lang="en-US" b="1" dirty="0"/>
              <a:t>:</a:t>
            </a:r>
            <a:r>
              <a:rPr lang="en-US" dirty="0"/>
              <a:t> Viruses, worms, and </a:t>
            </a:r>
            <a:r>
              <a:rPr lang="en-US" dirty="0" err="1"/>
              <a:t>ransomware</a:t>
            </a:r>
            <a:r>
              <a:rPr lang="en-US" dirty="0"/>
              <a:t> that spread across networks to damage or lock data.</a:t>
            </a:r>
          </a:p>
          <a:p>
            <a:r>
              <a:rPr lang="en-US" b="1" dirty="0">
                <a:hlinkClick r:id="rId9"/>
              </a:rPr>
              <a:t>DNS Spoofing/Poisoning</a:t>
            </a:r>
            <a:r>
              <a:rPr lang="en-US" b="1" dirty="0"/>
              <a:t>:</a:t>
            </a:r>
            <a:r>
              <a:rPr lang="en-US" dirty="0"/>
              <a:t> Redirecting traffic to malicious websites by hijacking DNS requests</a:t>
            </a:r>
          </a:p>
          <a:p>
            <a:pPr marL="0" indent="0">
              <a:buNone/>
            </a:pPr>
            <a:endParaRPr dirty="0"/>
          </a:p>
        </p:txBody>
      </p:sp>
      <p:pic>
        <p:nvPicPr>
          <p:cNvPr id="137" name="Google Shape;137;p6"/>
          <p:cNvPicPr preferRelativeResize="0"/>
          <p:nvPr/>
        </p:nvPicPr>
        <p:blipFill rotWithShape="1">
          <a:blip r:embed="rId10">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11">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12">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13">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0378310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err="1">
                <a:solidFill>
                  <a:srgbClr val="FF0000"/>
                </a:solidFill>
                <a:hlinkClick r:id="rId3"/>
              </a:rPr>
              <a:t>DoS</a:t>
            </a:r>
            <a:r>
              <a:rPr lang="en-US" b="1" dirty="0">
                <a:solidFill>
                  <a:srgbClr val="FF0000"/>
                </a:solidFill>
                <a:hlinkClick r:id="rId3"/>
              </a:rPr>
              <a:t> attack</a:t>
            </a:r>
            <a:endParaRPr lang="en-IN" b="1" dirty="0">
              <a:solidFill>
                <a:srgbClr val="FF0000"/>
              </a:solidFill>
            </a:endParaRPr>
          </a:p>
        </p:txBody>
      </p:sp>
      <p:sp>
        <p:nvSpPr>
          <p:cNvPr id="136" name="Google Shape;136;p6"/>
          <p:cNvSpPr txBox="1">
            <a:spLocks noGrp="1"/>
          </p:cNvSpPr>
          <p:nvPr>
            <p:ph idx="1"/>
          </p:nvPr>
        </p:nvSpPr>
        <p:spPr>
          <a:xfrm>
            <a:off x="979714" y="1600204"/>
            <a:ext cx="10591800" cy="4230620"/>
          </a:xfrm>
          <a:prstGeom prst="rect">
            <a:avLst/>
          </a:prstGeom>
          <a:noFill/>
          <a:ln>
            <a:noFill/>
          </a:ln>
        </p:spPr>
        <p:txBody>
          <a:bodyPr spcFirstLastPara="1" wrap="square" lIns="91425" tIns="45700" rIns="91425" bIns="45700" anchor="t" anchorCtr="0">
            <a:normAutofit/>
          </a:bodyPr>
          <a:lstStyle/>
          <a:p>
            <a:r>
              <a:rPr lang="en-US" dirty="0"/>
              <a:t>A </a:t>
            </a:r>
            <a:r>
              <a:rPr lang="en-US" dirty="0" err="1" smtClean="0">
                <a:hlinkClick r:id="rId3"/>
              </a:rPr>
              <a:t>DoS</a:t>
            </a:r>
            <a:r>
              <a:rPr lang="en-US" dirty="0" smtClean="0">
                <a:hlinkClick r:id="rId3"/>
              </a:rPr>
              <a:t> attack</a:t>
            </a:r>
            <a:r>
              <a:rPr lang="en-US" dirty="0"/>
              <a:t> is a malicious attempt to degrade the performance of a server or disrupt its availability. </a:t>
            </a:r>
            <a:endParaRPr lang="en-US" dirty="0" smtClean="0"/>
          </a:p>
          <a:p>
            <a:r>
              <a:rPr lang="en-US" dirty="0" smtClean="0"/>
              <a:t>This </a:t>
            </a:r>
            <a:r>
              <a:rPr lang="en-US" dirty="0"/>
              <a:t>type of attack works by overwhelming the targeted resource with multiple requests, reducing the system resources available and eventually leading to an interruption of service. </a:t>
            </a:r>
            <a:endParaRPr dirty="0"/>
          </a:p>
        </p:txBody>
      </p:sp>
      <p:pic>
        <p:nvPicPr>
          <p:cNvPr id="137" name="Google Shape;137;p6"/>
          <p:cNvPicPr preferRelativeResize="0"/>
          <p:nvPr/>
        </p:nvPicPr>
        <p:blipFill rotWithShape="1">
          <a:blip r:embed="rId4">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5">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6">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7">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22740816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Types of </a:t>
            </a:r>
            <a:r>
              <a:rPr lang="en-IN" b="1" dirty="0" err="1" smtClean="0">
                <a:solidFill>
                  <a:srgbClr val="FF0000"/>
                </a:solidFill>
              </a:rPr>
              <a:t>DoS</a:t>
            </a:r>
            <a:r>
              <a:rPr lang="en-IN" b="1" dirty="0" smtClean="0">
                <a:solidFill>
                  <a:srgbClr val="FF0000"/>
                </a:solidFill>
              </a:rPr>
              <a:t> Attack</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p:txBody>
          <a:bodyPr/>
          <a:lstStyle/>
          <a:p>
            <a:pPr marL="0" indent="0">
              <a:buNone/>
            </a:pPr>
            <a:endParaRPr lang="en-US" dirty="0" smtClean="0"/>
          </a:p>
          <a:p>
            <a:r>
              <a:rPr lang="en-US" b="1" dirty="0" smtClean="0"/>
              <a:t>volumetric </a:t>
            </a:r>
            <a:r>
              <a:rPr lang="en-US" b="1" dirty="0"/>
              <a:t>attacks</a:t>
            </a:r>
            <a:r>
              <a:rPr lang="en-US" dirty="0"/>
              <a:t> (saturating bandwidth</a:t>
            </a:r>
            <a:r>
              <a:rPr lang="en-US" dirty="0" smtClean="0"/>
              <a:t>)</a:t>
            </a:r>
          </a:p>
          <a:p>
            <a:r>
              <a:rPr lang="en-US" b="1" dirty="0" smtClean="0"/>
              <a:t>protocol </a:t>
            </a:r>
            <a:r>
              <a:rPr lang="en-US" b="1" dirty="0"/>
              <a:t>attacks</a:t>
            </a:r>
            <a:r>
              <a:rPr lang="en-US" dirty="0"/>
              <a:t> (consuming server resources/connection tables</a:t>
            </a:r>
            <a:r>
              <a:rPr lang="en-US" dirty="0" smtClean="0"/>
              <a:t>)</a:t>
            </a:r>
            <a:r>
              <a:rPr lang="en-US" dirty="0"/>
              <a:t> </a:t>
            </a:r>
            <a:endParaRPr lang="en-US" dirty="0" smtClean="0"/>
          </a:p>
          <a:p>
            <a:r>
              <a:rPr lang="en-US" b="1" dirty="0" smtClean="0"/>
              <a:t>application-layer </a:t>
            </a:r>
            <a:r>
              <a:rPr lang="en-US" b="1" dirty="0"/>
              <a:t>attacks</a:t>
            </a:r>
            <a:r>
              <a:rPr lang="en-US" dirty="0"/>
              <a:t> (targeting specific apps, often mimicking legitimate traffic</a:t>
            </a:r>
            <a:endParaRPr lang="en-IN" dirty="0"/>
          </a:p>
        </p:txBody>
      </p:sp>
    </p:spTree>
    <p:extLst>
      <p:ext uri="{BB962C8B-B14F-4D97-AF65-F5344CB8AC3E}">
        <p14:creationId xmlns:p14="http://schemas.microsoft.com/office/powerpoint/2010/main" val="27128940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hlinkClick r:id="rId3"/>
              </a:rPr>
              <a:t>Volumetric Attacks</a:t>
            </a:r>
            <a:endParaRPr lang="en-IN" b="1" dirty="0">
              <a:solidFill>
                <a:srgbClr val="FF0000"/>
              </a:solidFill>
            </a:endParaRPr>
          </a:p>
        </p:txBody>
      </p:sp>
      <p:pic>
        <p:nvPicPr>
          <p:cNvPr id="137" name="Google Shape;137;p6"/>
          <p:cNvPicPr preferRelativeResize="0"/>
          <p:nvPr/>
        </p:nvPicPr>
        <p:blipFill rotWithShape="1">
          <a:blip r:embed="rId4">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5">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6">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7">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98936" y="1628603"/>
            <a:ext cx="10972800" cy="4525963"/>
          </a:xfrm>
        </p:spPr>
        <p:txBody>
          <a:bodyPr/>
          <a:lstStyle/>
          <a:p>
            <a:r>
              <a:rPr lang="en-US" b="1" dirty="0">
                <a:hlinkClick r:id="rId3"/>
              </a:rPr>
              <a:t>Volumetric Attacks</a:t>
            </a:r>
            <a:r>
              <a:rPr lang="en-US" b="1" dirty="0"/>
              <a:t> (Bandwidth Floods):</a:t>
            </a:r>
            <a:r>
              <a:rPr lang="en-US" dirty="0"/>
              <a:t> These aim to saturate the target's network bandwidth, causing congestion</a:t>
            </a:r>
            <a:r>
              <a:rPr lang="en-US" dirty="0" smtClean="0"/>
              <a:t>.</a:t>
            </a:r>
          </a:p>
          <a:p>
            <a:pPr lvl="1"/>
            <a:r>
              <a:rPr lang="en-US" b="1" dirty="0" smtClean="0"/>
              <a:t>UDP </a:t>
            </a:r>
            <a:r>
              <a:rPr lang="en-US" b="1" dirty="0"/>
              <a:t>Flood:</a:t>
            </a:r>
            <a:r>
              <a:rPr lang="en-US" dirty="0"/>
              <a:t> Sends massive volumes of User Datagram Protocol packets to random ports, forcing the server to check for applications and respond with ICMP packets, exhausting bandwidth.</a:t>
            </a:r>
          </a:p>
          <a:p>
            <a:pPr lvl="1"/>
            <a:r>
              <a:rPr lang="en-US" b="1" dirty="0"/>
              <a:t>ICMP (Ping) Flood:</a:t>
            </a:r>
            <a:r>
              <a:rPr lang="en-US" dirty="0"/>
              <a:t> Overwhelms the target with ping requests, consuming both incoming and outgoing bandwidth</a:t>
            </a:r>
          </a:p>
          <a:p>
            <a:pPr marL="0" indent="0">
              <a:buNone/>
            </a:pPr>
            <a:endParaRPr lang="en-US" dirty="0" smtClean="0"/>
          </a:p>
        </p:txBody>
      </p:sp>
    </p:spTree>
    <p:extLst>
      <p:ext uri="{BB962C8B-B14F-4D97-AF65-F5344CB8AC3E}">
        <p14:creationId xmlns:p14="http://schemas.microsoft.com/office/powerpoint/2010/main" val="19178980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hlinkClick r:id="rId3"/>
              </a:rPr>
              <a:t>Protocol Attacks</a:t>
            </a:r>
            <a:endParaRPr lang="en-IN" b="1" dirty="0">
              <a:solidFill>
                <a:srgbClr val="FF0000"/>
              </a:solidFill>
            </a:endParaRPr>
          </a:p>
        </p:txBody>
      </p:sp>
      <p:pic>
        <p:nvPicPr>
          <p:cNvPr id="137" name="Google Shape;137;p6"/>
          <p:cNvPicPr preferRelativeResize="0"/>
          <p:nvPr/>
        </p:nvPicPr>
        <p:blipFill rotWithShape="1">
          <a:blip r:embed="rId4">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5">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6">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7">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219200" y="1303021"/>
            <a:ext cx="10591800" cy="4346666"/>
          </a:xfrm>
        </p:spPr>
        <p:txBody>
          <a:bodyPr>
            <a:normAutofit fontScale="92500" lnSpcReduction="20000"/>
          </a:bodyPr>
          <a:lstStyle/>
          <a:p>
            <a:r>
              <a:rPr lang="en-US" b="1" dirty="0" smtClean="0">
                <a:hlinkClick r:id="rId3"/>
              </a:rPr>
              <a:t>Protocol Attacks</a:t>
            </a:r>
            <a:r>
              <a:rPr lang="en-US" b="1" dirty="0"/>
              <a:t> (State-Table Exhaustion):</a:t>
            </a:r>
            <a:r>
              <a:rPr lang="en-US" dirty="0"/>
              <a:t> These consume resources of network infrastructure devices like firewalls, load balancers, or servers</a:t>
            </a:r>
            <a:r>
              <a:rPr lang="en-US" dirty="0" smtClean="0"/>
              <a:t>.</a:t>
            </a:r>
          </a:p>
          <a:p>
            <a:pPr lvl="1"/>
            <a:r>
              <a:rPr lang="en-US" b="1" dirty="0" smtClean="0"/>
              <a:t>SYN </a:t>
            </a:r>
            <a:r>
              <a:rPr lang="en-US" b="1" dirty="0"/>
              <a:t>Flood (TCP):</a:t>
            </a:r>
            <a:r>
              <a:rPr lang="en-US" dirty="0"/>
              <a:t> Exploits the TCP handshake process by sending multiple SYN requests but never sending the final ACK, leaving connections half-open until the server exhausts its connection table.</a:t>
            </a:r>
          </a:p>
          <a:p>
            <a:pPr lvl="1"/>
            <a:r>
              <a:rPr lang="en-US" b="1" dirty="0"/>
              <a:t>Ping of Death:</a:t>
            </a:r>
            <a:r>
              <a:rPr lang="en-US" dirty="0"/>
              <a:t> Malformed or oversized ICMP packets are sent to a target, causing system crashes or malfunctions.</a:t>
            </a:r>
          </a:p>
          <a:p>
            <a:pPr lvl="1"/>
            <a:r>
              <a:rPr lang="en-US" b="1" dirty="0"/>
              <a:t>Smurf Attack:</a:t>
            </a:r>
            <a:r>
              <a:rPr lang="en-US" dirty="0"/>
              <a:t> Spoofs the target's IP address and sends ICMP requests to IP broadcast addresses, causing all machines to send responses to the </a:t>
            </a:r>
            <a:r>
              <a:rPr lang="en-US" dirty="0" smtClean="0"/>
              <a:t>victim.</a:t>
            </a:r>
            <a:endParaRPr lang="en-US" dirty="0"/>
          </a:p>
          <a:p>
            <a:pPr marL="400050" lvl="1" indent="0">
              <a:buNone/>
            </a:pPr>
            <a:endParaRPr lang="en-US" dirty="0" smtClean="0"/>
          </a:p>
        </p:txBody>
      </p:sp>
    </p:spTree>
    <p:extLst>
      <p:ext uri="{BB962C8B-B14F-4D97-AF65-F5344CB8AC3E}">
        <p14:creationId xmlns:p14="http://schemas.microsoft.com/office/powerpoint/2010/main" val="29591073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hlinkClick r:id="rId3"/>
              </a:rPr>
              <a:t>Application Layer Attacks</a:t>
            </a:r>
            <a:endParaRPr lang="en-IN" b="1" dirty="0">
              <a:solidFill>
                <a:srgbClr val="FF0000"/>
              </a:solidFill>
            </a:endParaRPr>
          </a:p>
        </p:txBody>
      </p:sp>
      <p:pic>
        <p:nvPicPr>
          <p:cNvPr id="137" name="Google Shape;137;p6"/>
          <p:cNvPicPr preferRelativeResize="0"/>
          <p:nvPr/>
        </p:nvPicPr>
        <p:blipFill rotWithShape="1">
          <a:blip r:embed="rId4">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5">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6">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7">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219200" y="1303021"/>
            <a:ext cx="10591800" cy="4346666"/>
          </a:xfrm>
        </p:spPr>
        <p:txBody>
          <a:bodyPr>
            <a:normAutofit fontScale="92500" lnSpcReduction="10000"/>
          </a:bodyPr>
          <a:lstStyle/>
          <a:p>
            <a:r>
              <a:rPr lang="en-US" b="1" dirty="0">
                <a:hlinkClick r:id="rId3"/>
              </a:rPr>
              <a:t>Application Layer Attacks</a:t>
            </a:r>
            <a:r>
              <a:rPr lang="en-US" b="1" dirty="0"/>
              <a:t> (Layer 7):</a:t>
            </a:r>
            <a:r>
              <a:rPr lang="en-US" dirty="0"/>
              <a:t> These target specific vulnerabilities in applications (e.g., web servers) rather than network bandwidth, making them harder to detect.</a:t>
            </a:r>
          </a:p>
          <a:p>
            <a:pPr lvl="1"/>
            <a:r>
              <a:rPr lang="en-US" b="1" dirty="0"/>
              <a:t>HTTP Flood:</a:t>
            </a:r>
            <a:r>
              <a:rPr lang="en-US" dirty="0"/>
              <a:t> Floods a web server with legitimate-looking HTTP GET or POST requests, exhausting CPU or memory.</a:t>
            </a:r>
          </a:p>
          <a:p>
            <a:pPr lvl="1"/>
            <a:r>
              <a:rPr lang="en-US" b="1" dirty="0" err="1"/>
              <a:t>Slowloris</a:t>
            </a:r>
            <a:r>
              <a:rPr lang="en-US" b="1" dirty="0"/>
              <a:t>:</a:t>
            </a:r>
            <a:r>
              <a:rPr lang="en-US" dirty="0"/>
              <a:t> Opens many connections to a web server and holds them open as long as possible by sending partial HTTP requests, preventing other users from connecting.</a:t>
            </a:r>
          </a:p>
          <a:p>
            <a:pPr lvl="1"/>
            <a:r>
              <a:rPr lang="en-US" b="1" dirty="0"/>
              <a:t>R.U.D.Y. (R U Dead Yet):</a:t>
            </a:r>
            <a:r>
              <a:rPr lang="en-US" dirty="0"/>
              <a:t> A "low and slow" attack that submits forms with very low speeds to exhaust the server's available connections.</a:t>
            </a:r>
          </a:p>
          <a:p>
            <a:pPr marL="400050" lvl="1" indent="0">
              <a:buNone/>
            </a:pPr>
            <a:endParaRPr lang="en-US" dirty="0" smtClean="0"/>
          </a:p>
        </p:txBody>
      </p:sp>
    </p:spTree>
    <p:extLst>
      <p:ext uri="{BB962C8B-B14F-4D97-AF65-F5344CB8AC3E}">
        <p14:creationId xmlns:p14="http://schemas.microsoft.com/office/powerpoint/2010/main" val="18455397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Difference between </a:t>
            </a:r>
            <a:r>
              <a:rPr lang="en-IN" b="1" dirty="0" err="1" smtClean="0">
                <a:solidFill>
                  <a:srgbClr val="FF0000"/>
                </a:solidFill>
              </a:rPr>
              <a:t>DoS</a:t>
            </a:r>
            <a:r>
              <a:rPr lang="en-IN" b="1" dirty="0" smtClean="0">
                <a:solidFill>
                  <a:srgbClr val="FF0000"/>
                </a:solidFill>
              </a:rPr>
              <a:t> and </a:t>
            </a:r>
            <a:r>
              <a:rPr lang="en-IN" b="1" dirty="0" err="1" smtClean="0">
                <a:solidFill>
                  <a:srgbClr val="FF0000"/>
                </a:solidFill>
              </a:rPr>
              <a:t>DDoS</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7771" y="1273629"/>
            <a:ext cx="7924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3747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Difference between </a:t>
            </a:r>
            <a:r>
              <a:rPr lang="en-IN" b="1" dirty="0" err="1" smtClean="0">
                <a:solidFill>
                  <a:srgbClr val="FF0000"/>
                </a:solidFill>
              </a:rPr>
              <a:t>DoS</a:t>
            </a:r>
            <a:r>
              <a:rPr lang="en-IN" b="1" dirty="0" smtClean="0">
                <a:solidFill>
                  <a:srgbClr val="FF0000"/>
                </a:solidFill>
              </a:rPr>
              <a:t> and </a:t>
            </a:r>
            <a:r>
              <a:rPr lang="en-IN" b="1" dirty="0" err="1" smtClean="0">
                <a:solidFill>
                  <a:srgbClr val="FF0000"/>
                </a:solidFill>
              </a:rPr>
              <a:t>DDoS</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graphicFrame>
        <p:nvGraphicFramePr>
          <p:cNvPr id="3" name="Content Placeholder 2"/>
          <p:cNvGraphicFramePr>
            <a:graphicFrameLocks noGrp="1"/>
          </p:cNvGraphicFramePr>
          <p:nvPr>
            <p:ph idx="1"/>
            <p:extLst>
              <p:ext uri="{D42A27DB-BD31-4B8C-83A1-F6EECF244321}">
                <p14:modId xmlns:p14="http://schemas.microsoft.com/office/powerpoint/2010/main" val="2303307083"/>
              </p:ext>
            </p:extLst>
          </p:nvPr>
        </p:nvGraphicFramePr>
        <p:xfrm>
          <a:off x="1317171" y="1230085"/>
          <a:ext cx="10210800" cy="4754880"/>
        </p:xfrm>
        <a:graphic>
          <a:graphicData uri="http://schemas.openxmlformats.org/drawingml/2006/table">
            <a:tbl>
              <a:tblPr firstRow="1" bandRow="1">
                <a:tableStyleId>{5C22544A-7EE6-4342-B048-85BDC9FD1C3A}</a:tableStyleId>
              </a:tblPr>
              <a:tblGrid>
                <a:gridCol w="2656115"/>
                <a:gridCol w="3418114"/>
                <a:gridCol w="4136571"/>
              </a:tblGrid>
              <a:tr h="354939">
                <a:tc>
                  <a:txBody>
                    <a:bodyPr/>
                    <a:lstStyle/>
                    <a:p>
                      <a:pPr algn="ctr" fontAlgn="t"/>
                      <a:r>
                        <a:rPr lang="en-IN" b="1" dirty="0">
                          <a:effectLst/>
                        </a:rPr>
                        <a:t>Criteria</a:t>
                      </a:r>
                      <a:endParaRPr lang="en-IN" dirty="0">
                        <a:effectLst/>
                      </a:endParaRPr>
                    </a:p>
                  </a:txBody>
                  <a:tcPr/>
                </a:tc>
                <a:tc>
                  <a:txBody>
                    <a:bodyPr/>
                    <a:lstStyle/>
                    <a:p>
                      <a:pPr algn="ctr" fontAlgn="t"/>
                      <a:r>
                        <a:rPr lang="en-IN" b="1">
                          <a:effectLst/>
                        </a:rPr>
                        <a:t>DoS Attack</a:t>
                      </a:r>
                      <a:endParaRPr lang="en-IN">
                        <a:effectLst/>
                      </a:endParaRPr>
                    </a:p>
                  </a:txBody>
                  <a:tcPr/>
                </a:tc>
                <a:tc>
                  <a:txBody>
                    <a:bodyPr/>
                    <a:lstStyle/>
                    <a:p>
                      <a:pPr algn="ctr" fontAlgn="t"/>
                      <a:r>
                        <a:rPr lang="en-IN" b="1">
                          <a:effectLst/>
                        </a:rPr>
                        <a:t>DDoS Attack</a:t>
                      </a:r>
                      <a:endParaRPr lang="en-IN">
                        <a:effectLst/>
                      </a:endParaRPr>
                    </a:p>
                  </a:txBody>
                  <a:tcPr/>
                </a:tc>
              </a:tr>
              <a:tr h="1137751">
                <a:tc>
                  <a:txBody>
                    <a:bodyPr/>
                    <a:lstStyle/>
                    <a:p>
                      <a:pPr algn="ctr" fontAlgn="t"/>
                      <a:r>
                        <a:rPr lang="en-IN" b="1">
                          <a:effectLst/>
                        </a:rPr>
                        <a:t>Definition</a:t>
                      </a:r>
                      <a:endParaRPr lang="en-IN">
                        <a:effectLst/>
                      </a:endParaRPr>
                    </a:p>
                  </a:txBody>
                  <a:tcPr/>
                </a:tc>
                <a:tc>
                  <a:txBody>
                    <a:bodyPr/>
                    <a:lstStyle/>
                    <a:p>
                      <a:pPr fontAlgn="t"/>
                      <a:r>
                        <a:rPr lang="en-US">
                          <a:effectLst/>
                        </a:rPr>
                        <a:t>A DoS attack is an attempt to make an online service unavailable by overwhelming it with traffic from a single source</a:t>
                      </a:r>
                    </a:p>
                  </a:txBody>
                  <a:tcPr/>
                </a:tc>
                <a:tc>
                  <a:txBody>
                    <a:bodyPr/>
                    <a:lstStyle/>
                    <a:p>
                      <a:pPr fontAlgn="t"/>
                      <a:r>
                        <a:rPr lang="en-US">
                          <a:effectLst/>
                        </a:rPr>
                        <a:t>A DDoS attack is an attempt to make an online service unavailable by overwhelming it with traffic from multiple sources</a:t>
                      </a:r>
                    </a:p>
                  </a:txBody>
                  <a:tcPr/>
                </a:tc>
              </a:tr>
              <a:tr h="612635">
                <a:tc>
                  <a:txBody>
                    <a:bodyPr/>
                    <a:lstStyle/>
                    <a:p>
                      <a:pPr algn="ctr" fontAlgn="t"/>
                      <a:r>
                        <a:rPr lang="en-IN" b="1">
                          <a:effectLst/>
                        </a:rPr>
                        <a:t>Source of Attack</a:t>
                      </a:r>
                      <a:endParaRPr lang="en-IN">
                        <a:effectLst/>
                      </a:endParaRPr>
                    </a:p>
                  </a:txBody>
                  <a:tcPr/>
                </a:tc>
                <a:tc>
                  <a:txBody>
                    <a:bodyPr/>
                    <a:lstStyle/>
                    <a:p>
                      <a:pPr fontAlgn="t"/>
                      <a:r>
                        <a:rPr lang="en-US">
                          <a:effectLst/>
                        </a:rPr>
                        <a:t>Single source, usually one machine or IP</a:t>
                      </a:r>
                    </a:p>
                  </a:txBody>
                  <a:tcPr/>
                </a:tc>
                <a:tc>
                  <a:txBody>
                    <a:bodyPr/>
                    <a:lstStyle/>
                    <a:p>
                      <a:pPr fontAlgn="t"/>
                      <a:r>
                        <a:rPr lang="en-US">
                          <a:effectLst/>
                        </a:rPr>
                        <a:t>Multiple sources, coordinated botnets, or compromised IPs</a:t>
                      </a:r>
                    </a:p>
                  </a:txBody>
                  <a:tcPr/>
                </a:tc>
              </a:tr>
              <a:tr h="612635">
                <a:tc>
                  <a:txBody>
                    <a:bodyPr/>
                    <a:lstStyle/>
                    <a:p>
                      <a:pPr algn="ctr" fontAlgn="t"/>
                      <a:r>
                        <a:rPr lang="en-IN" b="1">
                          <a:effectLst/>
                        </a:rPr>
                        <a:t>Complexity</a:t>
                      </a:r>
                      <a:endParaRPr lang="en-IN">
                        <a:effectLst/>
                      </a:endParaRPr>
                    </a:p>
                  </a:txBody>
                  <a:tcPr/>
                </a:tc>
                <a:tc>
                  <a:txBody>
                    <a:bodyPr/>
                    <a:lstStyle/>
                    <a:p>
                      <a:pPr fontAlgn="t"/>
                      <a:r>
                        <a:rPr lang="en-US">
                          <a:effectLst/>
                        </a:rPr>
                        <a:t>Relatively simple and easy to execute</a:t>
                      </a:r>
                    </a:p>
                  </a:txBody>
                  <a:tcPr/>
                </a:tc>
                <a:tc>
                  <a:txBody>
                    <a:bodyPr/>
                    <a:lstStyle/>
                    <a:p>
                      <a:pPr fontAlgn="t"/>
                      <a:r>
                        <a:rPr lang="en-US">
                          <a:effectLst/>
                        </a:rPr>
                        <a:t>More complex, requires coordination and larger resources</a:t>
                      </a:r>
                    </a:p>
                  </a:txBody>
                  <a:tcPr/>
                </a:tc>
              </a:tr>
              <a:tr h="354939">
                <a:tc>
                  <a:txBody>
                    <a:bodyPr/>
                    <a:lstStyle/>
                    <a:p>
                      <a:pPr algn="ctr" fontAlgn="t"/>
                      <a:r>
                        <a:rPr lang="en-IN" b="1">
                          <a:effectLst/>
                        </a:rPr>
                        <a:t>Volume of Traffic</a:t>
                      </a:r>
                      <a:endParaRPr lang="en-IN">
                        <a:effectLst/>
                      </a:endParaRPr>
                    </a:p>
                  </a:txBody>
                  <a:tcPr/>
                </a:tc>
                <a:tc>
                  <a:txBody>
                    <a:bodyPr/>
                    <a:lstStyle/>
                    <a:p>
                      <a:pPr fontAlgn="t"/>
                      <a:r>
                        <a:rPr lang="en-IN">
                          <a:effectLst/>
                        </a:rPr>
                        <a:t>Lower volume of traffic</a:t>
                      </a:r>
                    </a:p>
                  </a:txBody>
                  <a:tcPr/>
                </a:tc>
                <a:tc>
                  <a:txBody>
                    <a:bodyPr/>
                    <a:lstStyle/>
                    <a:p>
                      <a:pPr fontAlgn="t"/>
                      <a:r>
                        <a:rPr lang="en-US">
                          <a:effectLst/>
                        </a:rPr>
                        <a:t>Significantly higher volume of traffic</a:t>
                      </a:r>
                    </a:p>
                  </a:txBody>
                  <a:tcPr/>
                </a:tc>
              </a:tr>
              <a:tr h="875193">
                <a:tc>
                  <a:txBody>
                    <a:bodyPr/>
                    <a:lstStyle/>
                    <a:p>
                      <a:pPr algn="ctr" fontAlgn="t"/>
                      <a:r>
                        <a:rPr lang="en-IN" b="1">
                          <a:effectLst/>
                        </a:rPr>
                        <a:t>Detection and Mitigation</a:t>
                      </a:r>
                      <a:endParaRPr lang="en-IN">
                        <a:effectLst/>
                      </a:endParaRPr>
                    </a:p>
                  </a:txBody>
                  <a:tcPr/>
                </a:tc>
                <a:tc>
                  <a:txBody>
                    <a:bodyPr/>
                    <a:lstStyle/>
                    <a:p>
                      <a:pPr fontAlgn="t"/>
                      <a:r>
                        <a:rPr lang="en-US">
                          <a:effectLst/>
                        </a:rPr>
                        <a:t>Easier to detect and mitigate as traffic comes from a single source</a:t>
                      </a:r>
                    </a:p>
                  </a:txBody>
                  <a:tcPr/>
                </a:tc>
                <a:tc>
                  <a:txBody>
                    <a:bodyPr/>
                    <a:lstStyle/>
                    <a:p>
                      <a:pPr fontAlgn="t"/>
                      <a:r>
                        <a:rPr lang="en-US">
                          <a:effectLst/>
                        </a:rPr>
                        <a:t>Harder to detect and mitigate due to traffic coming from many different sources</a:t>
                      </a:r>
                    </a:p>
                  </a:txBody>
                  <a:tcPr/>
                </a:tc>
              </a:tr>
              <a:tr h="612635">
                <a:tc>
                  <a:txBody>
                    <a:bodyPr/>
                    <a:lstStyle/>
                    <a:p>
                      <a:pPr algn="ctr" fontAlgn="t"/>
                      <a:r>
                        <a:rPr lang="en-IN" b="1">
                          <a:effectLst/>
                        </a:rPr>
                        <a:t>Impact</a:t>
                      </a:r>
                      <a:endParaRPr lang="en-IN">
                        <a:effectLst/>
                      </a:endParaRPr>
                    </a:p>
                  </a:txBody>
                  <a:tcPr/>
                </a:tc>
                <a:tc>
                  <a:txBody>
                    <a:bodyPr/>
                    <a:lstStyle/>
                    <a:p>
                      <a:pPr fontAlgn="t"/>
                      <a:r>
                        <a:rPr lang="en-US">
                          <a:effectLst/>
                        </a:rPr>
                        <a:t>Limited impact on the target</a:t>
                      </a:r>
                    </a:p>
                  </a:txBody>
                  <a:tcPr/>
                </a:tc>
                <a:tc>
                  <a:txBody>
                    <a:bodyPr/>
                    <a:lstStyle/>
                    <a:p>
                      <a:pPr fontAlgn="t"/>
                      <a:r>
                        <a:rPr lang="en-US" dirty="0">
                          <a:effectLst/>
                        </a:rPr>
                        <a:t>Severe impact, capable of overwhelming the target</a:t>
                      </a:r>
                    </a:p>
                  </a:txBody>
                  <a:tcPr/>
                </a:tc>
              </a:tr>
            </a:tbl>
          </a:graphicData>
        </a:graphic>
      </p:graphicFrame>
    </p:spTree>
    <p:extLst>
      <p:ext uri="{BB962C8B-B14F-4D97-AF65-F5344CB8AC3E}">
        <p14:creationId xmlns:p14="http://schemas.microsoft.com/office/powerpoint/2010/main" val="16384476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Man-in-the-Middle (</a:t>
            </a:r>
            <a:r>
              <a:rPr lang="en-US" b="1" dirty="0" err="1">
                <a:solidFill>
                  <a:srgbClr val="FF0000"/>
                </a:solidFill>
              </a:rPr>
              <a:t>MitM</a:t>
            </a:r>
            <a:r>
              <a:rPr lang="en-US" b="1" dirty="0">
                <a:solidFill>
                  <a:srgbClr val="FF0000"/>
                </a:solidFill>
              </a:rPr>
              <a:t>) attack</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75656" y="1600203"/>
            <a:ext cx="10406743" cy="4525963"/>
          </a:xfrm>
        </p:spPr>
        <p:txBody>
          <a:bodyPr>
            <a:normAutofit lnSpcReduction="10000"/>
          </a:bodyPr>
          <a:lstStyle/>
          <a:p>
            <a:r>
              <a:rPr lang="en-US" dirty="0"/>
              <a:t>A Man-in-the-Middle (</a:t>
            </a:r>
            <a:r>
              <a:rPr lang="en-US" dirty="0" err="1"/>
              <a:t>MitM</a:t>
            </a:r>
            <a:r>
              <a:rPr lang="en-US" dirty="0"/>
              <a:t>) attack is a </a:t>
            </a:r>
            <a:r>
              <a:rPr lang="en-US" dirty="0" err="1"/>
              <a:t>cyberthreat</a:t>
            </a:r>
            <a:r>
              <a:rPr lang="en-US" dirty="0"/>
              <a:t> where an attacker secretly intercepts and relays communications between two parties—such as a user and a website—to steal sensitive data like login credentials or credit card numbers. </a:t>
            </a:r>
            <a:endParaRPr lang="en-US" dirty="0" smtClean="0"/>
          </a:p>
          <a:p>
            <a:r>
              <a:rPr lang="en-US" dirty="0" smtClean="0"/>
              <a:t>These </a:t>
            </a:r>
            <a:r>
              <a:rPr lang="en-US" dirty="0"/>
              <a:t>attacks, also known as on-path or adversary-in-the-middle attacks, allow attackers to eavesdrop or manipulate, "acting as proxies" to steal information without either party knowing.</a:t>
            </a:r>
            <a:endParaRPr lang="en-IN" dirty="0"/>
          </a:p>
        </p:txBody>
      </p:sp>
    </p:spTree>
    <p:extLst>
      <p:ext uri="{BB962C8B-B14F-4D97-AF65-F5344CB8AC3E}">
        <p14:creationId xmlns:p14="http://schemas.microsoft.com/office/powerpoint/2010/main" val="12067773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a:solidFill>
                  <a:srgbClr val="FF0000"/>
                </a:solidFill>
              </a:rPr>
              <a:t>Types of </a:t>
            </a:r>
            <a:r>
              <a:rPr lang="en-IN" b="1" dirty="0" err="1">
                <a:solidFill>
                  <a:srgbClr val="FF0000"/>
                </a:solidFill>
              </a:rPr>
              <a:t>MitM</a:t>
            </a:r>
            <a:r>
              <a:rPr lang="en-IN" b="1" dirty="0">
                <a:solidFill>
                  <a:srgbClr val="FF0000"/>
                </a:solidFill>
              </a:rPr>
              <a:t> Attacks</a:t>
            </a:r>
            <a:endParaRPr lang="en-IN"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75656" y="1600203"/>
            <a:ext cx="10406743" cy="4525963"/>
          </a:xfrm>
        </p:spPr>
        <p:txBody>
          <a:bodyPr>
            <a:normAutofit/>
          </a:bodyPr>
          <a:lstStyle/>
          <a:p>
            <a:r>
              <a:rPr lang="en-IN" b="1" dirty="0" smtClean="0"/>
              <a:t>ARP </a:t>
            </a:r>
            <a:r>
              <a:rPr lang="en-IN" b="1" dirty="0"/>
              <a:t>Spoofing:</a:t>
            </a:r>
            <a:r>
              <a:rPr lang="en-IN" dirty="0"/>
              <a:t> Linking the attacker's MAC address with a legitimate IP address on a network to intercept traffic.</a:t>
            </a:r>
          </a:p>
          <a:p>
            <a:r>
              <a:rPr lang="en-IN" b="1" dirty="0"/>
              <a:t>DNS Spoofing:</a:t>
            </a:r>
            <a:r>
              <a:rPr lang="en-IN" dirty="0"/>
              <a:t> Modifying DNS records to direct users to a fraudulent website.</a:t>
            </a:r>
          </a:p>
          <a:p>
            <a:r>
              <a:rPr lang="en-IN" b="1" dirty="0"/>
              <a:t>HTTPS Spoofing/SSL Stripping:</a:t>
            </a:r>
            <a:r>
              <a:rPr lang="en-IN" dirty="0"/>
              <a:t> Downgrading secure HTTPS connections to unencrypted HTTP to read data.</a:t>
            </a:r>
          </a:p>
          <a:p>
            <a:r>
              <a:rPr lang="en-IN" b="1" dirty="0"/>
              <a:t>Evil Twin Wi-Fi:</a:t>
            </a:r>
            <a:r>
              <a:rPr lang="en-IN" dirty="0"/>
              <a:t> Creating a fake, malicious Wi-Fi hotspot that looks legitimate to steal data from users who connect</a:t>
            </a:r>
          </a:p>
        </p:txBody>
      </p:sp>
    </p:spTree>
    <p:extLst>
      <p:ext uri="{BB962C8B-B14F-4D97-AF65-F5344CB8AC3E}">
        <p14:creationId xmlns:p14="http://schemas.microsoft.com/office/powerpoint/2010/main" val="7378437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a:solidFill>
                  <a:srgbClr val="FF0000"/>
                </a:solidFill>
              </a:rPr>
              <a:t>DNS Spoofing</a:t>
            </a:r>
            <a:endParaRPr lang="en-IN"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2050"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5624765" y="1370806"/>
            <a:ext cx="6262775" cy="351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38497" y="1610810"/>
            <a:ext cx="4545874" cy="3477875"/>
          </a:xfrm>
          <a:prstGeom prst="rect">
            <a:avLst/>
          </a:prstGeom>
        </p:spPr>
        <p:txBody>
          <a:bodyPr wrap="square">
            <a:spAutoFit/>
          </a:bodyPr>
          <a:lstStyle/>
          <a:p>
            <a:pPr fontAlgn="base"/>
            <a:r>
              <a:rPr lang="en-US" sz="2000" b="1" dirty="0"/>
              <a:t>Request to Real Website</a:t>
            </a:r>
            <a:r>
              <a:rPr lang="en-US" sz="2000" dirty="0"/>
              <a:t>: User hits a request for a particular website it goes to the DNS server to resolve the IP address of that website.</a:t>
            </a:r>
          </a:p>
          <a:p>
            <a:pPr fontAlgn="base"/>
            <a:r>
              <a:rPr lang="en-US" sz="2000" b="1" dirty="0"/>
              <a:t>Inject Fake DNS entry</a:t>
            </a:r>
            <a:r>
              <a:rPr lang="en-US" sz="2000" dirty="0"/>
              <a:t>: Hackers already take control over the DNS server by detecting the flaws and now they add false entries to the DNS server.</a:t>
            </a:r>
          </a:p>
          <a:p>
            <a:pPr fontAlgn="base"/>
            <a:r>
              <a:rPr lang="en-US" sz="2000" b="1" dirty="0"/>
              <a:t>Resolve to Fake Website</a:t>
            </a:r>
            <a:r>
              <a:rPr lang="en-US" sz="2000" dirty="0"/>
              <a:t>: Since the fake entry in the DNS server redirect the user to the wrong website.</a:t>
            </a:r>
          </a:p>
        </p:txBody>
      </p:sp>
    </p:spTree>
    <p:extLst>
      <p:ext uri="{BB962C8B-B14F-4D97-AF65-F5344CB8AC3E}">
        <p14:creationId xmlns:p14="http://schemas.microsoft.com/office/powerpoint/2010/main" val="24153068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Importance of Firewalls</a:t>
            </a:r>
            <a:br>
              <a:rPr lang="en-US" b="1" dirty="0">
                <a:solidFill>
                  <a:srgbClr val="FF0000"/>
                </a:solidFill>
              </a:rPr>
            </a:br>
            <a:endParaRPr lang="en-IN"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75656" y="1012371"/>
            <a:ext cx="10406743" cy="5113795"/>
          </a:xfrm>
        </p:spPr>
        <p:txBody>
          <a:bodyPr>
            <a:normAutofit fontScale="85000" lnSpcReduction="20000"/>
          </a:bodyPr>
          <a:lstStyle/>
          <a:p>
            <a:pPr algn="just" fontAlgn="base"/>
            <a:r>
              <a:rPr lang="en-US" dirty="0" smtClean="0"/>
              <a:t>A </a:t>
            </a:r>
            <a:r>
              <a:rPr lang="en-US" dirty="0"/>
              <a:t>firewall is the first line of defense in </a:t>
            </a:r>
            <a:r>
              <a:rPr lang="en-US" dirty="0" err="1"/>
              <a:t>cybersecurity</a:t>
            </a:r>
            <a:r>
              <a:rPr lang="en-US" dirty="0"/>
              <a:t>, acting as a security barrier between internal systems and external networks. It forces all traffic through a single checkpoint, where data packets are monitored, filtered, and either allowed or blocked based on predefined rules. Firewalls are essential because they:</a:t>
            </a:r>
          </a:p>
          <a:p>
            <a:pPr lvl="1" fontAlgn="base"/>
            <a:r>
              <a:rPr lang="en-US" b="1" dirty="0"/>
              <a:t>Prevent Unauthorized Access: </a:t>
            </a:r>
            <a:r>
              <a:rPr lang="en-US" dirty="0"/>
              <a:t>Like a locked door with a guard, only trusted users and traffic are allowed through.</a:t>
            </a:r>
          </a:p>
          <a:p>
            <a:pPr lvl="1" fontAlgn="base"/>
            <a:r>
              <a:rPr lang="en-US" b="1" dirty="0"/>
              <a:t>Block Malicious Traffic:</a:t>
            </a:r>
            <a:r>
              <a:rPr lang="en-US" dirty="0"/>
              <a:t> Harmful data such as viruses, phishing attempts, or denial-of-service (</a:t>
            </a:r>
            <a:r>
              <a:rPr lang="en-US" dirty="0" err="1"/>
              <a:t>DoS</a:t>
            </a:r>
            <a:r>
              <a:rPr lang="en-US" dirty="0"/>
              <a:t>) attacks are stopped before reaching the system.</a:t>
            </a:r>
          </a:p>
          <a:p>
            <a:pPr lvl="1" fontAlgn="base"/>
            <a:r>
              <a:rPr lang="en-US" b="1" dirty="0"/>
              <a:t>Protect Sensitive Information:</a:t>
            </a:r>
            <a:r>
              <a:rPr lang="en-US" dirty="0"/>
              <a:t> Safeguards personal and business data from theft or accidental leaks.</a:t>
            </a:r>
          </a:p>
          <a:p>
            <a:pPr lvl="1" fontAlgn="base"/>
            <a:r>
              <a:rPr lang="en-US" b="1" dirty="0"/>
              <a:t>Control Network Usage:</a:t>
            </a:r>
            <a:r>
              <a:rPr lang="en-US" dirty="0"/>
              <a:t> Enforces policies such as parental controls, workplace restrictions, or government filtering.</a:t>
            </a:r>
          </a:p>
          <a:p>
            <a:pPr lvl="1" fontAlgn="base"/>
            <a:r>
              <a:rPr lang="en-US" b="1" dirty="0"/>
              <a:t>Mitigate Insider Risks:</a:t>
            </a:r>
            <a:r>
              <a:rPr lang="en-US" dirty="0"/>
              <a:t> Detects suspicious applications or data exfiltration attempts from within the network.</a:t>
            </a:r>
          </a:p>
          <a:p>
            <a:endParaRPr lang="en-IN" dirty="0"/>
          </a:p>
        </p:txBody>
      </p:sp>
    </p:spTree>
    <p:extLst>
      <p:ext uri="{BB962C8B-B14F-4D97-AF65-F5344CB8AC3E}">
        <p14:creationId xmlns:p14="http://schemas.microsoft.com/office/powerpoint/2010/main" val="20381867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3074"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2699655" y="947057"/>
            <a:ext cx="7522029" cy="4321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9198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IN" b="1" dirty="0">
                <a:solidFill>
                  <a:srgbClr val="FF0000"/>
                </a:solidFill>
              </a:rPr>
              <a:t>Intrusion Prevention System (IPS)</a:t>
            </a:r>
            <a:br>
              <a:rPr lang="en-IN"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609600" y="870857"/>
            <a:ext cx="10972800" cy="5255309"/>
          </a:xfrm>
        </p:spPr>
        <p:txBody>
          <a:bodyPr>
            <a:normAutofit fontScale="47500" lnSpcReduction="20000"/>
          </a:bodyPr>
          <a:lstStyle/>
          <a:p>
            <a:pPr algn="just"/>
            <a:r>
              <a:rPr lang="en-US" sz="4600" dirty="0"/>
              <a:t>IPS is a device that inspects, detects, classifies, and proactively prevents harmful traffic. </a:t>
            </a:r>
            <a:endParaRPr lang="en-US" sz="4600" dirty="0" smtClean="0"/>
          </a:p>
          <a:p>
            <a:pPr algn="just"/>
            <a:r>
              <a:rPr lang="en-US" sz="4600" dirty="0" smtClean="0"/>
              <a:t>It </a:t>
            </a:r>
            <a:r>
              <a:rPr lang="en-US" sz="4600" dirty="0"/>
              <a:t>examines real-time communications for attack patterns or signatures and then blocks attacks when they have been detected. </a:t>
            </a:r>
            <a:endParaRPr lang="en-US" sz="4600" dirty="0" smtClean="0"/>
          </a:p>
          <a:p>
            <a:pPr algn="just"/>
            <a:r>
              <a:rPr lang="en-US" sz="4600" dirty="0" smtClean="0"/>
              <a:t>Placement </a:t>
            </a:r>
            <a:r>
              <a:rPr lang="en-US" sz="4600" dirty="0"/>
              <a:t>and configuration in inline mode and generally being in Layer 2 after the firewall. </a:t>
            </a:r>
            <a:endParaRPr lang="en-US" sz="4600" dirty="0" smtClean="0"/>
          </a:p>
          <a:p>
            <a:pPr algn="just"/>
            <a:r>
              <a:rPr lang="en-US" sz="4600" dirty="0" smtClean="0"/>
              <a:t>In </a:t>
            </a:r>
            <a:r>
              <a:rPr lang="en-US" sz="4600" dirty="0"/>
              <a:t>inline mode, traffic passes into one of the device’s </a:t>
            </a:r>
            <a:r>
              <a:rPr lang="en-US" sz="4600" dirty="0" err="1"/>
              <a:t>ethernet</a:t>
            </a:r>
            <a:r>
              <a:rPr lang="en-US" sz="4600" dirty="0"/>
              <a:t> ports and out of the other.</a:t>
            </a:r>
          </a:p>
          <a:p>
            <a:pPr algn="just"/>
            <a:r>
              <a:rPr lang="en-US" sz="4600" dirty="0"/>
              <a:t>Intrusion Prevention System must work efficiently to avoid decreasing network performance. It must be quick because exploits might occur anytime. To eliminate threats and false positives, the IPS must detect and respond accurately.</a:t>
            </a:r>
          </a:p>
          <a:p>
            <a:r>
              <a:rPr lang="en-US" sz="4600" dirty="0"/>
              <a:t>Some of the actions of IPS include:</a:t>
            </a:r>
          </a:p>
          <a:p>
            <a:pPr lvl="1"/>
            <a:r>
              <a:rPr lang="en-US" sz="4600" dirty="0"/>
              <a:t>Alerting network administrators (anomaly-based detection)</a:t>
            </a:r>
          </a:p>
          <a:p>
            <a:pPr lvl="1"/>
            <a:r>
              <a:rPr lang="en-US" sz="4600" dirty="0"/>
              <a:t>Dropping the malicious traffic</a:t>
            </a:r>
          </a:p>
          <a:p>
            <a:pPr lvl="1"/>
            <a:r>
              <a:rPr lang="en-US" sz="4600" dirty="0"/>
              <a:t>Denying traffic from the source address</a:t>
            </a:r>
          </a:p>
          <a:p>
            <a:pPr lvl="1"/>
            <a:r>
              <a:rPr lang="en-US" sz="4600" dirty="0"/>
              <a:t>Reset the connection</a:t>
            </a:r>
          </a:p>
          <a:p>
            <a:endParaRPr lang="en-IN" dirty="0"/>
          </a:p>
        </p:txBody>
      </p:sp>
    </p:spTree>
    <p:extLst>
      <p:ext uri="{BB962C8B-B14F-4D97-AF65-F5344CB8AC3E}">
        <p14:creationId xmlns:p14="http://schemas.microsoft.com/office/powerpoint/2010/main" val="28925991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4098"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3432808" y="917575"/>
            <a:ext cx="5645878"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70839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Intrusion Detection System</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p:txBody>
          <a:bodyPr>
            <a:normAutofit lnSpcReduction="10000"/>
          </a:bodyPr>
          <a:lstStyle/>
          <a:p>
            <a:r>
              <a:rPr lang="en-US" dirty="0"/>
              <a:t>IDS is either a hardware or software program that analyzes incoming network traffic for malicious activities or policy breaches (network behavior analysis) and issues alerts when they are detected. </a:t>
            </a:r>
            <a:endParaRPr lang="en-US" dirty="0" smtClean="0"/>
          </a:p>
          <a:p>
            <a:r>
              <a:rPr lang="en-US" dirty="0" smtClean="0"/>
              <a:t>It </a:t>
            </a:r>
            <a:r>
              <a:rPr lang="en-US" dirty="0"/>
              <a:t>detects real-time traffic and searches for attack signatures or traffic patterns, then sends out alarms. </a:t>
            </a:r>
            <a:endParaRPr lang="en-US" dirty="0" smtClean="0"/>
          </a:p>
          <a:p>
            <a:r>
              <a:rPr lang="en-US" dirty="0" smtClean="0"/>
              <a:t>Unlike </a:t>
            </a:r>
            <a:r>
              <a:rPr lang="en-US" dirty="0"/>
              <a:t>IPS, a network Intrusion Detection System is not in line with the data path, so it can only alert and alarm on detection of anomalies.</a:t>
            </a:r>
            <a:endParaRPr lang="en-IN" dirty="0"/>
          </a:p>
        </p:txBody>
      </p:sp>
    </p:spTree>
    <p:extLst>
      <p:ext uri="{BB962C8B-B14F-4D97-AF65-F5344CB8AC3E}">
        <p14:creationId xmlns:p14="http://schemas.microsoft.com/office/powerpoint/2010/main" val="11330996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5122"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4270027" y="1600200"/>
            <a:ext cx="365194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30780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Next Generation </a:t>
            </a:r>
            <a:r>
              <a:rPr lang="en-IN" b="1" dirty="0" err="1" smtClean="0">
                <a:solidFill>
                  <a:srgbClr val="FF0000"/>
                </a:solidFill>
              </a:rPr>
              <a:t>Firrewall</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lstStyle/>
          <a:p>
            <a:r>
              <a:rPr lang="en-US" dirty="0"/>
              <a:t>A Next-Generation Firewall (NGFW) is </a:t>
            </a:r>
            <a:r>
              <a:rPr lang="en-US" dirty="0"/>
              <a:t>an advanced network security device that goes beyond traditional packet filtering by integrating deep packet inspection, application awareness, and threat intelligence to provide comprehensive protection against modern </a:t>
            </a:r>
            <a:r>
              <a:rPr lang="en-US" dirty="0" err="1"/>
              <a:t>cyberthreats</a:t>
            </a:r>
            <a:r>
              <a:rPr lang="en-US" dirty="0"/>
              <a:t>. </a:t>
            </a:r>
            <a:endParaRPr lang="en-US" dirty="0" smtClean="0"/>
          </a:p>
          <a:p>
            <a:r>
              <a:rPr lang="en-US" dirty="0" smtClean="0"/>
              <a:t>They </a:t>
            </a:r>
            <a:r>
              <a:rPr lang="en-US" dirty="0"/>
              <a:t>offer enhanced security by inspecting all traffic, enabling user-based policies, and decrypting SSL/TLS traffic.</a:t>
            </a:r>
            <a:endParaRPr lang="en-IN" dirty="0"/>
          </a:p>
        </p:txBody>
      </p:sp>
    </p:spTree>
    <p:extLst>
      <p:ext uri="{BB962C8B-B14F-4D97-AF65-F5344CB8AC3E}">
        <p14:creationId xmlns:p14="http://schemas.microsoft.com/office/powerpoint/2010/main" val="17294950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Key Features of an NGFW</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fontScale="85000" lnSpcReduction="20000"/>
          </a:bodyPr>
          <a:lstStyle/>
          <a:p>
            <a:r>
              <a:rPr lang="en-US" b="1" dirty="0" smtClean="0"/>
              <a:t>Application </a:t>
            </a:r>
            <a:r>
              <a:rPr lang="en-US" b="1" dirty="0"/>
              <a:t>Awareness and Control:</a:t>
            </a:r>
            <a:r>
              <a:rPr lang="en-US" dirty="0"/>
              <a:t> Identifies and controls applications regardless of port, blocking risky apps.</a:t>
            </a:r>
          </a:p>
          <a:p>
            <a:r>
              <a:rPr lang="en-US" b="1" dirty="0">
                <a:hlinkClick r:id="rId7"/>
              </a:rPr>
              <a:t>Intrusion Prevention System (IPS)</a:t>
            </a:r>
            <a:r>
              <a:rPr lang="en-US" b="1" dirty="0"/>
              <a:t>:</a:t>
            </a:r>
          </a:p>
          <a:p>
            <a:r>
              <a:rPr lang="en-US" dirty="0"/>
              <a:t> Scans traffic for malicious activity and automatically blocks threats.</a:t>
            </a:r>
          </a:p>
          <a:p>
            <a:r>
              <a:rPr lang="en-US" b="1" dirty="0">
                <a:hlinkClick r:id="rId8"/>
              </a:rPr>
              <a:t>Deep Packet Inspection (DPI)</a:t>
            </a:r>
            <a:r>
              <a:rPr lang="en-US" b="1" dirty="0"/>
              <a:t>:</a:t>
            </a:r>
            <a:r>
              <a:rPr lang="en-US" dirty="0"/>
              <a:t> Analyzes the content of packets, not just the headers, to detect malware</a:t>
            </a:r>
            <a:r>
              <a:rPr lang="en-US" dirty="0" smtClean="0"/>
              <a:t>.</a:t>
            </a:r>
          </a:p>
          <a:p>
            <a:r>
              <a:rPr lang="en-US" b="1" dirty="0" smtClean="0">
                <a:hlinkClick r:id="rId9"/>
              </a:rPr>
              <a:t>Threat </a:t>
            </a:r>
            <a:r>
              <a:rPr lang="en-US" b="1" dirty="0">
                <a:hlinkClick r:id="rId9"/>
              </a:rPr>
              <a:t>Intelligence Integration</a:t>
            </a:r>
            <a:r>
              <a:rPr lang="en-US" b="1" dirty="0"/>
              <a:t>:</a:t>
            </a:r>
            <a:r>
              <a:rPr lang="en-US" dirty="0"/>
              <a:t> Uses updated feeds to identify the latest threats and malicious </a:t>
            </a:r>
            <a:r>
              <a:rPr lang="en-US" dirty="0" err="1"/>
              <a:t>IPs.</a:t>
            </a:r>
            <a:r>
              <a:rPr lang="en-US" b="1" dirty="0" err="1"/>
              <a:t>SSL</a:t>
            </a:r>
            <a:r>
              <a:rPr lang="en-US" b="1" dirty="0"/>
              <a:t>/TLS </a:t>
            </a:r>
            <a:endParaRPr lang="en-US" b="1" dirty="0" smtClean="0"/>
          </a:p>
          <a:p>
            <a:r>
              <a:rPr lang="en-US" b="1" dirty="0" smtClean="0"/>
              <a:t>Decryption</a:t>
            </a:r>
            <a:r>
              <a:rPr lang="en-US" b="1" dirty="0"/>
              <a:t>:</a:t>
            </a:r>
            <a:r>
              <a:rPr lang="en-US" dirty="0"/>
              <a:t> Inspects encrypted traffic for hidden threats</a:t>
            </a:r>
            <a:r>
              <a:rPr lang="en-US" dirty="0" smtClean="0"/>
              <a:t>.</a:t>
            </a:r>
          </a:p>
          <a:p>
            <a:r>
              <a:rPr lang="en-US" b="1" dirty="0" smtClean="0"/>
              <a:t>User </a:t>
            </a:r>
            <a:r>
              <a:rPr lang="en-US" b="1" dirty="0"/>
              <a:t>Identification:</a:t>
            </a:r>
            <a:r>
              <a:rPr lang="en-US" dirty="0"/>
              <a:t> Integrates with directory services to create policies based on users and groups rather than just IP addresses. </a:t>
            </a:r>
          </a:p>
          <a:p>
            <a:endParaRPr lang="en-IN" dirty="0"/>
          </a:p>
        </p:txBody>
      </p:sp>
    </p:spTree>
    <p:extLst>
      <p:ext uri="{BB962C8B-B14F-4D97-AF65-F5344CB8AC3E}">
        <p14:creationId xmlns:p14="http://schemas.microsoft.com/office/powerpoint/2010/main" val="328906278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a:bodyPr>
          <a:lstStyle/>
          <a:p>
            <a:r>
              <a:rPr lang="en-US" b="1" dirty="0"/>
              <a:t>NGFW vs. Traditional Firewall</a:t>
            </a:r>
            <a:r>
              <a:rPr lang="en-US" dirty="0"/>
              <a:t/>
            </a:r>
            <a:br>
              <a:rPr lang="en-US" dirty="0"/>
            </a:br>
            <a:r>
              <a:rPr lang="en-US" dirty="0"/>
              <a:t>Traditional firewalls primarily operate at layers 3 and 4 (network/transport layers), focusing on IP addresses and ports. NGFWs operate at all layers of the OSI model, including the application layer, offering superior visibility and control.</a:t>
            </a:r>
            <a:endParaRPr lang="en-IN" dirty="0"/>
          </a:p>
        </p:txBody>
      </p:sp>
    </p:spTree>
    <p:extLst>
      <p:ext uri="{BB962C8B-B14F-4D97-AF65-F5344CB8AC3E}">
        <p14:creationId xmlns:p14="http://schemas.microsoft.com/office/powerpoint/2010/main" val="182243661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Virtual Private Network (VPN)</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a:bodyPr>
          <a:lstStyle/>
          <a:p>
            <a:r>
              <a:rPr lang="en-US" dirty="0"/>
              <a:t>A Virtual Private Network (VPN) </a:t>
            </a:r>
            <a:r>
              <a:rPr lang="en-US" dirty="0"/>
              <a:t>creates a secure, encrypted tunnel between your device and the internet, protecting data from hackers and surveillance while masking your IP address</a:t>
            </a:r>
            <a:r>
              <a:rPr lang="en-US" dirty="0"/>
              <a:t>. It allows for private browsing, bypassing geographical restrictions, and secure access to public Wi-Fi.</a:t>
            </a:r>
            <a:endParaRPr lang="en-IN" dirty="0"/>
          </a:p>
        </p:txBody>
      </p:sp>
    </p:spTree>
    <p:extLst>
      <p:ext uri="{BB962C8B-B14F-4D97-AF65-F5344CB8AC3E}">
        <p14:creationId xmlns:p14="http://schemas.microsoft.com/office/powerpoint/2010/main" val="34308251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How VPNs Work</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a:bodyPr>
          <a:lstStyle/>
          <a:p>
            <a:r>
              <a:rPr lang="en-US" b="1" dirty="0" smtClean="0"/>
              <a:t>Encryption</a:t>
            </a:r>
            <a:r>
              <a:rPr lang="en-US" b="1" dirty="0"/>
              <a:t>:</a:t>
            </a:r>
            <a:r>
              <a:rPr lang="en-US" dirty="0"/>
              <a:t> Converts your data into unreadable code that only your device and the VPN server can understand.</a:t>
            </a:r>
          </a:p>
          <a:p>
            <a:r>
              <a:rPr lang="en-US" b="1" dirty="0"/>
              <a:t>Tunneling:</a:t>
            </a:r>
            <a:r>
              <a:rPr lang="en-US" dirty="0"/>
              <a:t> Routes your traffic through a secure server, hiding your activity from your ISP and hackers.</a:t>
            </a:r>
          </a:p>
          <a:p>
            <a:r>
              <a:rPr lang="en-US" b="1" dirty="0"/>
              <a:t>Masking IP:</a:t>
            </a:r>
            <a:r>
              <a:rPr lang="en-US" dirty="0"/>
              <a:t> Replaces your local IP address with one from the VPN server, concealing your physical location.</a:t>
            </a:r>
          </a:p>
          <a:p>
            <a:endParaRPr lang="en-IN" dirty="0"/>
          </a:p>
        </p:txBody>
      </p:sp>
    </p:spTree>
    <p:extLst>
      <p:ext uri="{BB962C8B-B14F-4D97-AF65-F5344CB8AC3E}">
        <p14:creationId xmlns:p14="http://schemas.microsoft.com/office/powerpoint/2010/main" val="12772394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a:bodyPr>
          <a:lstStyle/>
          <a:p>
            <a:r>
              <a:rPr lang="en-US" b="1" dirty="0"/>
              <a:t>Key Benefits &amp; Uses</a:t>
            </a:r>
            <a:endParaRPr lang="en-US" dirty="0"/>
          </a:p>
          <a:p>
            <a:r>
              <a:rPr lang="en-US" b="1" dirty="0"/>
              <a:t>Public Wi-Fi Security:</a:t>
            </a:r>
            <a:r>
              <a:rPr lang="en-US" dirty="0"/>
              <a:t> Protects sensitive data on insecure networks.</a:t>
            </a:r>
          </a:p>
          <a:p>
            <a:r>
              <a:rPr lang="en-US" b="1" dirty="0"/>
              <a:t>Remote Work:</a:t>
            </a:r>
            <a:r>
              <a:rPr lang="en-US" dirty="0"/>
              <a:t> Enables employees to securely access company resources.</a:t>
            </a:r>
          </a:p>
          <a:p>
            <a:r>
              <a:rPr lang="en-US" b="1" dirty="0"/>
              <a:t>Streaming &amp; Privacy:</a:t>
            </a:r>
            <a:r>
              <a:rPr lang="en-US" dirty="0"/>
              <a:t> Unlocks region-locked content and hides browsing history.</a:t>
            </a:r>
          </a:p>
          <a:p>
            <a:endParaRPr lang="en-IN" dirty="0"/>
          </a:p>
        </p:txBody>
      </p:sp>
    </p:spTree>
    <p:extLst>
      <p:ext uri="{BB962C8B-B14F-4D97-AF65-F5344CB8AC3E}">
        <p14:creationId xmlns:p14="http://schemas.microsoft.com/office/powerpoint/2010/main" val="41055033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IN" b="1" dirty="0" err="1">
                <a:solidFill>
                  <a:srgbClr val="FF0000"/>
                </a:solidFill>
              </a:rPr>
              <a:t>Wifi</a:t>
            </a:r>
            <a:r>
              <a:rPr lang="en-IN" b="1" dirty="0">
                <a:solidFill>
                  <a:srgbClr val="FF0000"/>
                </a:solidFill>
              </a:rPr>
              <a:t> Protected Access (WPA)</a:t>
            </a:r>
            <a:br>
              <a:rPr lang="en-IN"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083736"/>
            <a:ext cx="10482943" cy="4525963"/>
          </a:xfrm>
        </p:spPr>
        <p:txBody>
          <a:bodyPr>
            <a:normAutofit fontScale="85000" lnSpcReduction="10000"/>
          </a:bodyPr>
          <a:lstStyle/>
          <a:p>
            <a:r>
              <a:rPr lang="en-US" dirty="0"/>
              <a:t>WPA also referred to as the draft IEEE 802.11i standard became available in 2003. </a:t>
            </a:r>
            <a:endParaRPr lang="en-US" dirty="0" smtClean="0"/>
          </a:p>
          <a:p>
            <a:r>
              <a:rPr lang="en-US" dirty="0" smtClean="0"/>
              <a:t>The </a:t>
            </a:r>
            <a:r>
              <a:rPr lang="en-US" dirty="0"/>
              <a:t>Wi-Fi Alliance made it an intermediate measure in anticipation of the availability of the more secure and complex WPA2, which became available in 2004 and is a common short for the full IEEE 802.11i standard</a:t>
            </a:r>
            <a:r>
              <a:rPr lang="en-US" dirty="0" smtClean="0"/>
              <a:t>.</a:t>
            </a:r>
          </a:p>
          <a:p>
            <a:r>
              <a:rPr lang="en-US" dirty="0"/>
              <a:t> In 2003, WPA also known as the TKIP standard became accessible. </a:t>
            </a:r>
            <a:endParaRPr lang="en-US" dirty="0" smtClean="0"/>
          </a:p>
          <a:p>
            <a:r>
              <a:rPr lang="en-US" dirty="0" smtClean="0"/>
              <a:t>It </a:t>
            </a:r>
            <a:r>
              <a:rPr lang="en-US" dirty="0"/>
              <a:t>was meant to be a stopgap measure by the Wi-Fi Alliance before the more complicated and secure WPA2 became available in 2004. </a:t>
            </a:r>
            <a:endParaRPr lang="en-US" dirty="0" smtClean="0"/>
          </a:p>
          <a:p>
            <a:r>
              <a:rPr lang="en-US" dirty="0" smtClean="0"/>
              <a:t>WPA2 </a:t>
            </a:r>
            <a:r>
              <a:rPr lang="en-US" dirty="0"/>
              <a:t>is a common acronym for the entire IEEE 802.11i (or IEEE 802.11i-2004) standard.</a:t>
            </a:r>
            <a:endParaRPr lang="en-IN" dirty="0"/>
          </a:p>
        </p:txBody>
      </p:sp>
    </p:spTree>
    <p:extLst>
      <p:ext uri="{BB962C8B-B14F-4D97-AF65-F5344CB8AC3E}">
        <p14:creationId xmlns:p14="http://schemas.microsoft.com/office/powerpoint/2010/main" val="38725443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099456" y="1600203"/>
            <a:ext cx="10482943" cy="4525963"/>
          </a:xfrm>
        </p:spPr>
        <p:txBody>
          <a:bodyPr>
            <a:normAutofit fontScale="92500" lnSpcReduction="20000"/>
          </a:bodyPr>
          <a:lstStyle/>
          <a:p>
            <a:r>
              <a:rPr lang="en-IN" b="1" dirty="0"/>
              <a:t>WAP 1.0/1.1 (1998-1999):</a:t>
            </a:r>
            <a:r>
              <a:rPr lang="en-IN" dirty="0"/>
              <a:t> The foundational versions designed for low-bandwidth 2G networks, using WML (Wireless </a:t>
            </a:r>
            <a:r>
              <a:rPr lang="en-IN" dirty="0" err="1"/>
              <a:t>Markup</a:t>
            </a:r>
            <a:r>
              <a:rPr lang="en-IN" dirty="0"/>
              <a:t> Language) and requiring a WAP Gateway for conversion.</a:t>
            </a:r>
          </a:p>
          <a:p>
            <a:r>
              <a:rPr lang="en-IN" b="1" dirty="0"/>
              <a:t>WAP 1.2 (1999-2000):</a:t>
            </a:r>
            <a:r>
              <a:rPr lang="en-IN" dirty="0"/>
              <a:t> Introduced crucial features like WAP Push, allowing servers to send content to a handset without a direct user request (e.g., via SMS).</a:t>
            </a:r>
          </a:p>
          <a:p>
            <a:r>
              <a:rPr lang="en-IN" b="1" dirty="0"/>
              <a:t>WAP 2.0 (2002):</a:t>
            </a:r>
            <a:r>
              <a:rPr lang="en-IN" dirty="0"/>
              <a:t> A significant overhaul designed for faster networks (e.g., GPRS/3G). </a:t>
            </a:r>
            <a:r>
              <a:rPr lang="en-IN"/>
              <a:t>It dropped reliance on custom protocols, adopting XHTML Mobile Profile and standard HTTP/TCP, allowing for direct communication with web servers without specialized gateways.</a:t>
            </a:r>
          </a:p>
          <a:p>
            <a:endParaRPr lang="en-IN" dirty="0"/>
          </a:p>
        </p:txBody>
      </p:sp>
    </p:spTree>
    <p:extLst>
      <p:ext uri="{BB962C8B-B14F-4D97-AF65-F5344CB8AC3E}">
        <p14:creationId xmlns:p14="http://schemas.microsoft.com/office/powerpoint/2010/main" val="19169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14777</TotalTime>
  <Words>1193</Words>
  <Application>Microsoft Office PowerPoint</Application>
  <PresentationFormat>Custom</PresentationFormat>
  <Paragraphs>294</Paragraphs>
  <Slides>50</Slides>
  <Notes>44</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Network Security </vt:lpstr>
      <vt:lpstr>Network security principles  </vt:lpstr>
      <vt:lpstr>Network Security Protocols</vt:lpstr>
      <vt:lpstr>PowerPoint Presentation</vt:lpstr>
      <vt:lpstr>Interception</vt:lpstr>
      <vt:lpstr>Interception</vt:lpstr>
      <vt:lpstr>Interruption</vt:lpstr>
      <vt:lpstr>Interruption</vt:lpstr>
      <vt:lpstr>Modification </vt:lpstr>
      <vt:lpstr>Modification </vt:lpstr>
      <vt:lpstr>Fabrication </vt:lpstr>
      <vt:lpstr>Fabrication </vt:lpstr>
      <vt:lpstr>PowerPoint Presentation</vt:lpstr>
      <vt:lpstr>PowerPoint Presentation</vt:lpstr>
      <vt:lpstr>Securing communication</vt:lpstr>
      <vt:lpstr> SSL/TLS (Secure Sockets Layer/Transport Layer Security)  </vt:lpstr>
      <vt:lpstr> SSL/TLS (Secure Sockets Layer/Transport Layer Security)  </vt:lpstr>
      <vt:lpstr> HTTPS (HyperText Transfer Protocol Secure)</vt:lpstr>
      <vt:lpstr> HTTPS (HyperText Transfer Protocol Secure)</vt:lpstr>
      <vt:lpstr> IPSec (Internet Protocol Security) </vt:lpstr>
      <vt:lpstr> IPSec (Internet Protocol Security) </vt:lpstr>
      <vt:lpstr>Authentication mechanisms </vt:lpstr>
      <vt:lpstr>Access control models</vt:lpstr>
      <vt:lpstr>PowerPoint Presentation</vt:lpstr>
      <vt:lpstr>Access control models</vt:lpstr>
      <vt:lpstr>Network-based attacks</vt:lpstr>
      <vt:lpstr>DoS attack</vt:lpstr>
      <vt:lpstr>Types of DoS Attack</vt:lpstr>
      <vt:lpstr>Volumetric Attacks</vt:lpstr>
      <vt:lpstr>Protocol Attacks</vt:lpstr>
      <vt:lpstr>Application Layer Attacks</vt:lpstr>
      <vt:lpstr>Difference between DoS and DDoS</vt:lpstr>
      <vt:lpstr>Difference between DoS and DDoS</vt:lpstr>
      <vt:lpstr>Man-in-the-Middle (MitM) attack</vt:lpstr>
      <vt:lpstr>Types of MitM Attacks</vt:lpstr>
      <vt:lpstr>DNS Spoofing</vt:lpstr>
      <vt:lpstr>Importance of Firewalls </vt:lpstr>
      <vt:lpstr>PowerPoint Presentation</vt:lpstr>
      <vt:lpstr>Intrusion Prevention System (IPS) </vt:lpstr>
      <vt:lpstr>PowerPoint Presentation</vt:lpstr>
      <vt:lpstr>Intrusion Detection System</vt:lpstr>
      <vt:lpstr>PowerPoint Presentation</vt:lpstr>
      <vt:lpstr>Next Generation Firrewall</vt:lpstr>
      <vt:lpstr>Key Features of an NGFW </vt:lpstr>
      <vt:lpstr>PowerPoint Presentation</vt:lpstr>
      <vt:lpstr>Virtual Private Network (VPN)</vt:lpstr>
      <vt:lpstr>How VPNs Work </vt:lpstr>
      <vt:lpstr>PowerPoint Presentation</vt:lpstr>
      <vt:lpstr>Wifi Protected Access (WPA)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Dr.Anushree Deshmukh</dc:creator>
  <cp:lastModifiedBy>Dr.Anushree Deshmukh</cp:lastModifiedBy>
  <cp:revision>61</cp:revision>
  <dcterms:created xsi:type="dcterms:W3CDTF">2020-04-30T07:52:47Z</dcterms:created>
  <dcterms:modified xsi:type="dcterms:W3CDTF">2026-04-14T15:39:09Z</dcterms:modified>
</cp:coreProperties>
</file>