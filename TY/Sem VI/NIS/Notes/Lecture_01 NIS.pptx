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.xml" ContentType="application/inkml+xml"/>
  <Override PartName="/ppt/notesSlides/notesSlide16.xml" ContentType="application/vnd.openxmlformats-officedocument.presentationml.notesSlide+xml"/>
  <Override PartName="/ppt/ink/ink2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3.xml" ContentType="application/inkml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4"/>
  </p:notesMasterIdLst>
  <p:sldIdLst>
    <p:sldId id="256" r:id="rId2"/>
    <p:sldId id="258" r:id="rId3"/>
    <p:sldId id="261" r:id="rId4"/>
    <p:sldId id="262" r:id="rId5"/>
    <p:sldId id="260" r:id="rId6"/>
    <p:sldId id="266" r:id="rId7"/>
    <p:sldId id="267" r:id="rId8"/>
    <p:sldId id="268" r:id="rId9"/>
    <p:sldId id="269" r:id="rId10"/>
    <p:sldId id="270" r:id="rId11"/>
    <p:sldId id="288" r:id="rId12"/>
    <p:sldId id="289" r:id="rId13"/>
    <p:sldId id="271" r:id="rId14"/>
    <p:sldId id="272" r:id="rId15"/>
    <p:sldId id="290" r:id="rId16"/>
    <p:sldId id="291" r:id="rId17"/>
    <p:sldId id="284" r:id="rId18"/>
    <p:sldId id="273" r:id="rId19"/>
    <p:sldId id="285" r:id="rId20"/>
    <p:sldId id="286" r:id="rId21"/>
    <p:sldId id="287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92" r:id="rId32"/>
    <p:sldId id="283" r:id="rId33"/>
  </p:sldIdLst>
  <p:sldSz cx="12188825" cy="6858000"/>
  <p:notesSz cx="6858000" cy="9144000"/>
  <p:custDataLst>
    <p:tags r:id="rId35"/>
  </p:custDataLst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bg1"/>
        </a:solidFill>
        <a:latin typeface="Times New Roman" pitchFamily="16" charset="0"/>
        <a:ea typeface="WenQuanYi Micro Hei" charset="0"/>
        <a:cs typeface="WenQuanYi Micro Hei" charset="0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bg1"/>
        </a:solidFill>
        <a:latin typeface="Times New Roman" pitchFamily="16" charset="0"/>
        <a:ea typeface="WenQuanYi Micro Hei" charset="0"/>
        <a:cs typeface="WenQuanYi Micro Hei" charset="0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bg1"/>
        </a:solidFill>
        <a:latin typeface="Times New Roman" pitchFamily="16" charset="0"/>
        <a:ea typeface="WenQuanYi Micro Hei" charset="0"/>
        <a:cs typeface="WenQuanYi Micro Hei" charset="0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bg1"/>
        </a:solidFill>
        <a:latin typeface="Times New Roman" pitchFamily="16" charset="0"/>
        <a:ea typeface="WenQuanYi Micro Hei" charset="0"/>
        <a:cs typeface="WenQuanYi Micro Hei" charset="0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bg1"/>
        </a:solidFill>
        <a:latin typeface="Times New Roman" pitchFamily="16" charset="0"/>
        <a:ea typeface="WenQuanYi Micro Hei" charset="0"/>
        <a:cs typeface="WenQuanYi Micro Hei" charset="0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Times New Roman" pitchFamily="16" charset="0"/>
        <a:ea typeface="WenQuanYi Micro Hei" charset="0"/>
        <a:cs typeface="WenQuanYi Micro Hei" charset="0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Times New Roman" pitchFamily="16" charset="0"/>
        <a:ea typeface="WenQuanYi Micro Hei" charset="0"/>
        <a:cs typeface="WenQuanYi Micro Hei" charset="0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Times New Roman" pitchFamily="16" charset="0"/>
        <a:ea typeface="WenQuanYi Micro Hei" charset="0"/>
        <a:cs typeface="WenQuanYi Micro Hei" charset="0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Times New Roman" pitchFamily="16" charset="0"/>
        <a:ea typeface="WenQuanYi Micro Hei" charset="0"/>
        <a:cs typeface="WenQuanYi Micro Hei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976" y="44"/>
      </p:cViewPr>
      <p:guideLst>
        <p:guide orient="horz" pos="2160"/>
        <p:guide pos="3839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0-08-12T07:50:55.3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3505 10186 49,'0'0'10,"0"0"-10,0 0 0,0 0 55,0 0-21,0 0-2,0 0-19,0 0 7,-2-73 18,2 66-22,0-3-4,0 6-9,-2 1 8,0 0-11,-4-1-12,-1 2-9,-5 0-6,-1 2-5,3 0 16,-2 0 3,-1 0-10,3 0-20,2 0-57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0-08-12T07:56:50.3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16974 12753 137,'0'0'80,"0"0"-40,0 0-24,0 0 24,0 0 5,0 0-25,0 0-19,0 0 1,11-18-2,-11 16-9,0 2-6,0 0 5,0 0 1,0 0 4,0 0-1,0 0 5,0 0 1,0 0 12,8 0 19,-4 0-16,-2 0 3,0 0-6,3 0-2,-5-2 2,2 2 20,-2 0-20,0 0-6,0 0 4,0 0 26,2 0 34,0 0 8,-2 0-11,4 0 30,1 0-51,-2 0-10,-1 0-9,-2 0-11,0 0-6,0 0-10,0 0-1,0 0-86,0 0-273</inkml:trace>
  <inkml:trace contextRef="#ctx0" brushRef="#br0" timeOffset="195565.79">22850 14628 692,'0'0'95,"0"0"-95,0 0-8,0 0 6,0 0-158,0 0-285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0-08-12T07:06:56.74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6BC98281-0833-498C-B96B-798213FD4069}" emma:medium="tactile" emma:mode="ink">
          <msink:context xmlns:msink="http://schemas.microsoft.com/ink/2010/main" type="inkDrawing" rotatedBoundingBox="10263,8886 15209,9370 15101,10474 10155,9990" hotPoints="15884,9820 13167,10236 10490,9609 13208,9192" semanticType="enclosure" shapeName="Ellipse"/>
        </emma:interpretation>
      </emma:emma>
    </inkml:annotationXML>
    <inkml:trace contextRef="#ctx0" brushRef="#br0">2688 99 162,'0'0'85,"0"0"-76,0 0 1,0 0 9,0 0-16,0 0 7,0 0 11,0 0 9,0 0 3,9 0-21,-9 0-9,0 0 2,0 0-4,0 0-1,0 0 0,0 0 4,4 0 4,-4 0 3,0 0 22,0 0-18,0 0-7,3 0-2,-3 0 2,0 0 7,0 0 14,0 0-4,0 0 10,0 0-13,0 0-7,0 0 6,0 0-7,0 0 13,0 0-14,0 0-8,0 0 25,0 0-5,0 0-13,0 0 14,0 0-14,0 0 2,0 0 1,0-3-5,0 3-7,0 0 1,0-4-2,0 4 6,-7-3-7,-9-3 0,8 5 5,-12-4 1,13 5-4,-13-3 2,-4-4-1,4 2-1,9 2 1,-5 3-4,12 0 5,-3 0 4,-6 0-9,2 0 3,-6-1-6,7 1 4,-7 0-1,13 0 13,-12-5-7,9 5-1,-1 0 3,-4-3-5,-8-2-2,12 2 3,-12-3 4,9 6-2,-5 0 5,5-5-9,-6 5 0,14-3 3,-17-1-4,0 4 0,1-6-1,-4 6 5,-10-3-5,18 3 0,-5-4 1,0 4 0,16 0-2,-3 0-3,-6 0 4,10 0 5,-18 0-5,14 0-1,-13 0 1,9 0 0,-9 0 0,4 0-2,1 0 5,-5 0-8,-4 0 4,0 0 1,4 0 6,6 0-4,-3 0-1,-3 0 1,9 0 1,-9 0 0,0 0-3,13 0 1,-17 0 3,17 0-4,-10 0 1,-3 0 3,9 0-3,-9 0-2,0 0-3,6 0 4,-3 0 2,-7 0 3,1 0-5,8 0 1,-9 0-1,8 0 0,-4 0 3,9 0-3,-9 0 6,0 0 3,5 0-8,-1 0 1,-4 0-2,9 0 3,-6 0-3,-3 0 0,6 4 7,-7-1-7,1 0 0,0-3-6,9 0 6,-9 3 0,13-3 8,-10 0-8,10 4-3,-13-4 3,9 0 0,-5 0 4,-1 3-4,10-3 0,3 0 0,-12 0 0,9 0 0,-13 0 0,5 0 1,-2 0-1,-6 0 0,-1 0 2,4 0-2,9 0-2,-9 0 2,13 0 1,-10 0-1,6 0 0,-5 0 0,-8 0 0,13 0 0,-5 0 0,-8 0 0,13 0 0,-9 0-1,0 0 1,0 0 0,9 0 0,-6 0-1,6 0 1,-5 0 0,-8 0 0,0 0 0,1 0 0,12 0 0,-9 0 0,12 0 0,-8 0 0,5 0 0,-5 0 0,-4 0 0,5 0 1,-5 0-1,-4 0 0,4 0-1,9 0 1,-5 0 0,5 0 0,-6 0 0,-6 0 0,2 0-1,7 0 1,1 0 0,2 0 1,-5 0-2,8 0 2,-8 0-2,9 0 7,-6 0-12,6 5 6,3-5-1,0 0 0,-9 6 1,6-3-1,0 2 1,-10-2 1,10 2 3,-2-4-8,5-1 3,1 3 1,3 9 2,-4-9-2,-12 9-8,5-2 8,-9 4 0,12-4 0,-8 1 0,5 3 2,-2-7 1,6 3-3,-6-2 4,6 5-4,3-1 1,-12-2 1,12 2-2,-3-6 1,-6 1 3,9-4-2,1 4-1,-5 5-1,5-4 1,-6-2-5,5-3 9,4 0-10,0-3 10,-4 4-5,1 5 0,-1-3 1,-5-3-1,9 4 0,0-1 0,-4 7 1,4-7-1,0 1 0,0 1 0,0 4-5,0-2 10,0-1-3,0-2-1,0 2-1,0 0 0,0-2 0,0-1 0,0 9 0,0-9-4,0 7 4,0-7 0,0 9 6,13-8-8,-2-1 2,-7 1 0,8 4 0,-4-4 4,-1 2-6,6-9 7,-6 1-5,-7 3 0,16 0 0,-5 6 1,9-7-1,1 5-4,-1 0 4,-9-5 3,9 0-3,-13 9 0,9-9 0,-8 0-2,12 0 8,-9 0-12,9 4 6,0-1 0,0 3-1,-9-5 0,13 4 1,-17-4 0,13 1-1,-4 3 0,-8-2 1,12-3 1,-9 2-1,9-1-1,0 2-1,4 0 0,-1 7 1,1-7 1,0 4 0,-13-5 0,5-4 0,-5 4-2,6 3 2,-10-5 0,13 2 0,4-1 0,3 8 1,1-3-2,3 0 1,9-2 0,-9-1 0,9-2 0,-9 7 0,-4-4 0,-3 0 1,0-2 4,3-4-10,-7 4 10,8 5-10,-1-4 10,4 3-10,0-5 4,6 2 1,-10 0 1,-3-1-1,-13-2 0,9 1 0,7 0 1,-3-4-2,3 6-1,-3-2 2,0 7 0,3-5 0,-3-2 0,3 5 0,-3-8 0,3 7-1,1 4-1,-1-6 1,-3 0 1,3-1 3,6 3-3,-15-2 0,-1-3 0,7 1-3,-4-1 3,-6 3-3,19 3 3,2 1 0,-4-7 0,13 1 4,0 4-4,-10-2-3,10-3 1,-13 2 1,-4 3 1,-3-5 0,0 0 0,0-3 0,3 3 0,0 0 3,14 4-3,-7-2 0,-3 5-4,9-6 4,-5 2 3,2 1-2,-3 1 0,-6-5-2,3 4 2,9-3-1,-13 0 0,13 0 0,-5-3 1,-4 4 0,9-2 2,-9 0-3,10 1 0,-7 4-3,-3-4 1,9-1 4,-9-3-3,-7 3 2,0-3-1,3 4 0,1-4 2,-5 0 0,5 3-2,-1-3-1,-3 0 1,3 5 1,1-5-1,8 1 0,-5-1 0,-3 0 0,3 0 0,2 0 0,-6 0 0,-3 0 1,-6 0 0,-2 0-1,8 0 0,-13 0 0,5 0 2,5 0-2,-10 0-2,9 0 2,0 0-1,3 0 1,1 0 1,0 0-1,3 0 1,-3 0-1,-9 0 0,8 0-1,-3 0 4,1 0-5,-7 0 4,6 0-2,4 0 0,0 0 0,-8 0 0,-5 0 1,9 0-1,0 0 0,4 0 0,-9 0 0,5 0 0,-13 0 0,6-1 1,-6-4 6,6 5-7,-2-3 2,12-1-5,-6 1 3,-2 0 0,5-9 0,-4 8 0,-5-2 0,9 0 0,-9 2 0,9-4 0,4-6 2,0 6-4,-4-1 5,3-4-5,1 4 4,-6-1-1,15 4-1,-5-10-1,-14 5 1,10 1 0,-4 0 0,-4-2 0,-5 6 0,6-1 0,-6-4 0,2 3 0,-6 2 0,9 0 0,-8-6-1,12 4 2,-9 1-2,9 0 2,3 1-2,-2-5 1,-14 1 0,9-1 1,-8 0 0,8 1 1,-5 1-2,5 0 1,8-4-2,-6-2 1,6-4-1,4 6 0,-8-5 1,0 6 0,-4 3 0,-5-8 0,6 5 0,-10 3 1,0-7-1,10 7 0,-14-3 1,17-2-1,-12 0 2,4-2-2,-4-3 1,-1 1 3,2 4-3,-2-3 10,-3 5-2,-4 2-1,0-3 5,0 1-6,0 6 3,0-1-6,0-8-4,0 5-3,0-2 3,-7-2 0,-13 1 4,12-6-4,-8 3 0,-4-3-5,5 8 5,-5 1-2,0-5 2,-7 5-2,3 0 2,-3 4 0,-14-7 0,7 7-7,3 0 6,-13-6 1,9 3 0,-5 0 1,-4 5-2,10-2 0,-10 3 1,9-1 0,-12-4-1,16 8 0,-13-3-1,13 3-1,-9-4 3,8 4 3,-15-3-3,12-1-1,-9 1-7,-3-2 8,-4 5 1,7-1-1,6-4-1,-2 5 0,9-7 1,0 7 0,3-3-1,1-2 1,7 5 0,0-4 1,-4-2-1,-4 3 0,1-10 0,-17 1 0,6 2-3,-13-8 2,-9 8-2,5 3 2,4-1-8,7-4 8,9 9-5,4 2 4,-5-7 2,8 8-1,5-5-3,8 5 4,-2 0 0,10 0 0,-9 0-8,-8 0 8,-3 0 0,-4 0-2,-17 0 2,1 0 1,-4 0 2,-1 0-1,9 5-4,4 3 4,-5-7-4,13 7 4,8 2-2,-5-5 4,8-4 2,0 8-1,13-9-4,0 0 2,7 0 4,0 0-3,0 0-4,0 0-4,62 0-68,36 0-246</inkml:trace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35843" name="Text Box 2"/>
          <p:cNvSpPr txBox="1"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35844" name="Text Box 3"/>
          <p:cNvSpPr txBox="1"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35845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2588" y="685800"/>
            <a:ext cx="6091237" cy="3427413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914400" y="4343400"/>
            <a:ext cx="5027613" cy="411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noProof="0"/>
          </a:p>
        </p:txBody>
      </p:sp>
      <p:sp>
        <p:nvSpPr>
          <p:cNvPr id="35847" name="Text Box 6"/>
          <p:cNvSpPr txBox="1"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86200" y="8686800"/>
            <a:ext cx="2970213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fld id="{96EA0395-0726-40F9-9165-2D8A5160C1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08903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fld id="{2F246977-B5A9-41AA-B1C2-EADD8FD7A2AA}" type="slidenum">
              <a:rPr lang="en-US" altLang="en-US" sz="1200" smtClean="0">
                <a:solidFill>
                  <a:srgbClr val="000000"/>
                </a:solidFill>
                <a:ea typeface="DejaVu Sans" charset="0"/>
                <a:cs typeface="DejaVu Sans" charset="0"/>
              </a:rPr>
              <a:pPr/>
              <a:t>1</a:t>
            </a:fld>
            <a:endParaRPr lang="en-US" alt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3686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686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fld id="{626B1D8D-3DCE-4799-805B-98C2F9EF1FCE}" type="slidenum">
              <a:rPr lang="en-US" altLang="en-US" sz="1200" smtClean="0">
                <a:solidFill>
                  <a:srgbClr val="000000"/>
                </a:solidFill>
                <a:ea typeface="DejaVu Sans" charset="0"/>
                <a:cs typeface="DejaVu Sans" charset="0"/>
              </a:rPr>
              <a:pPr/>
              <a:t>2</a:t>
            </a:fld>
            <a:endParaRPr lang="en-US" alt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3891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891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fld id="{0D468B3A-2344-4629-A1DF-CC1E15EE8771}" type="slidenum">
              <a:rPr lang="en-US" altLang="en-US" sz="1200" smtClean="0">
                <a:solidFill>
                  <a:srgbClr val="000000"/>
                </a:solidFill>
                <a:ea typeface="DejaVu Sans" charset="0"/>
                <a:cs typeface="DejaVu Sans" charset="0"/>
              </a:rPr>
              <a:pPr/>
              <a:t>3</a:t>
            </a:fld>
            <a:endParaRPr lang="en-US" alt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4096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6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fld id="{A924B074-2B26-40DE-9732-01FBBB7F1099}" type="slidenum">
              <a:rPr lang="en-US" altLang="en-US" sz="1200" smtClean="0">
                <a:solidFill>
                  <a:srgbClr val="000000"/>
                </a:solidFill>
                <a:ea typeface="DejaVu Sans" charset="0"/>
                <a:cs typeface="DejaVu Sans" charset="0"/>
              </a:rPr>
              <a:pPr/>
              <a:t>4</a:t>
            </a:fld>
            <a:endParaRPr lang="en-US" alt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4198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fld id="{12756AA6-A0D6-41EB-B859-353B039C6551}" type="slidenum">
              <a:rPr lang="en-US" altLang="en-US" sz="1200" smtClean="0">
                <a:solidFill>
                  <a:srgbClr val="000000"/>
                </a:solidFill>
                <a:ea typeface="DejaVu Sans" charset="0"/>
                <a:cs typeface="DejaVu Sans" charset="0"/>
              </a:rPr>
              <a:pPr/>
              <a:t>5</a:t>
            </a:fld>
            <a:endParaRPr lang="en-US" alt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4301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301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fld id="{E81928E7-1536-4618-BD37-11FF644A8A8A}" type="slidenum">
              <a:rPr lang="en-US" altLang="en-US" sz="1200" smtClean="0">
                <a:solidFill>
                  <a:srgbClr val="000000"/>
                </a:solidFill>
                <a:ea typeface="DejaVu Sans" charset="0"/>
                <a:cs typeface="DejaVu Sans" charset="0"/>
              </a:rPr>
              <a:pPr/>
              <a:t>6</a:t>
            </a:fld>
            <a:endParaRPr lang="en-US" alt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4403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403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fld id="{6BA7BD86-B9D4-44B9-86F2-38A7095F0E9C}" type="slidenum">
              <a:rPr lang="en-US" altLang="en-US" sz="1200" smtClean="0">
                <a:solidFill>
                  <a:srgbClr val="000000"/>
                </a:solidFill>
                <a:ea typeface="DejaVu Sans" charset="0"/>
                <a:cs typeface="DejaVu Sans" charset="0"/>
              </a:rPr>
              <a:pPr/>
              <a:t>7</a:t>
            </a:fld>
            <a:endParaRPr lang="en-US" alt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4505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506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fld id="{5D7744BA-E531-488F-B699-8A411C2773CB}" type="slidenum">
              <a:rPr lang="en-US" altLang="en-US" sz="1200" smtClean="0">
                <a:solidFill>
                  <a:srgbClr val="000000"/>
                </a:solidFill>
                <a:ea typeface="DejaVu Sans" charset="0"/>
                <a:cs typeface="DejaVu Sans" charset="0"/>
              </a:rPr>
              <a:pPr/>
              <a:t>8</a:t>
            </a:fld>
            <a:endParaRPr lang="en-US" alt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4608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608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fld id="{57435F14-EC62-417A-8E97-96FBAAFCB203}" type="slidenum">
              <a:rPr lang="en-US" altLang="en-US" sz="1200" smtClean="0">
                <a:solidFill>
                  <a:srgbClr val="000000"/>
                </a:solidFill>
                <a:ea typeface="DejaVu Sans" charset="0"/>
                <a:cs typeface="DejaVu Sans" charset="0"/>
              </a:rPr>
              <a:pPr/>
              <a:t>9</a:t>
            </a:fld>
            <a:endParaRPr lang="en-US" alt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4710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710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fld id="{DCBA06EF-1D82-459B-A26F-221384752304}" type="slidenum">
              <a:rPr lang="en-US" altLang="en-US" sz="1200" smtClean="0">
                <a:solidFill>
                  <a:srgbClr val="000000"/>
                </a:solidFill>
                <a:ea typeface="DejaVu Sans" charset="0"/>
                <a:cs typeface="DejaVu Sans" charset="0"/>
              </a:rPr>
              <a:pPr/>
              <a:t>10</a:t>
            </a:fld>
            <a:endParaRPr lang="en-US" alt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4813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813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fld id="{34CB6DA3-E6B2-48A9-8A96-E2251A7C683F}" type="slidenum">
              <a:rPr lang="en-US" altLang="en-US" sz="1200" smtClean="0">
                <a:solidFill>
                  <a:srgbClr val="000000"/>
                </a:solidFill>
                <a:ea typeface="DejaVu Sans" charset="0"/>
                <a:cs typeface="DejaVu Sans" charset="0"/>
              </a:rPr>
              <a:pPr/>
              <a:t>11</a:t>
            </a:fld>
            <a:endParaRPr lang="en-US" alt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4915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915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fld id="{710D42B1-7074-429E-9A47-3589FF62BB57}" type="slidenum">
              <a:rPr lang="en-US" altLang="en-US" sz="1200" smtClean="0">
                <a:solidFill>
                  <a:srgbClr val="000000"/>
                </a:solidFill>
                <a:ea typeface="DejaVu Sans" charset="0"/>
                <a:cs typeface="DejaVu Sans" charset="0"/>
              </a:rPr>
              <a:pPr/>
              <a:t>12</a:t>
            </a:fld>
            <a:endParaRPr lang="en-US" alt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5017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018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fld id="{E8ECDE2C-CC68-4C30-8ECC-9238C666CD10}" type="slidenum">
              <a:rPr lang="en-US" altLang="en-US" sz="1200" smtClean="0">
                <a:solidFill>
                  <a:srgbClr val="000000"/>
                </a:solidFill>
                <a:ea typeface="DejaVu Sans" charset="0"/>
                <a:cs typeface="DejaVu Sans" charset="0"/>
              </a:rPr>
              <a:pPr/>
              <a:t>13</a:t>
            </a:fld>
            <a:endParaRPr lang="en-US" alt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5120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fld id="{4BCFE8B0-A2D1-400B-9EB7-DC70089751E4}" type="slidenum">
              <a:rPr lang="en-US" altLang="en-US" sz="1200" smtClean="0">
                <a:solidFill>
                  <a:srgbClr val="000000"/>
                </a:solidFill>
                <a:ea typeface="DejaVu Sans" charset="0"/>
                <a:cs typeface="DejaVu Sans" charset="0"/>
              </a:rPr>
              <a:pPr/>
              <a:t>14</a:t>
            </a:fld>
            <a:endParaRPr lang="en-US" alt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5222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222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fld id="{C66E31CD-2608-49DE-BC70-6005C4E73074}" type="slidenum">
              <a:rPr lang="en-US" altLang="en-US" sz="1200" smtClean="0">
                <a:solidFill>
                  <a:srgbClr val="000000"/>
                </a:solidFill>
                <a:ea typeface="DejaVu Sans" charset="0"/>
                <a:cs typeface="DejaVu Sans" charset="0"/>
              </a:rPr>
              <a:pPr/>
              <a:t>15</a:t>
            </a:fld>
            <a:endParaRPr lang="en-US" alt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5325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325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6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1.#</a:t>
            </a: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fld id="{4B96D293-92ED-4F3F-BD0F-642C70430944}" type="slidenum">
              <a:rPr lang="en-US" altLang="en-US" sz="1200" smtClean="0">
                <a:solidFill>
                  <a:srgbClr val="000000"/>
                </a:solidFill>
                <a:ea typeface="DejaVu Sans" charset="0"/>
                <a:cs typeface="DejaVu Sans" charset="0"/>
              </a:rPr>
              <a:pPr/>
              <a:t>18</a:t>
            </a:fld>
            <a:endParaRPr lang="en-US" alt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5529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530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6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1.#</a:t>
            </a: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6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1.#</a:t>
            </a: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6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1.#</a:t>
            </a: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fld id="{D03D3368-109A-4DD7-8DD9-23ABA30B1ECA}" type="slidenum">
              <a:rPr lang="en-US" altLang="en-US" sz="1200" smtClean="0">
                <a:solidFill>
                  <a:srgbClr val="000000"/>
                </a:solidFill>
                <a:ea typeface="DejaVu Sans" charset="0"/>
                <a:cs typeface="DejaVu Sans" charset="0"/>
              </a:rPr>
              <a:pPr/>
              <a:t>22</a:t>
            </a:fld>
            <a:endParaRPr lang="en-US" alt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5939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939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fld id="{1E972357-921D-4DED-B105-881311146E2A}" type="slidenum">
              <a:rPr lang="en-US" altLang="en-US" sz="1200" smtClean="0">
                <a:solidFill>
                  <a:srgbClr val="000000"/>
                </a:solidFill>
                <a:ea typeface="DejaVu Sans" charset="0"/>
                <a:cs typeface="DejaVu Sans" charset="0"/>
              </a:rPr>
              <a:pPr/>
              <a:t>23</a:t>
            </a:fld>
            <a:endParaRPr lang="en-US" alt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604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042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fld id="{65D03359-6092-494F-A717-3123AE5CC637}" type="slidenum">
              <a:rPr lang="en-US" altLang="en-US" sz="1200" smtClean="0">
                <a:solidFill>
                  <a:srgbClr val="000000"/>
                </a:solidFill>
                <a:ea typeface="DejaVu Sans" charset="0"/>
                <a:cs typeface="DejaVu Sans" charset="0"/>
              </a:rPr>
              <a:pPr/>
              <a:t>24</a:t>
            </a:fld>
            <a:endParaRPr lang="en-US" alt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614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14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fld id="{8DD99F85-F9D3-4252-84FF-6BD8763DA0C8}" type="slidenum">
              <a:rPr lang="en-US" altLang="en-US" sz="1200" smtClean="0">
                <a:solidFill>
                  <a:srgbClr val="000000"/>
                </a:solidFill>
                <a:ea typeface="DejaVu Sans" charset="0"/>
                <a:cs typeface="DejaVu Sans" charset="0"/>
              </a:rPr>
              <a:pPr/>
              <a:t>25</a:t>
            </a:fld>
            <a:endParaRPr lang="en-US" alt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6246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246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fld id="{4ED4B6AD-7786-4DC1-AD9A-95773320E7F4}" type="slidenum">
              <a:rPr lang="en-US" altLang="en-US" sz="1200" smtClean="0">
                <a:solidFill>
                  <a:srgbClr val="000000"/>
                </a:solidFill>
                <a:ea typeface="DejaVu Sans" charset="0"/>
                <a:cs typeface="DejaVu Sans" charset="0"/>
              </a:rPr>
              <a:pPr/>
              <a:t>26</a:t>
            </a:fld>
            <a:endParaRPr lang="en-US" alt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6349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349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fld id="{5586F014-1F07-4A7D-A50C-769E3F5E340D}" type="slidenum">
              <a:rPr lang="en-US" altLang="en-US" sz="1200" smtClean="0">
                <a:solidFill>
                  <a:srgbClr val="000000"/>
                </a:solidFill>
                <a:ea typeface="DejaVu Sans" charset="0"/>
                <a:cs typeface="DejaVu Sans" charset="0"/>
              </a:rPr>
              <a:pPr/>
              <a:t>27</a:t>
            </a:fld>
            <a:endParaRPr lang="en-US" alt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6451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451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fld id="{AC6FED74-1F9B-4CF0-A359-C2675CCEFF55}" type="slidenum">
              <a:rPr lang="en-US" altLang="en-US" sz="1200" smtClean="0">
                <a:solidFill>
                  <a:srgbClr val="000000"/>
                </a:solidFill>
                <a:ea typeface="DejaVu Sans" charset="0"/>
                <a:cs typeface="DejaVu Sans" charset="0"/>
              </a:rPr>
              <a:pPr/>
              <a:t>28</a:t>
            </a:fld>
            <a:endParaRPr lang="en-US" alt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6553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554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fld id="{A64702DD-2C27-4004-8729-15C3135FD85A}" type="slidenum">
              <a:rPr lang="en-US" altLang="en-US" sz="1200" smtClean="0">
                <a:solidFill>
                  <a:srgbClr val="000000"/>
                </a:solidFill>
                <a:ea typeface="DejaVu Sans" charset="0"/>
                <a:cs typeface="DejaVu Sans" charset="0"/>
              </a:rPr>
              <a:pPr/>
              <a:t>29</a:t>
            </a:fld>
            <a:endParaRPr lang="en-US" alt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6656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656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fld id="{CAF859AF-B0EB-40E3-A157-4145830DF67E}" type="slidenum">
              <a:rPr lang="en-US" altLang="en-US" sz="1200" smtClean="0">
                <a:solidFill>
                  <a:srgbClr val="000000"/>
                </a:solidFill>
                <a:ea typeface="DejaVu Sans" charset="0"/>
                <a:cs typeface="DejaVu Sans" charset="0"/>
              </a:rPr>
              <a:pPr/>
              <a:t>30</a:t>
            </a:fld>
            <a:endParaRPr lang="en-US" alt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6758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75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fld id="{20D421CC-11F2-4027-B86E-D69F10915685}" type="slidenum">
              <a:rPr lang="en-US" altLang="en-US" sz="1200" smtClean="0">
                <a:solidFill>
                  <a:srgbClr val="000000"/>
                </a:solidFill>
                <a:ea typeface="DejaVu Sans" charset="0"/>
                <a:cs typeface="DejaVu Sans" charset="0"/>
              </a:rPr>
              <a:pPr/>
              <a:t>32</a:t>
            </a:fld>
            <a:endParaRPr lang="en-US" alt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6861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861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47384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1619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4960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162" y="1981201"/>
            <a:ext cx="5076562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3871" y="1981201"/>
            <a:ext cx="5078677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6923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4" y="1535113"/>
            <a:ext cx="538763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4" y="2174875"/>
            <a:ext cx="538763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4537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15766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3941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273050"/>
            <a:ext cx="401003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1"/>
            <a:ext cx="681389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2" y="1435101"/>
            <a:ext cx="401003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5101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0144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7865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4538" y="609601"/>
            <a:ext cx="2588010" cy="54848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162" y="609601"/>
            <a:ext cx="7567229" cy="54848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2424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58438" cy="114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58438" cy="411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Times New Roman" pitchFamily="16" charset="0"/>
          <a:ea typeface="WenQuanYi Micro Hei" charset="0"/>
          <a:cs typeface="WenQuanYi Micro Hei" charset="0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Times New Roman" pitchFamily="16" charset="0"/>
          <a:ea typeface="WenQuanYi Micro Hei" charset="0"/>
          <a:cs typeface="WenQuanYi Micro Hei" charset="0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Times New Roman" pitchFamily="16" charset="0"/>
          <a:ea typeface="WenQuanYi Micro Hei" charset="0"/>
          <a:cs typeface="WenQuanYi Micro Hei" charset="0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Times New Roman" pitchFamily="16" charset="0"/>
          <a:ea typeface="WenQuanYi Micro Hei" charset="0"/>
          <a:cs typeface="WenQuanYi Micro Hei" charset="0"/>
        </a:defRPr>
      </a:lvl5pPr>
      <a:lvl6pPr marL="25146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Times New Roman" pitchFamily="16" charset="0"/>
          <a:ea typeface="WenQuanYi Micro Hei" charset="0"/>
          <a:cs typeface="WenQuanYi Micro Hei" charset="0"/>
        </a:defRPr>
      </a:lvl6pPr>
      <a:lvl7pPr marL="29718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Times New Roman" pitchFamily="16" charset="0"/>
          <a:ea typeface="WenQuanYi Micro Hei" charset="0"/>
          <a:cs typeface="WenQuanYi Micro Hei" charset="0"/>
        </a:defRPr>
      </a:lvl7pPr>
      <a:lvl8pPr marL="34290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Times New Roman" pitchFamily="16" charset="0"/>
          <a:ea typeface="WenQuanYi Micro Hei" charset="0"/>
          <a:cs typeface="WenQuanYi Micro Hei" charset="0"/>
        </a:defRPr>
      </a:lvl8pPr>
      <a:lvl9pPr marL="38862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Times New Roman" pitchFamily="16" charset="0"/>
          <a:ea typeface="WenQuanYi Micro Hei" charset="0"/>
          <a:cs typeface="WenQuanYi Micro Hei" charset="0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customXml" Target="../ink/ink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emf"/><Relationship Id="rId4" Type="http://schemas.openxmlformats.org/officeDocument/2006/relationships/customXml" Target="../ink/ink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ChangeArrowheads="1"/>
          </p:cNvSpPr>
          <p:nvPr>
            <p:ph type="title"/>
          </p:nvPr>
        </p:nvSpPr>
        <p:spPr>
          <a:xfrm>
            <a:off x="914400" y="609600"/>
            <a:ext cx="10360025" cy="1143000"/>
          </a:xfrm>
        </p:spPr>
        <p:txBody>
          <a:bodyPr lIns="91440" tIns="45720" rIns="91440" bIns="45720"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altLang="en-US" sz="7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4" charset="0"/>
              </a:rPr>
              <a:t>Network &amp; Information Security</a:t>
            </a:r>
          </a:p>
        </p:txBody>
      </p:sp>
      <p:pic>
        <p:nvPicPr>
          <p:cNvPr id="2051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4438" y="2286000"/>
            <a:ext cx="4678362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052" name="Rectangle 3"/>
          <p:cNvSpPr>
            <a:spLocks noChangeArrowheads="1"/>
          </p:cNvSpPr>
          <p:nvPr/>
        </p:nvSpPr>
        <p:spPr bwMode="auto">
          <a:xfrm>
            <a:off x="5180013" y="6248400"/>
            <a:ext cx="16256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1"/>
          <p:cNvSpPr txBox="1">
            <a:spLocks noChangeArrowheads="1"/>
          </p:cNvSpPr>
          <p:nvPr/>
        </p:nvSpPr>
        <p:spPr bwMode="auto">
          <a:xfrm>
            <a:off x="914400" y="533400"/>
            <a:ext cx="10360025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4400">
                <a:solidFill>
                  <a:srgbClr val="000000"/>
                </a:solidFill>
              </a:rPr>
              <a:t>What we will cover?</a:t>
            </a:r>
          </a:p>
        </p:txBody>
      </p:sp>
      <p:sp>
        <p:nvSpPr>
          <p:cNvPr id="4099" name="Text Box 2"/>
          <p:cNvSpPr txBox="1">
            <a:spLocks noChangeArrowheads="1"/>
          </p:cNvSpPr>
          <p:nvPr/>
        </p:nvSpPr>
        <p:spPr bwMode="auto">
          <a:xfrm>
            <a:off x="914400" y="1371600"/>
            <a:ext cx="10969625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1313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 marL="741363" indent="-284163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 marL="1141413" indent="-227013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>
              <a:lnSpc>
                <a:spcPct val="80000"/>
              </a:lnSpc>
              <a:spcBef>
                <a:spcPts val="300"/>
              </a:spcBef>
              <a:buClrTx/>
              <a:buFontTx/>
              <a:buNone/>
            </a:pPr>
            <a:endParaRPr lang="en-US" altLang="en-US" sz="1200">
              <a:solidFill>
                <a:srgbClr val="000000"/>
              </a:solidFill>
              <a:latin typeface="Arial" charset="0"/>
            </a:endParaRPr>
          </a:p>
          <a:p>
            <a:pPr lvl="1">
              <a:lnSpc>
                <a:spcPct val="80000"/>
              </a:lnSpc>
              <a:spcBef>
                <a:spcPts val="700"/>
              </a:spcBef>
              <a:buFont typeface="Comic Sans MS" pitchFamily="64" charset="0"/>
              <a:buChar char="–"/>
            </a:pPr>
            <a:r>
              <a:rPr lang="en-US" altLang="en-US" sz="2800">
                <a:solidFill>
                  <a:srgbClr val="000000"/>
                </a:solidFill>
                <a:latin typeface="Comic Sans MS" pitchFamily="64" charset="0"/>
              </a:rPr>
              <a:t>Vulnerabilities, threats, security Goals, and methods of defense</a:t>
            </a:r>
          </a:p>
          <a:p>
            <a:pPr lvl="1">
              <a:lnSpc>
                <a:spcPct val="80000"/>
              </a:lnSpc>
              <a:spcBef>
                <a:spcPts val="700"/>
              </a:spcBef>
              <a:buFont typeface="Comic Sans MS" pitchFamily="64" charset="0"/>
              <a:buChar char="–"/>
            </a:pPr>
            <a:r>
              <a:rPr lang="en-US" altLang="en-US" sz="2800">
                <a:solidFill>
                  <a:srgbClr val="000000"/>
                </a:solidFill>
                <a:latin typeface="Comic Sans MS" pitchFamily="64" charset="0"/>
              </a:rPr>
              <a:t>cryptography</a:t>
            </a:r>
          </a:p>
          <a:p>
            <a:pPr lvl="1">
              <a:lnSpc>
                <a:spcPct val="80000"/>
              </a:lnSpc>
              <a:spcBef>
                <a:spcPts val="700"/>
              </a:spcBef>
              <a:buFont typeface="Comic Sans MS" pitchFamily="64" charset="0"/>
              <a:buChar char="–"/>
            </a:pPr>
            <a:r>
              <a:rPr lang="en-US" altLang="en-US" sz="2800">
                <a:solidFill>
                  <a:srgbClr val="000000"/>
                </a:solidFill>
                <a:latin typeface="Comic Sans MS" pitchFamily="64" charset="0"/>
              </a:rPr>
              <a:t>Access Control and security protocols in use for Access Control</a:t>
            </a:r>
          </a:p>
          <a:p>
            <a:pPr lvl="1">
              <a:lnSpc>
                <a:spcPct val="80000"/>
              </a:lnSpc>
              <a:spcBef>
                <a:spcPts val="700"/>
              </a:spcBef>
              <a:buFont typeface="Comic Sans MS" pitchFamily="64" charset="0"/>
              <a:buChar char="–"/>
            </a:pPr>
            <a:r>
              <a:rPr lang="en-US" altLang="en-US" sz="2800">
                <a:solidFill>
                  <a:srgbClr val="000000"/>
                </a:solidFill>
                <a:latin typeface="Comic Sans MS" pitchFamily="64" charset="0"/>
              </a:rPr>
              <a:t>securing computer systems</a:t>
            </a:r>
          </a:p>
          <a:p>
            <a:pPr lvl="2">
              <a:lnSpc>
                <a:spcPct val="80000"/>
              </a:lnSpc>
              <a:spcBef>
                <a:spcPts val="700"/>
              </a:spcBef>
              <a:buFont typeface="Comic Sans MS" pitchFamily="64" charset="0"/>
              <a:buChar char="•"/>
            </a:pPr>
            <a:r>
              <a:rPr lang="en-US" altLang="en-US" sz="2800">
                <a:solidFill>
                  <a:srgbClr val="000000"/>
                </a:solidFill>
                <a:latin typeface="Comic Sans MS" pitchFamily="64" charset="0"/>
              </a:rPr>
              <a:t>Program security</a:t>
            </a:r>
          </a:p>
          <a:p>
            <a:pPr lvl="2">
              <a:lnSpc>
                <a:spcPct val="80000"/>
              </a:lnSpc>
              <a:spcBef>
                <a:spcPts val="700"/>
              </a:spcBef>
              <a:buFont typeface="Comic Sans MS" pitchFamily="64" charset="0"/>
              <a:buChar char="•"/>
            </a:pPr>
            <a:r>
              <a:rPr lang="en-US" altLang="en-US" sz="2800">
                <a:solidFill>
                  <a:srgbClr val="000000"/>
                </a:solidFill>
                <a:latin typeface="Comic Sans MS" pitchFamily="64" charset="0"/>
              </a:rPr>
              <a:t>Network security</a:t>
            </a:r>
          </a:p>
          <a:p>
            <a:pPr lvl="2">
              <a:lnSpc>
                <a:spcPct val="80000"/>
              </a:lnSpc>
              <a:spcBef>
                <a:spcPts val="700"/>
              </a:spcBef>
              <a:buFont typeface="Comic Sans MS" pitchFamily="64" charset="0"/>
              <a:buChar char="•"/>
            </a:pPr>
            <a:r>
              <a:rPr lang="en-US" altLang="en-US" sz="2800">
                <a:solidFill>
                  <a:srgbClr val="000000"/>
                </a:solidFill>
                <a:latin typeface="Comic Sans MS" pitchFamily="64" charset="0"/>
              </a:rPr>
              <a:t>IDS &amp; Firewalls</a:t>
            </a:r>
          </a:p>
          <a:p>
            <a:pPr lvl="1">
              <a:lnSpc>
                <a:spcPct val="80000"/>
              </a:lnSpc>
              <a:spcBef>
                <a:spcPts val="700"/>
              </a:spcBef>
              <a:buFont typeface="Comic Sans MS" pitchFamily="64" charset="0"/>
              <a:buChar char="–"/>
            </a:pPr>
            <a:r>
              <a:rPr lang="en-US" altLang="en-US" sz="2800">
                <a:solidFill>
                  <a:srgbClr val="000000"/>
                </a:solidFill>
                <a:latin typeface="Comic Sans MS" pitchFamily="64" charset="0"/>
              </a:rPr>
              <a:t>Security in networks</a:t>
            </a:r>
          </a:p>
          <a:p>
            <a:pPr lvl="1">
              <a:lnSpc>
                <a:spcPct val="80000"/>
              </a:lnSpc>
              <a:spcBef>
                <a:spcPts val="700"/>
              </a:spcBef>
              <a:buFont typeface="Comic Sans MS" pitchFamily="64" charset="0"/>
              <a:buChar char="–"/>
            </a:pPr>
            <a:r>
              <a:rPr lang="en-US" altLang="en-US" sz="2800">
                <a:solidFill>
                  <a:srgbClr val="000000"/>
                </a:solidFill>
                <a:latin typeface="Comic Sans MS" pitchFamily="64" charset="0"/>
              </a:rPr>
              <a:t>Protocol vulnerabilities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/>
          <p:cNvSpPr txBox="1">
            <a:spLocks noChangeArrowheads="1"/>
          </p:cNvSpPr>
          <p:nvPr/>
        </p:nvSpPr>
        <p:spPr bwMode="auto">
          <a:xfrm>
            <a:off x="914400" y="609600"/>
            <a:ext cx="1036002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4400">
                <a:solidFill>
                  <a:srgbClr val="000000"/>
                </a:solidFill>
              </a:rPr>
              <a:t>Vulnerability, Threat and Control</a:t>
            </a:r>
          </a:p>
        </p:txBody>
      </p:sp>
      <p:sp>
        <p:nvSpPr>
          <p:cNvPr id="6147" name="Text Box 2"/>
          <p:cNvSpPr txBox="1">
            <a:spLocks noChangeArrowheads="1"/>
          </p:cNvSpPr>
          <p:nvPr/>
        </p:nvSpPr>
        <p:spPr bwMode="auto">
          <a:xfrm>
            <a:off x="914400" y="1981200"/>
            <a:ext cx="1036002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>
              <a:lnSpc>
                <a:spcPct val="90000"/>
              </a:lnSpc>
              <a:spcBef>
                <a:spcPts val="700"/>
              </a:spcBef>
              <a:buFont typeface="Times New Roman" pitchFamily="16" charset="0"/>
              <a:buChar char="•"/>
            </a:pPr>
            <a:r>
              <a:rPr lang="en-US" altLang="en-US" sz="2800">
                <a:solidFill>
                  <a:srgbClr val="000000"/>
                </a:solidFill>
              </a:rPr>
              <a:t>A vulnerability is a weakness in the security system, in procedure, design, or implementation that might be exploited to cause loss or harm</a:t>
            </a:r>
          </a:p>
          <a:p>
            <a:pPr>
              <a:lnSpc>
                <a:spcPct val="90000"/>
              </a:lnSpc>
              <a:spcBef>
                <a:spcPts val="700"/>
              </a:spcBef>
              <a:buFont typeface="Times New Roman" pitchFamily="16" charset="0"/>
              <a:buChar char="•"/>
            </a:pPr>
            <a:r>
              <a:rPr lang="en-US" altLang="en-US" sz="2800">
                <a:solidFill>
                  <a:srgbClr val="000000"/>
                </a:solidFill>
              </a:rPr>
              <a:t>A threat to a computer system is a set of circumstances that has the potential to cause loss or harm</a:t>
            </a:r>
          </a:p>
          <a:p>
            <a:pPr>
              <a:lnSpc>
                <a:spcPct val="90000"/>
              </a:lnSpc>
              <a:spcBef>
                <a:spcPts val="700"/>
              </a:spcBef>
              <a:buFont typeface="Times New Roman" pitchFamily="16" charset="0"/>
              <a:buChar char="•"/>
            </a:pPr>
            <a:r>
              <a:rPr lang="en-US" altLang="en-US" sz="2800">
                <a:solidFill>
                  <a:srgbClr val="000000"/>
                </a:solidFill>
              </a:rPr>
              <a:t>Control is an action, device, procedure, or technique that removes or reduces a vulnerability</a:t>
            </a:r>
          </a:p>
          <a:p>
            <a:pPr>
              <a:lnSpc>
                <a:spcPct val="90000"/>
              </a:lnSpc>
              <a:spcBef>
                <a:spcPts val="700"/>
              </a:spcBef>
              <a:buFont typeface="Times New Roman" pitchFamily="16" charset="0"/>
              <a:buChar char="•"/>
            </a:pPr>
            <a:r>
              <a:rPr lang="en-US" altLang="en-US" sz="2800">
                <a:solidFill>
                  <a:srgbClr val="000000"/>
                </a:solidFill>
              </a:rPr>
              <a:t>A threat is blocked by control of a vulnerability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/>
          <p:cNvSpPr txBox="1">
            <a:spLocks noChangeArrowheads="1"/>
          </p:cNvSpPr>
          <p:nvPr/>
        </p:nvSpPr>
        <p:spPr bwMode="auto">
          <a:xfrm>
            <a:off x="2032000" y="5638800"/>
            <a:ext cx="589915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</a:rPr>
              <a:t>Figure   Threats, Controls, and Vulnerabilities.</a:t>
            </a:r>
          </a:p>
        </p:txBody>
      </p:sp>
      <p:pic>
        <p:nvPicPr>
          <p:cNvPr id="7171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7088" y="1895475"/>
            <a:ext cx="5453062" cy="306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/>
          <p:cNvSpPr txBox="1">
            <a:spLocks noChangeArrowheads="1"/>
          </p:cNvSpPr>
          <p:nvPr/>
        </p:nvSpPr>
        <p:spPr bwMode="auto">
          <a:xfrm>
            <a:off x="914400" y="838200"/>
            <a:ext cx="1036002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n-US" altLang="en-US" sz="44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4" charset="0"/>
              </a:rPr>
              <a:t>Attacks, Services and Mechanisms</a:t>
            </a:r>
            <a:br>
              <a:rPr lang="en-US" altLang="en-US" sz="44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4" charset="0"/>
              </a:rPr>
            </a:br>
            <a:r>
              <a:rPr lang="en-US" altLang="en-US" sz="44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4" charset="0"/>
              </a:rPr>
              <a:t>	</a:t>
            </a:r>
          </a:p>
        </p:txBody>
      </p:sp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609600" y="1981200"/>
            <a:ext cx="1117282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>
              <a:lnSpc>
                <a:spcPct val="90000"/>
              </a:lnSpc>
              <a:spcBef>
                <a:spcPts val="700"/>
              </a:spcBef>
              <a:buFont typeface="Comic Sans MS" pitchFamily="64" charset="0"/>
              <a:buChar char="•"/>
            </a:pPr>
            <a:r>
              <a:rPr lang="en-US" altLang="en-US" sz="3200" b="1">
                <a:solidFill>
                  <a:srgbClr val="000000"/>
                </a:solidFill>
                <a:latin typeface="Comic Sans MS" pitchFamily="64" charset="0"/>
              </a:rPr>
              <a:t>Security Attack:</a:t>
            </a:r>
            <a:r>
              <a:rPr lang="en-US" altLang="en-US" sz="3200">
                <a:solidFill>
                  <a:srgbClr val="000000"/>
                </a:solidFill>
                <a:latin typeface="Comic Sans MS" pitchFamily="64" charset="0"/>
              </a:rPr>
              <a:t> </a:t>
            </a:r>
            <a:r>
              <a:rPr lang="en-US" altLang="en-US" sz="2800">
                <a:solidFill>
                  <a:srgbClr val="000000"/>
                </a:solidFill>
                <a:latin typeface="Comic Sans MS" pitchFamily="64" charset="0"/>
              </a:rPr>
              <a:t>Any action that compromises the security of information.</a:t>
            </a:r>
          </a:p>
          <a:p>
            <a:pPr>
              <a:lnSpc>
                <a:spcPct val="90000"/>
              </a:lnSpc>
              <a:spcBef>
                <a:spcPts val="700"/>
              </a:spcBef>
              <a:buFont typeface="Comic Sans MS" pitchFamily="64" charset="0"/>
              <a:buChar char="•"/>
            </a:pPr>
            <a:r>
              <a:rPr lang="en-US" altLang="en-US" sz="3200" b="1">
                <a:solidFill>
                  <a:srgbClr val="000000"/>
                </a:solidFill>
                <a:latin typeface="Comic Sans MS" pitchFamily="64" charset="0"/>
              </a:rPr>
              <a:t>Security Mechanism:</a:t>
            </a:r>
            <a:r>
              <a:rPr lang="en-US" altLang="en-US" sz="3200">
                <a:solidFill>
                  <a:srgbClr val="000000"/>
                </a:solidFill>
                <a:latin typeface="Comic Sans MS" pitchFamily="64" charset="0"/>
              </a:rPr>
              <a:t> </a:t>
            </a:r>
            <a:r>
              <a:rPr lang="en-US" altLang="en-US" sz="2800">
                <a:solidFill>
                  <a:srgbClr val="000000"/>
                </a:solidFill>
                <a:latin typeface="Comic Sans MS" pitchFamily="64" charset="0"/>
              </a:rPr>
              <a:t>A mechanism that is designed to detect, prevent, or recover from a security attack.</a:t>
            </a:r>
          </a:p>
          <a:p>
            <a:pPr>
              <a:lnSpc>
                <a:spcPct val="90000"/>
              </a:lnSpc>
              <a:spcBef>
                <a:spcPts val="700"/>
              </a:spcBef>
              <a:buFont typeface="Comic Sans MS" pitchFamily="64" charset="0"/>
              <a:buChar char="•"/>
            </a:pPr>
            <a:r>
              <a:rPr lang="en-US" altLang="en-US" sz="3200" b="1">
                <a:solidFill>
                  <a:srgbClr val="000000"/>
                </a:solidFill>
                <a:latin typeface="Comic Sans MS" pitchFamily="64" charset="0"/>
              </a:rPr>
              <a:t>Security Service:</a:t>
            </a:r>
            <a:r>
              <a:rPr lang="en-US" altLang="en-US" sz="3200">
                <a:solidFill>
                  <a:srgbClr val="000000"/>
                </a:solidFill>
                <a:latin typeface="Comic Sans MS" pitchFamily="64" charset="0"/>
              </a:rPr>
              <a:t> </a:t>
            </a:r>
            <a:r>
              <a:rPr lang="en-US" altLang="en-US" sz="2800">
                <a:solidFill>
                  <a:srgbClr val="000000"/>
                </a:solidFill>
                <a:latin typeface="Comic Sans MS" pitchFamily="64" charset="0"/>
              </a:rPr>
              <a:t>A service that enhances the security of data processing systems and information transfers.  A security service makes use of one or more security mechanisms.</a:t>
            </a:r>
          </a:p>
          <a:p>
            <a:pPr>
              <a:lnSpc>
                <a:spcPct val="90000"/>
              </a:lnSpc>
              <a:spcBef>
                <a:spcPts val="700"/>
              </a:spcBef>
              <a:buFont typeface="Comic Sans MS" pitchFamily="64" charset="0"/>
              <a:buNone/>
            </a:pPr>
            <a:endParaRPr lang="en-US" altLang="en-US" sz="2800">
              <a:solidFill>
                <a:srgbClr val="000000"/>
              </a:solidFill>
              <a:latin typeface="Comic Sans MS" pitchFamily="6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ext Box 1"/>
          <p:cNvSpPr txBox="1">
            <a:spLocks noChangeArrowheads="1"/>
          </p:cNvSpPr>
          <p:nvPr/>
        </p:nvSpPr>
        <p:spPr bwMode="auto">
          <a:xfrm>
            <a:off x="914400" y="609600"/>
            <a:ext cx="1036002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n-US" altLang="en-US" sz="44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4" charset="0"/>
              </a:rPr>
              <a:t>Security Goals</a:t>
            </a:r>
          </a:p>
        </p:txBody>
      </p:sp>
      <p:sp>
        <p:nvSpPr>
          <p:cNvPr id="9219" name="Oval 2"/>
          <p:cNvSpPr>
            <a:spLocks noChangeArrowheads="1"/>
          </p:cNvSpPr>
          <p:nvPr/>
        </p:nvSpPr>
        <p:spPr bwMode="auto">
          <a:xfrm>
            <a:off x="4062413" y="1905000"/>
            <a:ext cx="4368800" cy="2971800"/>
          </a:xfrm>
          <a:prstGeom prst="ellipse">
            <a:avLst/>
          </a:prstGeom>
          <a:solidFill>
            <a:srgbClr val="99CC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220" name="Oval 3"/>
          <p:cNvSpPr>
            <a:spLocks noChangeArrowheads="1"/>
          </p:cNvSpPr>
          <p:nvPr/>
        </p:nvSpPr>
        <p:spPr bwMode="auto">
          <a:xfrm>
            <a:off x="2133600" y="3276600"/>
            <a:ext cx="4367213" cy="2971800"/>
          </a:xfrm>
          <a:prstGeom prst="ellipse">
            <a:avLst/>
          </a:prstGeom>
          <a:solidFill>
            <a:srgbClr val="FF0000">
              <a:alpha val="50195"/>
            </a:srgbClr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221" name="Oval 4"/>
          <p:cNvSpPr>
            <a:spLocks noChangeArrowheads="1"/>
          </p:cNvSpPr>
          <p:nvPr/>
        </p:nvSpPr>
        <p:spPr bwMode="auto">
          <a:xfrm>
            <a:off x="5891213" y="3352800"/>
            <a:ext cx="4367212" cy="2971800"/>
          </a:xfrm>
          <a:prstGeom prst="ellipse">
            <a:avLst/>
          </a:prstGeom>
          <a:solidFill>
            <a:srgbClr val="00FF00">
              <a:alpha val="50195"/>
            </a:srgbClr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222" name="Text Box 5"/>
          <p:cNvSpPr txBox="1">
            <a:spLocks noChangeArrowheads="1"/>
          </p:cNvSpPr>
          <p:nvPr/>
        </p:nvSpPr>
        <p:spPr bwMode="auto">
          <a:xfrm>
            <a:off x="2743200" y="4953000"/>
            <a:ext cx="2640013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>
              <a:spcBef>
                <a:spcPts val="1500"/>
              </a:spcBef>
              <a:buClrTx/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Comic Sans MS" pitchFamily="64" charset="0"/>
              </a:rPr>
              <a:t>Integrity</a:t>
            </a:r>
          </a:p>
        </p:txBody>
      </p:sp>
      <p:sp>
        <p:nvSpPr>
          <p:cNvPr id="9223" name="Text Box 6"/>
          <p:cNvSpPr txBox="1">
            <a:spLocks noChangeArrowheads="1"/>
          </p:cNvSpPr>
          <p:nvPr/>
        </p:nvSpPr>
        <p:spPr bwMode="auto">
          <a:xfrm>
            <a:off x="4773613" y="2590800"/>
            <a:ext cx="32512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>
              <a:spcBef>
                <a:spcPts val="1500"/>
              </a:spcBef>
              <a:buClrTx/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Comic Sans MS" pitchFamily="64" charset="0"/>
              </a:rPr>
              <a:t>Confidentiality</a:t>
            </a:r>
          </a:p>
        </p:txBody>
      </p:sp>
      <p:sp>
        <p:nvSpPr>
          <p:cNvPr id="9224" name="Text Box 7"/>
          <p:cNvSpPr txBox="1">
            <a:spLocks noChangeArrowheads="1"/>
          </p:cNvSpPr>
          <p:nvPr/>
        </p:nvSpPr>
        <p:spPr bwMode="auto">
          <a:xfrm>
            <a:off x="7212013" y="5105400"/>
            <a:ext cx="2741612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>
              <a:spcBef>
                <a:spcPts val="1500"/>
              </a:spcBef>
              <a:buClrTx/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Comic Sans MS" pitchFamily="64" charset="0"/>
              </a:rPr>
              <a:t>Availability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"/>
          <p:cNvSpPr txBox="1">
            <a:spLocks noChangeArrowheads="1"/>
          </p:cNvSpPr>
          <p:nvPr/>
        </p:nvSpPr>
        <p:spPr bwMode="auto">
          <a:xfrm>
            <a:off x="1320800" y="5334000"/>
            <a:ext cx="967105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</a:rPr>
              <a:t>Figure Relationship Between Confidentiality, Integrity, and Availability.</a:t>
            </a:r>
          </a:p>
        </p:txBody>
      </p:sp>
      <p:pic>
        <p:nvPicPr>
          <p:cNvPr id="1024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4413" y="546100"/>
            <a:ext cx="5891212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1"/>
          <p:cNvSpPr txBox="1">
            <a:spLocks noChangeArrowheads="1"/>
          </p:cNvSpPr>
          <p:nvPr/>
        </p:nvSpPr>
        <p:spPr bwMode="auto">
          <a:xfrm>
            <a:off x="914400" y="609600"/>
            <a:ext cx="1036002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4400">
                <a:solidFill>
                  <a:srgbClr val="000000"/>
                </a:solidFill>
              </a:rPr>
              <a:t>Confidentiality</a:t>
            </a:r>
          </a:p>
        </p:txBody>
      </p:sp>
      <p:sp>
        <p:nvSpPr>
          <p:cNvPr id="11267" name="Text Box 2"/>
          <p:cNvSpPr txBox="1">
            <a:spLocks noChangeArrowheads="1"/>
          </p:cNvSpPr>
          <p:nvPr/>
        </p:nvSpPr>
        <p:spPr bwMode="auto">
          <a:xfrm>
            <a:off x="914400" y="1981200"/>
            <a:ext cx="1036002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>
              <a:spcBef>
                <a:spcPts val="800"/>
              </a:spcBef>
              <a:buFont typeface="Times New Roman" pitchFamily="16" charset="0"/>
              <a:buChar char="•"/>
            </a:pPr>
            <a:r>
              <a:rPr lang="en-US" altLang="en-US" sz="3200">
                <a:solidFill>
                  <a:srgbClr val="000000"/>
                </a:solidFill>
              </a:rPr>
              <a:t>It ensures that computer-related assets are accessed only by authorized parties</a:t>
            </a:r>
          </a:p>
          <a:p>
            <a:pPr>
              <a:spcBef>
                <a:spcPts val="800"/>
              </a:spcBef>
              <a:buFont typeface="Times New Roman" pitchFamily="16" charset="0"/>
              <a:buChar char="•"/>
            </a:pPr>
            <a:r>
              <a:rPr lang="en-US" altLang="en-US" sz="3200">
                <a:solidFill>
                  <a:srgbClr val="000000"/>
                </a:solidFill>
              </a:rPr>
              <a:t>Access means reading, viewing, printing, or simply knowing that a particular asset exists</a:t>
            </a:r>
          </a:p>
          <a:p>
            <a:pPr>
              <a:spcBef>
                <a:spcPts val="800"/>
              </a:spcBef>
              <a:buFont typeface="Times New Roman" pitchFamily="16" charset="0"/>
              <a:buChar char="•"/>
            </a:pPr>
            <a:r>
              <a:rPr lang="en-US" altLang="en-US" sz="3200">
                <a:solidFill>
                  <a:srgbClr val="000000"/>
                </a:solidFill>
              </a:rPr>
              <a:t>It is sometimes also called secrecy or privacy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1"/>
          <p:cNvSpPr txBox="1">
            <a:spLocks noChangeArrowheads="1"/>
          </p:cNvSpPr>
          <p:nvPr/>
        </p:nvSpPr>
        <p:spPr bwMode="auto">
          <a:xfrm>
            <a:off x="914400" y="609600"/>
            <a:ext cx="1036002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4400">
                <a:solidFill>
                  <a:srgbClr val="000000"/>
                </a:solidFill>
              </a:rPr>
              <a:t>Integrity</a:t>
            </a:r>
          </a:p>
        </p:txBody>
      </p:sp>
      <p:sp>
        <p:nvSpPr>
          <p:cNvPr id="12291" name="Text Box 2"/>
          <p:cNvSpPr txBox="1">
            <a:spLocks noChangeArrowheads="1"/>
          </p:cNvSpPr>
          <p:nvPr/>
        </p:nvSpPr>
        <p:spPr bwMode="auto">
          <a:xfrm>
            <a:off x="914400" y="1981200"/>
            <a:ext cx="1036002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>
              <a:spcBef>
                <a:spcPts val="800"/>
              </a:spcBef>
              <a:buFont typeface="Times New Roman" pitchFamily="16" charset="0"/>
              <a:buChar char="•"/>
            </a:pPr>
            <a:r>
              <a:rPr lang="en-US" altLang="en-US" sz="3200">
                <a:solidFill>
                  <a:srgbClr val="000000"/>
                </a:solidFill>
              </a:rPr>
              <a:t>It means that assets can be modified only by authorized parties only in authorized ways.</a:t>
            </a:r>
          </a:p>
          <a:p>
            <a:pPr>
              <a:spcBef>
                <a:spcPts val="800"/>
              </a:spcBef>
              <a:buFont typeface="Times New Roman" pitchFamily="16" charset="0"/>
              <a:buChar char="•"/>
            </a:pPr>
            <a:r>
              <a:rPr lang="en-US" altLang="en-US" sz="3200">
                <a:solidFill>
                  <a:srgbClr val="000000"/>
                </a:solidFill>
              </a:rPr>
              <a:t>The integrity of an item is preserved if it is:</a:t>
            </a:r>
          </a:p>
          <a:p>
            <a:pPr lvl="1">
              <a:spcBef>
                <a:spcPts val="700"/>
              </a:spcBef>
              <a:buFont typeface="Times New Roman" pitchFamily="16" charset="0"/>
              <a:buChar char="–"/>
            </a:pPr>
            <a:r>
              <a:rPr lang="en-US" altLang="en-US" sz="2800">
                <a:solidFill>
                  <a:srgbClr val="000000"/>
                </a:solidFill>
              </a:rPr>
              <a:t>Precise, accurate, unmodified, modified only in acceptable ways, modified by authorized people, modified by authorized processes, consistent, meaningful and usable.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1"/>
          <p:cNvSpPr txBox="1">
            <a:spLocks noChangeArrowheads="1"/>
          </p:cNvSpPr>
          <p:nvPr/>
        </p:nvSpPr>
        <p:spPr bwMode="auto">
          <a:xfrm>
            <a:off x="914400" y="609600"/>
            <a:ext cx="1036002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4400">
                <a:solidFill>
                  <a:srgbClr val="000000"/>
                </a:solidFill>
              </a:rPr>
              <a:t>Availability</a:t>
            </a:r>
          </a:p>
        </p:txBody>
      </p:sp>
      <p:sp>
        <p:nvSpPr>
          <p:cNvPr id="13315" name="Text Box 2"/>
          <p:cNvSpPr txBox="1">
            <a:spLocks noChangeArrowheads="1"/>
          </p:cNvSpPr>
          <p:nvPr/>
        </p:nvSpPr>
        <p:spPr bwMode="auto">
          <a:xfrm>
            <a:off x="914400" y="1981200"/>
            <a:ext cx="1036002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>
              <a:spcBef>
                <a:spcPts val="800"/>
              </a:spcBef>
              <a:buFont typeface="Times New Roman" pitchFamily="16" charset="0"/>
              <a:buChar char="•"/>
            </a:pPr>
            <a:r>
              <a:rPr lang="en-US" altLang="en-US" sz="3200">
                <a:solidFill>
                  <a:srgbClr val="000000"/>
                </a:solidFill>
              </a:rPr>
              <a:t>It applies to both data and data processing</a:t>
            </a:r>
          </a:p>
          <a:p>
            <a:pPr>
              <a:spcBef>
                <a:spcPts val="800"/>
              </a:spcBef>
              <a:buFont typeface="Times New Roman" pitchFamily="16" charset="0"/>
              <a:buChar char="•"/>
            </a:pPr>
            <a:r>
              <a:rPr lang="en-US" altLang="en-US" sz="3200">
                <a:solidFill>
                  <a:srgbClr val="000000"/>
                </a:solidFill>
              </a:rPr>
              <a:t>A data item, service or system is available if </a:t>
            </a:r>
          </a:p>
          <a:p>
            <a:pPr lvl="1">
              <a:spcBef>
                <a:spcPts val="700"/>
              </a:spcBef>
              <a:buFont typeface="Times New Roman" pitchFamily="16" charset="0"/>
              <a:buChar char="–"/>
            </a:pPr>
            <a:r>
              <a:rPr lang="en-US" altLang="en-US" sz="2800">
                <a:solidFill>
                  <a:srgbClr val="000000"/>
                </a:solidFill>
              </a:rPr>
              <a:t>There is a timely response to our request</a:t>
            </a:r>
          </a:p>
          <a:p>
            <a:pPr lvl="1">
              <a:spcBef>
                <a:spcPts val="700"/>
              </a:spcBef>
              <a:buFont typeface="Times New Roman" pitchFamily="16" charset="0"/>
              <a:buChar char="–"/>
            </a:pPr>
            <a:r>
              <a:rPr lang="en-US" altLang="en-US" sz="2800">
                <a:solidFill>
                  <a:srgbClr val="000000"/>
                </a:solidFill>
              </a:rPr>
              <a:t>Fair to all i.e. some requesters are not favored over others</a:t>
            </a:r>
          </a:p>
          <a:p>
            <a:pPr lvl="1">
              <a:spcBef>
                <a:spcPts val="700"/>
              </a:spcBef>
              <a:buFont typeface="Times New Roman" pitchFamily="16" charset="0"/>
              <a:buChar char="–"/>
            </a:pPr>
            <a:r>
              <a:rPr lang="en-US" altLang="en-US" sz="2800">
                <a:solidFill>
                  <a:srgbClr val="000000"/>
                </a:solidFill>
              </a:rPr>
              <a:t>Fault tolerant</a:t>
            </a:r>
          </a:p>
          <a:p>
            <a:pPr lvl="1">
              <a:spcBef>
                <a:spcPts val="700"/>
              </a:spcBef>
              <a:buFont typeface="Times New Roman" pitchFamily="16" charset="0"/>
              <a:buChar char="–"/>
            </a:pPr>
            <a:r>
              <a:rPr lang="en-US" altLang="en-US" sz="2800">
                <a:solidFill>
                  <a:srgbClr val="000000"/>
                </a:solidFill>
              </a:rPr>
              <a:t>There is controlled concurrency, deadlock management, and exclusive access as required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914400" y="381000"/>
            <a:ext cx="1036002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n-US" altLang="en-US" sz="44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4" charset="0"/>
              </a:rPr>
              <a:t>Security Attacks</a:t>
            </a:r>
          </a:p>
        </p:txBody>
      </p:sp>
      <p:pic>
        <p:nvPicPr>
          <p:cNvPr id="14339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371600"/>
            <a:ext cx="8632825" cy="4802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1"/>
          <p:cNvSpPr txBox="1">
            <a:spLocks noChangeArrowheads="1"/>
          </p:cNvSpPr>
          <p:nvPr/>
        </p:nvSpPr>
        <p:spPr bwMode="auto">
          <a:xfrm>
            <a:off x="2641600" y="5334000"/>
            <a:ext cx="42926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</a:rPr>
              <a:t>Figure   System Security Threats.</a:t>
            </a:r>
          </a:p>
        </p:txBody>
      </p:sp>
      <p:pic>
        <p:nvPicPr>
          <p:cNvPr id="15363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438" y="1763713"/>
            <a:ext cx="5187950" cy="3328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ext Box 1"/>
          <p:cNvSpPr txBox="1">
            <a:spLocks noChangeArrowheads="1"/>
          </p:cNvSpPr>
          <p:nvPr/>
        </p:nvSpPr>
        <p:spPr bwMode="auto">
          <a:xfrm>
            <a:off x="914400" y="609600"/>
            <a:ext cx="1036002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n-US" altLang="en-US" sz="44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4" charset="0"/>
              </a:rPr>
              <a:t>Security Attacks</a:t>
            </a:r>
          </a:p>
        </p:txBody>
      </p:sp>
      <p:sp>
        <p:nvSpPr>
          <p:cNvPr id="16387" name="Text Box 2"/>
          <p:cNvSpPr txBox="1">
            <a:spLocks noChangeArrowheads="1"/>
          </p:cNvSpPr>
          <p:nvPr/>
        </p:nvSpPr>
        <p:spPr bwMode="auto">
          <a:xfrm>
            <a:off x="914400" y="1981200"/>
            <a:ext cx="1036002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>
              <a:lnSpc>
                <a:spcPct val="90000"/>
              </a:lnSpc>
              <a:spcBef>
                <a:spcPts val="800"/>
              </a:spcBef>
              <a:buFont typeface="Comic Sans MS" pitchFamily="64" charset="0"/>
              <a:buChar char="•"/>
            </a:pPr>
            <a:r>
              <a:rPr lang="en-US" altLang="en-US" sz="3200" b="1">
                <a:solidFill>
                  <a:srgbClr val="000000"/>
                </a:solidFill>
                <a:latin typeface="Comic Sans MS" pitchFamily="64" charset="0"/>
              </a:rPr>
              <a:t>Interruption:</a:t>
            </a:r>
            <a:r>
              <a:rPr lang="en-US" altLang="en-US" sz="3200">
                <a:solidFill>
                  <a:srgbClr val="000000"/>
                </a:solidFill>
                <a:latin typeface="Comic Sans MS" pitchFamily="64" charset="0"/>
              </a:rPr>
              <a:t> This is an attack on availability</a:t>
            </a:r>
          </a:p>
          <a:p>
            <a:pPr>
              <a:lnSpc>
                <a:spcPct val="90000"/>
              </a:lnSpc>
              <a:spcBef>
                <a:spcPts val="800"/>
              </a:spcBef>
              <a:buFont typeface="Comic Sans MS" pitchFamily="64" charset="0"/>
              <a:buChar char="•"/>
            </a:pPr>
            <a:r>
              <a:rPr lang="en-US" altLang="en-US" sz="3200" b="1">
                <a:solidFill>
                  <a:srgbClr val="000000"/>
                </a:solidFill>
                <a:latin typeface="Comic Sans MS" pitchFamily="64" charset="0"/>
              </a:rPr>
              <a:t>Interception:</a:t>
            </a:r>
            <a:r>
              <a:rPr lang="en-US" altLang="en-US" sz="3200">
                <a:solidFill>
                  <a:srgbClr val="000000"/>
                </a:solidFill>
                <a:latin typeface="Comic Sans MS" pitchFamily="64" charset="0"/>
              </a:rPr>
              <a:t> This is an attack on confidentiality</a:t>
            </a:r>
          </a:p>
          <a:p>
            <a:pPr>
              <a:lnSpc>
                <a:spcPct val="90000"/>
              </a:lnSpc>
              <a:spcBef>
                <a:spcPts val="800"/>
              </a:spcBef>
              <a:buFont typeface="Comic Sans MS" pitchFamily="64" charset="0"/>
              <a:buChar char="•"/>
            </a:pPr>
            <a:r>
              <a:rPr lang="en-US" altLang="en-US" sz="3200" b="1">
                <a:solidFill>
                  <a:srgbClr val="000000"/>
                </a:solidFill>
                <a:latin typeface="Comic Sans MS" pitchFamily="64" charset="0"/>
              </a:rPr>
              <a:t>Modification:</a:t>
            </a:r>
            <a:r>
              <a:rPr lang="en-US" altLang="en-US" sz="3200">
                <a:solidFill>
                  <a:srgbClr val="000000"/>
                </a:solidFill>
                <a:latin typeface="Comic Sans MS" pitchFamily="64" charset="0"/>
              </a:rPr>
              <a:t> This is an attack on integrity</a:t>
            </a:r>
          </a:p>
          <a:p>
            <a:pPr>
              <a:lnSpc>
                <a:spcPct val="90000"/>
              </a:lnSpc>
              <a:spcBef>
                <a:spcPts val="800"/>
              </a:spcBef>
              <a:buFont typeface="Comic Sans MS" pitchFamily="64" charset="0"/>
              <a:buChar char="•"/>
            </a:pPr>
            <a:r>
              <a:rPr lang="en-US" altLang="en-US" sz="3200" b="1">
                <a:solidFill>
                  <a:srgbClr val="000000"/>
                </a:solidFill>
                <a:latin typeface="Comic Sans MS" pitchFamily="64" charset="0"/>
              </a:rPr>
              <a:t>Fabrication:</a:t>
            </a:r>
            <a:r>
              <a:rPr lang="en-US" altLang="en-US" sz="3200">
                <a:solidFill>
                  <a:srgbClr val="000000"/>
                </a:solidFill>
                <a:latin typeface="Comic Sans MS" pitchFamily="64" charset="0"/>
              </a:rPr>
              <a:t> This is an attack on authenticity</a:t>
            </a:r>
          </a:p>
          <a:p>
            <a:pPr>
              <a:lnSpc>
                <a:spcPct val="90000"/>
              </a:lnSpc>
              <a:spcBef>
                <a:spcPts val="800"/>
              </a:spcBef>
              <a:buFont typeface="Comic Sans MS" pitchFamily="64" charset="0"/>
              <a:buNone/>
            </a:pPr>
            <a:endParaRPr lang="en-US" altLang="en-US" sz="3200">
              <a:solidFill>
                <a:srgbClr val="000000"/>
              </a:solidFill>
              <a:latin typeface="Comic Sans MS" pitchFamily="6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371600"/>
            <a:ext cx="10563225" cy="402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1"/>
          <p:cNvSpPr txBox="1">
            <a:spLocks noChangeArrowheads="1"/>
          </p:cNvSpPr>
          <p:nvPr/>
        </p:nvSpPr>
        <p:spPr bwMode="auto">
          <a:xfrm>
            <a:off x="914400" y="609600"/>
            <a:ext cx="1036002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4400">
                <a:solidFill>
                  <a:srgbClr val="000000"/>
                </a:solidFill>
              </a:rPr>
              <a:t>Method, Opportunity and Motive</a:t>
            </a:r>
          </a:p>
        </p:txBody>
      </p:sp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914400" y="1981200"/>
            <a:ext cx="1036002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>
              <a:lnSpc>
                <a:spcPct val="90000"/>
              </a:lnSpc>
              <a:spcBef>
                <a:spcPts val="700"/>
              </a:spcBef>
              <a:buFont typeface="Times New Roman" pitchFamily="16" charset="0"/>
              <a:buChar char="•"/>
              <a:defRPr/>
            </a:pPr>
            <a:r>
              <a:rPr lang="en-US" altLang="en-US" sz="2800" dirty="0"/>
              <a:t>Method : the skills, knowledge, tools and other things with which to be able to pull off the attack</a:t>
            </a:r>
          </a:p>
          <a:p>
            <a:pPr>
              <a:lnSpc>
                <a:spcPct val="90000"/>
              </a:lnSpc>
              <a:spcBef>
                <a:spcPts val="700"/>
              </a:spcBef>
              <a:buFont typeface="Times New Roman" pitchFamily="16" charset="0"/>
              <a:buChar char="•"/>
              <a:defRPr/>
            </a:pPr>
            <a:r>
              <a:rPr lang="en-US" altLang="en-US" sz="2800" dirty="0"/>
              <a:t>Opportunity : the time and access to accomplish the attack</a:t>
            </a:r>
          </a:p>
          <a:p>
            <a:pPr>
              <a:lnSpc>
                <a:spcPct val="90000"/>
              </a:lnSpc>
              <a:spcBef>
                <a:spcPts val="700"/>
              </a:spcBef>
              <a:buFont typeface="Times New Roman" pitchFamily="16" charset="0"/>
              <a:buChar char="•"/>
              <a:defRPr/>
            </a:pPr>
            <a:r>
              <a:rPr lang="en-US" altLang="en-US" sz="2800" dirty="0"/>
              <a:t>Motive : a reason to want to perform this attack against this system </a:t>
            </a:r>
          </a:p>
          <a:p>
            <a:pPr marL="342900">
              <a:lnSpc>
                <a:spcPct val="90000"/>
              </a:lnSpc>
              <a:spcBef>
                <a:spcPts val="700"/>
              </a:spcBef>
              <a:buClrTx/>
              <a:buFontTx/>
              <a:buNone/>
              <a:defRPr/>
            </a:pPr>
            <a:endParaRPr lang="en-US" altLang="en-US" sz="2800" dirty="0"/>
          </a:p>
          <a:p>
            <a:pPr marL="342900">
              <a:lnSpc>
                <a:spcPct val="90000"/>
              </a:lnSpc>
              <a:spcBef>
                <a:spcPts val="700"/>
              </a:spcBef>
              <a:buClrTx/>
              <a:buFontTx/>
              <a:buNone/>
              <a:defRPr/>
            </a:pPr>
            <a:r>
              <a:rPr lang="en-US" altLang="en-US" sz="2800" dirty="0"/>
              <a:t>   DENY ANY OF THESE THREE THINGS AND</a:t>
            </a:r>
          </a:p>
          <a:p>
            <a:pPr marL="342900">
              <a:lnSpc>
                <a:spcPct val="90000"/>
              </a:lnSpc>
              <a:spcBef>
                <a:spcPts val="700"/>
              </a:spcBef>
              <a:buClrTx/>
              <a:buFontTx/>
              <a:buNone/>
              <a:defRPr/>
            </a:pPr>
            <a:r>
              <a:rPr lang="en-US" altLang="en-US" sz="2800" dirty="0"/>
              <a:t>          ATTACKS WILL NOT OCCUR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1226880" y="3628080"/>
              <a:ext cx="35280" cy="392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4560" y="1929600"/>
                <a:ext cx="7252200" cy="4192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838200"/>
            <a:ext cx="8226425" cy="4340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IN" sz="4000" dirty="0">
                <a:solidFill>
                  <a:schemeClr val="tx1"/>
                </a:solidFill>
              </a:rPr>
              <a:t>Attacks</a:t>
            </a:r>
          </a:p>
          <a:p>
            <a:pPr algn="ctr">
              <a:defRPr/>
            </a:pPr>
            <a:endParaRPr lang="en-IN" sz="4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IN" sz="2800" dirty="0">
                <a:solidFill>
                  <a:schemeClr val="tx1"/>
                </a:solidFill>
              </a:rPr>
              <a:t>Cryptanalytic Attacks</a:t>
            </a:r>
          </a:p>
          <a:p>
            <a:pPr marL="1085850" lvl="1" indent="-342900">
              <a:buFont typeface="Arial" panose="020B0604020202020204" pitchFamily="34" charset="0"/>
              <a:buChar char="•"/>
              <a:defRPr/>
            </a:pPr>
            <a:r>
              <a:rPr lang="en-IN" sz="2800" dirty="0">
                <a:solidFill>
                  <a:schemeClr val="tx1"/>
                </a:solidFill>
              </a:rPr>
              <a:t>Exploit mathematical weakness of cryptographic algorithm </a:t>
            </a:r>
          </a:p>
          <a:p>
            <a:pPr marL="1085850" lvl="1" indent="-342900">
              <a:buFont typeface="Arial" panose="020B0604020202020204" pitchFamily="34" charset="0"/>
              <a:buChar char="•"/>
              <a:defRPr/>
            </a:pPr>
            <a:endParaRPr lang="en-IN" sz="2800" dirty="0">
              <a:solidFill>
                <a:schemeClr val="tx1"/>
              </a:solidFill>
            </a:endParaRPr>
          </a:p>
          <a:p>
            <a:pPr marL="1085850" lvl="1" indent="-342900">
              <a:buFont typeface="Arial" panose="020B0604020202020204" pitchFamily="34" charset="0"/>
              <a:buChar char="•"/>
              <a:defRPr/>
            </a:pPr>
            <a:endParaRPr lang="en-IN" sz="28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IN" sz="2800" dirty="0">
                <a:solidFill>
                  <a:schemeClr val="tx1"/>
                </a:solidFill>
              </a:rPr>
              <a:t>Non-cryptanalytic Attacks</a:t>
            </a:r>
          </a:p>
          <a:p>
            <a:pPr marL="1085850" lvl="1" indent="-342900">
              <a:buFont typeface="Arial" panose="020B0604020202020204" pitchFamily="34" charset="0"/>
              <a:buChar char="•"/>
              <a:defRPr/>
            </a:pPr>
            <a:r>
              <a:rPr lang="en-IN" sz="2800" dirty="0">
                <a:solidFill>
                  <a:schemeClr val="tx1"/>
                </a:solidFill>
              </a:rPr>
              <a:t>Threats to goal of security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1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6400800"/>
            <a:ext cx="2540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1.</a:t>
            </a:r>
            <a:fld id="{97B0728F-FA69-47B3-9651-64F7FC1BFECE}" type="slidenum">
              <a:rPr lang="en-US" altLang="en-US"/>
              <a:pPr/>
              <a:t>17</a:t>
            </a:fld>
            <a:endParaRPr lang="en-US" altLang="en-US"/>
          </a:p>
        </p:txBody>
      </p:sp>
      <p:pic>
        <p:nvPicPr>
          <p:cNvPr id="20483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" y="579438"/>
            <a:ext cx="10055225" cy="575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484" name="Text Box 17"/>
          <p:cNvSpPr txBox="1">
            <a:spLocks noChangeArrowheads="1"/>
          </p:cNvSpPr>
          <p:nvPr/>
        </p:nvSpPr>
        <p:spPr bwMode="auto">
          <a:xfrm>
            <a:off x="0" y="0"/>
            <a:ext cx="20034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1.2</a:t>
            </a:r>
            <a:r>
              <a:rPr lang="en-US" altLang="en-US">
                <a:solidFill>
                  <a:schemeClr val="hlink"/>
                </a:solidFill>
              </a:rPr>
              <a:t>  </a:t>
            </a:r>
            <a:r>
              <a:rPr lang="en-US" altLang="en-US"/>
              <a:t>Continued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6110640" y="4583160"/>
              <a:ext cx="2115720" cy="6832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31760" y="844920"/>
                <a:ext cx="6135120" cy="4638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1"/>
          <p:cNvSpPr txBox="1">
            <a:spLocks noChangeArrowheads="1"/>
          </p:cNvSpPr>
          <p:nvPr/>
        </p:nvSpPr>
        <p:spPr bwMode="auto">
          <a:xfrm>
            <a:off x="914400" y="609600"/>
            <a:ext cx="1036002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n-US" altLang="en-US" sz="44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4" charset="0"/>
              </a:rPr>
              <a:t>Security Services</a:t>
            </a:r>
          </a:p>
        </p:txBody>
      </p:sp>
      <p:sp>
        <p:nvSpPr>
          <p:cNvPr id="21507" name="Text Box 2"/>
          <p:cNvSpPr txBox="1">
            <a:spLocks noChangeArrowheads="1"/>
          </p:cNvSpPr>
          <p:nvPr/>
        </p:nvSpPr>
        <p:spPr bwMode="auto">
          <a:xfrm>
            <a:off x="914400" y="1981200"/>
            <a:ext cx="1036002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Font typeface="Comic Sans MS" pitchFamily="64" charset="0"/>
              <a:buChar char="•"/>
            </a:pPr>
            <a:r>
              <a:rPr lang="en-US" altLang="en-US">
                <a:solidFill>
                  <a:srgbClr val="000000"/>
                </a:solidFill>
                <a:latin typeface="Comic Sans MS" pitchFamily="64" charset="0"/>
              </a:rPr>
              <a:t>Confidentiality (privacy)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Font typeface="Comic Sans MS" pitchFamily="64" charset="0"/>
              <a:buChar char="•"/>
            </a:pPr>
            <a:r>
              <a:rPr lang="en-US" altLang="en-US">
                <a:solidFill>
                  <a:srgbClr val="000000"/>
                </a:solidFill>
                <a:latin typeface="Comic Sans MS" pitchFamily="64" charset="0"/>
              </a:rPr>
              <a:t>Authentication (who created or sent the data)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Font typeface="Comic Sans MS" pitchFamily="64" charset="0"/>
              <a:buChar char="•"/>
            </a:pPr>
            <a:r>
              <a:rPr lang="en-US" altLang="en-US">
                <a:solidFill>
                  <a:srgbClr val="000000"/>
                </a:solidFill>
                <a:latin typeface="Comic Sans MS" pitchFamily="64" charset="0"/>
              </a:rPr>
              <a:t>Integrity (has not been altered)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Font typeface="Comic Sans MS" pitchFamily="64" charset="0"/>
              <a:buChar char="•"/>
            </a:pPr>
            <a:r>
              <a:rPr lang="en-US" altLang="en-US">
                <a:solidFill>
                  <a:srgbClr val="000000"/>
                </a:solidFill>
                <a:latin typeface="Comic Sans MS" pitchFamily="64" charset="0"/>
              </a:rPr>
              <a:t>Non-repudiation (the order is final)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Font typeface="Comic Sans MS" pitchFamily="64" charset="0"/>
              <a:buChar char="•"/>
            </a:pPr>
            <a:r>
              <a:rPr lang="en-US" altLang="en-US">
                <a:solidFill>
                  <a:srgbClr val="000000"/>
                </a:solidFill>
                <a:latin typeface="Comic Sans MS" pitchFamily="64" charset="0"/>
              </a:rPr>
              <a:t>Access control (prevent misuse of resources)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Font typeface="Comic Sans MS" pitchFamily="64" charset="0"/>
              <a:buChar char="•"/>
            </a:pPr>
            <a:r>
              <a:rPr lang="en-US" altLang="en-US">
                <a:solidFill>
                  <a:srgbClr val="000000"/>
                </a:solidFill>
                <a:latin typeface="Comic Sans MS" pitchFamily="64" charset="0"/>
              </a:rPr>
              <a:t>Availability (permanence, non-erasure)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Font typeface="Comic Sans MS" pitchFamily="64" charset="0"/>
              <a:buChar char="–"/>
            </a:pPr>
            <a:r>
              <a:rPr lang="en-US" altLang="en-US">
                <a:solidFill>
                  <a:srgbClr val="000000"/>
                </a:solidFill>
                <a:latin typeface="Comic Sans MS" pitchFamily="64" charset="0"/>
              </a:rPr>
              <a:t> Denial of Service Attacks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Font typeface="Comic Sans MS" pitchFamily="64" charset="0"/>
              <a:buChar char="–"/>
            </a:pPr>
            <a:r>
              <a:rPr lang="en-US" altLang="en-US">
                <a:solidFill>
                  <a:srgbClr val="000000"/>
                </a:solidFill>
                <a:latin typeface="Comic Sans MS" pitchFamily="64" charset="0"/>
              </a:rPr>
              <a:t> Virus that deletes files</a:t>
            </a:r>
          </a:p>
          <a:p>
            <a:pPr>
              <a:lnSpc>
                <a:spcPct val="90000"/>
              </a:lnSpc>
              <a:spcBef>
                <a:spcPts val="600"/>
              </a:spcBef>
              <a:buFont typeface="Comic Sans MS" pitchFamily="64" charset="0"/>
              <a:buNone/>
            </a:pPr>
            <a:endParaRPr lang="en-US" altLang="en-US">
              <a:solidFill>
                <a:srgbClr val="000000"/>
              </a:solidFill>
              <a:latin typeface="Comic Sans MS" pitchFamily="6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1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6400800"/>
            <a:ext cx="2540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1.</a:t>
            </a:r>
            <a:fld id="{4D9A4551-3D32-47AD-8AF4-5D5DBD30B2FA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22531" name="Text Box 9"/>
          <p:cNvSpPr txBox="1">
            <a:spLocks noChangeArrowheads="1"/>
          </p:cNvSpPr>
          <p:nvPr/>
        </p:nvSpPr>
        <p:spPr bwMode="auto">
          <a:xfrm>
            <a:off x="1524000" y="0"/>
            <a:ext cx="2327275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Security Services</a:t>
            </a:r>
          </a:p>
        </p:txBody>
      </p:sp>
      <p:pic>
        <p:nvPicPr>
          <p:cNvPr id="22532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50" y="1447800"/>
            <a:ext cx="11356975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1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6400800"/>
            <a:ext cx="2540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1.</a:t>
            </a:r>
            <a:fld id="{2F3A1158-017E-4E6E-8022-01F25E796C6E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23555" name="Text Box 9"/>
          <p:cNvSpPr txBox="1">
            <a:spLocks noChangeArrowheads="1"/>
          </p:cNvSpPr>
          <p:nvPr/>
        </p:nvSpPr>
        <p:spPr bwMode="auto">
          <a:xfrm>
            <a:off x="1524000" y="0"/>
            <a:ext cx="2720975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Security Mechanism</a:t>
            </a:r>
          </a:p>
        </p:txBody>
      </p:sp>
      <p:pic>
        <p:nvPicPr>
          <p:cNvPr id="23556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5650" y="1431925"/>
            <a:ext cx="6202363" cy="474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1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6400800"/>
            <a:ext cx="2540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1.</a:t>
            </a:r>
            <a:fld id="{2433AEE7-37E7-45D4-9E4C-AEC9C68916E8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24579" name="Rectangle 2"/>
          <p:cNvSpPr>
            <a:spLocks noChangeArrowheads="1"/>
          </p:cNvSpPr>
          <p:nvPr/>
        </p:nvSpPr>
        <p:spPr bwMode="ltGray">
          <a:xfrm>
            <a:off x="488950" y="107950"/>
            <a:ext cx="58420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>
              <a:latin typeface="Tahoma" pitchFamily="34" charset="0"/>
            </a:endParaRPr>
          </a:p>
        </p:txBody>
      </p:sp>
      <p:sp>
        <p:nvSpPr>
          <p:cNvPr id="24580" name="Rectangle 3"/>
          <p:cNvSpPr>
            <a:spLocks noChangeArrowheads="1"/>
          </p:cNvSpPr>
          <p:nvPr/>
        </p:nvSpPr>
        <p:spPr bwMode="ltGray">
          <a:xfrm>
            <a:off x="998538" y="107950"/>
            <a:ext cx="438150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>
              <a:latin typeface="Tahoma" pitchFamily="34" charset="0"/>
            </a:endParaRPr>
          </a:p>
        </p:txBody>
      </p:sp>
      <p:sp>
        <p:nvSpPr>
          <p:cNvPr id="24581" name="Rectangle 4"/>
          <p:cNvSpPr>
            <a:spLocks noChangeArrowheads="1"/>
          </p:cNvSpPr>
          <p:nvPr/>
        </p:nvSpPr>
        <p:spPr bwMode="ltGray">
          <a:xfrm>
            <a:off x="654050" y="530225"/>
            <a:ext cx="5619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>
              <a:latin typeface="Tahoma" pitchFamily="34" charset="0"/>
            </a:endParaRPr>
          </a:p>
        </p:txBody>
      </p:sp>
      <p:sp>
        <p:nvSpPr>
          <p:cNvPr id="24582" name="Rectangle 5"/>
          <p:cNvSpPr>
            <a:spLocks noChangeArrowheads="1"/>
          </p:cNvSpPr>
          <p:nvPr/>
        </p:nvSpPr>
        <p:spPr bwMode="ltGray">
          <a:xfrm>
            <a:off x="1146175" y="530225"/>
            <a:ext cx="492125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>
              <a:latin typeface="Tahoma" pitchFamily="34" charset="0"/>
            </a:endParaRPr>
          </a:p>
        </p:txBody>
      </p:sp>
      <p:sp>
        <p:nvSpPr>
          <p:cNvPr id="24583" name="Rectangle 6"/>
          <p:cNvSpPr>
            <a:spLocks noChangeArrowheads="1"/>
          </p:cNvSpPr>
          <p:nvPr/>
        </p:nvSpPr>
        <p:spPr bwMode="ltGray">
          <a:xfrm>
            <a:off x="101600" y="457200"/>
            <a:ext cx="747713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>
              <a:latin typeface="Tahoma" pitchFamily="34" charset="0"/>
            </a:endParaRPr>
          </a:p>
        </p:txBody>
      </p:sp>
      <p:sp>
        <p:nvSpPr>
          <p:cNvPr id="24584" name="Rectangle 7"/>
          <p:cNvSpPr>
            <a:spLocks noChangeArrowheads="1"/>
          </p:cNvSpPr>
          <p:nvPr/>
        </p:nvSpPr>
        <p:spPr bwMode="gray">
          <a:xfrm>
            <a:off x="947738" y="0"/>
            <a:ext cx="42862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>
              <a:latin typeface="Tahoma" pitchFamily="34" charset="0"/>
            </a:endParaRPr>
          </a:p>
        </p:txBody>
      </p:sp>
      <p:sp>
        <p:nvSpPr>
          <p:cNvPr id="24585" name="Rectangle 8"/>
          <p:cNvSpPr>
            <a:spLocks noChangeArrowheads="1"/>
          </p:cNvSpPr>
          <p:nvPr/>
        </p:nvSpPr>
        <p:spPr bwMode="gray">
          <a:xfrm>
            <a:off x="590550" y="533400"/>
            <a:ext cx="10964863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>
              <a:latin typeface="Tahoma" pitchFamily="34" charset="0"/>
            </a:endParaRPr>
          </a:p>
        </p:txBody>
      </p:sp>
      <p:sp>
        <p:nvSpPr>
          <p:cNvPr id="24586" name="Text Box 9"/>
          <p:cNvSpPr txBox="1">
            <a:spLocks noChangeArrowheads="1"/>
          </p:cNvSpPr>
          <p:nvPr/>
        </p:nvSpPr>
        <p:spPr bwMode="auto">
          <a:xfrm>
            <a:off x="1524000" y="47625"/>
            <a:ext cx="64960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>
                <a:solidFill>
                  <a:schemeClr val="tx1"/>
                </a:solidFill>
              </a:rPr>
              <a:t>Relation between Services and Mechanisms</a:t>
            </a:r>
          </a:p>
        </p:txBody>
      </p:sp>
      <p:sp>
        <p:nvSpPr>
          <p:cNvPr id="24587" name="Text Box 11"/>
          <p:cNvSpPr txBox="1">
            <a:spLocks noChangeArrowheads="1"/>
          </p:cNvSpPr>
          <p:nvPr/>
        </p:nvSpPr>
        <p:spPr bwMode="auto">
          <a:xfrm>
            <a:off x="1625600" y="1524000"/>
            <a:ext cx="60007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folHlink"/>
                </a:solidFill>
              </a:rPr>
              <a:t>Table</a:t>
            </a:r>
            <a:r>
              <a:rPr lang="en-US" altLang="en-US" sz="2000"/>
              <a:t>elation between security services and mechanisms</a:t>
            </a:r>
          </a:p>
        </p:txBody>
      </p:sp>
      <p:pic>
        <p:nvPicPr>
          <p:cNvPr id="24588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2162175"/>
            <a:ext cx="11623675" cy="233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/>
              <p14:cNvContentPartPr/>
              <p14:nvPr/>
            </p14:nvContentPartPr>
            <p14:xfrm>
              <a:off x="3673117" y="3289829"/>
              <a:ext cx="1792800" cy="42336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60517" y="3277229"/>
                <a:ext cx="1818720" cy="448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1"/>
          <p:cNvSpPr txBox="1">
            <a:spLocks noChangeArrowheads="1"/>
          </p:cNvSpPr>
          <p:nvPr/>
        </p:nvSpPr>
        <p:spPr bwMode="auto">
          <a:xfrm>
            <a:off x="914400" y="609600"/>
            <a:ext cx="1036002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4400">
                <a:solidFill>
                  <a:srgbClr val="000000"/>
                </a:solidFill>
              </a:rPr>
              <a:t>Vulnerabilities</a:t>
            </a:r>
          </a:p>
        </p:txBody>
      </p:sp>
      <p:sp>
        <p:nvSpPr>
          <p:cNvPr id="25603" name="Text Box 2"/>
          <p:cNvSpPr txBox="1">
            <a:spLocks noChangeArrowheads="1"/>
          </p:cNvSpPr>
          <p:nvPr/>
        </p:nvSpPr>
        <p:spPr bwMode="auto">
          <a:xfrm>
            <a:off x="914400" y="1981200"/>
            <a:ext cx="1036002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 marL="1141413" indent="-2270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>
              <a:lnSpc>
                <a:spcPct val="90000"/>
              </a:lnSpc>
              <a:spcBef>
                <a:spcPts val="800"/>
              </a:spcBef>
              <a:buFont typeface="Times New Roman" pitchFamily="16" charset="0"/>
              <a:buChar char="•"/>
            </a:pPr>
            <a:r>
              <a:rPr lang="en-US" altLang="en-US" sz="3200">
                <a:solidFill>
                  <a:srgbClr val="000000"/>
                </a:solidFill>
              </a:rPr>
              <a:t>Hardware vulnerabilities</a:t>
            </a:r>
          </a:p>
          <a:p>
            <a:pPr>
              <a:lnSpc>
                <a:spcPct val="90000"/>
              </a:lnSpc>
              <a:spcBef>
                <a:spcPts val="800"/>
              </a:spcBef>
              <a:buFont typeface="Times New Roman" pitchFamily="16" charset="0"/>
              <a:buChar char="•"/>
            </a:pPr>
            <a:r>
              <a:rPr lang="en-US" altLang="en-US" sz="3200">
                <a:solidFill>
                  <a:srgbClr val="000000"/>
                </a:solidFill>
              </a:rPr>
              <a:t>Software vulnerabilities</a:t>
            </a:r>
          </a:p>
          <a:p>
            <a:pPr lvl="1">
              <a:lnSpc>
                <a:spcPct val="90000"/>
              </a:lnSpc>
              <a:spcBef>
                <a:spcPts val="700"/>
              </a:spcBef>
              <a:buFont typeface="Times New Roman" pitchFamily="16" charset="0"/>
              <a:buChar char="–"/>
            </a:pPr>
            <a:r>
              <a:rPr lang="en-US" altLang="en-US" sz="2800">
                <a:solidFill>
                  <a:srgbClr val="000000"/>
                </a:solidFill>
              </a:rPr>
              <a:t>Software deletion</a:t>
            </a:r>
          </a:p>
          <a:p>
            <a:pPr lvl="1">
              <a:lnSpc>
                <a:spcPct val="90000"/>
              </a:lnSpc>
              <a:spcBef>
                <a:spcPts val="700"/>
              </a:spcBef>
              <a:buFont typeface="Times New Roman" pitchFamily="16" charset="0"/>
              <a:buChar char="–"/>
            </a:pPr>
            <a:r>
              <a:rPr lang="en-US" altLang="en-US" sz="2800">
                <a:solidFill>
                  <a:srgbClr val="000000"/>
                </a:solidFill>
              </a:rPr>
              <a:t>Software modification </a:t>
            </a:r>
          </a:p>
          <a:p>
            <a:pPr lvl="2">
              <a:lnSpc>
                <a:spcPct val="90000"/>
              </a:lnSpc>
              <a:spcBef>
                <a:spcPts val="600"/>
              </a:spcBef>
              <a:buFont typeface="Times New Roman" pitchFamily="16" charset="0"/>
              <a:buChar char="•"/>
            </a:pPr>
            <a:r>
              <a:rPr lang="en-US" altLang="en-US">
                <a:solidFill>
                  <a:srgbClr val="000000"/>
                </a:solidFill>
              </a:rPr>
              <a:t>Viruses etc.</a:t>
            </a:r>
          </a:p>
          <a:p>
            <a:pPr lvl="1">
              <a:lnSpc>
                <a:spcPct val="90000"/>
              </a:lnSpc>
              <a:spcBef>
                <a:spcPts val="700"/>
              </a:spcBef>
              <a:buFont typeface="Times New Roman" pitchFamily="16" charset="0"/>
              <a:buChar char="–"/>
            </a:pPr>
            <a:r>
              <a:rPr lang="en-US" altLang="en-US" sz="2800">
                <a:solidFill>
                  <a:srgbClr val="000000"/>
                </a:solidFill>
              </a:rPr>
              <a:t>Software theft</a:t>
            </a:r>
          </a:p>
          <a:p>
            <a:pPr lvl="2">
              <a:lnSpc>
                <a:spcPct val="90000"/>
              </a:lnSpc>
              <a:spcBef>
                <a:spcPts val="600"/>
              </a:spcBef>
              <a:buFont typeface="Times New Roman" pitchFamily="16" charset="0"/>
              <a:buChar char="•"/>
            </a:pPr>
            <a:r>
              <a:rPr lang="en-US" altLang="en-US">
                <a:solidFill>
                  <a:srgbClr val="000000"/>
                </a:solidFill>
              </a:rPr>
              <a:t>Unauthorized copying etc.</a:t>
            </a:r>
          </a:p>
          <a:p>
            <a:pPr>
              <a:lnSpc>
                <a:spcPct val="90000"/>
              </a:lnSpc>
              <a:spcBef>
                <a:spcPts val="800"/>
              </a:spcBef>
              <a:buFont typeface="Times New Roman" pitchFamily="16" charset="0"/>
              <a:buChar char="•"/>
            </a:pPr>
            <a:r>
              <a:rPr lang="en-US" altLang="en-US" sz="3200">
                <a:solidFill>
                  <a:srgbClr val="000000"/>
                </a:solidFill>
              </a:rPr>
              <a:t>Data vulnerabilities</a:t>
            </a:r>
          </a:p>
          <a:p>
            <a:pPr>
              <a:lnSpc>
                <a:spcPct val="90000"/>
              </a:lnSpc>
              <a:spcBef>
                <a:spcPts val="800"/>
              </a:spcBef>
            </a:pPr>
            <a:endParaRPr lang="en-US" altLang="en-US" sz="32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1"/>
          <p:cNvSpPr txBox="1">
            <a:spLocks noChangeArrowheads="1"/>
          </p:cNvSpPr>
          <p:nvPr/>
        </p:nvSpPr>
        <p:spPr bwMode="auto">
          <a:xfrm>
            <a:off x="3452813" y="5562600"/>
            <a:ext cx="330835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</a:rPr>
              <a:t>Figure   Security of Data.</a:t>
            </a:r>
          </a:p>
        </p:txBody>
      </p:sp>
      <p:pic>
        <p:nvPicPr>
          <p:cNvPr id="2662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0" y="138113"/>
            <a:ext cx="8429625" cy="5411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1"/>
          <p:cNvSpPr txBox="1">
            <a:spLocks noChangeArrowheads="1"/>
          </p:cNvSpPr>
          <p:nvPr/>
        </p:nvSpPr>
        <p:spPr bwMode="auto">
          <a:xfrm>
            <a:off x="2009775" y="4911725"/>
            <a:ext cx="59912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</a:rPr>
              <a:t>Figure   Vulnerabilities of Computing Systems.</a:t>
            </a:r>
          </a:p>
        </p:txBody>
      </p:sp>
      <p:pic>
        <p:nvPicPr>
          <p:cNvPr id="2765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638" y="1295400"/>
            <a:ext cx="8980487" cy="335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1"/>
          <p:cNvSpPr txBox="1">
            <a:spLocks noChangeArrowheads="1"/>
          </p:cNvSpPr>
          <p:nvPr/>
        </p:nvSpPr>
        <p:spPr bwMode="auto">
          <a:xfrm>
            <a:off x="914400" y="609600"/>
            <a:ext cx="1036002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4400">
                <a:solidFill>
                  <a:srgbClr val="000000"/>
                </a:solidFill>
              </a:rPr>
              <a:t>Computer Criminals</a:t>
            </a:r>
          </a:p>
        </p:txBody>
      </p:sp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914400" y="1981200"/>
            <a:ext cx="1036002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>
              <a:lnSpc>
                <a:spcPct val="90000"/>
              </a:lnSpc>
              <a:spcBef>
                <a:spcPts val="700"/>
              </a:spcBef>
              <a:buFont typeface="Times New Roman" pitchFamily="16" charset="0"/>
              <a:buChar char="•"/>
              <a:defRPr/>
            </a:pPr>
            <a:r>
              <a:rPr lang="en-US" altLang="en-US" sz="2800"/>
              <a:t>Amateurs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buFont typeface="Times New Roman" pitchFamily="16" charset="0"/>
              <a:buChar char="–"/>
              <a:defRPr/>
            </a:pPr>
            <a:r>
              <a:rPr lang="en-US" altLang="en-US"/>
              <a:t>Personal works</a:t>
            </a:r>
          </a:p>
          <a:p>
            <a:pPr>
              <a:lnSpc>
                <a:spcPct val="90000"/>
              </a:lnSpc>
              <a:spcBef>
                <a:spcPts val="700"/>
              </a:spcBef>
              <a:buFont typeface="Times New Roman" pitchFamily="16" charset="0"/>
              <a:buChar char="•"/>
              <a:defRPr/>
            </a:pPr>
            <a:r>
              <a:rPr lang="en-US" altLang="en-US" sz="2800"/>
              <a:t>Crackers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buFont typeface="Times New Roman" pitchFamily="16" charset="0"/>
              <a:buChar char="–"/>
              <a:defRPr/>
            </a:pPr>
            <a:r>
              <a:rPr lang="en-US" altLang="en-US"/>
              <a:t>Trying to access computing facilities for which they are not authorized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buFont typeface="Times New Roman" pitchFamily="16" charset="0"/>
              <a:buChar char="–"/>
              <a:defRPr/>
            </a:pPr>
            <a:r>
              <a:rPr lang="en-US" altLang="en-US"/>
              <a:t>The perception that nobody is hurt or even endangered by a little stolen machine time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buFont typeface="Times New Roman" pitchFamily="16" charset="0"/>
              <a:buChar char="–"/>
              <a:defRPr/>
            </a:pPr>
            <a:r>
              <a:rPr lang="en-US" altLang="en-US"/>
              <a:t>Others attack for curiosity, personal gain, or self-satisfaction</a:t>
            </a:r>
          </a:p>
          <a:p>
            <a:pPr>
              <a:lnSpc>
                <a:spcPct val="90000"/>
              </a:lnSpc>
              <a:spcBef>
                <a:spcPts val="700"/>
              </a:spcBef>
              <a:buFont typeface="Times New Roman" pitchFamily="16" charset="0"/>
              <a:buChar char="•"/>
              <a:defRPr/>
            </a:pPr>
            <a:r>
              <a:rPr lang="en-US" altLang="en-US" sz="2800"/>
              <a:t>Career Criminals</a:t>
            </a:r>
          </a:p>
          <a:p>
            <a:pPr>
              <a:lnSpc>
                <a:spcPct val="90000"/>
              </a:lnSpc>
              <a:spcBef>
                <a:spcPts val="700"/>
              </a:spcBef>
              <a:defRPr/>
            </a:pPr>
            <a:endParaRPr lang="en-US" altLang="en-US" sz="2800"/>
          </a:p>
          <a:p>
            <a:pPr marL="342900">
              <a:lnSpc>
                <a:spcPct val="90000"/>
              </a:lnSpc>
              <a:spcBef>
                <a:spcPts val="700"/>
              </a:spcBef>
              <a:buClrTx/>
              <a:buFontTx/>
              <a:buNone/>
              <a:defRPr/>
            </a:pPr>
            <a:endParaRPr lang="en-US" altLang="en-US" sz="280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1"/>
          <p:cNvSpPr txBox="1">
            <a:spLocks noChangeArrowheads="1"/>
          </p:cNvSpPr>
          <p:nvPr/>
        </p:nvSpPr>
        <p:spPr bwMode="auto">
          <a:xfrm>
            <a:off x="914400" y="609600"/>
            <a:ext cx="1036002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4400">
                <a:solidFill>
                  <a:srgbClr val="000000"/>
                </a:solidFill>
              </a:rPr>
              <a:t>Methods of Defense	</a:t>
            </a:r>
          </a:p>
        </p:txBody>
      </p:sp>
      <p:sp>
        <p:nvSpPr>
          <p:cNvPr id="28675" name="Text Box 2"/>
          <p:cNvSpPr txBox="1">
            <a:spLocks noChangeArrowheads="1"/>
          </p:cNvSpPr>
          <p:nvPr/>
        </p:nvSpPr>
        <p:spPr bwMode="auto">
          <a:xfrm>
            <a:off x="914400" y="1981200"/>
            <a:ext cx="10360025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>
              <a:spcBef>
                <a:spcPts val="700"/>
              </a:spcBef>
              <a:buFont typeface="Times New Roman" pitchFamily="16" charset="0"/>
              <a:buChar char="•"/>
            </a:pPr>
            <a:r>
              <a:rPr lang="en-US" altLang="en-US" sz="2800" i="1">
                <a:solidFill>
                  <a:srgbClr val="000000"/>
                </a:solidFill>
              </a:rPr>
              <a:t>Prevent it</a:t>
            </a:r>
            <a:r>
              <a:rPr lang="en-US" altLang="en-US" sz="2800">
                <a:solidFill>
                  <a:srgbClr val="000000"/>
                </a:solidFill>
              </a:rPr>
              <a:t>, by blocking the attack or closing the vulnerability</a:t>
            </a:r>
          </a:p>
          <a:p>
            <a:pPr>
              <a:spcBef>
                <a:spcPts val="700"/>
              </a:spcBef>
              <a:buFont typeface="Times New Roman" pitchFamily="16" charset="0"/>
              <a:buChar char="•"/>
            </a:pPr>
            <a:r>
              <a:rPr lang="en-US" altLang="en-US" sz="2800" i="1">
                <a:solidFill>
                  <a:srgbClr val="000000"/>
                </a:solidFill>
              </a:rPr>
              <a:t>Deter it</a:t>
            </a:r>
            <a:r>
              <a:rPr lang="en-US" altLang="en-US" sz="2800">
                <a:solidFill>
                  <a:srgbClr val="000000"/>
                </a:solidFill>
              </a:rPr>
              <a:t>, by making attack harder if not impossible</a:t>
            </a:r>
          </a:p>
          <a:p>
            <a:pPr>
              <a:spcBef>
                <a:spcPts val="700"/>
              </a:spcBef>
              <a:buFont typeface="Times New Roman" pitchFamily="16" charset="0"/>
              <a:buChar char="•"/>
            </a:pPr>
            <a:r>
              <a:rPr lang="en-US" altLang="en-US" sz="2800" i="1">
                <a:solidFill>
                  <a:srgbClr val="000000"/>
                </a:solidFill>
              </a:rPr>
              <a:t>Deflect it</a:t>
            </a:r>
            <a:r>
              <a:rPr lang="en-US" altLang="en-US" sz="2800">
                <a:solidFill>
                  <a:srgbClr val="000000"/>
                </a:solidFill>
              </a:rPr>
              <a:t>, by making another target more attractive</a:t>
            </a:r>
          </a:p>
          <a:p>
            <a:pPr>
              <a:spcBef>
                <a:spcPts val="700"/>
              </a:spcBef>
              <a:buFont typeface="Times New Roman" pitchFamily="16" charset="0"/>
              <a:buChar char="•"/>
            </a:pPr>
            <a:r>
              <a:rPr lang="en-US" altLang="en-US" sz="2800" i="1">
                <a:solidFill>
                  <a:srgbClr val="000000"/>
                </a:solidFill>
              </a:rPr>
              <a:t>Mitigate it,</a:t>
            </a:r>
            <a:r>
              <a:rPr lang="en-US" altLang="en-US" sz="2800">
                <a:solidFill>
                  <a:srgbClr val="000000"/>
                </a:solidFill>
              </a:rPr>
              <a:t> by making its impact less severe</a:t>
            </a:r>
          </a:p>
          <a:p>
            <a:pPr>
              <a:spcBef>
                <a:spcPts val="700"/>
              </a:spcBef>
              <a:buFont typeface="Times New Roman" pitchFamily="16" charset="0"/>
              <a:buChar char="•"/>
            </a:pPr>
            <a:r>
              <a:rPr lang="en-US" altLang="en-US" sz="2800" i="1">
                <a:solidFill>
                  <a:srgbClr val="000000"/>
                </a:solidFill>
              </a:rPr>
              <a:t>Detect it</a:t>
            </a:r>
            <a:r>
              <a:rPr lang="en-US" altLang="en-US" sz="2800">
                <a:solidFill>
                  <a:srgbClr val="000000"/>
                </a:solidFill>
              </a:rPr>
              <a:t>, either as it happens or some time after the fact</a:t>
            </a:r>
          </a:p>
          <a:p>
            <a:pPr>
              <a:spcBef>
                <a:spcPts val="700"/>
              </a:spcBef>
              <a:buFont typeface="Times New Roman" pitchFamily="16" charset="0"/>
              <a:buChar char="•"/>
            </a:pPr>
            <a:r>
              <a:rPr lang="en-US" altLang="en-US" sz="2800" i="1">
                <a:solidFill>
                  <a:srgbClr val="000000"/>
                </a:solidFill>
              </a:rPr>
              <a:t>Recover</a:t>
            </a:r>
            <a:r>
              <a:rPr lang="en-US" altLang="en-US" sz="2800">
                <a:solidFill>
                  <a:srgbClr val="000000"/>
                </a:solidFill>
              </a:rPr>
              <a:t> from its effects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/>
          <p:cNvSpPr txBox="1">
            <a:spLocks noChangeArrowheads="1"/>
          </p:cNvSpPr>
          <p:nvPr/>
        </p:nvSpPr>
        <p:spPr bwMode="auto">
          <a:xfrm>
            <a:off x="3859213" y="5603875"/>
            <a:ext cx="3411537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</a:rPr>
              <a:t>Figure  Multiple Controls.</a:t>
            </a:r>
          </a:p>
        </p:txBody>
      </p:sp>
      <p:pic>
        <p:nvPicPr>
          <p:cNvPr id="3072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88" y="958850"/>
            <a:ext cx="10574337" cy="423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1"/>
          <p:cNvSpPr txBox="1">
            <a:spLocks noChangeArrowheads="1"/>
          </p:cNvSpPr>
          <p:nvPr/>
        </p:nvSpPr>
        <p:spPr bwMode="auto">
          <a:xfrm>
            <a:off x="914400" y="228600"/>
            <a:ext cx="1036002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4400" dirty="0">
                <a:solidFill>
                  <a:srgbClr val="000000"/>
                </a:solidFill>
              </a:rPr>
              <a:t>Methods of Defense</a:t>
            </a:r>
          </a:p>
        </p:txBody>
      </p:sp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914400" y="1371600"/>
            <a:ext cx="10360025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 marL="1141413" indent="-2270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>
              <a:lnSpc>
                <a:spcPct val="80000"/>
              </a:lnSpc>
              <a:spcBef>
                <a:spcPts val="500"/>
              </a:spcBef>
              <a:buFont typeface="Times New Roman" pitchFamily="16" charset="0"/>
              <a:buChar char="•"/>
              <a:defRPr/>
            </a:pPr>
            <a:r>
              <a:rPr lang="en-US" altLang="en-US" sz="2200" dirty="0"/>
              <a:t>Controls</a:t>
            </a:r>
          </a:p>
          <a:p>
            <a:pPr lvl="1">
              <a:lnSpc>
                <a:spcPct val="80000"/>
              </a:lnSpc>
              <a:spcBef>
                <a:spcPts val="450"/>
              </a:spcBef>
              <a:buFont typeface="Times New Roman" pitchFamily="16" charset="0"/>
              <a:buChar char="–"/>
              <a:defRPr/>
            </a:pPr>
            <a:r>
              <a:rPr lang="en-US" altLang="en-US" sz="2200" dirty="0"/>
              <a:t>Encryption</a:t>
            </a:r>
          </a:p>
          <a:p>
            <a:pPr lvl="1">
              <a:lnSpc>
                <a:spcPct val="80000"/>
              </a:lnSpc>
              <a:spcBef>
                <a:spcPts val="450"/>
              </a:spcBef>
              <a:buFont typeface="Times New Roman" pitchFamily="16" charset="0"/>
              <a:buChar char="–"/>
              <a:defRPr/>
            </a:pPr>
            <a:r>
              <a:rPr lang="en-US" altLang="en-US" sz="2200" dirty="0"/>
              <a:t>Hardware Controls</a:t>
            </a:r>
          </a:p>
          <a:p>
            <a:pPr lvl="2">
              <a:lnSpc>
                <a:spcPct val="80000"/>
              </a:lnSpc>
              <a:spcBef>
                <a:spcPts val="400"/>
              </a:spcBef>
              <a:buFont typeface="Times New Roman" pitchFamily="16" charset="0"/>
              <a:buChar char="•"/>
              <a:defRPr/>
            </a:pPr>
            <a:r>
              <a:rPr lang="en-US" altLang="en-US" sz="2200" dirty="0"/>
              <a:t>Hardware/smart card implementations of encryption</a:t>
            </a:r>
          </a:p>
          <a:p>
            <a:pPr lvl="2">
              <a:lnSpc>
                <a:spcPct val="80000"/>
              </a:lnSpc>
              <a:spcBef>
                <a:spcPts val="400"/>
              </a:spcBef>
              <a:buFont typeface="Times New Roman" pitchFamily="16" charset="0"/>
              <a:buChar char="•"/>
              <a:defRPr/>
            </a:pPr>
            <a:r>
              <a:rPr lang="en-US" altLang="en-US" sz="2200" dirty="0"/>
              <a:t>Locks or cables limiting access</a:t>
            </a:r>
          </a:p>
          <a:p>
            <a:pPr lvl="2">
              <a:lnSpc>
                <a:spcPct val="80000"/>
              </a:lnSpc>
              <a:spcBef>
                <a:spcPts val="400"/>
              </a:spcBef>
              <a:buFont typeface="Times New Roman" pitchFamily="16" charset="0"/>
              <a:buChar char="•"/>
              <a:defRPr/>
            </a:pPr>
            <a:r>
              <a:rPr lang="en-US" altLang="en-US" sz="2200" dirty="0"/>
              <a:t>Devices to verify users’ identity</a:t>
            </a:r>
          </a:p>
          <a:p>
            <a:pPr lvl="2">
              <a:lnSpc>
                <a:spcPct val="80000"/>
              </a:lnSpc>
              <a:spcBef>
                <a:spcPts val="400"/>
              </a:spcBef>
              <a:buFont typeface="Times New Roman" pitchFamily="16" charset="0"/>
              <a:buChar char="•"/>
              <a:defRPr/>
            </a:pPr>
            <a:r>
              <a:rPr lang="en-US" altLang="en-US" sz="2200" dirty="0"/>
              <a:t>Firewalls</a:t>
            </a:r>
          </a:p>
          <a:p>
            <a:pPr lvl="2">
              <a:lnSpc>
                <a:spcPct val="80000"/>
              </a:lnSpc>
              <a:spcBef>
                <a:spcPts val="400"/>
              </a:spcBef>
              <a:buFont typeface="Times New Roman" pitchFamily="16" charset="0"/>
              <a:buChar char="•"/>
              <a:defRPr/>
            </a:pPr>
            <a:r>
              <a:rPr lang="en-US" altLang="en-US" sz="2200" dirty="0"/>
              <a:t>Intrusion detection systems</a:t>
            </a:r>
          </a:p>
          <a:p>
            <a:pPr lvl="1">
              <a:lnSpc>
                <a:spcPct val="80000"/>
              </a:lnSpc>
              <a:spcBef>
                <a:spcPts val="450"/>
              </a:spcBef>
              <a:buFont typeface="Times New Roman" pitchFamily="16" charset="0"/>
              <a:buChar char="–"/>
              <a:defRPr/>
            </a:pPr>
            <a:r>
              <a:rPr lang="en-US" altLang="en-US" sz="2200" dirty="0"/>
              <a:t>Software Controls</a:t>
            </a:r>
          </a:p>
          <a:p>
            <a:pPr lvl="2">
              <a:lnSpc>
                <a:spcPct val="80000"/>
              </a:lnSpc>
              <a:spcBef>
                <a:spcPts val="400"/>
              </a:spcBef>
              <a:buFont typeface="Times New Roman" pitchFamily="16" charset="0"/>
              <a:buChar char="•"/>
              <a:defRPr/>
            </a:pPr>
            <a:r>
              <a:rPr lang="en-US" altLang="en-US" sz="2200" dirty="0"/>
              <a:t>Internal program controls,</a:t>
            </a:r>
          </a:p>
          <a:p>
            <a:pPr lvl="2">
              <a:lnSpc>
                <a:spcPct val="80000"/>
              </a:lnSpc>
              <a:spcBef>
                <a:spcPts val="400"/>
              </a:spcBef>
              <a:buFont typeface="Times New Roman" pitchFamily="16" charset="0"/>
              <a:buChar char="•"/>
              <a:defRPr/>
            </a:pPr>
            <a:r>
              <a:rPr lang="en-US" altLang="en-US" sz="2200" dirty="0"/>
              <a:t>OS and Network system controls</a:t>
            </a:r>
          </a:p>
          <a:p>
            <a:pPr lvl="2">
              <a:lnSpc>
                <a:spcPct val="80000"/>
              </a:lnSpc>
              <a:spcBef>
                <a:spcPts val="400"/>
              </a:spcBef>
              <a:buFont typeface="Times New Roman" pitchFamily="16" charset="0"/>
              <a:buChar char="•"/>
              <a:defRPr/>
            </a:pPr>
            <a:r>
              <a:rPr lang="en-US" altLang="en-US" sz="2200" dirty="0"/>
              <a:t>Independent control program (anti virus, passwords etc.)</a:t>
            </a:r>
          </a:p>
          <a:p>
            <a:pPr lvl="2">
              <a:lnSpc>
                <a:spcPct val="80000"/>
              </a:lnSpc>
              <a:spcBef>
                <a:spcPts val="400"/>
              </a:spcBef>
              <a:buFont typeface="Times New Roman" pitchFamily="16" charset="0"/>
              <a:buChar char="•"/>
              <a:defRPr/>
            </a:pPr>
            <a:r>
              <a:rPr lang="en-US" altLang="en-US" sz="2200" dirty="0"/>
              <a:t>Development control</a:t>
            </a:r>
          </a:p>
          <a:p>
            <a:pPr lvl="1">
              <a:lnSpc>
                <a:spcPct val="80000"/>
              </a:lnSpc>
              <a:spcBef>
                <a:spcPts val="450"/>
              </a:spcBef>
              <a:buFont typeface="Times New Roman" pitchFamily="16" charset="0"/>
              <a:buChar char="–"/>
              <a:defRPr/>
            </a:pPr>
            <a:r>
              <a:rPr lang="en-US" altLang="en-US" sz="2200" dirty="0"/>
              <a:t>Policies and Procedures</a:t>
            </a:r>
          </a:p>
          <a:p>
            <a:pPr lvl="1">
              <a:lnSpc>
                <a:spcPct val="80000"/>
              </a:lnSpc>
              <a:spcBef>
                <a:spcPts val="450"/>
              </a:spcBef>
              <a:buFont typeface="Times New Roman" pitchFamily="16" charset="0"/>
              <a:buChar char="–"/>
              <a:defRPr/>
            </a:pPr>
            <a:r>
              <a:rPr lang="en-US" altLang="en-US" sz="2200" dirty="0"/>
              <a:t>Physical Controls</a:t>
            </a:r>
          </a:p>
          <a:p>
            <a:pPr lvl="1" indent="-282575">
              <a:lnSpc>
                <a:spcPct val="80000"/>
              </a:lnSpc>
              <a:spcBef>
                <a:spcPts val="450"/>
              </a:spcBef>
              <a:buClrTx/>
              <a:buFontTx/>
              <a:buNone/>
              <a:defRPr/>
            </a:pPr>
            <a:endParaRPr lang="en-US" altLang="en-US" sz="2200" dirty="0"/>
          </a:p>
          <a:p>
            <a:pPr lvl="1">
              <a:lnSpc>
                <a:spcPct val="80000"/>
              </a:lnSpc>
              <a:spcBef>
                <a:spcPts val="450"/>
              </a:spcBef>
              <a:defRPr/>
            </a:pPr>
            <a:endParaRPr lang="en-US" altLang="en-US" sz="22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1"/>
          <p:cNvSpPr txBox="1">
            <a:spLocks noChangeArrowheads="1"/>
          </p:cNvSpPr>
          <p:nvPr/>
        </p:nvSpPr>
        <p:spPr bwMode="auto">
          <a:xfrm>
            <a:off x="914400" y="609600"/>
            <a:ext cx="1036002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4400">
                <a:solidFill>
                  <a:srgbClr val="000000"/>
                </a:solidFill>
              </a:rPr>
              <a:t>Effectiveness of Controls</a:t>
            </a:r>
          </a:p>
        </p:txBody>
      </p:sp>
      <p:sp>
        <p:nvSpPr>
          <p:cNvPr id="32771" name="Text Box 2"/>
          <p:cNvSpPr txBox="1">
            <a:spLocks noChangeArrowheads="1"/>
          </p:cNvSpPr>
          <p:nvPr/>
        </p:nvSpPr>
        <p:spPr bwMode="auto">
          <a:xfrm>
            <a:off x="914400" y="1981200"/>
            <a:ext cx="1036002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>
              <a:spcBef>
                <a:spcPts val="700"/>
              </a:spcBef>
              <a:buFont typeface="Times New Roman" pitchFamily="16" charset="0"/>
              <a:buChar char="•"/>
            </a:pPr>
            <a:r>
              <a:rPr lang="en-US" altLang="en-US" sz="2800">
                <a:solidFill>
                  <a:srgbClr val="000000"/>
                </a:solidFill>
              </a:rPr>
              <a:t>Awareness of Problem</a:t>
            </a:r>
          </a:p>
          <a:p>
            <a:pPr lvl="1">
              <a:spcBef>
                <a:spcPts val="600"/>
              </a:spcBef>
              <a:buFont typeface="Times New Roman" pitchFamily="16" charset="0"/>
              <a:buChar char="–"/>
            </a:pPr>
            <a:r>
              <a:rPr lang="en-US" altLang="en-US">
                <a:solidFill>
                  <a:srgbClr val="000000"/>
                </a:solidFill>
              </a:rPr>
              <a:t>Highlighting Need of security</a:t>
            </a:r>
          </a:p>
          <a:p>
            <a:pPr>
              <a:spcBef>
                <a:spcPts val="700"/>
              </a:spcBef>
              <a:buFont typeface="Times New Roman" pitchFamily="16" charset="0"/>
              <a:buChar char="•"/>
            </a:pPr>
            <a:r>
              <a:rPr lang="en-US" altLang="en-US" sz="2800">
                <a:solidFill>
                  <a:srgbClr val="000000"/>
                </a:solidFill>
              </a:rPr>
              <a:t>Likelihood of Use</a:t>
            </a:r>
          </a:p>
          <a:p>
            <a:pPr lvl="1">
              <a:spcBef>
                <a:spcPts val="600"/>
              </a:spcBef>
              <a:buFont typeface="Times New Roman" pitchFamily="16" charset="0"/>
              <a:buChar char="–"/>
            </a:pPr>
            <a:r>
              <a:rPr lang="en-US" altLang="en-US">
                <a:solidFill>
                  <a:srgbClr val="000000"/>
                </a:solidFill>
              </a:rPr>
              <a:t>They must be efficient, easy to use, and appropriate</a:t>
            </a:r>
          </a:p>
          <a:p>
            <a:pPr>
              <a:spcBef>
                <a:spcPts val="700"/>
              </a:spcBef>
              <a:buFont typeface="Times New Roman" pitchFamily="16" charset="0"/>
              <a:buChar char="•"/>
            </a:pPr>
            <a:r>
              <a:rPr lang="en-US" altLang="en-US" sz="2800">
                <a:solidFill>
                  <a:srgbClr val="000000"/>
                </a:solidFill>
              </a:rPr>
              <a:t>Overlapping Controls</a:t>
            </a:r>
          </a:p>
          <a:p>
            <a:pPr lvl="1">
              <a:spcBef>
                <a:spcPts val="600"/>
              </a:spcBef>
              <a:buFont typeface="Times New Roman" pitchFamily="16" charset="0"/>
              <a:buChar char="–"/>
            </a:pPr>
            <a:r>
              <a:rPr lang="en-US" altLang="en-US">
                <a:solidFill>
                  <a:srgbClr val="000000"/>
                </a:solidFill>
              </a:rPr>
              <a:t>Use several different controls, layered defense</a:t>
            </a:r>
          </a:p>
          <a:p>
            <a:pPr>
              <a:spcBef>
                <a:spcPts val="700"/>
              </a:spcBef>
              <a:buFont typeface="Times New Roman" pitchFamily="16" charset="0"/>
              <a:buChar char="•"/>
            </a:pPr>
            <a:r>
              <a:rPr lang="en-US" altLang="en-US" sz="2800">
                <a:solidFill>
                  <a:srgbClr val="000000"/>
                </a:solidFill>
              </a:rPr>
              <a:t>Periodic reviews</a:t>
            </a:r>
          </a:p>
          <a:p>
            <a:pPr lvl="1">
              <a:spcBef>
                <a:spcPts val="600"/>
              </a:spcBef>
              <a:buFont typeface="Times New Roman" pitchFamily="16" charset="0"/>
              <a:buChar char="–"/>
            </a:pPr>
            <a:r>
              <a:rPr lang="en-US" altLang="en-US">
                <a:solidFill>
                  <a:srgbClr val="000000"/>
                </a:solidFill>
              </a:rPr>
              <a:t>Judging the effectiveness of control is an ongoing task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1"/>
          <p:cNvSpPr txBox="1">
            <a:spLocks noChangeArrowheads="1"/>
          </p:cNvSpPr>
          <p:nvPr/>
        </p:nvSpPr>
        <p:spPr bwMode="auto">
          <a:xfrm>
            <a:off x="914400" y="609600"/>
            <a:ext cx="1036002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4400">
                <a:solidFill>
                  <a:srgbClr val="000000"/>
                </a:solidFill>
              </a:rPr>
              <a:t>Others Exposed Assets</a:t>
            </a:r>
          </a:p>
        </p:txBody>
      </p:sp>
      <p:sp>
        <p:nvSpPr>
          <p:cNvPr id="33795" name="Text Box 2"/>
          <p:cNvSpPr txBox="1">
            <a:spLocks noChangeArrowheads="1"/>
          </p:cNvSpPr>
          <p:nvPr/>
        </p:nvSpPr>
        <p:spPr bwMode="auto">
          <a:xfrm>
            <a:off x="914400" y="1981200"/>
            <a:ext cx="1036002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>
              <a:lnSpc>
                <a:spcPct val="90000"/>
              </a:lnSpc>
              <a:spcBef>
                <a:spcPts val="700"/>
              </a:spcBef>
              <a:buFont typeface="Times New Roman" pitchFamily="16" charset="0"/>
              <a:buChar char="•"/>
            </a:pPr>
            <a:r>
              <a:rPr lang="en-US" altLang="en-US" sz="2800">
                <a:solidFill>
                  <a:srgbClr val="000000"/>
                </a:solidFill>
              </a:rPr>
              <a:t>Networks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buFont typeface="Times New Roman" pitchFamily="16" charset="0"/>
              <a:buChar char="–"/>
            </a:pPr>
            <a:r>
              <a:rPr lang="en-US" altLang="en-US">
                <a:solidFill>
                  <a:srgbClr val="000000"/>
                </a:solidFill>
              </a:rPr>
              <a:t>Network’s lack of physical proximity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buFont typeface="Times New Roman" pitchFamily="16" charset="0"/>
              <a:buChar char="–"/>
            </a:pPr>
            <a:r>
              <a:rPr lang="en-US" altLang="en-US">
                <a:solidFill>
                  <a:srgbClr val="000000"/>
                </a:solidFill>
              </a:rPr>
              <a:t>Use of insecure, shared media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buFont typeface="Times New Roman" pitchFamily="16" charset="0"/>
              <a:buChar char="–"/>
            </a:pPr>
            <a:r>
              <a:rPr lang="en-US" altLang="en-US">
                <a:solidFill>
                  <a:srgbClr val="000000"/>
                </a:solidFill>
              </a:rPr>
              <a:t>Inability to identify remote users positively</a:t>
            </a:r>
          </a:p>
          <a:p>
            <a:pPr>
              <a:lnSpc>
                <a:spcPct val="90000"/>
              </a:lnSpc>
              <a:spcBef>
                <a:spcPts val="700"/>
              </a:spcBef>
              <a:buFont typeface="Times New Roman" pitchFamily="16" charset="0"/>
              <a:buChar char="•"/>
            </a:pPr>
            <a:r>
              <a:rPr lang="en-US" altLang="en-US" sz="2800">
                <a:solidFill>
                  <a:srgbClr val="000000"/>
                </a:solidFill>
              </a:rPr>
              <a:t>Access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buFont typeface="Times New Roman" pitchFamily="16" charset="0"/>
              <a:buChar char="–"/>
            </a:pPr>
            <a:r>
              <a:rPr lang="en-US" altLang="en-US">
                <a:solidFill>
                  <a:srgbClr val="000000"/>
                </a:solidFill>
              </a:rPr>
              <a:t>Computer time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buFont typeface="Times New Roman" pitchFamily="16" charset="0"/>
              <a:buChar char="–"/>
            </a:pPr>
            <a:r>
              <a:rPr lang="en-US" altLang="en-US">
                <a:solidFill>
                  <a:srgbClr val="000000"/>
                </a:solidFill>
              </a:rPr>
              <a:t>Malicious access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buFont typeface="Times New Roman" pitchFamily="16" charset="0"/>
              <a:buChar char="–"/>
            </a:pPr>
            <a:r>
              <a:rPr lang="en-US" altLang="en-US">
                <a:solidFill>
                  <a:srgbClr val="000000"/>
                </a:solidFill>
              </a:rPr>
              <a:t>Denial of service to legitimate user</a:t>
            </a:r>
          </a:p>
          <a:p>
            <a:pPr>
              <a:lnSpc>
                <a:spcPct val="90000"/>
              </a:lnSpc>
              <a:spcBef>
                <a:spcPts val="700"/>
              </a:spcBef>
              <a:buFont typeface="Times New Roman" pitchFamily="16" charset="0"/>
              <a:buChar char="•"/>
            </a:pPr>
            <a:r>
              <a:rPr lang="en-US" altLang="en-US" sz="2800">
                <a:solidFill>
                  <a:srgbClr val="000000"/>
                </a:solidFill>
              </a:rPr>
              <a:t>Key People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609600"/>
            <a:ext cx="11819005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46009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1"/>
          <p:cNvSpPr txBox="1">
            <a:spLocks noChangeArrowheads="1"/>
          </p:cNvSpPr>
          <p:nvPr/>
        </p:nvSpPr>
        <p:spPr bwMode="auto">
          <a:xfrm>
            <a:off x="914400" y="609600"/>
            <a:ext cx="1036002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4400">
                <a:solidFill>
                  <a:srgbClr val="000000"/>
                </a:solidFill>
              </a:rPr>
              <a:t>What’s Next</a:t>
            </a:r>
          </a:p>
        </p:txBody>
      </p:sp>
      <p:sp>
        <p:nvSpPr>
          <p:cNvPr id="34819" name="Text Box 2"/>
          <p:cNvSpPr txBox="1">
            <a:spLocks noChangeArrowheads="1"/>
          </p:cNvSpPr>
          <p:nvPr/>
        </p:nvSpPr>
        <p:spPr bwMode="auto">
          <a:xfrm>
            <a:off x="914400" y="1981200"/>
            <a:ext cx="1036002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WenQuanYi Micro Hei" charset="0"/>
                <a:cs typeface="WenQuanYi Micro Hei" charset="0"/>
              </a:defRPr>
            </a:lvl9pPr>
          </a:lstStyle>
          <a:p>
            <a:pPr>
              <a:spcBef>
                <a:spcPts val="800"/>
              </a:spcBef>
              <a:buFont typeface="Times New Roman" pitchFamily="16" charset="0"/>
              <a:buChar char="•"/>
            </a:pPr>
            <a:r>
              <a:rPr lang="en-US" altLang="en-US" sz="3200">
                <a:solidFill>
                  <a:srgbClr val="000000"/>
                </a:solidFill>
              </a:rPr>
              <a:t>Encryption overview</a:t>
            </a:r>
          </a:p>
          <a:p>
            <a:pPr>
              <a:spcBef>
                <a:spcPts val="800"/>
              </a:spcBef>
              <a:buFont typeface="Times New Roman" pitchFamily="16" charset="0"/>
              <a:buChar char="•"/>
            </a:pPr>
            <a:r>
              <a:rPr lang="en-US" altLang="en-US" sz="3200">
                <a:solidFill>
                  <a:srgbClr val="000000"/>
                </a:solidFill>
              </a:rPr>
              <a:t>Cryptography in detail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 - &amp;quot;Cryptography &amp;amp; System Security&amp;quot;&quot;/&gt;&lt;property id=&quot;20307&quot; value=&quot;256&quot;/&gt;&lt;/object&gt;&lt;object type=&quot;3&quot; unique_id=&quot;10004&quot;&gt;&lt;property id=&quot;20148&quot; value=&quot;5&quot;/&gt;&lt;property id=&quot;20300&quot; value=&quot;Slide 2&quot;/&gt;&lt;property id=&quot;20307&quot; value=&quot;257&quot;/&gt;&lt;/object&gt;&lt;object type=&quot;3&quot; unique_id=&quot;10005&quot;&gt;&lt;property id=&quot;20148&quot; value=&quot;5&quot;/&gt;&lt;property id=&quot;20300&quot; value=&quot;Slide 3&quot;/&gt;&lt;property id=&quot;20307&quot; value=&quot;258&quot;/&gt;&lt;/object&gt;&lt;object type=&quot;3&quot; unique_id=&quot;10006&quot;&gt;&lt;property id=&quot;20148&quot; value=&quot;5&quot;/&gt;&lt;property id=&quot;20300&quot; value=&quot;Slide 4&quot;/&gt;&lt;property id=&quot;20307&quot; value=&quot;259&quot;/&gt;&lt;/object&gt;&lt;object type=&quot;3&quot; unique_id=&quot;10007&quot;&gt;&lt;property id=&quot;20148&quot; value=&quot;5&quot;/&gt;&lt;property id=&quot;20300&quot; value=&quot;Slide 7&quot;/&gt;&lt;property id=&quot;20307&quot; value=&quot;260&quot;/&gt;&lt;/object&gt;&lt;object type=&quot;3&quot; unique_id=&quot;10008&quot;&gt;&lt;property id=&quot;20148&quot; value=&quot;5&quot;/&gt;&lt;property id=&quot;20300&quot; value=&quot;Slide 5&quot;/&gt;&lt;property id=&quot;20307&quot; value=&quot;261&quot;/&gt;&lt;/object&gt;&lt;object type=&quot;3&quot; unique_id=&quot;10009&quot;&gt;&lt;property id=&quot;20148&quot; value=&quot;5&quot;/&gt;&lt;property id=&quot;20300&quot; value=&quot;Slide 6&quot;/&gt;&lt;property id=&quot;20307&quot; value=&quot;262&quot;/&gt;&lt;/object&gt;&lt;object type=&quot;3&quot; unique_id=&quot;10010&quot;&gt;&lt;property id=&quot;20148&quot; value=&quot;5&quot;/&gt;&lt;property id=&quot;20300&quot; value=&quot;Slide 8&quot;/&gt;&lt;property id=&quot;20307&quot; value=&quot;266&quot;/&gt;&lt;/object&gt;&lt;object type=&quot;3&quot; unique_id=&quot;10011&quot;&gt;&lt;property id=&quot;20148&quot; value=&quot;5&quot;/&gt;&lt;property id=&quot;20300&quot; value=&quot;Slide 9&quot;/&gt;&lt;property id=&quot;20307&quot; value=&quot;267&quot;/&gt;&lt;/object&gt;&lt;object type=&quot;3&quot; unique_id=&quot;10012&quot;&gt;&lt;property id=&quot;20148&quot; value=&quot;5&quot;/&gt;&lt;property id=&quot;20300&quot; value=&quot;Slide 10&quot;/&gt;&lt;property id=&quot;20307&quot; value=&quot;268&quot;/&gt;&lt;/object&gt;&lt;object type=&quot;3&quot; unique_id=&quot;10013&quot;&gt;&lt;property id=&quot;20148&quot; value=&quot;5&quot;/&gt;&lt;property id=&quot;20300&quot; value=&quot;Slide 11&quot;/&gt;&lt;property id=&quot;20307&quot; value=&quot;269&quot;/&gt;&lt;/object&gt;&lt;object type=&quot;3&quot; unique_id=&quot;10014&quot;&gt;&lt;property id=&quot;20148&quot; value=&quot;5&quot;/&gt;&lt;property id=&quot;20300&quot; value=&quot;Slide 12&quot;/&gt;&lt;property id=&quot;20307&quot; value=&quot;270&quot;/&gt;&lt;/object&gt;&lt;object type=&quot;3&quot; unique_id=&quot;10015&quot;&gt;&lt;property id=&quot;20148&quot; value=&quot;5&quot;/&gt;&lt;property id=&quot;20300&quot; value=&quot;Slide 13&quot;/&gt;&lt;property id=&quot;20307&quot; value=&quot;288&quot;/&gt;&lt;/object&gt;&lt;object type=&quot;3&quot; unique_id=&quot;10016&quot;&gt;&lt;property id=&quot;20148&quot; value=&quot;5&quot;/&gt;&lt;property id=&quot;20300&quot; value=&quot;Slide 14&quot;/&gt;&lt;property id=&quot;20307&quot; value=&quot;289&quot;/&gt;&lt;/object&gt;&lt;object type=&quot;3&quot; unique_id=&quot;10017&quot;&gt;&lt;property id=&quot;20148&quot; value=&quot;5&quot;/&gt;&lt;property id=&quot;20300&quot; value=&quot;Slide 15&quot;/&gt;&lt;property id=&quot;20307&quot; value=&quot;271&quot;/&gt;&lt;/object&gt;&lt;object type=&quot;3&quot; unique_id=&quot;10018&quot;&gt;&lt;property id=&quot;20148&quot; value=&quot;5&quot;/&gt;&lt;property id=&quot;20300&quot; value=&quot;Slide 16&quot;/&gt;&lt;property id=&quot;20307&quot; value=&quot;272&quot;/&gt;&lt;/object&gt;&lt;object type=&quot;3&quot; unique_id=&quot;10019&quot;&gt;&lt;property id=&quot;20148&quot; value=&quot;5&quot;/&gt;&lt;property id=&quot;20300&quot; value=&quot;Slide 17&quot;/&gt;&lt;property id=&quot;20307&quot; value=&quot;290&quot;/&gt;&lt;/object&gt;&lt;object type=&quot;3&quot; unique_id=&quot;10020&quot;&gt;&lt;property id=&quot;20148&quot; value=&quot;5&quot;/&gt;&lt;property id=&quot;20300&quot; value=&quot;Slide 19&quot;/&gt;&lt;property id=&quot;20307&quot; value=&quot;284&quot;/&gt;&lt;/object&gt;&lt;object type=&quot;3&quot; unique_id=&quot;10021&quot;&gt;&lt;property id=&quot;20148&quot; value=&quot;5&quot;/&gt;&lt;property id=&quot;20300&quot; value=&quot;Slide 20&quot;/&gt;&lt;property id=&quot;20307&quot; value=&quot;273&quot;/&gt;&lt;/object&gt;&lt;object type=&quot;3&quot; unique_id=&quot;10022&quot;&gt;&lt;property id=&quot;20148&quot; value=&quot;5&quot;/&gt;&lt;property id=&quot;20300&quot; value=&quot;Slide 21&quot;/&gt;&lt;property id=&quot;20307&quot; value=&quot;285&quot;/&gt;&lt;/object&gt;&lt;object type=&quot;3&quot; unique_id=&quot;10023&quot;&gt;&lt;property id=&quot;20148&quot; value=&quot;5&quot;/&gt;&lt;property id=&quot;20300&quot; value=&quot;Slide 22&quot;/&gt;&lt;property id=&quot;20307&quot; value=&quot;286&quot;/&gt;&lt;/object&gt;&lt;object type=&quot;3&quot; unique_id=&quot;10024&quot;&gt;&lt;property id=&quot;20148&quot; value=&quot;5&quot;/&gt;&lt;property id=&quot;20300&quot; value=&quot;Slide 23&quot;/&gt;&lt;property id=&quot;20307&quot; value=&quot;287&quot;/&gt;&lt;/object&gt;&lt;object type=&quot;3&quot; unique_id=&quot;10025&quot;&gt;&lt;property id=&quot;20148&quot; value=&quot;5&quot;/&gt;&lt;property id=&quot;20300&quot; value=&quot;Slide 24&quot;/&gt;&lt;property id=&quot;20307&quot; value=&quot;274&quot;/&gt;&lt;/object&gt;&lt;object type=&quot;3&quot; unique_id=&quot;10026&quot;&gt;&lt;property id=&quot;20148&quot; value=&quot;5&quot;/&gt;&lt;property id=&quot;20300&quot; value=&quot;Slide 25&quot;/&gt;&lt;property id=&quot;20307&quot; value=&quot;275&quot;/&gt;&lt;/object&gt;&lt;object type=&quot;3&quot; unique_id=&quot;10027&quot;&gt;&lt;property id=&quot;20148&quot; value=&quot;5&quot;/&gt;&lt;property id=&quot;20300&quot; value=&quot;Slide 26&quot;/&gt;&lt;property id=&quot;20307&quot; value=&quot;276&quot;/&gt;&lt;/object&gt;&lt;object type=&quot;3&quot; unique_id=&quot;10028&quot;&gt;&lt;property id=&quot;20148&quot; value=&quot;5&quot;/&gt;&lt;property id=&quot;20300&quot; value=&quot;Slide 27&quot;/&gt;&lt;property id=&quot;20307&quot; value=&quot;277&quot;/&gt;&lt;/object&gt;&lt;object type=&quot;3&quot; unique_id=&quot;10029&quot;&gt;&lt;property id=&quot;20148&quot; value=&quot;5&quot;/&gt;&lt;property id=&quot;20300&quot; value=&quot;Slide 28&quot;/&gt;&lt;property id=&quot;20307&quot; value=&quot;278&quot;/&gt;&lt;/object&gt;&lt;object type=&quot;3&quot; unique_id=&quot;10030&quot;&gt;&lt;property id=&quot;20148&quot; value=&quot;5&quot;/&gt;&lt;property id=&quot;20300&quot; value=&quot;Slide 29&quot;/&gt;&lt;property id=&quot;20307&quot; value=&quot;279&quot;/&gt;&lt;/object&gt;&lt;object type=&quot;3&quot; unique_id=&quot;10031&quot;&gt;&lt;property id=&quot;20148&quot; value=&quot;5&quot;/&gt;&lt;property id=&quot;20300&quot; value=&quot;Slide 30&quot;/&gt;&lt;property id=&quot;20307&quot; value=&quot;280&quot;/&gt;&lt;/object&gt;&lt;object type=&quot;3&quot; unique_id=&quot;10032&quot;&gt;&lt;property id=&quot;20148&quot; value=&quot;5&quot;/&gt;&lt;property id=&quot;20300&quot; value=&quot;Slide 31&quot;/&gt;&lt;property id=&quot;20307&quot; value=&quot;281&quot;/&gt;&lt;/object&gt;&lt;object type=&quot;3&quot; unique_id=&quot;10033&quot;&gt;&lt;property id=&quot;20148&quot; value=&quot;5&quot;/&gt;&lt;property id=&quot;20300&quot; value=&quot;Slide 32&quot;/&gt;&lt;property id=&quot;20307&quot; value=&quot;282&quot;/&gt;&lt;/object&gt;&lt;object type=&quot;3&quot; unique_id=&quot;10034&quot;&gt;&lt;property id=&quot;20148&quot; value=&quot;5&quot;/&gt;&lt;property id=&quot;20300&quot; value=&quot;Slide 33&quot;/&gt;&lt;property id=&quot;20307&quot; value=&quot;283&quot;/&gt;&lt;/object&gt;&lt;object type=&quot;3&quot; unique_id=&quot;10307&quot;&gt;&lt;property id=&quot;20148&quot; value=&quot;5&quot;/&gt;&lt;property id=&quot;20300&quot; value=&quot;Slide 18&quot;/&gt;&lt;property id=&quot;20307&quot; value=&quot;291&quot;/&gt;&lt;/object&gt;&lt;/object&gt;&lt;object type=&quot;8&quot; unique_id=&quot;10068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Times New Roman"/>
        <a:ea typeface="WenQuanYi Micro Hei"/>
        <a:cs typeface="WenQuanYi Micro Hei"/>
      </a:majorFont>
      <a:minorFont>
        <a:latin typeface="Times New Roman"/>
        <a:ea typeface="WenQuanYi Micro Hei"/>
        <a:cs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6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13088</TotalTime>
  <Words>870</Words>
  <Application>Microsoft Office PowerPoint</Application>
  <PresentationFormat>Custom</PresentationFormat>
  <Paragraphs>181</Paragraphs>
  <Slides>32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Comic Sans MS</vt:lpstr>
      <vt:lpstr>DejaVu Sans</vt:lpstr>
      <vt:lpstr>Tahoma</vt:lpstr>
      <vt:lpstr>Times New Roman</vt:lpstr>
      <vt:lpstr>Office Theme</vt:lpstr>
      <vt:lpstr>Network &amp; Information Security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Security</dc:title>
  <dc:creator>DHS</dc:creator>
  <cp:lastModifiedBy>Manish Potey</cp:lastModifiedBy>
  <cp:revision>69</cp:revision>
  <cp:lastPrinted>1601-01-01T00:00:00Z</cp:lastPrinted>
  <dcterms:created xsi:type="dcterms:W3CDTF">2001-06-06T20:52:39Z</dcterms:created>
  <dcterms:modified xsi:type="dcterms:W3CDTF">2026-01-05T06:52:51Z</dcterms:modified>
</cp:coreProperties>
</file>